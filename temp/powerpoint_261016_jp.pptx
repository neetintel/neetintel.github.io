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notesMasterIdLst>
    <p:notesMasterId r:id="rId8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これは、neetintel.github.ioにあるNEET INTELについての長い資料です。NEET INTELは、米空軍の短波ネットワークであるHFGCSと、そこで放送されるEAM（Emergency Action Message）についての研究プロジェクトです。録音、書き起こし、構造の分析、参考資料は、最終的にすべてこのサイトに集まりました。まず背景から始めます。後の内容のほとんどがそれに依っているからです。ネットワークの成り立ち、放送に実際に何が含まれているか、メッセージが2文字の接頭辞によってどう群に分かれるか、空中の中継がどう働くか、そして文字がなぜこう見えるのか、です。次に記録そのものの規模を示し、その後でサイトを一つずつ取り上げて、それぞれの画面が何を示し、どう読めばよいかを説明します。下の色の帯は、記録全体をメッセージの群ごとに分けたもので、色はサイトのどこでも使っているものと同じです。緑が第1群、オレンジが第2群、黄色が第3群、ピンクが第4群、紫が第5群です。この5色は、ほぼすべてのページに、そしてこの後のスライドの大半にも出て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の構成です。全部で9部あります。第1部は背景で、ネットワーク、放送が運ぶもの、メッセージの群、空中の中継、記録の規模を扱います。この後のすべてがそれを土台にしているからです。第2部から第5部では、サイトそのものを順に見ていきます。サイトの構成、録音、ギャラリー、時系列です。第6部と第7部は構造の研究で、まずメッセージの長さ別に、次にメッセージの群別に扱います。第8部は出来事と外部データです。第9部では参照ページと方法を取り上げ、最後に、サイト内で最初に見るとよい7つの場所を挙げる短いまとめで締めくくります。ここでスライド1枚しか割いていないものも、サイトではもっと詳しく見られます。また、この資料で触れる画面にはすべて、手で入力できるアドレス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FGCSは、高出力の短波地上局からなる世界規模のネットワークです。地上局はEAMの放送を同時送信し、電話パッチを中継し、そのほかの長距離通信もかなり扱っています。現在の公式の説明として最もよいものは、FY27の空軍調達予算、プログラム要素0303133Fにあります。戦略的な位置に配置された13の地上局と2つのネットワーク管制局からなるネットワーク、という説明です。FAQが指摘しているとおり、空軍自身の中でも数は一致していません。エルメンドルフのアンテナを扱った2022年のDVIDSの発表も13としていますが、それに添えられた写真には中隊自身の壁地図が写っていて、「14のHFサイトの一つ」と書かれ、14の局が記されています。長いあいだ、ネットワーク全体はアンドルーズの一つの管制局から運用されていました。9.11後の見直しで、それが単一障害点だと指摘されました。二つ目にはオファットがなる予定でしたが、2019年の洪水でその計画は中断したのかもしれず、最終的に予備の管制局になったのはグランドフォークスでした。公開されているGitHubのリポジトリhfgcs-mslは、13の局を「ANCS」と「GFNCS」という二つの管制局に分けています。これがアンドルーズとグランドフォークスだと考えるのは妥当な推測で、だから見出しに疑問符がついています。画面に示したのはこの振り分けです。実際には、どちらの管制局もどの局でも運用できるようです。サイトにある二つの局のページを見ると、局が物理的にどういうものかがわかります。プエルトリコには独自の基地がありません。イサベラの送信施設とサリナスの受信・制御施設からなり、二つは島の反対側の海岸にあって97 km離れています。アンドルーズとグランドフォークスから24時間運用され、日中は現地に契約業者が詰め、時間外は呼び出しに備えて待機しています。横田では、最大25 kWの送信機が受信機の感度を下げないよう、受信機から離して置かれています。システムの空中の半分であるE-6Bは、数枚後のスライドで取り上げます。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ここでは、聞き手が実際に受け取るもの、そして記録に残るものを見ます。主な周波数は、2025年時点で4724、8992、11175、15016 kHzです。地上局はたいていメッセージを4つすべてで同時送信しますが、いつもではありません。放送が一つの周波数だけ、あるいは一部の周波数だけで行われることがあり、だから8992でメッセージを聞き逃した人が、そこでは放送されなかったと言い張ることになるのです。個々の局は、歴史的に周波数ごとのスケジュールも持っていました。局はコールサインで名乗ります。かつて局はANDREWSやOFFUTTのように自分の名前を使っていました。2014年ごろ、EAMの放送ではすべての局がMAINSAILを名乗るようになり、2015年ごろには日替わりのコールサインの集合に移りました。日替わりのコールサインはほぼ必ず00:00 UTCに変わります。2022年11月16日の放送のコールサインCHOPHOUSEもその一つです。FAQによれば、ネットワーク上のコールサインは、曖昧な例外が二、三あるだけで、ほぼすべて空白を含めて9文字以内に収まります。MAINSAILは今も、相手を限定しない呼びかけとして残っています。誰かが送信してMAINSAILを呼ぶのは、その声が聞こえているどの地上局にでも応答を求めているということです。第2群では、およそ半分の場合、オペレーターがまず受信者を告げます。FOR、続いてコールサインです。その後にメッセージ本体が続き、AからZと2から7からなるアルファベットで1文字ずつ読み上げられます。最初の2文字が接頭辞で、接頭辞が群を決めます。30文字を超えるものでは、オペレーターが長さも読み上げるので、サイトにある長いメッセージの長さは推定ではなく確かな値です。FAQは二つのものに頼らないよう勧めています。今ではHFでめったに聞かれないスカイキング（SKYKING）のメッセージと、オペレーターの声の調子です。声の調子からは何も読み取れない、とFAQは言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Mはどれも2文字の接頭辞で始まり、4つの群は、その接頭辞が時間とともにどうふるまうかから決まっています。私はこの分類を2023年11月に動画で発表し、それ以来ずっと通用しています。サイトでは、どの群がどの年からその接頭辞を使ったかを示す表で接頭辞を引いて、メッセージの群を決めています。第1群は通信のおよそ3分の2です。FAQの規則では、記録された第1群のメッセージはどれもちょうど30文字で、第1群の接頭辞はネットワーク全体で常に一つだけが使われ、3〜8週間ごとに入れ替わります。E-6Bが最もよく中継するのもこれらのメッセージで、カレンダーにあるE-6Bの放送2,966件のうち2,834件が第1群です。第2群はおよそ4分の1で、ほとんどが30〜163文字です。その半分弱が受信者の名前を告げていて、これは別のスライドで扱います。第3群はいくつかの長さに集まっていて、カレンダーで多いのは22、27、25文字です。同じ文字が3つ以上続く連なりをよく含みます。散発的なのは第3群の接頭辞で、たとえばQLは、記録の中で2023年9月に一度現れたきり、2026年7月11日まで現れず、その月には13日間現れました。第4群は長いメッセージで、ほとんどが36〜292文字です。約60%は同じ文字が4つ以上続く連なりを含み、約38%は複数文字の並びの繰り返しを含みます。オペレーターの読み間違いが最も多いのも第4群です。第5群はまれで、4日間に13件の放送です。カードの割合はFAQの値です。現在のカレンダーから数えると、およそ67、24、5、3.5%になります。FY27の予算資料は4つのメッセージの種類を挙げていますが、それが4つの群に対応するかどうかは確認で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接頭辞が一度に一つだけというのは、こういうことです。帯は2023年6月23日から2024年2月1日までの224日間です。これはDaily Timecard Project（DTCP）の第1部にあたり、サイトはこの期間を継続的で、ほぼ漏れのない監視と説明しています。ですから、ここでの境目は接頭辞の実際の交代を示しています。この期間は、第1群の6つの接頭辞で端から端まで埋まります。YLは期間の始まりにすでに使われていて、ASは期間の終わりにもまだ使われていました。そのあいだで、YTは35日、PJは41日、CZは52日、WRは58日続きました。これが実際の3〜8週間の幅です。どの交代も一方通行です。2023年7月6日、YLの最後のメッセージが15:06 UTCに、YTの最初のメッセージが15:56に放送され、YLは二度と戻りませんでした。同じことが、8月10日の17:33から18:42、9月20日の21:32から23:50、11月11日の05:17から05:57にも起きています。日替わりのコールサインはUTCの午前0時に変わりますが、接頭辞の交代は午前0時を待ちません。記録全体では第1群の接頭辞は52個あり、そのうち二つが同じ日に現れる日は28日しかなく、そのすべてが交代日です。そのうち3日は、新しい接頭辞の最初のメッセージの後にも古い接頭辞のメッセージの再放送が出ましたが、翌日以降にそうなったことは一度もありません。この資料の後半で重要になる交代が一つあります。2024年10月1日にC6が3Eに代わり、30文字の論文は、同じ日に形式の変更が入ったのではないかと見ています。網羅的な期間の外では、監視の空白のせいで使用期間が実際より短くも長くも見えることがあるので、使用期間の長さはこのような期間から読むのがよ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第2群の半分弱には、記録のほかの部分ではほとんど見られない特徴があります。メッセージの前に、オペレーターが誰宛てかを告げるのです。私はこれを宛先付きEAM（Directed EAM）と呼んでいます。ほかの人はFORメッセージや宛先メッセージと呼んでいて、どの名前も公式ではありません。ギャラリーのデータにあるすべての放送を数えると、第2群の放送3,745件のうち1,771件で、FAQの47%と同じです。4つの区分があります。ALPHABET FORCEのメッセージは、NATOのフォネティックコードの文字で呼ばれるFORCE宛てです。ALPHA、BRAVO、CHARLIE、FOXTROT、GOLF、KILO、ROMEO、SIERRA、TANGO、UNIFORM、VICTORが記録されていて、何年にもわたり、また演習をまたいで繰り返し現れるので、常設の組織のように見えます。REGIONのメッセージも同じ仕組みで、REGION ALPHA、BRAVO、CHARLIEと、ALL REGIONS宛てです。番号付きコールサイン、つまりTAMPA52のような単語と数字の組み合わせは、E-6B機と強く結びついています。たいていADS-Bのトラッカーで特定の機体と照合できますが、2024年後半からはそれが難しくなっています。群を抜いて多いのが、番号なしの単語だけのコールサインです。それに宛てたメッセージは数百件記録されていて、数時間のうちに集中して出るものもあれば、何日にもわたって少しずつ出てくるものもあります。宛先付きメッセージの約8%は、複数の受信者を挙げています。区分を混ぜることもあり、たとえばFORCEと単語だけのコールサインの組み合わせがありますが、FORCEと番号付きコールサインの組み合わせは一度も見られず、REGIONは常にほかのREGIONとしか組みません。記録されたメッセージで受信者が最も多いものは10のコールサイン宛てで、GLOBAL THUNDER 25のスカイマスターの日である2024年10月24日のものです。FAQが挙げる極端な例は2025年10月28日の285文字のメッセージで、FOR EXERCISE GT 26 CPX AC ST宛てでしたが、それでも第2群の接頭辞でした。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ステムの空中の半分は、第1戦略通信航空団が運用する海軍のE-6Bマーキュリーです。海軍の言葉では、その主な任務はEAMを受信し、検証し、米国の戦略部隊へ再送信することです。地上局はHFで放送します。E-6BはHFで再放送し、さらに曳航アンテナを使ってVLFでも放送します。こうして、HFをまったく受信できない潜航中の弾道ミサイル潜水艦にまでメッセージが届きます。VLFの側はVERDINと呼ばれ、識別名にはATLANTIC、PACIFIC、GULFなどがあります。同じ機体は空中発射管制システム（ALCS）も搭載していて、サイトのミニットマンのページは、この機をE-6B TACAMOと呼び、この経路で行われた3回の発射試験を挙げています。HFでは、中継は時刻表どおりに動きます。FAQの説明では、地上局が特定の機体宛てにメッセージを送り、続けて宛先のない二つ目のメッセージを送ります。しばらくすると別の送信機、ほぼ確実にその機体が、二つ目のメッセージを30分ごとに再び放送します。毎時何分に送信するかは、おおむね担当している海域に対応しています。毎時0分と30分はアメリカ湾、10分と40分は大西洋、20分と50分は太平洋です。これは2026年9月19日の例です。ACのメッセージが18:00 UTCに最初に放送され、その後E-6Bが18:10、18:40、19:10、19:40に再び放送しました。大西洋の枠です。再放送時系列では、E-6B該当の放送2,807件のうち2,571件が、枠から1分以内に収まっています。もっと広く見ると、EAMのおよそ3つに1つが再放送され、その大半は2時間以内に終わります。E-6Bの放送は圧倒的に第1群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Mについて最もよく繰り返される主張は、ワンタイムパッドで暗号化されているというものです。FAQの見方では、これはおそらく間違いで、理由は三種類あります。一つ目は運用面です。EAMは世界中の受信者に同時に届き、一日の量は前もって決まっていません。復号されたとしても、中身はコードワードと認証要素でしょう。リアルタイムの暗号解読に耐える強さの暗号化で十分です。二つ目は文字そのものです。アルファベットは32進で、AからZに2から7を加えた、ちょうど32の記号です。0と1がない理由について、FAQは、手書きにするとOやIとあまりに混同しやすいからだと説明しています。図はFAQのもので、一意な第1群のメッセージ3,584件にわたるものです。32文字のうち30文字は均等な3.1%の近くにあり、Mと5は約2%、つまり約3分の1少なくなっています。第1群のメッセージの最後の6文字は、97%の場合にすべて異なります。無作為な文字列ならおよそ61%です。カレンダーでは、例外のある日を「末尾反復の日」として強調表示できます。さらに、接頭辞が同じ別々のメッセージに、何週間も何か月も離れて同一のブロックが現れます。ワンタイムパッドでは、二つの異なるメッセージにそれは起こりえません。三つ目は書類です。FY27の予算資料はKG-3XAプログラムの名前を挙げています。組み込み型モジュールとその親機で、核の三本柱でEAMを処理する機器に使われ、「形状・適合・機能の近代化」と説明されています。パッドは装置ではないので、パッドのために書く項目としては奇妙です。ただしFAQも、パッドにも鍵を扱う機器が必要なので、これは証明にはならないと認めています。FAQの推測は、この考えが乱数放送から来たというものです。乱数放送はおそらく実際にパッドを使っていて、聞き手がその前提をそのまま持ち込んだ、という見方です。後で、30文字の論文がこれを位置ごとに検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はサイトの土台となっている記録の規模で、公開中のカレンダー自身のデータから取っています。2022年1月25日から2026年10月9日までのうち、記録のある1,072日に15,277件の放送があります。ここでは再放送も1回の放送として数えていて、そのうち2,966件はE-6Bによるものです。群のないメッセージが2件あるので、群ごとの件数を足すと15,275件になります。カレンダーには、一部しか受信できなかったもの、採用しなかった読み取り、受信できなかった文字を含む読み取りは入っていません。年別では、2022年が1,144件、2023年が3,988件、2024年が4,401件、2025年が2,823件、2026年がこれまでに2,921件です。カレンダーには、データセットは一部の期間を除き網羅的ではないとはっきり書いてあり、この但し書きはこの資料のすべての件数に当てはまります。最も網羅的な期間はDaily Timecard Projectの第1部、2023年6月23日から2024年2月1日までで、FAQの1日あたりの数値はこの期間のものです。平均は1日14〜15件、中央値は14件です。その後に抽出した期間では1日18〜19件でした。メッセージが0〜3件の日はまれで、たいてい連邦の祝日に当たります。リズムは勤務の一週間そのものです。日中から夕方の早い時間が最も多く、深夜から未明はほとんどなく、水曜日と木曜日が最も多くなっています。ニュースの流れについてのFAQの立場は、EAMの通信と見出しのあいだに一貫した関係が確立されたことは一度もない、というものです。FAQが痕跡を見ているのは、事前に予定された特定の活動の前後です。2023年のNATOのSTEADFAST NOON演習をはさむように現れた独特の接頭辞と、ミニットマンIIIの発射試験の1〜3日前に第4群が基準のおよそ3.6倍の割合で現れること（監視できていた11回の発射のうち8回で増加）です。サイトにはこの発射試験についてのページ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部はサイトそのものについてです。まず、サイトの構成と移動のしかたを見ます。目次ページとその7つのタブ、短いアドレスとキー操作、そして言語とテーマの切り替えがどのページで使えるかです。次に、データの作り方として、録音と確認から、ページの元になる記録までをたどります。それから、サイトの2通りの数え方と、何を監視済みとみなすか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すべての入口は1つのページ、neetintel.github.io の目次ページです。タブは7つあり、最初に開くのは「スタート」です。プロジェクトを1段落で説明する文と、8つのタイルが並んでいます。FAQとSubstackのタイルは新しいタブで開き、残りの6つは同じページの中でタブを切り替えるだけです。タイルの下には小さなリンクが2つあり、YouTubeのライブ配信とNOTAMマッパーです。「構造」は103件のヒートマップのページの一覧で、17文字から292文字までの103種類のメッセージの長さに1ページずつ対応しています。各項目には小さなヒートマップの帯と6つの点があります。点は5つの群と「不明」（群の判定がないもの）に1つずつで、その長さのページに載っている群の点が灯ります。「スカイマスター」には2023年から2026年までの日付つきの出来事が33件並んでいて、26件はスカイマスター、7件は偽物マスターか空振りマスター（NOTHINGMASTER）として載っています。そのうち20件の日付は、DTCPギャラリーにあるその日のタイムカードに直接リンクしています。「DTCP」タブには録音のギャラリーが3つあります。初期の編集録音、毎日のタイムカード、ライブ配信の録画です。「その他」は棚のようなもので、4つの話題に分けた分析へのリンク20件と、参考資料のページ4件があります。参考資料はFAQ、2つの基地のページ、NOTAMマッパーです。「ウィキ」は、私が2025年12月に始めた試験版HFGCSウィキの、archive.orgに保存されたページ27件へのリンクで、「連絡先」は連絡先と支援の方法です。この後の数枚では、これら全体の中での移動のしかたと、データの出どころを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次ページのタブとサブタブには、どれにも手で打てる短いアドレスと、「スタート」タブからのキー操作の道筋があります。アドレスは疑問符（?）のあとに普通の単語を付けたもので、大文字でも小文字でも構いません。左右の矢印キーは7つのタブを順に移り、端まで行くと反対の端に戻ります。そのため「連絡先」は「スタート」の1つ左、「その他」は3つ左です。上下の矢印キーはサブタブを移ります。「スカイマスター」のサブタブは2023、2024、2025、2026と「比較」なので、2023から1つ上に行くと、一周して「比較」に移ります。「その他」のサブタブは「分析」と「参考資料」です。「DTCP」タブでは、下矢印で選択の枠が3つのギャラリーを移り、Enterで選択中のギャラリーが開きます。「構造」タブでは長さを数字で打ち込めます。数字を打つたびに数が1桁ずつ伸びていくので、1なら17、14なら142が選ばれ、142と打っても142のままです。1.5秒あけると、次の数字から新しい数になります。Enterでそのヒートマップが新しいタブで開き、Escで一覧が元の並びに戻ります。タブやサブタブを切り替えるたびに、アドレスバーも、それを開き直せるいちばん短いアドレスに書き換わります。そのため、アドレスをコピーすれば、そのタブをそのまま人に送れます。ただし、打ち込んだ長さはアドレスに残りません。別名もいくつか使えます。たとえば ?heatmap、?skymaster、?live、?support です。キーは組み合わせることもでき、?skymaster&amp;2025 で2025年の一覧が開きます。FAQからは ?skymasters&amp;compare にリンクしています。?extra と ?start はキーではなく、「スタート」が開くだけなので、?misc を使ってください。ほかにも同じようなことをするページがいくつかあります。カレンダーは ?2023 を受け付け、ギャラリーは検索の中身をまるごとアドレスに入れ、FAQの各回答にはそれぞれ専用の # リンクがあります。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目次ページ、FAQ、そしてほとんどの分析ページの右上には、2つの切り替えボタンがあります。言語を切り替える「日本語 / EN」と、ライトとダークを切り替える太陽と月のボタンです。この2つの切り替えを共有している公開ページは20ページあります。目次ページ、FAQ、2つの基地のページ、そして16の分析・解説ページで、「ヒートマップについて」や構造のページから、形式分析の論文、再放送時系列、E-6Bの飛行履歴、ミニットマンの事例研究、8888のページまでです。これらのページでは選択がブラウザに保存されて次のページに引き継がれるので、目次ページで日本語に切り替えれば、FAQも日本語で開きます。テーマを選ぶまでは、ページはOSのライト・ダークの設定に従います。キーボードでも同じことができ、J、N、Eのどれかで言語が、AかDでテーマが切り替わります。目次ページ以外の19ページでは、左右の矢印キーでも言語が切り替わります。ただし、ページ自体が矢印キーを使っている場合は別で、目次ページでは矢印キーはタブの切り替えに使います。切り替えても表示が飛ばないように作ってあります。ボタンは両方のラベルを同時に持っていて、言語が変わっても読んでいた位置はそのままです。この20ページ以外では事情が違います。カレンダーには独自の「日本語」ボタンと同じJ、N、Eのキーがありますが、テーマの切り替えはなく、選択も記憶しません。3つのギャラリー、103件のヒートマップのページ、2つのIPEマップのページは、英語でダーク表示のみです。NOTAM再現ページは英語の横にいくつか日本語のラベルを表示しますが、切り替えはありません。NOTAMマッパーは英語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ッセージが電波からページに載るまでの流れです。始まりは録音です。監視の大半は北米と欧州のオンライン受信機を通じて行っていて、太平洋方面の監視範囲は限られています。ライブ配信の録画は、2023年2月の単発の配信から始まります。2023年8月31日からは、定期配信が1日をAの前半とBの後半に分けています。区切りは2025年8月までは米国東部時間の午前0時と正午、その後はUTCの午前0時と正午です。ライブ配信ギャラリーには809日分の録画があり、最後は2026年9月8日です。ライブ配信より前には、2022年1月からのDCRPの編集録音があります。EAMは1件ずつ、時刻、コールサイン、文面を書き起こし、最後まで確認し終えた日はDTCPのタイムカードになります。タイムカードは641日分あり、録画のある809日のうち474日を確認済みです。書き起こしたものはすべて1つの記録に入ります。ページではこの記録をSHORTWAVESと呼んでいて、放送1回につき1行です。行には印が付くことがあります。アスタリスク（*）は部分的な受信、バックスラッシュ（\）はオペレーターが無効とした読み取りです。受信できなかった文字は、疑問符、アンダースコア、ドット（?、_、.）で書きます。30文字を超えるメッセージではオペレーターが長さを読み上げるので、長文メッセージの長さは正確にわかります。ページはこの記録から、それぞれ別の日に作られていて、たいていはその日付が書いてあります。カレンダーの生成は10月9日、長文G4のブロックのページの作成は10月13日、「ヒートマップについて」の数は10月5日時点、再放送時系列は9月24日まで、30文字形式の分析の記録全体は7月29日までです。そのため、2つのページで数日、ときには数か月分データがずれていることがあり、その理由はページに書かれた日付を見ればわ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サイトには2通りの数え方があり、ページがどちらを使っているかが重要です。1つのメッセージで見てみます。2025年10月27日15:41 UTC、コールサインCOMPETENTで、S7SSY6で始まる50文字の第4群のメッセージが送られました。最初の2時間で5回放送され、19:34 UTCからはE-6Bによる中継の放送になり、翌日の00:40 UTCまで続きました。約9時間で32回の放送、そのうち27回がE-6Bによるもので、再放送時系列もまさにそのとおり、32回の放送、継続8.98時間、E-6B 27件と表示しています。カレンダーは放送の回数を数えるので、10月27日には第4群のメッセージが28件と表示され、最後の4回は10月28日に入ります。UTCの日付が午前0時で変わるからです。構造のページはメッセージの数を数えます。50文字のヒートマップでは、このメッセージは1行で、日付は最初の放送の日です。翌朝にはさらに3件のS7のメッセージが送られ、それぞれ17回、19回、17回放送されました。そのため2日間で、カレンダーでは第4群の放送が85回、50文字のヒートマップでは4行増えます。どちらの数も間違いではありません。放送の回数は、ネットワークがどれだけ忙しかったかを表します。構造を調べるには、メッセージ1件につき1行が必要です。そうしないと、32回放送されたメッセージが、同じパターンへの32票として数えられてしまうからです。また、カレンダーは中継も放送として数えます。カレンダーの15,277回の放送のうち、2,966回はE-6Bが放送した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静かな日に意味があるのは、誰かが聞いていた場合だけです。そこでサイトは、できるかぎり監視範囲を示しています。カレンダーには3つの段階があり、凡例にその名前が出ています。「網羅的監視」は実線で描かれ、DTCPかDCRPの録音がある日です。クリックすると動画が開きます。「非網羅的な監視」は破線で、通信は記録されていますが、完全な録音はありません。枠のないセルは「監視なし」です。カレンダーの期間、2022年1月25日から2026年10月9日までで、実線が789日、破線が305日、枠なしが625日です。実線の日のうち1日、2026年3月1日には録音がありません。この日は、カレンダーが通信ゼロと確認された日として扱う14の日付の1つで、ツールチップには「電文合計: 0」と出ます。録音があって記録に何もない8日は、代わりに「データセットに電文なし。」と出ます。この14日のうち6日は、感謝祭か、クリスマス・イブからクリスマスの翌日までの間にあたります。画面は2023年です。1月と2月はDCRPの編集録音があるのでほぼ実線、3月から6月はほぼ破線か枠なしで、6月23日からは毎日が実線です。ここがDTCP第1部の始まりで、2024年2月1日まで途切れずに続きます。まる1年ある年のうち、枠なしの日がいちばん多いのは2025年で、171日です。ライブ配信ギャラリーも、録画について似た決まりを使っています。確認済みの日は無地で描かれるので、空いている区間は本当の無音です。未確認の日は斜線で描かれます。その棒は下限にすぎず、そこにある空きは、まだ誰も書き起こしていないだけの区間かもしれないからです。全体では、カレンダーの15,277回の放送のうち12,641回が実線の日に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部では、サイトのほかの部分の土台になっている録音を扱います。アーカイブは3つあり、どれも目次ページのDTCPタブから入れます：DCRPの編集録音、DTCPの日ごとのタイムカード、そしてライブ配信ギャラリーにある未編集の録画です。タイムカードの読み方、各年のどれだけをタイムカードが網羅しているか、そしてライブ配信の録画が、そのA/Bの区切りや確認の状況も含めて、タイムカードとどう結びついているかを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イトの大部分は私の録音の書き起こしに基づいていて、その録音は3つのアーカイブに収まっています。どれも目次ページのDTCPタブから入れます。最初にできたのがDCRP（日ごとの編集録音）で、カードは161枚、ほぼすべてが2022年と2023年初めのものです。DTCP（日ごとのタイムカードのプロジェクト）は2023年6月23日に始まり、UTCの1日を1枚のタイムカードにまとめています。10月13日までで641枚あります。ライブ配信ギャラリーには未編集の録画があり、2023年2月3日から2026年9月8日までの809日分で、ほとんどの日は前半のAと後半のBに分かれています。この図はそれぞれの四半期ごとの日数を数えたもので、引き継ぎの様子がわかります：編集録音は2023年初めに少なくなり、タイムカードはその夏に始まり、毎日の録画は2023年8月末に始まります。3つは一方向に結びついています。タイムカードは1日分の録音を確認したあとに作るものなので、タイムカードのある日は確認済みの日です。ライブ配信ギャラリーはこれを使って、どの録画を確認済みかを示しています。EAMカレンダーも同じように2つのカードのシリーズに頼っていて、DTCPかDCRPの録音がある日は網羅的監視として描かれます。10月8日までを収めた現在の版では、そうした日が788日あります。2つのカードのシリーズはほとんど重ならず、重なるのは2025年8月1日〜3日だけです。タイムカードのある641日のうち、481日はライブ配信ギャラリーにも欄があります。残りの160日のうち、68日は毎日の録画が始まる前の第1部の最初の数週間、35日はギャラリーの最終日よりあと、57日は配信が載っていない日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RPは、こうした録音を集めて人に見てもらおうとした私の最初の試みです。ページ自体もそれを率直に書いていて、24時間の監視はうたっておらず、多くの動画はページの言葉でいえば「その日たまたま聞こえたもの」をまとめたものです。終盤になるにつれて本格的になり、DTCPへの準備となりました。カードは155の日付に161枚あり、108本の動画から作られています。そのうち103枚が2022年、51枚が2023年のもので、それ以降は7枚だけです。カードは動画そのもののタイトル画像なので、見た目はさまざまです。初期のものは番組の各回のカードのようで、「EMERGENCY ACTION MESSAGES and/or FORCE DIRECTION MESSAGES」、日付、回の番号、そしてその日のコールサインと第1群の接頭辞が載っています。ここではBAD ALIBIとZMです。1日に2本以上の動画があるときは、日付に英字が付きます。最初の火曜日の220125A、B、Cや、カードに「PART I: 28 of 35 MESSAGES」とある230222Aがその例です。逆の場合もあります：2022年12月13日から2023年1月4日までをまとめた編集録音が1本あり、その1本の動画だけで23枚になります。最も枚数の多い月は2022年12月で、34枚です。サイトのスカイマスター一覧は2023年から始まり、そのうちこのシリーズに入るのは1日だけ、2023年2月1日（コールサインMONARCHY）です。長い空白期間は、30週、55週、8週、60週、29週の破線の区切りにまとめられています。このギャラリーには、DTCPギャラリーと同じ検索、プレーヤー、比較表示がありますが、Internet Archiveのミラーはありません。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これは2025年10月26日の最後の画面のタイムカードで、ほとんどのカードは同じ構成です。いちばん上には日付と、カードが何を扱うかが書かれています。ふつうの日は「HFGCS EAMs and/or FDMs」ですが、この日は「HFGCS SKYMASTER Traffic」です。その下が行で、UTC時刻、コールサイン、メッセージが並びます。ほとんどのカードはEAMを1文字ずつ間隔をあけて書きますが、ここのスカイマスターの通信は3文字ずつの組で読まれていて、コールサインもAMPER29やFIRM13のような番号付きのものです。行の下には、行に収まらないことを書くNotes欄があります。ここでは16:29 UTCの「Relayed by AMPER21 for AMPER32」で、AMPER32のあとのアスタリスクはこれを指しています。左側は音楽との組み合わせです。毎日をJ-POP、K-POP、ときにはC-POPと組み合わせているので、文字の輪の中に写真があり、ロゴのタイルもあります。ギャラリーの紹介文では、タイムカードを韓国・日本・中国の芸能産業が生み出す作品と組み合わせ、軍事活動と音楽活動の傾向を探るもの、と説明しています。写真の下には、ふつうのカードなら短い注記があります：タイムカードは通信量について「少なくともこれだけはあった（not less than）」という目安を示すもので、地上局からのメッセージはすべて、航空機局からは代表的な一部を収めようとしているが、それでも取りこぼすメッセージはありうる、という内容です。出来事のある日は、この枠に代わりにその出来事の説明が入り、ここではGlobal Thunder 26です。左下には7つの枠が並ぶ帯があり、点灯している枠が韓国語で曜日を示します。これは日曜日です。そして1日分が1画面に収まらないときは、動画が複数の画面を順に映すので、これは「PART 5 OF 5」となっています。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行の読み方を、2026年9月15日（火曜日）の4行を使って説明します。コールサインはどの行もSIXPENCEです。日替わりのコールサインは、ほぼ必ず00:00 UTCに変わるからです。各行にはメッセージの最初の30文字が入り、最後の列に目印が付きます。15:23 UTCの目印はプラス記号です。プラスはメッセージが30文字ではないことを意味し、残りはNotes欄にあります：残りの25文字で、[55 CHAR]と記されています。つなげると、55文字のヒートマップに15:23 SIXPENCEとして載っている、55文字の第2群のメッセージになります。15:39 UTCにも、もっと短い行にプラスがあり、注記には「27 character message」（27文字のメッセージ）とだけあります。16:30 UTCの行は取り消し線が引かれ、末尾がバックスラッシュです。これは取り消された読み上げで、K7OEEIの6文字まで読まれたところで打ち切られました。2分後の16:32 UTCに、メッセージ全体が送られます。37文字で、15:35 UTCに最初に放送されたものと同じメッセージです。その注記には最後の7文字が書かれています。このカードでは、2文字の接頭辞がその群の色で塗られていて、第2群はオレンジ、第3群は黄色で、第1群の接頭辞は白のままです。2024年10月1日のような古いカードには色がありません。メッセージの中の一部の文字にも色が付いています。55文字のメッセージでは、RH、C3A2、EA3UKLが色で示されていて、どれも20文字あとにもう一度現れます。ここには出てこない目印がほかに2つあります。大なり記号（&gt;）は宛先付きのメッセージを示し、その注記が宛先を示します。2024年2月1日の「FOR VOGUE 1」がその例です。アンパサンド（&amp;）はMORE TO FOLLOW（続報あり）を示します。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各マスが1か月で、数字はその月のうちタイムカードのある日数です。第1部は左側の途切れのない部分で、2023年6月23日から2024年2月1日までの224日すべてにカードがあります。公開した動画は200本です。3本の動画が数日分をまとめているためで、2023年9月12日〜22日と12月13日〜26日がその例です。第1部の最後のカードには7枚目のボーナス・タイムカードと表示されていて、ボーナスのカードによってプロジェクトが動画200本に達したと書かれています。この期間は、私が通信量について述べることの多くで基準になっています。FAQにある1日平均14〜15件、中央値14件という数字は、この224日から出したものです。第1部のあともプロジェクトは続きましたが、毎日ではありません。DTCPタブの言葉では、残りは「主に連続しない日付で、継続して監視した短い期間もいくつか含まれます」。それがさらに417日、飛び飛びの46の期間で、そのうち18は1日だけです。最長は2024年9月24日〜12月1日の69日で、30文字の論文が第1群の形式変更の日とする2024年10月1日を途切れずにまたいでいます。最新の連なりは、8月26日から2026年10月13日の最後のカードまでの49日で、2025年夏には42日の連続があります。最大の空白は、2026年1月中旬から5月中旬までの124日です。13枚のカードは、メッセージがまったくない「ゼロの日」で、2023年12月24日〜26日もその中に入ります。ギャラリーのZERO検索でこれらが見つかります。どのカードもInternet Archive上の複製を指していて、1つのArchiveアイテムに616ファイルがあります。ギャラリーのプレーヤーでは、aキーで再生をYouTubeとArchiveの複製とで切り替えられます。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タイムカードの元になっているのが録画です。ライブ配信ギャラリーにはUTCの1日ごとに1つの欄があり、2023年2月3日から2026年9月8日までの809日分あります。230927C + 230928Aのようにタイトルに2つの日付がある録画は両方の欄に載っていて、そうしたものが17本あり、すべて2023年8月〜10月です。Aはその日の前半、Bは後半で、区切りは途中で変わっています。2025年8月までは米国東部時間の午前0時と正午で区切っていたので、最初の2行のように、Aはふつう冬は05:00 UTC、夏は04:00 UTCに始まりました。そのため各UTCの日の最初の4〜5時間は前日のBに入ります。2023年11月から2025年8月までに測定した431本のBのうち、407本は00:00 UTCの時点でまだ続いていました。時間軸は24:00で止まるので、ここの破線の部分はこの規則から描いたものです。2025年9月からは00:00と12:00 UTCで区切っていて、Aはふつう00:00〜11:55 UTC、Bは12:00〜23:55 UTCで、それぞれの区切りの前の5分間は録画されていません。UTCで区切った最初の日は2025年8月31日で、TAとTBという2本の録画でした。各欄の下の時間軸は、各配信の配信開始時刻と長さから、何が録画されているかを示します。そのうち123の期間は、その月のふだんの傾向から推定したものなので薄く表示されています。棒をクリックすると、そのメッセージの少し前から録画が開きます。無地の帯はその日が確認済みであることを意味するので、何もない区間は本当に放送がなかった時間です。斜線の帯にはタイムカードがないので、その棒は下限です。確認済みが474日、残りが335日で、そのうち123日は何も記録されていません。AとBのほかに補助的な配信もあります：解説、13200 kHzの260821Tのような別の周波数、230830Xのようなスカイマスターの特別配信です。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部では、DTCPギャラリーを動画の索引としてだけでなく、研究の道具として扱います。641枚のカードの下に、ページは日ごとのデータをまとめて持っていて、記録のある1,091日分、15,358件の放送が入っています。検索はどれも、その記録への問いかけです。検索の書き方をいくつかの実例とともに説明し、続いて12のモチーフ、プレーヤーとそのチップ、比較ビューを取り上げます。どれも公開中のページで確認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ーカイブのスライドではカードを見せました。この節では、その下にあるものを扱います。ギャラリーが動画の索引にとどまらず研究の道具になっているのは、それがあるからです。ページには日ごとのデータがまとめて入っていて、2022年1月25日から2026年10月15日までの1,091日分、15,358件の放送があります。カードの数より450日多い数です。そのうち195日は最初のカード（2023年6月23日）より前、253日はそのあいだにあってカードのない日、最後の2日、10月14日と15日は最新のカードより新しい日です。放送1件は短い記録1件で、ここにはページから取った実物を二つ載せています。一つ目は2025年9月23日のものです。分の値945は15:45 UTCで、続いて第2群、75文字、接頭辞27、フラグなし、宛先なし、5文字と15文字のブロックでできていて、40+/32ブロック対というモチーフの一部です。二つ目は2024年10月20日のもので、15:08 UTC、第2群、30文字、接頭辞P5、宛先付きを表すフラグd、宛先はALPHA FORCEとCHARLIE FORCEです。ほかのフラグの文字は、再放送、E6Bによる放送、MORE TO FOLLOWの組、カルーセル、早朝の集中送信、E6Bだけが出したメッセージを表します。この先の数枚のスライドの検索は、どれもこの記録への問いかけです。検索の答えはカードのある日、つまりタイムカードのある641日なので、ヒットした日には必ず動画があります。比較ビューはもっと緩く、記録のある日ならどれでも並べられます。カードの表には群ごとに一つ、五つの色の点があり、その日に聞こえた群の点が点灯します。点灯した点にマウスを乗せるとその群の接頭辞が表示され、切り替わりの日には両方が出ます。たとえば2025年10月26日の7R, DEです。下の帯は72本の棒で、1本が20分にあたります。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索欄をクリックする必要はありません。ページのどこで入力しても検索欄に入り、CtrlまたはCmd+Fでも同じ欄に移ります。大文字と小文字は区別されません。一致するカードの日数をカウンターが示し、アドレスバーも入力に合わせて変わり、何も一致しないと文字が赤くなります。一致しない日は10分の1の濃さに薄れます。いちばん単純な検索語は日を選ぶものです。数字だけなら部分一致なので、2501なら2025年1月の17日分ですが、23では207日になります。日付のどこかに23を含む日をすべて拾うからです。ダッシュは任意の数字を表し、先頭に固定されます。23--は2023年全体で192日、--06は毎年の6月で80日、----01は毎月1日で23日です。曜日はmonからsunまでで書き、tueなら93日です。cに数字を続けるとその長さのメッセージがある日を探し、カンマで並べるとそのすべてがある日になります。c32,27なら10日です。cだけを入力すると、90種類すべての長さが日数つきの一覧で開き、c32,と入れたあとは、32と同じ日に現れる長さだけが候補に出ます。gは群について同じように働きます。g12なら第1群と第2群の両方がある497日で、その2群だけだった236日は明るいまま残り、ほかは40パーセントに下がります。さらに日の目印が三つあります。スカイマスターのsky（カードのある日で17日）、偽物マスターのfake（6日）、そしてメッセージがまったくなかった日のzero（13日）で、zeroには2023年12月24日、25日、26日が含ま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の検索語は、その日に何があったかを問います。メッセージの検索語は1件のメッセージについて問うもので、検索語のすべての部分が同じ放送について成り立たなければなりません。g2c43は43文字の第2群メッセージで、23日あります。時刻を加えると絞り込まれます。@0909は09:09 UTCの前後10分以内、@09はその1時間全体です。時刻のあとに~30を付けると前後30分に広がり、@0900-0930は範囲の指定です。このメッセージでは四つとも同じ5日になります。2025年9月16日と18日、2026年9月9日、14日、16日です。フラグも同じ検索語に入れます。carはカルーセルで、ページの定義では、奇数の長さの1件のメッセージが、1日のうちにおよそ30分ごとに4回以上再放送されるものです。g2carでは23日、g4carでは17日見つかります。dirは宛先付きの通信で355日、e6はE6Bによる放送で353日、e6onlyはE6Bが出したメッセージのうち、1日以内に地上からの放送がないもので19日です。mtfは第1群以外のメッセージを含むMORE TO FOLLOWの組を探し、28日です。第1群の組はありふれているので、g1mtfと名指しで探します。こちらは264日です。dawnは早朝の集中送信で、米本土（CONUS）の早朝の時間帯に、番号なしの宛先へ宛先付きEAMが3件以上送られたもので、14日です。ブロックの検索語は「G2・G3 EAMの構造」ページから来ています。g2b15は、15文字のブロック1つを2〜4回読み上げるか、あいだにほかの文字を挟んで2回読み上げる第2群メッセージで、47日です。g3b14は17日、g3b23は7日です。名前のある宛先は、読み上げるとおりにcharlieforceやregioncharlieと書き、最後に置きます。ですからg2charlieforce@14も使えて、2025年10月25日の1日が見つ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索語は組み合わせられます。アンパサンド（&amp;）は「かつ」、スラッシュは「または」、感嘆符は「否定」です。2609&amp;!g1は第1群のない2026年9月で、9月27日の1日だけが見つかります。曜日、日の目印、モチーフ、ブロックの長さについては、カンマが短く書ける「または」になります。sky,fakeとsky/fakeはどちらも23日、m3537,m43は10日です。次に、二つのメッセージの前後関係を指定する書き方があります。a&gt;bはaのあと15分以内にbが来ること、a~bは順序を問わないことを表し、末尾の~Nは時間幅を分で指定します。g3c22&gt;g3c31は22文字の第3群メッセージのあとに31文字が続くもので、2026年9月15日と10月13日の2日が見つかります。5分に絞ると10月13日だけが残ります。この日は二つが3分差です。g2c40~g3c27は、名前の付いたモチーフの一つ、27/40の対と同じ8日を見つけます。つまりモチーフの中には、普通の検索に名前を付けただけのものもあります。最後にxです。末尾に付けると、ヒットのない週がすべて、週の数を書いた破線に折りたたまれます。これがcharlieforcexで、12日、2024年10月に5日、2025年10月に7日あり、69週、51週、50週の連なりが折りたたまれています。小さな矢印の下のフィルターパネルでは、よく使う検索語をチェックボックスで選べます。検索の文字列はパネルが代わりに書くので、チェックで作った検索もそのままリンクになります。スラッシュやvを含む検索では、パネルは使えなくなります。.2501のように先頭に点を付けると、絞り込まずにその日付までスクロールするだ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一つの検索を最後までたどります。ちょうどヘルプのポップオーバーに載っている例を組み合わせたものです。75文字の第2群メッセージ、g2c75は、カードのある13日に現れます。tueを加えると4日、15:00 UTCの1時間を表す@15を加えると2日になります。2025年9月16日と9月23日で、ちょうど1週間違いです。まったく別の問いも同じ2日にたどり着きます。g3c25&gt;g2c43~10は、25文字の第3群メッセージのあと10分以内に43文字の第2群メッセージが来るものを探します。16日は21:17 UTCのあと21:24 UTC、23日は21:38 UTCのあと21:43 UTCです。時間幅を5分にすると23日だけが残ります。2日を並べると、午後の三つの枠がそろいます。両日とも14:53 UTCにある第2群の30文字、15:50 UTCと15:45 UTCの75文字、そして両日とも16:07 UTCにあるもう一つの30文字です。比較ビューはちょうどこの三つをリンクします。残りは対になりません。16日には16:28 UTCに、23日には15:09 UTCに30文字がありますが、向かい側には何もありません。第2群の接頭辞は16日のほとんどがWMで、その夜の23:18 UTCまでに27になっています。つまり2回目の火曜日は、新しい接頭辞で同じ時刻表をたどっています。第3群の接頭辞は両週とも7Zです。23日には、75文字の6分後の15:51 UTCに32文字の第3群メッセージもあり、ページはこの対を40+/32ブロック対として数えています。16日には09:09 UTCに朝の43文字があります。ギャラリー自身の「最も近い日」の一覧では、16日に最も近いのは23日で、0.28です。どちらの検索でもShift+Enterを押すと、検索したメッセージが強調された状態でこの比較が開きます。?v250916,250923で直接開くことも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モチーフとは、繰り返し現れるパターンを固定した規則として書き下したもので、ページがすべての例を見つけられるようにしています。全部で12あり、5種類に分かれます。フィルターパネルのボックスやプレーヤーのチップにマウスを乗せると、規則がそのままの文言で表示されます。二つは朝の枠です。朝の43文字（morning 43）は09:00〜09:15 UTCの第2群43文字で、朝の宛先付き集中送信（morning direct campaigns）は、米国中部時間の04:00台に1つの宛先へ宛先付きEAMが3件以上送られるものです。これは夏時間なら09:00 UTC、標準時なら10:00 UTCにあたります。二つは短いメッセージの対です。短長の対（short/long pair）は最も多いモチーフで36日あり、第3群の22文字か25文字のすぐあとに、より長い第3群が続くものです。組み合わせは22/25、22/31、22/32、22/41、22/45、25/36、25/38、25/48、25/63の九つに決まっています。五つは数字で名付けられた対、一つは4件のメッセージの並び、二つはスーパーバースト（super burst impacts）です。スーパーバーストは、第1群の接頭辞が廃止または導入される日に、新しい第1群の30文字が互いに15分以内に4件以上出るもので、前日や翌日も認める試案版もあります。このうちいくつかは普通の検索として書き出すことができ、今のところ同じ日を返します。m2740とg2c40~g3c27はどちらも8日、m3537とg2c35&gt;g2c37~30はどちらも5日、m3227とg3c32&gt;g3c27はどちらも7日で、m43はg2c43@0909と一致します。モチーフの検索語を使えば入力の手間が省け、チップの上でパターンに名前が付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カードをクリックするとプレーヤーが開きます。検索中にEnterを押しても、最初にヒットした日で開きます。まずタイムカードの画像が表示され、Spaceかクリックで動画が始まります。矢印キーでタイムカードを順にたどれます。左右は前と次のカードの日、上下は1週間前か後の同じ曜日です。折りたたんだ検索では、たたまれた週を飛ばします。aキーでInternet Archiveにある複製に切り替わり、もう一度押すと戻ります。どのカードにも複製へのリンクがあり、どちらを選んだかはブラウザが覚えています。動画の下にはチップの列があり、その日の目印が決まった順に並びます。SKYMASTERかFAKEMASTER、名前のあるFORCEとREGIONの宛先、ZERO、カルーセル、早朝の集中送信、モチーフ、ブロックの長さ、そして第1群以外のMORE TO FOLLOWとE6Bだけのメッセージの件数です。2025年10月26日には、SKYMASTER、ALPHA FORCE、CHARLIE FORCE、REGION CHARLIE、G2 carousel、G2 15-block、4 non-G1 MTFが出ます。最後のものは右にはみ出していてスクロールしないと見えず、列は、まだ続きがある側の端が薄くなっています。ほとんどの日にはチップがまったくなく、641日のうち406日です。最も多いのは2026年9月24日の10個で、FAKEMASTERから1 E6B exclusiveまで並びます。チップはどれも検索です。G2 15-blockをクリックすると、ギャラリーはこのチップを持つ47日を含む週だけに折りたたまれます。通信、モチーフ、ブロックのチップにマウスを乗せると、その背後にある規則が表示されます。SKYMASTERと宛先のチップには、表示する規則がありません。最後の二つのボタンは、次に取り上げるcompare（比較）と、YouTubeチャンネルでその日付を検索するrecordings（録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プレーヤーでcを押すか、compareをクリックするか、検索でShift+Enterを押すか、vリンクを開くと、日が00:00から24:00 UTCまでの一つの軸の上に積み重なります。ですから、同じ時刻はどの行でも同じ位置にきます。棒の1本1本が1件の放送で、群の色で塗られています。残りはページの凡例が1行で説明しています。高い棒は宛先付き、線の下はE6B、淡い棒は再放送、点は第1群以外のMORE TO FOLLOWです。2行のあいだの破線がリンクです。リンクが意味するのは、同じ群・同じ長さで5分以内ということだけです。ページは文面を比べないので、リンクされた二つの放送が同じメッセージとは限りません。行のあいだの数には「shared」と書かれていますが、リンクされた枠の数として読んでください。再放送と、背景をなす第1群の30文字はリンクから除かれ、各放送がリンクされるのは多くても1回です。リンクは隣り合う行のあいだにしか引かれないので、行の順序を変えると数も変わります。検索欄でメッセージを指定していると、そのメッセージは最大の濃さで、リンクされたものは40パーセント、残りは10分の1の濃さで表示されます。棒にマウスを乗せると、時刻、接頭辞、長さ、宛先が表示されます。クリックすると、ギャラリーはそのメッセージ自身の検索を実行します。13:02 UTCの第2群の30文字ならg2c30@1302xで、60日です。日付をクリックするとその日が上に重なるプレーヤーで開き、サムネイルをクリックするとその場で再生されます。vリンクはカードの有無にかかわらず記録のある日ならどれでも受け付け、カードのない行には「no timecard」と表示されます。このビューにはまだbetaの表示が付いています。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カイマスターの日曜日、2025年10月26日で、比較ビューが何をするかを見ます。ギャラリーは、カードのある日ごとに、ほかのカードのある日から最も近い日を三つまで選んで持っています。641枚のカードのうち550枚に少なくとも一つ、527枚に三つすべてがあります。ページは得点の計算方法を詳しくは書いていませんが、おおよそ次のとおりです。第1群の30文字以外の各放送は2回数えられます。正確な群と長さとして1回、群と「30文字かそれ以外か」という長さの区分として1回で、宛先付きの通信は別に扱われます。10分以内の放送どうしが一対一で対になり、珍しい種類ほど重く数えられ、得点は0から1までの値をとります。251026の上位三つは、2024年10月20日が0.14、2024年9月11日が0.10、2024年11月20日が0.09なので、ゆるい一致です。最も近い順に並べると、251026が241020の上に来て、二つは8本のリンクで結ばれます。8本とも第2群の30文字のメッセージで、7本は同じ分、1本は1分差で、15:09 UTCと15:08 UTCです。接頭辞は7RとP5で異なり、16件すべてが宛先付きです。251026ではALPHA FORCEとCHARLIE FORCEの連名、241020ではALPHA FORCE単独か両方の連名です。どちらの日も日曜日で、どちらも検索のスライドで見たCHARLIE FORCEの連なりの中にあります。同じ4日をcで日付順に切り替えると、リンクは3本、4本、3本になります。比べるのは隣り合う行だけだからです。ここで示しているのは1年を隔てた時刻の一致で、それが何を意味するかは別の問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5部では、二つの時系列のページを扱います。まず、日単位のメッセージカレンダーを詳しく見ます。セルと群の棒、監視範囲の3段階、スカイマスターと偽物マスターの目印とツールチップ、群と長さの絞り込みと「いずれか」「すべて」の切り替え、そして末尾反復の目印です。次に、再放送時系列のページで日単位から分単位へ拡大し、再放送がどのように見えるのか、そして「2時間以内が94.3%」という数字がどこから来るのか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カレンダーは、データセットのすべてを日単位で引ける索引です。1年が1つのタブで、12か月分の表が並び、各月は月曜から日曜までの列に週番号の列が付いていて、セル1つが1日です。まずセルの下端の棒を見てください。群ごとに1つの位置があり、左の第1群から第4群まで並びます。第5群はとても少ないので、端に小さな四角が付きます。棒は、その群がその日に放送されたことを示すだけです。件数に応じて伸びることはないので、第1群のメッセージが107件あった日も、1件だけの日も同じに見えます。件数はマウスを重ねると出る表示にあり、これは後で説明します。このページの元になっているのは、2022年1月25日から2026年10月9日までの1,072日分、完全に書き取れたメッセージ15,277件です。「完全に書き取れた」とは、一部しか書き取れなかったもの、取り消し（disregard）された放送、不確かな文字を含むものを除いたという意味です。放送はすべて数えるので、再放送もその日の合計に加わります。ページ下の注記には「データセットは一部の期間を除き網羅的ではありません」とあり、どの日が監視されていたかはセルの枠で示されます。これは次のスライドで扱います。この画面の赤とオレンジのセルは、スカイマスター事象と偽物マスター事象の表示で、ページを開いた時点ではオフになっています。録音のある日をクリックするとYouTubeで開きます。DTCPのタイムカードがあればそれが、なければDCRPの録音が開きます。年はURLに入るので、?2023で2023年が開き、左右の矢印キーで年を移動できます。なお、カレンダーの群の色は、サイトのほかの部分とは少し違う色合いで描か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いちばん大事なのはセルの枠です。誰かが聞いていたかどうかを示すからです。凡例の項目は三つで、ここに挙げたのはその文言そのままです。「網羅的監視」は実線の枠です。その日のDTCPかDCRPの録音があるか、私の記録でその日は監視していたが放送はなかったとされている、という意味です。「非網羅的な監視」は破線の枠です。録音はないものの、いくつかのメッセージが記録されているので、誰かが何かを聞いていたことになります。こうした日の棒は半分の濃さで描かれます。「監視なし」は枠なしで、録音もなく、何も記録されていません。2022年1月25日から2026年10月9日までの1,719日のうち、実線が789日、破線が305日、枠なしが625日で、実線は半分を少し下回ります。年によって大きく変わります。2023年は365日のうち242日が実線です。2025年は実線が124日、枠なしが171日です。2026年はこれまでのところ実線127日、破線77日、枠なし78日です。ですから、メッセージのない日に意味があるのは実線のときだけで、枠なしの日からは、あったともなかったとも言えません。メッセージがまったくない実線の日は22日あります。そのうち14日は通信がゼロと確認された日で、ツールチップには「電文合計: 0」と出ます。残りの8日は録音はあるもののデータセットに何も入っておらず、ツールチップには「データセットに電文なし。」と出ます。ゼロの例でいちばんはっきりしているのは2023年のクリスマスで、12月24日、25日、26日の3日間が続けて実線で、どの日もゼロです。逆向きにも同じことが言えます。破線の日にメッセージが少しあれば、何かが放送されたことはわかりますが、それを放送されたもののすべてと受け取ることはで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カイマスターと偽物マスターの日は、凡例からオンにする表示の層で、1回クリックすると両方がオンになります。二つの用語はFAQで説明しています。スカイマスターのイベントとは、正しくは戦略軍（STRATCOM）主導の大規模な演習のことで、無線で聞かれるコールサインSKYMASTERは、その演習に伴うことも伴わないこともある兆候の一つです。偽物マスターは、スカイマスターに私が期待する特徴がすべてそろっているのに、SKYMASTERの呼び出しが記録されていないものです。赤の日は、目次ページの一覧にある日付つきのスカイマスター26件に、そのうち5件の翌日を加えたもので、合わせて31日です。オレンジの日は、偽物マスター5件に、目次ページで空振りマスター（NOTHINGMASTER）と呼んでいる2日、2025年4月30日と2026年4月21日を加えたもので、合わせて7日です。目印はこの事象の一覧から来ているので、監視範囲とは関係なくその上に重なります。赤の日のうち18日は実線、10日は破線、3日は枠なしです。枠なしの3日も、表示をオンにすると赤い枠が付くので、データセットに何もないことは、マウスを重ねたときの表示で確かめることになります。2023年8月30日を例に、マウスを重ねると何が出るかを見ます。まず日付と事象のラベル。次に録音で、ここではタイトルにSKYMASTERと入ったDTCPのタイムカードと、その下のサムネイルです。続いて合計の17件と、そのうちE-6Bが送信したものの数、16件。そのあとに群ごとの欄があり、第1群は16件で、すべて30文字、接頭辞はすべてPJ、第2群は1件で接頭辞はRMです。長さは長い順に並び、接頭辞は上位5つまで表示されます。翌日の8月31日は様子が違います。メッセージは9件で、そのうち7件が第2群のRMで、その中の1件は47文字です。この日のツールチップにはE-6Bの行がまったくありません。E-6Bの放送として印の付いたメッセージが1件もない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絞り込みはサイドバーにあります。群のチェックボックスが5つ、17文字から292文字までの長さのチェックボックスが103個、それに「いずれか」（ANY）と「すべて」（ALL）を切り替えるボタンです。その裏の規則は見た目より厳しく、群と長さは同じ1件のメッセージで照合されます。第2群と30文字にチェックを入れると、点灯するのは、30文字の第2群のメッセージがあった日だけです。同じ日に第2群の41文字と第1群の30文字があっても数えません。条件に合わない日は薄い枠だけになり、チェックを外した群の棒は消えます。スカイマスターと偽物マスターの表示がオンなら、その色はそのまま見えています。「いずれか」では、チェックした長さのどれか1つがあれば点灯します。「すべて」では、チェックした群の中に、チェックしたすべての長さがそろっている必要があります。すべての長さにチェックが入っているときは、「すべて」は「いずれか」と同じ動きになります。どちらの方式でも、チェックした長さを2つ以上含む日には水色の枠が付きます。ここで挙げる例は、すべて公開中のページで確かめたものです。17文字だけにすると、5年分の中で残るのは6日で、すべて2026年、すべて第2群です。第5群だけにすると4日が残ります。2025年6月10日の7件、6月11日の4件、そして2026年1月27日と29日の1件ずつです。次に22と41にチェックを入れます。「いずれか」では128日が点灯し、そのうち15日が水色の枠です。「すべて」に切り替えると、その15日だけが残ります。最初は2024年10月15日、最後は2026年9月7日です。15日のうち5日は第3群の22文字と第2群の41文字の組み合わせなので、第3群以外のチェックをすべて外すと10日が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切り替えは、30文字の論文からそのまま来ています。第1群では、メッセージの最後の6文字、つまり25〜30文字目で、同じ文字が繰り返されることはほとんどありません。論文はこれを二通りに述べています。その6つの位置のどの2つをとっても、一致するのは約0.2%で、無作為なら3%です。そして6文字がすべて異なるのは97.2%で、無作為なbase32なら60.8%になります。論文はさらに、この規則がどの接頭辞でも成り立ち、2024年10月の変更の影響も受けていないとしています。ですから、第1群の30文字のメッセージが末尾で文字を繰り返すと、カレンダーはその日に印を付けます。凡例の「末尾反復の日」をオンにすると（事象の目印とは別の切り替えです）、そうした日のセルの右上に小さな赤い点が付きます。マウスを重ねると「形式逸脱 — 末尾反復」という赤い行が加わり、その後に時刻と6文字の末尾が続きます。実例を二つ挙げます。2026年9月23日20:43 UTCのもので、接頭辞はAC、末尾はHMJ2JJで、末尾にJが3つあります。もう一つは2022年2月13日22:16 UTCのもので、接頭辞はB4、末尾はA5NND5で、Nが2つ隣り合い、5も2つあります。カレンダー全体では121日、一覧にあるメッセージは128件で、1年あたり16〜34日です。ページはこれを形式逸脱と呼ぶだけで、それ以上は述べていません。なぜ起きるのかは書かれておらず、私もここでは触れません。この印は第1群だけのものです。対照として、論文では第2群の末尾がすべて異なるのは61.3%で、ほぼ偶然の率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カレンダーは日単位で見ますが、このページは分単位まで拡大して、メッセージが最初に放送されたあとに何が起きるかを見ます。細い行の1本1本が、分単位で見て異なる2つ以上の時刻に放送された1件のメッセージで、どの行もそれぞれの初回放送、t = 0を左端にそろえてあります。右側の点はその後の放送で、目盛りが1分から7日までの対数軸に並びます。白抜きの輪は、E-6Bからの放送という印の付いた放送です。1行は、まったく同じ文字列がもう一度聞かれたもので、間隔がどれだけ空いていても1行になります。ですから、1週間離れた2回の放送でも1行です。ページの説明文そのものが、EAMのおよそ3つに1つは再放送され、ほとんどはおよそ2時間を過ぎると再放送されない、と述べています。ページのデータからわかることは次のとおりです。行は2,725行で、期間は2022年1月25日から2026年9月24日まで、放送は9,134回、そのうち2,807回にE-6Bの印が付いています。2,571行、つまり94.3%は、最後の放送が初回から2.00時間以内です。継続時間の中央値は34分で、最初の再放送は初回放送から中央値で13分後です。2時間のところの境目ははっきりしています。115〜119分で終わる行が66行あるのに対し、120〜124分は15行しかありません。図の上でも、点は2hの目盛りのところでちょうど減ります。それを越える行が、説明文で特に注意が必要だとしている行です。例として、2022年1月30日の1行を挙げます。最初の6文字のB46UDIがラベルです。7.48時間にわたって14回放送され、最初の1時間を過ぎてからはおよそ30分ごとでした。ページ上で行にマウスを重ねると、日付、群、ラベル、放送回数、継続時間が出ます。最も長いのは第2群の宛先付きメッセージで、173.98時間をあけて2回放送されました。一つ注意があります。行に含まれるのは、聞かれて書き取られた放送だ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部では、サイトがメッセージを長さ別にどう読んでいるかを扱います。出発点は「構造」タブで、メッセージの長さごとに1ページ、17文字から292文字まで、103ページのヒートマップが並んでいます。行と色の意味、有意性の基準、142文字のページでの実例、そしてページを積み重ねた「長さをまたぐ対」を順に見ていきます。続いて30文字の論文を詳しく取り上げます。Mと5の不足、最後の6文字の規則、日付を特定できる2024年10月の変更です。そのあと、34・40・42・46文字を扱う4本の短い形式分析の論文と、IPEマップに進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構造の分析は「構造」タブから始まります。メッセージの長さごとに1ページ、17文字から292文字まで、103ページが並んでいます。各行にはファイル名、細い帯、6つの点があります。帯は、そのページで色の付いた文字がどこにあるかを、位置ごとに1マスでまとめたものです。帯はすべて同じ長さの目盛りで描かれているので、30文字の帯は短く、292文字の帯は全幅になります。点は第1〜5群と不明です。点灯していれば、その群がそのページにあるという意味です。点にカーソルを合わせると、帯がその群だけで描き直され、ツールチップにその長さでのその群の接頭辞が表示されます。142文字の行では第4群の点だけが点灯していて、3QからZXまで18の接頭辞が表示されます。103行全体では、第2群が59行、第4群が50行、第3群が38行で点灯しています。第1群はどこにも点灯していません。記録にある第1群のメッセージはすべて30文字で、第1群は30文字のページから意図的に除いているからです。第1群は30文字の論文で扱っており、それは後で説明します。キーボードで長さを入力するとその行が選ばれ、Enterでページが開きます。一覧の上には2つの関連ページがあります。すべての色を説明する「ヒートマップについて」と、ページを積み重ねた「長さをまたぐ対」です。タブの説明文は目的をはっきり述べています。メッセージを文字数ごとにまとめ、繰り返し現れる部分を分析して、構造の要素の候補を探す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は142文字のヒートマップのページです。1行が1つのメッセージ本文です。再放送されたメッセージも1行だけで、上に表示される日付・時刻・コールサインは、記録でのその最初の行のものです。行は群ごと、その中で古い順に並びます。群が2つ以上あるページでは、「Display Mode」の切り替えで、すべての行を時間順に並べることもできます。群は接頭辞、つまり最初の2文字を記録のPR_GROUPS表で引いて決めます。表では、放送の年かそれ以前の最新の行で決まります。すべての検定は、長さごと・群ごとに別々に行います。群どうしで証拠を共有することはなく、ほかの長さから借りることもありません。そのため、よく知られたパターンでも小さなページでは淡い色になることがあり、これについては後で触れます。除外するものがいくつかあります。部分的な受信、私が無効とした読み取り、メッセージのない行、そして受信できなかった文字を含むメッセージです。1文字目と2文字目はどのパターンにも含めません。接頭辞は入れ替わるラベルだからです。「ヒートマップについて」のページでは、261005時点でこの条件を通る記録の行を15,211行と数えています。ページ上では再放送は1行にまとまり、30文字のページは第1群と第2群を除くので、103ページの行は合計1,838行です。上端のオレンジの棒は位置ごとに1つのセルがあり、その濃さはその列にある色付き文字の平均の濃さです。そのため、山になっている所が構造のある場所を示します。説明の枠には検定の内容が書かれています。有意水準0.05で、パターンの種類ごとにデータ全体でボンフェローニ補正をかけています。このページには40件のメッセージがあり、すべて第4群です。左右の矢印キーで前後の長さに移動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ヒートマップについて」のページには色ごとの節があり、すべてが同じ方法で決まるわけではありません。赤は連続で、同じ文字が4つ以上続くものです。連続は検定なしで、すべてのメッセージで色が付きます。連続区間、つまり群の連続が揃う範囲の中では最大の明るさ、外では0.75以上です。珊瑚色は2〜3文字の連続で、連続区間の中でだけ色が付きます。琥珀色と青は同じ対の検定から出てきます。位置の対ごとに、両方に同じ文字があるメッセージを数え（3件以上が必要）、その群の2つの文字が偶然一致する確率と比べます。第4群では約3%です。2つの位置がちょうど3つ離れていればX??Xの形で琥珀色、それ以外は青です。青は鏡像ブロックにも使います。各メッセージが2〜5文字のブロックを同じ2か所に繰り返しているものです。青緑は、メッセージが自分の一部を繰り返しているものです。完全な繰り返しと一部が異なる繰り返しでは、規則は長さです。偶然の繰り返しの期待数、L² ÷（2 × 26ᵏ）が0.05未満でなければなりません（Lはメッセージの長さ、kは一致する文字の数）。これは30文字で3文字、142文字で4文字、292文字で5文字にあたります。モチーフ、つまり1つのメッセージの中で3回以上現れる3文字以上の並びには、データ全体での独自の検定があります。薄紫は下位形式で、群の一部のメッセージだけで成り立つ対です。淡い色は、あと少しで届かなかったものです。藤色、薔薇色、薄青紫は、重なる対を見分けるための差し色にすぎません。明るさは、その列のパターンが群の中でどれだけ多いかを表すので、暗めのマスでも検定は通っています。パターンが重なるときは連続が優先され、次に短い連続、繰り返し、対の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位置の対が何十万もあれば、偶然だけでよく一致するものも出てきます。そこで、パターンの種類ごとに、データ全体でのその種類の検定すべて、つまりすべての群のすべての長さのすべての対について補正します。261005時点で、対と連続の検定は538,498件です。0.05をこれで割ると、濃い色の対や連続には、約1,100万分の1未満の偶然の確率が必要になります。鏡像ブロックは別に数えて1,879,956件、約3,800万分の1です。形式の変化は52件で、ある長さで8件以上のメッセージがある群ごとに1件です。その見返りとして、濃い色の対や連続がどこかで1つでも偶然である確率は5%以下になります。その代わり、小さな群ではほぼ全部が一致しなければなりません。2つの位置が偶然一致する確率が3%なら、4件中4件のメッセージがすべて一致する確率は約120万分の1です。これでは足りないので淡い色になります。5件中5件なら約4,100万分の1で、濃い色になります。淡い色は、そのページの検定だけで補正します。そのページで偶然なら2回未満と見込まれるものです。この52件の形式の検定によって、2つに分かれた群もあります。38文字の第3群の3Aと3B、39・43・55文字の第2群の2Aと2Bです。どのページでも上下の矢印キーを押すと旧版になります。旧版では、群のメッセージの30%に現れれば高頻度の対とみなし、データ全体の検定はまったくありません。旧版も今も公開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ここでは、ページを行に沿ってではなく、列に沿って読む方法を示します。142文字のページの実際の4行で、17〜48文字目を、ページ自身の色で示しています。1行目は2022年11月16日06:22 UTCのCHOPHOUSEで、「ヒートマップについて」のページの実例でもあります。21文字目と24文字目にS（琥珀色のX??Xの形）、30文字目と32文字目にI（青）、42〜45文字目に7777（赤）があります。1週間後のPOLICEMANは、21文字目と24文字目が2で、42文字目から5555です。ページ全体では、40件中34件で21 = 24が成り立ちます。「ヒートマップについて」のページは、残る6件がどうなっているかを調べています。6件中5件は、代わりに23文字目と24文字目に二重文字を持っています。ここではBEERPARTYのGGです。これは代替形として検定され、珊瑚色で表示されます。2024年1月24日のFIRELIGHTは、どちらも持たない唯一のメッセージです。連続はこの範囲の先にも続きます。公開されている行を数えると、42〜45文字目の4文字の連続は40件中38件、64・86・108文字目では40件中39件にあります。間隔は22文字で、「G4 EAMの構造」のページが土台にしているのと同じ22文字の間隔です。130文字目では40件中28件に下がります。ページ上で1行目の琥珀色のSをクリックすると、21 = 24を持つ34行は明るいままで、残りの6行は薄くなり、欠けている部分は点線の枠で表示されます。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ヒートマップの各ページは、1種類の長さを単独で検定しています。「長さをまたぐ対」はそれを積み重ねたもので、1行が1種類の長さ、位置は横に並び、群ごとに1つの表になっています。色の付いたマスは、そのパターンがその長さで通り、さらに同じ群のほかの2種類以上の長さでも同じ場所で通っていることを示します。そのため、長さをまたいで成り立つパターンは列として立ち上がります。淡いマスは、あと少しで届かなかったものです。長さを並べるには基準を選ぶ必要があるので、短いメッセージには破線の空きが入ります。先頭は左に、末尾は右に揃い、下の目盛りは末尾から数え、−1が最後の文字です。偶然でないかを確かめるため、各ページのパターンを無作為な位置に移す作業を500回行いました。2種類の長さでしか揃わないパターンは、そうしても同じくらい現れたので除いています。「偶然」の列は、これだけ広く揃うパターンが、無作為な配置で平均いくつ現れるかです。私の例は第4群の21 = 24です。56〜268文字のうち12種類の長さで通り、偶然ならこのようなものは0.0個と見込まれます。件数はツールチップに出ます。120文字で39件中36件、142文字で40件中34件、216文字で14件中14件、246文字で8件中8件です。さらに7種類の長さでは、あと少しで届きません。たとえば158文字の3件中3件や224文字の4件中4件です。一方、186文字の5件中5件は通ります。有意性の基準のスライドで見た、4件中4件と5件中5件の違いです。42〜45文字目の連続区間は19種類の長さで揃っています。このページは自らを試作ツールと呼んでおり、迷ったときはヒートマップのページ自体が優先されます。マスをクリックすると、その長さのページが開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文字のヒートマップは第1群と第2群を除いています。ページ自身の集計では9,000件を超えるメッセージで、ページの注記がその理由を述べています。これらの群の構造は一致の不足や文字数の偏りとして現れ、ヒートマップはそれを強調しないからです。これらを扱うのが30文字の論文で、暗号文だけから分析しています。2022年1月25日から2026年7月29日までの、異なる30文字の文字列それぞれの初回放送を取り上げています。観測は10,899件、一意なメッセージは5,881件です。メッセージは32記号のアルファベット、英字AからZと数字2から7を使います。出発点の仮定は、優れた暗号化なら得られるはずの状態、つまりどの記号もどの位置でも等しく現れ、それぞれ3.125%というものです。第1群では、まずMと5がこれを破ります。第1群の本体の文字109,676個のうち、Mは1.929%、5は1.952%で、全体で約40%少なくなっています。z値はおよそ−22です。暗号学的な乱数生成器から引いた同じ大きさのデータを同じ手順に通すと、±2以内にとどまります。不足は本体のほぼすべての位置にあります。100件以上のメッセージがある第1群の18の接頭辞すべて、2022年のGFから2026年の3Gまでに現れ、2024年10月の前後でほぼ同じです。接頭辞のすぐ後の3文字目と4文字目は、どちらの形式でも不足を免れており、論文はこれを先頭の枠と呼んでいます。論文はこの不足を、メッセージを生み出すものが何であれ、その固定された性質だとしています。形式が変わっても変わりませんでした。第2群にも不足はありますが、弱い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群の2つ目の発見は、最後の6文字、25〜30文字目に関するものです。この帯は論文の表5です。隣り合う位置の対ごとに、両方に同じ文字があるメッセージを数えています。第1群のメッセージは3,917件なので、各対で約122件が見込まれ、終わりの手前まではおおむねその通りです。最後で8、5、10、10、9に落ちます。論文は続いて、隣り合う対だけでなく、最後の6文字の中の15対すべてを調べ、どれも約15分の1に抑えられていることを見つけています。6つの位置のどの2つも、一致するのは約0.2%だけで、無作為なら3%です。言い換えると、32記号のアルファベットから無作為に選んだ6文字がすべて異なるのは約61%にすぎません。1年が32日の誕生日問題です。第1群は97%です。この規則は2022年から2026年まで、件数の多い18の接頭辞すべてで成り立ち、2024年10月の変更の前後でも0.9722と0.9729で同じです。論文はこれを形式の中で最も頑健な特徴と呼んでいます。オレンジの行は第2群で、最後の落ち込みはなく、すべて異なるのは61.3%、偶然なら60.8%です。緑の行の19〜21文字目の落ち込みは本物ですが、2つの形式を合算したもので、次のスライドで扱います。これが現れる場所はもう1つあります。カレンダーの日のツールチップは、最後の6文字に繰り返しを含む第1群のメッセージに「形式逸脱 — 末尾反復」の印を付けており、カレンダー全体で128件あります。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群は一度だけ形式を変えており、論文はその日付を特定しています。方法はこうです。第1群の3,917件のメッセージを放送時刻順に並べ、あらゆる分割点を試して、どの位置どうしが一致するかのパターンが最も大きく変わる場所を探します。接頭辞はどのみち時間とともに入れ替わるので除きます。尤度比320で1つの切れ目が際立ち、2024年10月2日の00:33 UTCと00:57 UTCのメッセージの間にあります。米国では10月1日の夜で、接頭辞C6が3Eに代わった数時間後です。ただし境目ははっきりしません。1件のメッセージで新しい形式とほぼ確実に分かる唯一の印、19〜21文字目の中の繰り返しは、新しい形式のメッセージの約10件に1件にしか現れません。そのため分割点は、見込みが20対1に達するまでに、14件前から7件後までずれることができます。範囲は9月25日から10月3日です。メッセージの順序を並べ替えると、切れ目は消えます。切れ目の前は、19〜21文字目がM/5の不足を免れ、互いに繰り返すこともありません。2,587件で隣り合う一致は0と1です。切れ目の後は、この2つの性質がいっしょに消え、1,330件で48と48、つまり無作為の率になります。そして不足を免れる新しい枠が16文字目と17文字目に現れます。論文は、変更が10月1日00:00 UTCに、その日の接頭辞の変更とともに入ったと見ています。ヒートマップ、IPEマップ II、「G2・G3 EAMの構造」のページはすべて、この時点を境目にしています。論文は暗号の名前を挙げず、各領域にはふるまいだけで名前を付けています。第2群には変化点がまったくありません。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本の短い論文が、ほかの長さに同じ種類の検定を行っています。その中には、隣り合う位置だけでなく位置のすべての対を調べる位置間一致の検定も含まれます。34文字の集団はすべて第2群で、一意なメッセージは146件ですが、ほとんど何も出てきません。Mと5の弱い不足があるだけで、論文自身の比較では第1群の約5分の1の強さです。561の位置の対のどれも通りません。40文字では第3群が自分を複製しています。22文字目から始まる3〜7文字の並びが、9位置後の31文字目からもう一度現れます。論文自身の表では、ちょうど22文字目と31文字目で20件中17件です。40文字の第2群は2文字の部分を繰り返しており、16文字目と17文字目が21文字目と22文字目でもう一度現れます。35件中22件です。42文字では第3群が短い並びを3〜5回繰り返します。あるメッセージでは17・22・27・32・37文字目にU7Nがあります。42文字の第2群には2本の糸があります。15文字目の文字が17件中15件で23文字目に再び現れ、27文字目にもよく現れます。17文字目の文字は25文字目と29文字目に再び現れます。46文字の論文には第2群のメッセージが7件しかありませんが、7件すべてで15 = 23が成り立ち、42文字と同じ15・23・27の形です。どれも標本は小さく、3本の論文は2026年4月17日付けで、現在の30文字の論文より前のものです。ここでの数値は各論文の表から取っています。どの論文も、繰り返しが何を意味するかが分かるとは言っ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Eマップは、この位置間一致の検定を、すべての集団について一度に描いたものです。集団とは1つの群の1種類の長さのことで、対象は第1〜4群です。集団ごとに小さな正方形のマップが1枚あります。i行j列のピクセルが答えるのは1つの問いです。位置iとjに同じ文字がある頻度は、偶然で見込まれる32分の1と比べてどうか、です。一致が多ければ群の色、少なければ青で、標準偏差のおよそ2倍以内なら暗いままです。IPEマップ IIは新しい版です。接頭辞を除き、すべてのマップを2024年10月1日00:00 UTCで分けて、前を上の三角形、後を下の三角形に描きます。そのため、切れ目を越えて残った形式は対称に見えます。3段目の2つ目にある第1群の30文字のマップは、論文を1枚の絵にしたものです。19〜21文字目の青いかたまりは対角線の上側だけにあり、25〜30文字目の青い角は両側にあります。第4群の142文字のマップは、21と24が両側で点灯し、前が27件、後が7件で、合わせると先ほどの34件になります。第3群の22文字のマップには下の三角形しかありません。これらのメッセージは切れ目の後にしか存在しないからです。147枚のマップのうち、両側にメッセージがあるのは59枚、前だけが40枚、後だけが48枚です。左右の矢印キーで群を、上下で長さを切り替え、eキーで前と後の表示を順に切り替えます。マップをクリックすると、その長さの旧版のヒートマップのページが、その群を選んだ状態で開きます。マップの数え方は論文と少し違うので、私はその数値を論文の数値と分けて扱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部では、公開している構造のページから実際のメッセージを使って、群ごとにメッセージの中身に入っていきます。最初は第4群です。各フィールドを閉じる目印、長さを表す1つの式、22文字のブロックの中身、版、結尾、そして同じ接頭辞の後のメッセージが前のメッセージをどう複製するかを見ます。続いて、その他タブにある長文G4のブロックのページ3つを紹介します。こちらは独自の242件のメッセージを使っています。最後は第2群と第3群です。構造のあるG3メッセージすべてに当てはまる1つの枠組みと、5文字・14文字・23文字のブロック、次に第2群の15文字の複製、そして同じ枠を保つG2・G3の組を扱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「G4 EAMの構造」のページは、1つの考えから始まります。長文の第4群メッセージはフィールドを積み重ねたもので、どのフィールドも目印で終わる、というものです。目印は3種類あります。4連文字は、GGGGのように1つの文字を4回続けたものです。B行と本体ブロックの目印で、標準の配置にある目印の枠1,005個のうち765個、約76%を占めます。X??Xは、1文字目と4文字目が同じ4文字です。21〜24文字目でA行を閉じます。同じ文字が2つ並ぶだけの二重文字は、まれな形に出てくる短いフィールドを閉じます。これは実際のメッセージで、261004の21:38 UTCに放送されたMM-164を目印のところで区切ったものです。接頭辞が2文字。A行は18文字と、X??XのJ-T-A-J。B行は17文字と、4連文字のEEEE。続いてブロックが5つで、それぞれ18文字と4連文字、最後に目印のない9文字の結尾です。ブロック3では4連文字の直前にHが5つ続いていますが、これは値の一部で、目印は枠の位置にあるWWWWです。このように読むと、2022年1月から2026年10月までの54文字以上の異なるメッセージ257件のうち175件が、目印で閉じた行に余りなく分かれます。さらに15件も、A行を除けば同じように分かれます。これらのA行では、2023年から2024年にかけての一時期、X??Xがなくなっていました。ページのカードはすべてこの規則だけから描いています。手で置いた目印は1つもなく、偶然できたX??Xもそのまま表示して、基準率が見えるように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行が決まれば、長さも決まります。接頭辞2、A行22、B行21、結尾9に、22文字のブロックn個を足すと、54 + 22nになります。ブロックが3つ、4つ、5つなら120、142、164で、長文で最も多い長さです。追加の頭部は短い行の対で、A′が17、B′が21なので、1つにつき38増えます。これが2つ目の系列で、92から始まります。表の件数は、ページ下部にあるBETAの印が付いた全長一覧から取ったもので、各長さでちょうどこの組み立てになっているメッセージの数です。たとえば142文字は40件あり、そのうち28件が基本形で、さらに10件は最後のブロックがX??Xで閉じる形です。ページはこの式を雛形ではなく部品の一覧として扱います。式は部品を数えるもので、部品の順序は変わることがあります。246文字は、ブロック3つ、追加の頭部、さらにブロック4つという順です。ページでは矢印キーで各系列をたどれます。式からは導かれるものの、まだ受信されていない98、114、136のような長さも含みます。短い形も同じ部品を使い、ブロックの位置に##で閉じる短いフィールドの連なりが入ります。56文字と62文字は、接頭辞、A行、23文字または29文字の連なり、結尾です。108文字と176文字には独自の固定フィールドがあり、ブロックはまったくありません。そして残ったものがあります。4連文字がどこにもないメッセージが62件あり、そのうち27件はそれでも読めます。残りの35件は規則では読めませんが、最も長い19件のうち15件は、それでも24文字目でA行を閉じ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1つのブロックの中です。ページは、MMの1つのフィールドの複製3つを並べています。260901のMM-186のブロック2と、260912のMM-224、261012のMM-246それぞれのブロック4です。22文字のブロックは3種類の文字でできています。枠組みは、1〜5文字目の先頭、11文字目、19〜22文字目の4連文字です。どのフィールドかを示し、ページでは同じ接頭辞のもとでそのフィールドに固定されたものとして扱います。ここでは3つともV-M-V-4-O、3、QQQQです。版は1、5、12、13文字目です。1つのフィールドには2〜3の版があり、違うのはそこだけで、この3つの複製は同じ版です。値は6〜10と14〜18文字目で、たいてい複製ごとに違います。D-E-Z-M-7、次に7-Z-Z-H-E、次にF-E-M-E-Bです。各列の下の数字は、ページにある再利用ブロック442個すべてから出したもので、その位置が再利用元のブロックと一致する割合です。偶然なら約3%です。4文字目は100%一致し、11文字目は99%、4連文字は99〜100%、2文字目と3文字目は81%と87%です。版の位置は55〜73%、値は8〜21%です。ページはさらに、値が最大のエントロピーを持つ32記号のようにふるまい、検査文字はなく、884組の5文字のうち1組も繰り返さないことも示しています。つまり各ブロックは、ラベルに5文字の本文の区間が2つ付いたものです。フィールドが動いていることにも注目してください。ブロック2からブロック4へ移っています。複製されたブロックが同じ枠にとどまるとは限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版の文字は、たいていメッセージごとに一斉に切り替わります。この図は、接頭辞BVの3つのフィールドを、241031から250122までの5回の放送で追ったものです。残したのは先頭、11文字目、版の位置だけです。値はほとんど毎回変わるので、ここでは雑音にしかなりません。フィールドは中ほどの文字で呼び、UCV、MU6、4ZVとします。最初のメッセージBV-268では追加の頭部のあとのブロック6〜8、後の4件ではブロック1〜3です。灰色の文字はこの図のどこでも変わりません。ピンクの文字が版で、最初と同じなら薄く、変わっていれば濃く表示しています。241231までの動きは13文字目だけで、それも1フィールドずつです。そして250122のBV-166では、3つのフィールドすべてで5、12、13文字目が同時に変わります。9文字が一緒に変わり、1文字目はそのままです。全体では、2つ以上のフィールドを共有するメッセージ対のほぼすべてが、共有する全フィールドで同じ版を使うか、全フィールドで別の版を使います。250122より前の1フィールドだけの変化は、その例外に含まれます。ページはこれを、版がメッセージに付いていると読んでいます。また、この切り替えで複製が止まったわけではありません。BV-160とBV-166の対はこのあとの系譜の表に出てきます。オフセット0で160文字中82文字が同じ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長文の第4群メッセージの最後の9文字が結尾で、その最初の2文字は先を指しています。メッセージは接頭辞のフィールドの連なりを運び、結尾は、接頭辞の順序で次に来るフィールドの先頭2文字で始まります。ここでは2026年9月と10月のMMのメッセージを使います。その行を読むと、MMのフィールドの1つの連なりは、VMV4O、DSQ4I、ZVZW7、E7YTJ、SNDNS、7NILZ、CPPCS、SG7F2、X75B7、2SNCTの順です。260912のMM-224はZVZW7のあとで終わり、その結尾はE7で始まります。1か月後のMM-246はフィールドを1つ多く運び、ちょうどその枠にE7YTJがあります。これが「長文G4のブロック構成」のページの例です。MM-246自身の結尾は、その次のフィールドのSNで始まります。260901のMM-186はSNDNSのあとで終わり、結尾は7Nで始まります。261004のMM-164はX75B7のあとで終わり、結尾は2Sで始まります。すべての接頭辞を通して、4連文字で閉じたフィールドで終わる68件のメッセージのうち62件でこれが成り立ちます。偶然なら0.1%です。2文字で足りるのは、接頭辞内では先頭2文字520通りのうち515通りが1つのフィールドだけを指すからです。結尾の残り7文字は、これまで調べたどれとも一致しません。短いフィールドの連なり、断片、追加の頭部で終わるメッセージでは、この規則はほとんど成り立たず（38件中2件）、そうした終わり方は別の働きをしています。ここで示した4件の連鎖は、ページの行を私が読んだものです。ページが示しているのは224から246への例と件数です。スライドでは、各メッセージの最後のフィールドを連鎖の中の位置の下に置いているので、結尾は、それが指すフィールドの真下から始ま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ページのデッキをめくっていくと、同じ接頭辞のメッセージは互いの変形のように見えます。実際、その多くはそうです。後の長文メッセージは、前のメッセージの部分的な複製です。ページは共通する6文字の並びを手がかりにすべてのオフセットを採点し、同じ日の再放送を除いたうえで、ある一定のオフセットでの同じ文字の数がz値15以上になる対を複製と数えます。そうして得られるのが145対で、145対すべてが同じ接頭辞どうしです。全36,315対を総当たりで調べると、共通する6文字の並びがない複製も見つかって169対に増えますが、やはりすべて同じ接頭辞です。接頭辞の切り替えをまたぐものは1つもありません。表は、ページの上位8対のうちの5対です。最も強いのは前のスライドのMMの対で、260912の224と261012の246、オフセット0で224文字中120文字が同じ、z値43です。オフセットはほとんどが0、±22か±44（ブロック1つか2つ分）、または40です。40は延長で、同じ本体を別の枠組みに入れたものです。A行は一度も複製されませんが、結尾は複製されます。「長文G4のブロック構成」のページは、B行が複製されるときにA行の末尾が一緒についてくることがある、と補足しています。ページはさらに、差し替えられた文字が新しい鍵の材料に見えるかどうかも調べ、そうではなく並べ替えであることを見いだしています。差し替えられた文字は記録全体と同じ文字頻度を持ち、置き換えた元の文字と5文字中約1.7文字が共通です。どの対照でも0.5〜0.7文字です。ページの締めくくりの規則は実用的なものです。2つの長文メッセージが似ていたら、まずこれで説明できるかを確かめること。接頭辞をまたぐ複製があれば、そちらが異常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の他タブの「G4ブロックの構成と再利用」の下に、第4群のページがあと3つあります。再利用をさらに掘り下げていますが、使っているメッセージの集合が違います。60文字以上の長文G4を初回の放送だけ数えた242件で、接頭辞は31個、期間は221116から261012までです。構造のページは54文字以上の異なるメッセージ257件を使っているので件数が違い、私は両者を分けて扱っています。「長文G4メッセージ」は概要で、5つの部分、同じMM-164の実例、4枚の数値カードがあります。それより前に複製元となりうるメッセージがあった211件のうち93件が実際にブロックを再利用し、一致170件はすべて同じ接頭辞内で、170件のどれにも奇数のオフセットはありません。「長文G4のブロック構成」は行の根拠を示すページです。21〜24文字目のX??Xは100文字以上の204件中179件で成り立ち（偶然なら約3%）、42〜45文字目の4連文字は162件にあります。繰り返しの鍵という考えも検定しています。一致する文字はブロック単位のまとまりで現れ、直接一致153件のうち95件が3つか4つのブロックを連続して取っています。また、再利用されたブロックの中では56%の文字が一致し、そのすぐ外側では9.9%です。「長文G4のブロック再利用」は、どのメッセージがどこから再利用するかを調べています。再利用は接頭辞が続くにつれて増え、2件目では29件中2件、8件目以降では75件中52件です。再利用元はたいてい2〜5件前の長文G4で、中央値で20日前です。接頭辞の切り替えをまたぐと27,955対で一致は0件で、形を変えた複製の検定も偶然と変わりません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第2群と第3群には専用のページ「G2・G3 EAMの構造」があります。対象は2022年1月から2026年10月までで、各メッセージを初回の放送で1件ずつ数え、一部しか受信できなかったものと不確かな文字を含むものは除いています。切り替わりは2024年10月1日 00:00 UTCです。第3群についての結論は、ページにある構造のあるG3メッセージがすべて1つの枠組みに収まる、というものです。3つの一覧には56件、30件、18件があり、異なるメッセージとしては103件です。250109のDQ-54の1件が、14としても23としても読めるためです。左から数えます。接頭辞が2文字、次に繰り返さない最初のブロック、次に繰り返しのブロックがK個、最後に末尾で、末尾はほぼ必ず1文字です。繰り返しのブロックは5文字、14文字、23文字のいずれかで、その中のいくつかの枠はどのブロックでも同じ文字です。したがって32文字は2 + 14 + 5×3 + 1、45文字は2 + 14 + 14×2 + 1、63文字は2 + 14 + 23×2 + 1です。切り替わり以降は、ほとんどのメッセージでブロック1が14文字なので、繰り返しのブロックは長さにかかわらず17文字目から始まります。3文字遅れて始まるものも少しあり、切り替わり以前はさらに遅く始まっていました。3つの系統の歴史はそれぞれ違います。5文字の系統は230120、23文字の系統は230601にさかのぼり、どちらも切り替わりをまたいで続いています。14文字の系統は切り替わり以降にしかなく、最初は切り替わりの2日後の241003です。ページでは、ある研究仲間への謝辞も述べています。G2とG3の構造を突き止めようとしたその人の取り組みのおかげで、ページは私の初期のハイライトの段階から先へ進むことができ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が5文字の系統の最長の例です。ページには、5文字のブロックが3つ以上続き、隣どうしが同じ枠で3文字以上一致する第3群メッセージが56件載っています。どの文字から区切っても探していて、偶然なら記録全体でもほぼ0件と見込まれます。この系統で最も長いのは2件のVQ-82です。1件目は261006（火）のもので、VQ、14文字の最初のブロック、5文字のブロック13個、最後のIからなります。ページではこれを1行で描いていますが、ここでは枠がそろうようにブロックを縦に積みました。枠1、2、3、5は、ほぼ最後までO、R、O、Dです。枠3はブロック9と10でH、Eに変わり、枠5は最後のブロックでGに変わります。枠4はブロックごとに変わります。1週間後の261013、同じく火曜日の2件目のVQ-82も同じ組み立てで、L-T-C、変わる枠、Gでできています。この系統の82文字はこの2件だけです。56件全体では、枠1が一定のメッセージが98%、枠2が84%、枠3が66%、枠5が57%で、17文字目か20文字目から始まる47件では、4番目の枠は一度も一定になりません。最も短いのは3ブロックの32文字で、この32文字が、数枚あとのスライドで第2群と並んで出て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じ枠組みに、もっと長いブロックも入ります。14文字の系統は30件で、すべて切り替わり以降です。本文が14文字おきに7回以上一致する、G3の45文字・48文字・54文字・59文字すべてがこれにあたります。切り替わり以降のG3の45文字20件すべてと48文字7件すべてが含まれ、48文字は45文字を3文字ずらして読んだものです。1つ目の例は260923（水）のVQ-45で、82文字の2件と同じ接頭辞です。ブロック1は繰り返しません。2つの繰り返しのブロックはP-U-U、J-T-P-Z、F-Pが共通で、残りの5つの枠は変わります。30件全体では、枠1、2、6、7がどのメッセージでも一定です。23文字の系統は2023年6月以降の18件で、切り替わりをまたいで続いています。本文は23文字おきに一致し、9文字おきにも一致します。各ブロックの中で、枠6〜11の6文字の単位が9文字あとの枠15〜20にもう一度現れます。青で示した部分です。ページは1ブロックを、単位・単位・残り5文字とまとめています。例は260422の43-63で、これも水曜日です。ブロック2では単位X-B-T-T-7-AがX-B-T-T-B-Aとして再び現れ、ブロック3ではX-B-L-6-J-Aがそのまま現れます。接頭辞43は、260422から260507までの間に、この系統の63文字を3件と57文字を1件送りました。枠14のあと、単位がもう一度現れる前に止まるブロックもあり、ページではそれを同じ列に短く描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群には独自のブロックがあります。2024年10月の切り替わり以降の長いG2メッセージ73件は、15文字のブロック1つを2〜4回続けて書き、最後にもう1文字を付けて終わります。前の頭部が長さに合わせて伸び縮みするので、複製はいつも末尾に来ます。偶然なら、記録全体でもほぼ0件と見込まれます。長さは50〜89文字で、多いのは55、60、75文字です。例は260903（木）のK7-85で、接頭辞、22文字の頭部、4回の複製、最後の2からなります。どの回も、最後の10枠は5-O-T-V-6-C-Q-K-A-Oで同じです。最初の5枠では、枠1が3回でZ、枠4が3回で4で、残りは変わります。これは73件全体で集計した枠ごとの割合と一致します。枠6〜15は95〜100%のメッセージで一定、枠2と3は56〜60%、枠1、4、5はそれより低い割合です。最初に現れたのは、切り替わりの3日後、241004のP5-55です。ページは例外を1つ挙げています。261008のQH-72は、ブロックを3回読む75文字と同じ組み立てですが、真ん中の複製の位置に別の14文字が入っていて、ページでもそのように描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節は2つの群を結びつけます。40文字以上の長い第2群メッセージと、その前後14分以内に放送された第3群の32文字を取ります。G2の16〜30文字目とG3の17〜31文字目を、それぞれ5文字のブロック3つに分けます。すると、文字は違っても、両方で同じ枠が繰り返されます。切り替わり以降、これは10組中9組で成り立ちます。同じ日でもっと離れた組では21組中0組、無作為なG2（40文字以上）とG3の32文字の組では100組に約2組です。例は241114（木）で、16:47 UTCのBP-60と、その5分後のDX-32です。G2は3つのブロックすべての最初の3枠がS-Y-4で、2つのブロックの枠5がOです。G3はU-U-Jが3回、Zが2回です。パターンは同じですが、文字どうしに共通するものはありません。唯一の外れは241025で、05:36 UTCのAR-50は、それ自体に繰り返しがありません。G2側10件のうち7件は15:45〜16:54 UTCに放送されています。そしてG2側10件のうち9件は、前のスライドの15文字の一覧にも入っています。そのうち一致する8件では頭部が27文字なので、3つのブロックは頭部の末尾を埋め、その最後の文字が1回目の複製の最初の文字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部では、演習と、サイトが取り込んでいる外部のデータを詳しく見ていきます。まず、スカイマスターとは何か、いつ起きるのかから始めて、次にCARFのNOTAM、2026年4月の空域のリプレイ、NOTAMマッパーを扱います。そのあとにE-6Bの飛行とトランスポンダーコードを、トラッカーの先行公開版とあわせて取り上げ、続いてミニットマンIIIの試験発射の前の第4群の通信、最後に8888メッセージの一覧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ネットワークがとても忙しくなる日があり、そういうとき人が口にする言葉がスカイマスターです。サイトではこの言葉が二つのものを指していて、両者は分けて考えたほうがよいでしょう。スカイマスターのイベントとは、戦略軍（STRATCOM）が主導する大規模な演習のことです。一方でSKYMASTERは、そうした演習のあいだにときどき現れる無線のコールサインでもあり、現れるときは終わり近くに出る傾向があります。つまりコールサインは、演習に表れることもある症状の一つにすぎません。これは本物の手順上の用語でもあります。FOIAで公開されたE-6Bの乗員訓練計画に、「SKYMASTER手順」が訓練項目の名前として出てきます。 HFGCSでは、スカイマスター規模の演習は、何時間にもわたる数百件のメッセージ、同時に流れるいくつもの形式（通常のEAM、SKYMASTERで始まるメッセージ、274メッセージ、RECOVERY REPORT）、そして通常の4つをはるかに超える追加のHFとUHFの周波数として現れます。この態勢では、主な周波数のそれぞれが、ほかの周波数の鏡ではなく独自のネットワークのようにふるまい始めます。 特徴がすべてそろっているのに誰もSKYMASTERと呼ばないとき、私はそれを偽物マスターとして記録します。E-6Bの前方展開、目立つ空域の予約、多いEAMの通信、珍しいコールサインがあって、呼び出しの記録がないものです。演習が運用上の何らかの点で本当に異なるのか、呼び出しはあったのに私が聞き逃したのかの、どちらかです。最もわかりやすい例は2024年6月23日で、E-6がノルウェーに前方展開し、特別な空域の予約があり、番号付きのコールサインLOOKOUT44が珍しいEAMを読み上げました。この日がグローバル・ストーム24だったと私が考える理由は、よくある質問にまとめています。4月の2つの日付は空振りマスターとして記録していて、サイトではこれらを偽物マスターと同じく白抜きで描いています。 こうした放送が話題になると、いちばん多く出る質問は、本物ではないとなぜわかるのか、というものです。これらの日付の多くはかなり前もって公の場で予測されていましたし、戦略軍は大規模な演習を発表していて、オファット空軍基地は2026年4月の演習期間を6日前に投稿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はトップページのスカイマスタータブを「比較」表示にしたものです。このタブには、2023年から2026年までの日付のあるイベントが33件並んでいます。スカイマスターが26件、偽物マスターが5件、空振りマスターが2件で、年ごとでは7件、9件、10件、7件です。年ごとの一覧の各行には、日付、私が記録したときの名前、その月の何回目の何曜日かが示されていて、たとえば230830は「8月スカイマスター、第5水曜」と表示されます。 最初に目につくパターンは曜日です。スカイマスター26件のうち18件が水曜日で、曜日が無作為なら約4件のはずです。名前のついたグローバル・サンダーの日付は、たいていこの規則から外れます。5件中4件は木曜か金曜か日曜で、水曜は251029だけです。これらを除くと、21件中17件が水曜になります。 月も繰り返します。1月、4月、8月には、一覧のどの年にもスカイマスターがあります。2月、5月、9月は4年中3年、10月は2年にあります。 画面では、上部の時系列でスカイマスターが塗りつぶしの点、偽物マスターと空振りマスターが白抜きの点で示されます。その下の表は4年を列に置き、日付を季節ごとにそろえて11行に並べているので、行を横に読むと同じ時期が毎年めぐってくるのがわかります。淡い色の日付が偽物マスターと空振りマスターのもので、どの日付もマウスを重ねると名前が表示されます。 33件の日付のうち20件はリンクです。クリックするとその日のDTCPタイムカードがギャラリーで開くので、一覧からその日の書き起こされたメッセージと録音へそのまま進めます。残りの13件の日付には、ギャラリーにカードが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習は無線の外にも痕跡を残し、空域はその中でも最もはっきりしたものの一つです。よくある質問でも、目立つ空域の予約を特徴の一つに挙げています。サイトではそれがCARFのNOTAMとして現れ、どれも1行の文字列に、地図に必要なものがすべて入っています。 これは2026年4月の一式にあるCARF 04/240です。番号の次に管轄施設のZAK、次に予約の名称DCC KELLY THREE、続いてその種類である固定型の高度予約（stationary altitude reservation）が来ます。次が形状で、34°25′N 129°30′Wを中心とする半径80海里の円です。カリフォルニアの西、太平洋のはるか沖にあたります。次が高度帯で、地表からFL230まで。最後が有効時間で、UTCのYYMMDDHHMMで書かれています。4月14日14:00から23:59 UTCまでです。 毎日の時間枠を持つものもあります。CARF 04/193は4月13日から4月16日まで続きますが、DLY 1515-1615とあるので、有効なのは毎日15:15から16:15 UTCだけで、サイトではこれを1時間の棒4本で描きます。 スタートタブにある小さなタイルのNOTAMマッパーは、まさにこれを読み取ります。FAAかICAOのNOTAM文を貼り付けて + ADD を押すと、円や区域を時間スライダーつきで描きます。さらに、ICAOのQ)行から半径を読み取り、W-237Jのような特別使用空域をFAAが公開している境界から調べ、英国の危険区域の一覧も展開します。色は、読み込んだものの中で最も短いものの黄色から、最も長いものの赤までです。SHAREはNOTAMの原文を詰め込んだリンクをコピーするので、サイトは何も保存しません。KMLはGoogle Earth用に形状を書き出します。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このページは、2026年4月のスカイマスター前後の空域の動きをリプレイで見せます。マッパーと同じ地図と時系列の上に作られていて、CARFのNOTAM 51件が組み込まれ、同じ週のEAMも載っています。期間は、最初の予約が始まる4月13日15:15 UTCから、最後の予約が終わる5月1日21:00 UTCまでです。 28件はZAKの管轄で出された太平洋の予約で、KELLY THREEの円、BRAVO THREEの四角形、IRON THREEの円が、連日出し直されています。21件はニューヨーク洋上の区域で、SHADO、FIRST、SCORE、PETEといった名前がつき、その文面には、ニューヨーク洋上管制はその内側でのIFR飛行を受け付けないとあります。2件は中西部北部の上空にあり、一つはスペリオル湖上空の、その名もずばりTRAILING WIRE（曳航アンテナ）という区域、もう一つはウィスコンシン州上空のRIB MOUNTAINで、この2件は4月29日と30日にしか現れません。 画面の読み方です。地図はスライダーの時刻に有効なものを表示し、それ以外を薄くします。右側の一覧（Active／有効）も同じように暗くなります。カウンターは「4/51 ACTIVE」のように表示されます。白い四角はHFGCSの局です。下部の棒はNOTAMで、3段に詰めて並べられ、期間の長さに応じて黄から赤に色分けされています。その下の点はEAMで、群ごとに色分けされています。矢印で次の開始または終了へ進みます。ページを読み込むと、スライダーか矢印に触れるまで1秒ごとに順に進み、SHOW ALLですべてを表示します。 形状をクリックすると、中心、半径、高度、時間、原文がポップアップに表示され、原文はクリックでコピーされます。KELLY THREEは同じ円で12回出し直されたので、そのポップアップには専用の矢印があります。ステータスバーには、EAMの書き起こしが網羅的ではないと書かれています。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ごとに並べると、この期間はいくつかの段階に分かれます。NOTAMの列は各日のどこかで有効だった予約の数、EAMの列はリプレイの時系列上の点の数、E-6Bの列はカレンダーからの数です。カレンダーは、E-6Bが放送したメッセージに一つずつ印をつけています。 4月13日から18日までは毎日予約が有効ですが、無線は普段どおりに見えます。6日間でEAMは56件で、カレンダーの2026年の中央値である1日10件に近く、E-6Bの放送として印のついたものは一つもありません。続く4月19日から21日（日曜から火曜）には通信が跳ね上がり、3日間でEAMは225件、大半は第1群の30文字のメッセージで、カレンダーはこの3日間の223件のうち142件をE-6Bの放送としています。4月21日は、私が4月空振りマスターとして記録した日です。その後はまた静かになり、8日間でEAMは52件ですが、そのあいだに太平洋の区域が4月24日から27日にかけて戻り、スペリオル湖の予約が4月29日22:00 UTCに始まります。4月30日が4月スカイマスターで、EAMは77件、カレンダーの76件のうち64件がE-6Bの放送とされ、RIB MOUNTAINが14:15から16:45 UTCまで有効でした。 つまりこの期間内では、カレンダーがE-6Bの放送としたメッセージはすべて、4月19日、20日、21日、30日の4日間に収まっています。 注意点が二つあります。カレンダーはこの4月の日々を非網羅的監視としているので、静かな日の一部は聞き取りの空白かもしれません。リプレイのページのステータスバーにも同じことが書かれています。また、合計がわずかに違い、点は415件、カレンダーは408件です。リプレイのページは、カレンダーが数えない、書き起こしの記号がついた写し7件も描いているためです。もう一つ、E-6Bのページとのつながりがあります。最初の予約が始まった4月13日は、E-6Bが5機同時に飛んでいた9日間のうちの1日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よくある質問ではE-6Bをシステムの空中の半分と呼んでいるので、サイトでは機体の動きも追っています。このページは、OSINTの界隈で出回りながら、はっきりした答えのなかった一つの問いに答えます。2026年の最初の8か月で、E-6Bが5機以上同時に飛んでいた日は何日あったのか、という問いです。リアルタイムのトラッカーでは決着がつきません。見ているあいだに飛んでいるものしか映らないからです。 答えるには、すべての飛行（ソーティ）の離陸と着陸の時刻が必要で、それはAviar LabsのSkyGlassプラットフォームから得ました。この書き出しデータは、UTCの午前0時と受信範囲が途切れるところで飛行を区切るので、1,269行はそれぞれ航跡の一区間です。15分未満の空きはつなぎ直していて、それが270か所あります。E-6Bがそれほど速く着陸して再び離陸することはないからです。その結果、978回の飛行と飛行時間4,098時間が残ります。各飛行に開始と終了があるので、ページは標本を取るのではなく、どの時点でも何機飛んでいたかを数えられます。 答えは9日、合計13時間です。6機同時は一度だけで、2月スカイマスターの翌日の2月12日、87分間でした。ページには9日すべてが、ピークの時刻、5機以上が飛び続けた時間、HEXコードとともに並び、各日付からは、その時点のADS-B Exchangeが該当機を読み込んだ状態で開きます。 その下には、日ごとのピークの図、1日あたりの飛行回数、最も忙しかった日、最も長い飛行が続きます。最長の14時間12分には、おそらく2機が一つのコードを共有しているという注記があります。私が気づいたことが一つあります。237日を飛行時間の多い順に並べると、この期間にある2026年のスカイマスターの日5日のうち3日、2月11日、4月30日、8月12日が上位8日に入ります。8日で区切ったのは私の判断で、検証はし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最も役に立つのは、機体の識別についての話です。トラッカーは、各トランスポンダーが発信するアドレス（16進数6文字）で機体を見分けます。16機のE-6BにはAE040DからAE041Cまで連続した一つの範囲の固定アドレスがあり、ここではそれをマスの列で示しています。明るいマスは自機のコードで飛んだもので、下の数字は飛行回数です。暗いマスは、この期間に一度も使われなかったものです。 これらのコードはめったに使われません。978回の飛行のうち、固定アドレスで飛んだのは97回だけで、16個のうち5個はまったく現れません。残りの881回は、ほかの285個のコードのいずれかで飛んでいます。それらはページのアドレス図ではAE0000からB00000の範囲に散らばり、121個がAE、164個がAFで始まります。そのうち66個は1回の飛行にしか使われず、最も多く使われたAF3309は10回でした。よくある質問では、2024年後半からE-6Bが偽のHEXコードで現れることが増えていると既に指摘していましたが、これは2026年についてそれを数字で示したものです。 ページは、この共用のコード群を二つの方法で確かめています。978回すべてを通じて、同じコードが二つの飛行で同時に空中にあったことは一度もなく、一つのコードに複数の機体番号が結びついた例もありません。そして82個のコードは、60日以上使われずにいたあと再び飛んでいます。共用のコードでは、おそらくコードが返却されて再発行されたということです。固定の範囲では、そのあいだ機体が共用のコードで飛んでいたということです。 各コードの使用期間を線で描いた図（lifelines）がそれを示しています。16個の固定コードが上に置かれ、そのうち5個は空で、その下に共用のコードが初めて現れた順に滝のように並びます。共用のコードの半数では、この期間の最初と最後の飛行の間隔がおよそ2週間以内です。リアルタイムで見ている人にとっては、AE040DからAE041Cで絞り込むと、ここでは飛行の10回中9回を見逃していたこと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は、まだ公開サイトに載っていないページの先行公開版で、スクリーンショットは10月12日までのデータを示しています。飛行履歴のページは事後の書き出しデータをもとにしていますが、こちらはリアルタイムで見張る監視プログラムです。約10分ごとに問い合わせ、巡回のたびに飛行中のE-6Bが何機いたかを描きます。期間は8月24日16:59 UTCから10月12日22:58 UTCまで、巡回は合計7,023回です。 読むときに大事な点が二つあります。一つ目に、確認済み、推定、受信範囲外の機体はすべて飛行中として数えられ、各点のツールチップに内訳が出ます。9月4日20:34 UTCの最大7機は、確認済み2機、推定4機、受信範囲外1機だったので、上限として扱ってください。二つ目に、網かけの帯は監視が止まっていた時間で、5回の空きが合計37時間あります。そのあいだ空は観測されておらず、それは何も飛んでいなかったこととは違うので、線は0に落ちずにそこで途切れます。また、帯にかかる日の合計は実際より少なく出ます。最初の1日ほど、8月25日までは稼働記録から組み立て直したもので、合計はあっても機体の識別はありません。 二つのページは8月25日から31日までの1週間が重なっていて、よい確認になります。日ごとのピークは7日中6日で一致します。8月27日は書き出しデータが4機、監視プログラムが6機（確認済み3機、受信範囲外3機）で、ツールチップはまさにこうした違いを示すためにあります。コードのパターンも同じです。これまでにコードは134個、監視プログラムの数え方で198回の飛行のうち、機体自身の固定コードで飛んだのは24回だけです。巡回をクリックすると、そのADS-B Exchangeのリプレイへのリンクが出ます。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ヴァンデンバーグでは、非武装のミニットマンIIIの試験発射が、公表されたスケジュールで行われます。このページは、その数日前にHFGCSに何か違いがあるかを問うものです。対象は第4群で、そのメッセージはほぼすべてが長文です。99.2%が標準の30文字を超えています。 各発射にはカードがあります。D-5から発射日までの6日間の範囲、群ごとに色分けした日ごとの積み上げ棒、各日の下にある長文メッセージの文字数、そして各日にどの監視データセットと録音があるかを示す監視範囲の帯です。ピンクの列がD-3からD-1です。 主な発見は、その期間の第4群が基準値の約3.6倍で現れることで、ページにある11回の発射のうち8回で、その期間に第4群の長文メッセージがありました。基準値は表の下の行のとおりで、発射のない807日では、第4群が現れるのは22%の日、長文メッセージは1日0.29件です。 表は、ページ自身の注意書きとあわせて読んでください。重みの大半を担うのはGT-246で、11回分の期間すべてにわたる第4群の長文メッセージ27件のうち17件を占めます。しかもその発射前の期間は、まるごとグローバル・サンダー23の中にあったので、原因は演習かもしれません。GT-253の唯一のデータは、ページが未検証としている外部の報告で、GT-255はページを書いた時点ではまだ予定でした。監視範囲はカードによって大きく異なります。ページはまた、これらの発射のうち3回がE-6Bの空中発射管制システム（ALCS）から行われたことにも触れています。 ページは、これが相関関係にすぎず、因果関係は確認されていないとはっきり述べています。2026年3月の発射より前に書かれたもので、その週に長文EAMが続いても、ニュースに反応したものと読まれないようにするためでした。最終更新の2026年3月3日には、その発射の前に長文EAMは観測されていないと書か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のEAMは、0、1、8、9の文字を決して使いません。8888メッセージは、クアッド8やオクトパスメッセージとも呼ばれ、その例外で、おそらくそもそも標準のEAMではありません。888800で始まり、8888で終わります。現代の完全な記録では、そのあいだが一つのパターンに従います。日付と一致する2桁の日、送信時刻かそれに近い4桁の時刻、そして対になった文字のブロックで、最も多いのはAAEEGGKKNNXXZZです。 ここには一覧から実際の3件を挙げています。上は2022年11月22日に私自身が録音したもので、FINNEGANが16:50 UTCに読み上げました。日は22、時刻は1650です。中央は、2024年5月17日にE-4のADFEB4から出たVLF放送3件のうちの1件で、それぞれに受信した時刻が入っています。下は2025年10月26日のTEST KITのもので、251026のスカイマスターの数時間前に、放送中に取り消されました。 一覧のページには、1999年の記録から2026年3月15日までの39行があり、HFが27件、VLFが12件で、それぞれに出典がついています。上部には、HFとVLFを別々の段に分けた時系列があります。2023年の時点では、記録されたものを11件しか見つけられませんでした。HFでは、2018年以降の20件のうち16件のあとに取り消しが続きました。VLFでは1件もなく、VLFのものは特定の機体と結びついています。E-4のADFEB3、ADFEB4、ADFEB6と、AE0412、AE0414、AE040Eを含むE-6で、この3つは前のスライドの固定アドレスの範囲にあるコードです。 よくある質問には手がかりが二つあります。8888形式のメッセージがかつてICBMの衛星試験システムに試験用の通信として現れていたという伝聞の報告と、タイタンIIミサイル博物館の見学で知った、内側のフィールドに対応する2＋5の発射許可の構造です。どれも、ICBM関連だと確認するものではありません。どちらも、核の指揮統制のどこかにある試験か管制の通信を指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最後の部は、参考資料の棚から始めます。FAQ、2つの基地のページ、そしてウィキのアーカイブです。続いて、方法と限界についての4枚のスライドがあり、どれも公開データの例を使って説明します。どの書き取りを数に入れるか、不在を語る前に監視範囲を確かめること、偶然に対する検定、そして相関にすぎないということです。そのあとに、サイト自身が挙げている未解決の問いを見て、最後に、サイトの中で手始めに開くとよい7つの場所と、このプロジェクトを追うためのリンクを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の他」タブには2つ目の一覧「参考資料」があり、4つのページが並んでいます。FAQ、2つの基地のページ、そしてNOTAMマッパーというツールです。「ウィキ」タブは「その他」のすぐ隣にあります。FAQは、サイトが自分自身をわかりやすい言葉で説明している場所です。質問は36、参考文献は72で、私自身の言葉で書いています。HFGCSとは何か、資料によって局の数が13だったり14だったりするのはなぜか、といった基本から始めて、ネットであまり確かめられないまま繰り返されている主張を一つずつ検討していきます。その最大のものが、EAMはワンタイムパッドを使っているという主張です。FAQはそれをおそらく間違いだと論じていて、その根拠の一部は、この数分後に取り上げる文字の統計です。答えにはそれぞれ専用のリンク、たとえば hfgcs_faq.html#faq-otp があるので、一つの答えに直接案内できます。2つの基地のページは、公開されている契約・調達・不動産の記録と地図をもとにしています。横田は、ほとんどの局と同じく送信と受信を別々の施設で行っていて、高出力の送信機が受信機の感度を下げないようになっています。地図では、送信施設の所沢は基地から約14 km、受信施設の大和田は約22 kmです。プエルトリコには独自の基地がありません。ALEコールサインのJNRは、ルーズベルト・ローズ海軍基地のICAOコードTJNRの末尾3文字で、この基地は2004年に海軍が閉鎖しました。ページは、ほかの局も同じ規則に従っていることを示しています。横田ではRJTYからJTYになります。プエルトリコの2つの施設は島の反対側の海岸にあって97 km離れており、局はアンドルーズとグランドフォークスから遠隔で運用されています。HFGCSのウィキをまるごと作るのは一人では手に余るので、2025年12月に、どんなものになりうるかを示す試験版を始めました。「ウィキ」タブは、archive.orgに保存されたそのページ27件にリンクしています。情報ページが10件、日ごとのページが16件、一覧のページが1件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イトにあるものはすべて、書き取りから始まります。オペレーターは各メッセージを1文字ずつ読み上げ、プロジェクトはそれを自分たちの録音と、オンラインの受信機で聞いたものから書き取りました。書き取りが数に入るのは、きれいに取れている場合だけです。部分的な受信、無効とした読み取り、そして受信できなかった文字を1つでも含むメッセージは、どれも数から外しています。30文字を超えるものは長さが放送の中で読み上げられるので、それが書き取りの確認になります。2つ目の決まりは再放送についてです。再放送時系列には、EAMのおよそ3つに1つが再放送されると書かれています。そこから実例を1つ挙げます。YLRJLPで始まる第1群のメッセージで、2023年7月5日（水）22:42 UTCに最初に放送されたときにはE-6Bの印がなく、そのあとE-6Bの印が付いた放送として、23:10、23:40、00:10、00:40 UTCの4回、さらに放送されました。この30分おきの間隔はFAQにあるE-6Bの中継の時刻表に合っていて、毎時10分と40分は、その表で大西洋に割り当てられている時刻です。どちらの数え方が正しいかは、何を問うかによります。カレンダーは放送を数えるので、この1件のメッセージは7月5日に3回、7月6日に2回を加えます。これは、放送がどれだけ多かったかを示す数としては正しいものです。構造のページと論文は、異なるメッセージを最初の放送で1回ずつ数えます。同じ文字列の5つの複製があると、その中のどんなパターンも5倍強く見えてしまうからです。これは30文字の第1群のメッセージなので、30文字の論文の対象で、そこではこの決まりによって、10,899回の放送が一意なメッセージ5,881件になります。再放送時系列全体では、2回以上放送されたメッセージは2,725件、放送は合わせて9,134回で、そのメッセージの94.3%は2時間以内に放送を終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カレンダーから見ます。データのある最初の日である2022年1月25日から、カレンダーを作った2026年10月9日までの1,719日を、凡例にある3つの段階で示しています。789日は「網羅的監視」で、実線で描かれます。その日のDTCPかDCRPの録音があるか、その日は放送がなかったと確認されている日です。305日は「非網羅的な監視」で、破線で描かれます。何かは記録されていますが録音がないので、その件数は下限として扱ってください。625日は「監視なし」で、空白のままです。何も記録されておらず録音もないので、空白の日は通信について何も語りません。通信ゼロと確認された日は14日あり、ツールチップには「電文合計: 0」と出ます。これらはまとまって現れます。7日が日曜日、6日が感謝祭か12月24日〜26日で、そのうち2日はその両方に当たります。また、2023年のクリスマスには3日続いています。これはFAQの、とても静かな日はたいてい連邦の祝日に当たる、という記述と合っています。ライブ配信ギャラリーも同じ決まりを使っています。確認済みの日は無地の帯、未確認の日は斜線で描かれます。ページの言葉を借りれば、そこにある空きは通信の不在ではなく、記録の不在だからです。録画のある809日のうち、474日が確認済みです。4年間の監視は主に北米と欧州のオンラインの受信機に頼っていて、横田のページは太平洋の監視範囲が限られていると述べています。局はふつう4つの周波数すべてで同時送信しますが、いつもそうとは限らないので、8992でメッセージが聞こえなかったからといって、そこで送られなかったことにはなりません。FAQはさらに、多くの人がまず使うUTwenteの受信機は、北米の通信、特にE-6Bの放送をかなり取りこぼすとも述べています。ですから私は、静かな期間を発見として読む前に、それがどの日とどの受信機に基づいているかを確かめます。データの時点もそれぞれ違います。カレンダーは10月9日まで、タイムカードは10月13日まで、ライブ配信ギャラリーは9月8日まで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構造の分析が使うのは暗号文だけで、ほかには何も使いません。何も復号せず、暗号方式の名前も挙げません。方法は、純粋な偶然ならどう見えるかを書き出し、そこからのずれを測るというものです。30文字のメッセージでは、帰無モデルは、base32のどの文字も等しく現れ、それぞれ3.125%というもので、優れた暗号化の出力ならこうなるはずです。第1群のメッセージ本体では、Mは1.929%しか現れず、z値はおよそ−22.8です。確認として、論文は暗号学的な乱数生成器から引いた同じ大きさのデータを同じ手順に通していて、そこではMは−1.15にとどまります。2つ目は最後の6文字です。無作為なbase32の6文字がすべて異なるのは約61%で、これは誕生日問題です。第1群は97%です。これらは第1群の結果で、第2群にはMと5の弱い不足しかありません。ヒートマップは非常に多くの検定を行うので、偶然一致する対も出てきます。そこでボンフェローニ補正を使います。対と連続の検定は538,498件あるので、対や連続が濃い色で塗られるには、偶然の確率が0.05を538,498で割った値、約1,100万分の1を下回る必要があります。こうすることで、どのヒートマップのページであれ、偶然の対や連続が1つでも混じる確率は5%以下に抑えられます。4文字以上の連続と、メッセージ内の繰り返しには、それぞれ独自の規則があります。その代償を負うのは小さな群です。2つの位置が偶然一致する確率が3%なら、4件のメッセージで4件とも一致するのは約120万分の1で、基準に届かないので、あと少しで届かなかったものとして淡い色で表示されます。5件中5件なら約4,100万分の1で、色が付きます。何も見つからなかった結果も公開しています。34文字の論文では、最も強い対でもz = 3.54で、閾値の3.92に届かず、論文はどの対も閾値を超えないと述べています。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ミングは、人がいちばん物語を求めたくなるところです。そこで、ミニットマンIIIのページを見ます。ヴァンデンバーグからの非武装の試験発射は事前に公表されるので、照らし合わせる対象として公正です。ページの見出しはこうです。監視データのある11回の発射で、第4群は発射の1〜3日前に基準値の約3.6倍の頻度で現れ、11回中8回でその期間に第4群の長文メッセージがありました。基準値は、通常の807日のうち22%の日に第4群が現れる、というものです。発射ごとにカードがあり、図の下には監視範囲の帯があります。限界が見えてくるのはこのカードです。2023年4月のGT-246は最も強い信号を示していて、3日間で第4群の長文メッセージが17件ありました。しかし、その発射前の期間はまるごと、2023年4月11日から18日に行われたグローバル・サンダー23と重なっていて、ページはそれを交絡因子の可能性があるとしています。カードには、その週の録画は公開されておらず、記録しかないことも書かれています。2024年6月のGT-249は監視が網羅的で、発射前の数日間に第4群がなかったので、その不在には意味があります。2025年5月のGT-253は空白の期間にあたります。プロジェクトは監視をしておらず、唯一の報告は、まだ確認が必要な外部の記録です。2026年3月4日に予定されていたGT-255について、ページは事前に予測を書き、3月1日頃から第4群の長文EAMが出ると見込んでいました。そのカードは、発射前の数日間に長文EAMはなかったと報告しています。ページは結果を、相関関係にすぎず、因果関係は確認されていないと述べ、さらに、同じ接頭辞の群が、試験発射とは関係のない重要な通信も運んでいるかもしれないと付け加えています。FAQも、これに関連する区別をしています。偶然のニュースはEAMの量と一致しませんが、予定された特定の軍事活動は、測れるほどの割合で一致することがあるのかもしれ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らは、サイトが自分の言葉で未解決のまま残している問いで、私がここで付け加えたものではありません。横田のページは、スカイマスター演習には欧州やNATOの要素があったものの、日本で確認されたものはないと記しています。そして、監視が北米と欧州の受信機に頼っていたことから、それは観測の空白なのかもしれないと示唆しています。日本のオンラインの受信機はあるので、確かめることもできそうです。FAQは、FY27の予算資料が4つのメッセージの種類を挙げていることを指摘しています。EAM、部隊指示メッセージ（FDM）、部隊管理メッセージ（FMM）、上級権限指揮メッセージ（HACM）です。4つの群がこの4つの種類に対応しているかどうかは確認できませんが、FAQはそれを実際にありうる可能性と呼んでいます。第1群では、Mと5の不足が、100件以上のメッセージがあるすべての接頭辞に、そして2024年10月の変更の前後どちらにも現れていて、標準的などの暗号方式からも、私にはうまく説明がつきません。第4群のページは、257件の長文メッセージのうち175件をきれいに読み解き、規則が届かない35件を挙げています。その大半も同じように始まりますが、同じ長さの中では手がかりが少なすぎます。そしてFAQは、局は歴史的に周波数ごとのスケジュールを持っていて、今もおそらくそうだと述べていますが、現在のスケジュールが公に文書化されているのを私は見たことがなく、監視からも割り出せていません。論文にもいくつかあります。30文字の論文は次の段階として、150ビットすべてにわたる走査や、同じ変化点の検定をほかの長さと群にも行うことなどを挙げています。42文字の論文は、もっと大きな標本、できれば長さごとに50件以上のメッセージを求めています。46文字の論文は、メッセージがもっと集まるまで、1つの対を未解決のまま残しています。そしてFAQは、通信をANCSとGFNCSという局の区分と突き合わせようとした人は、まだ誰もいないようだと記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サイトの中で手始めに開くとよい7つの場所です。どれも neetintel.github.io のあとに続けて入力できるアドレスがあります。目次ページが入り口で、7つのタブ、言語の切り替え、ライトとダークのテーマがあります。142文字のヒートマップは、構造の分析のいちばんわかりやすい一例で、第4群のメッセージ40件に、22文字おきに連続が並んでいます。色の付いた文字をクリックすると、その文字を共有する行が残り、ほかの行は薄くなります。?compare はスカイマスターの時系列を開き、年ごとに季節をそろえて並べます。DTCPギャラリーでは、?skyx というアドレスで、タイムカードのあるスカイマスターの日を検索し、そのあいだの週をたたみます。ほかのものを探すには、ページのどこででも入力すれば検索になります。日を開いてcを押すと、その日に最も近い日と比べられます。?2023 のカレンダーは、監視範囲の段階つきでまる1年を表示します。凡例の切り替えでスカイマスターと偽物マスターの日に印が付き、長さの絞り込みで、どのメッセージの長さにも絞れます。2026年4月のNOTAM再現は、そのスカイマスターの前後の空域予約を順に追い、同じ時間帯に聞かれたEAMを下端に並べます。そして、FAQの4つの群についての答えは、この資料の大部分をわかりやすい言葉で書いたものです。さらに詳しくは、長めの記事がSubstackの neetintel.substack.com に、動画と何百時間分もの録音がYouTubeの @neetintel にあります。目次ページの「連絡先」タブに連絡の方法があります。FAQによれば、このプロジェクトは2026年に事実上終了しますが、アーカイブ、録音、記事はすべて公開されたままです。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5090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48630"/>
          </a:xfrm>
          <a:prstGeom prst="rect">
            <a:avLst/>
          </a:prstGeom>
          <a:noFill/>
          <a:ln/>
        </p:spPr>
        <p:txBody>
          <a:bodyPr wrap="square" lIns="0" tIns="0" rIns="0" bIns="0" rtlCol="0" anchor="t"/>
          <a:lstStyle>
            <a:lvl1pPr algn="l" indent="0" marL="0">
              <a:lnSpc>
                <a:spcPct val="115000"/>
              </a:lnSpc>
              <a:buNone/>
              <a:defRPr lang="en-US" sz="3600" dirty="0">
                <a:solidFill>
                  <a:srgbClr val="E6EDF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81150"/>
            <a:ext cx="10566400" cy="4064050"/>
          </a:xfrm>
          <a:prstGeom prst="rect">
            <a:avLst/>
          </a:prstGeom>
          <a:noFill/>
          <a:ln/>
        </p:spPr>
        <p:txBody>
          <a:bodyPr wrap="square" lIns="0" tIns="0" rIns="0" bIns="0" rtlCol="0" anchor="t"/>
          <a:lstStyle>
            <a:lvl1pPr algn="l" indent="0" marL="0">
              <a:lnSpc>
                <a:spcPct val="140000"/>
              </a:lnSpc>
              <a:buNone/>
              <a:defRPr lang="en-US" sz="1600" dirty="0">
                <a:solidFill>
                  <a:srgbClr val="E6EDF3"/>
                </a:solidFill>
                <a:latin typeface="Courier New" pitchFamily="34" charset="0"/>
                <a:ea typeface="Courier New" pitchFamily="34" charset="-122"/>
                <a:cs typeface="Courier New"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5090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48630"/>
          </a:xfrm>
          <a:prstGeom prst="rect">
            <a:avLst/>
          </a:prstGeom>
          <a:noFill/>
          <a:ln/>
        </p:spPr>
        <p:txBody>
          <a:bodyPr wrap="square" lIns="0" tIns="0" rIns="0" bIns="0" rtlCol="0" anchor="t"/>
          <a:lstStyle>
            <a:lvl1pPr algn="l" indent="0" marL="0">
              <a:lnSpc>
                <a:spcPct val="115000"/>
              </a:lnSpc>
              <a:buNone/>
              <a:defRPr lang="en-US" sz="3600" dirty="0">
                <a:solidFill>
                  <a:srgbClr val="E6EDF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81150"/>
            <a:ext cx="10566400" cy="4064050"/>
          </a:xfrm>
          <a:prstGeom prst="rect">
            <a:avLst/>
          </a:prstGeom>
          <a:noFill/>
          <a:ln/>
        </p:spPr>
        <p:txBody>
          <a:bodyPr wrap="square" lIns="0" tIns="0" rIns="0" bIns="0" rtlCol="0" anchor="t"/>
          <a:lstStyle>
            <a:lvl1pPr algn="l" indent="0" marL="0">
              <a:lnSpc>
                <a:spcPct val="140000"/>
              </a:lnSpc>
              <a:buNone/>
              <a:defRPr lang="en-US" sz="1600" dirty="0">
                <a:solidFill>
                  <a:srgbClr val="E6EDF3"/>
                </a:solidFill>
                <a:latin typeface="Courier New" pitchFamily="34" charset="0"/>
                <a:ea typeface="Courier New" pitchFamily="34" charset="-122"/>
                <a:cs typeface="Courier New"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png"/><Relationship Id="rId7" Type="http://schemas.openxmlformats.org/officeDocument/2006/relationships/image" Target="../media/image-59-7.png"/><Relationship Id="rId8" Type="http://schemas.openxmlformats.org/officeDocument/2006/relationships/image" Target="../media/image-59-8.png"/><Relationship Id="rId9" Type="http://schemas.openxmlformats.org/officeDocument/2006/relationships/image" Target="../media/image-59-9.png"/><Relationship Id="rId10" Type="http://schemas.openxmlformats.org/officeDocument/2006/relationships/slideLayout" Target="../slideLayouts/slideLayout2.xml"/><Relationship Id="rId11"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e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e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e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CC00"/>
                </a:solidFill>
                <a:latin typeface="Courier New" pitchFamily="49" charset="0"/>
                <a:ea typeface="Courier New" pitchFamily="49" charset="-122"/>
                <a:cs typeface="Courier New" pitchFamily="49" charset="-120"/>
              </a:rPr>
              <a:t>neetintel.github.io</a:t>
            </a:r>
            <a:endParaRPr lang="en-US" sz="1200" dirty="0"/>
          </a:p>
        </p:txBody>
      </p:sp>
      <p:sp>
        <p:nvSpPr>
          <p:cNvPr id="3" name="Text 1"/>
          <p:cNvSpPr/>
          <p:nvPr>
            <p:ph type="title"/>
          </p:nvPr>
        </p:nvSpPr>
        <p:spPr>
          <a:xfrm>
            <a:off x="812800" y="210567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100" kern="0" dirty="0">
                <a:solidFill>
                  <a:srgbClr val="E6EDF3"/>
                </a:solidFill>
                <a:latin typeface="Arial" pitchFamily="34" charset="0"/>
                <a:ea typeface="Arial" pitchFamily="34" charset="-122"/>
                <a:cs typeface="Arial" pitchFamily="34" charset="-120"/>
              </a:rPr>
              <a:t>NEET INTEL</a:t>
            </a:r>
            <a:endParaRPr lang="en-US" sz="8000" dirty="0"/>
          </a:p>
        </p:txBody>
      </p:sp>
      <p:sp>
        <p:nvSpPr>
          <p:cNvPr id="4" name="Text 2"/>
          <p:cNvSpPr/>
          <p:nvPr/>
        </p:nvSpPr>
        <p:spPr>
          <a:xfrm>
            <a:off x="812800" y="3324870"/>
            <a:ext cx="10883392"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E6EDF3"/>
                </a:solidFill>
                <a:latin typeface="Arial" pitchFamily="34" charset="0"/>
                <a:ea typeface="Arial" pitchFamily="34" charset="-122"/>
                <a:cs typeface="Arial" pitchFamily="34" charset="-120"/>
              </a:rPr>
              <a:t>HFGCS（High Frequency Global Communications System）と、</a:t>
            </a:r>
            <a:endParaRPr lang="en-US" sz="2200" dirty="0"/>
          </a:p>
          <a:p>
            <a:pPr algn="l" indent="0" marL="0">
              <a:lnSpc>
                <a:spcPts val="2970"/>
              </a:lnSpc>
              <a:buNone/>
            </a:pPr>
            <a:r>
              <a:rPr lang="en-US" sz="2200" dirty="0">
                <a:solidFill>
                  <a:srgbClr val="E6EDF3"/>
                </a:solidFill>
                <a:latin typeface="Arial" pitchFamily="34" charset="0"/>
                <a:ea typeface="Arial" pitchFamily="34" charset="-122"/>
                <a:cs typeface="Arial" pitchFamily="34" charset="-120"/>
              </a:rPr>
              <a:t>そこで放送されるEAM（Emergency Action Message）についての研究</a:t>
            </a:r>
            <a:endParaRPr lang="en-US" sz="2200" dirty="0"/>
          </a:p>
        </p:txBody>
      </p:sp>
      <p:sp>
        <p:nvSpPr>
          <p:cNvPr id="5" name="Text 3"/>
          <p:cNvSpPr/>
          <p:nvPr/>
        </p:nvSpPr>
        <p:spPr>
          <a:xfrm>
            <a:off x="812800" y="428243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サイトを部分ごとに詳しく案内する資料</a:t>
            </a:r>
            <a:endParaRPr lang="en-US" sz="1600" dirty="0"/>
          </a:p>
        </p:txBody>
      </p:sp>
      <p:sp>
        <p:nvSpPr>
          <p:cNvPr id="6" name="Shape 4"/>
          <p:cNvSpPr/>
          <p:nvPr/>
        </p:nvSpPr>
        <p:spPr>
          <a:xfrm>
            <a:off x="812800" y="5666780"/>
            <a:ext cx="6940550" cy="63500"/>
          </a:xfrm>
          <a:prstGeom prst="rect">
            <a:avLst/>
          </a:prstGeom>
          <a:solidFill>
            <a:srgbClr val="06B050"/>
          </a:solidFill>
          <a:ln/>
        </p:spPr>
      </p:sp>
      <p:sp>
        <p:nvSpPr>
          <p:cNvPr id="7" name="Shape 5"/>
          <p:cNvSpPr/>
          <p:nvPr/>
        </p:nvSpPr>
        <p:spPr>
          <a:xfrm>
            <a:off x="7791450" y="5666780"/>
            <a:ext cx="2552700" cy="63500"/>
          </a:xfrm>
          <a:prstGeom prst="rect">
            <a:avLst/>
          </a:prstGeom>
          <a:solidFill>
            <a:srgbClr val="ED7D32"/>
          </a:solidFill>
          <a:ln/>
        </p:spPr>
      </p:sp>
      <p:sp>
        <p:nvSpPr>
          <p:cNvPr id="8" name="Shape 6"/>
          <p:cNvSpPr/>
          <p:nvPr/>
        </p:nvSpPr>
        <p:spPr>
          <a:xfrm>
            <a:off x="10382250" y="5666780"/>
            <a:ext cx="533400" cy="63500"/>
          </a:xfrm>
          <a:prstGeom prst="rect">
            <a:avLst/>
          </a:prstGeom>
          <a:solidFill>
            <a:srgbClr val="FFCC00"/>
          </a:solidFill>
          <a:ln/>
        </p:spPr>
      </p:sp>
      <p:sp>
        <p:nvSpPr>
          <p:cNvPr id="9" name="Shape 7"/>
          <p:cNvSpPr/>
          <p:nvPr/>
        </p:nvSpPr>
        <p:spPr>
          <a:xfrm>
            <a:off x="10953750" y="5666780"/>
            <a:ext cx="361950" cy="63500"/>
          </a:xfrm>
          <a:prstGeom prst="rect">
            <a:avLst/>
          </a:prstGeom>
          <a:solidFill>
            <a:srgbClr val="FF0467"/>
          </a:solidFill>
          <a:ln/>
        </p:spPr>
      </p:sp>
      <p:sp>
        <p:nvSpPr>
          <p:cNvPr id="10" name="Shape 8"/>
          <p:cNvSpPr/>
          <p:nvPr/>
        </p:nvSpPr>
        <p:spPr>
          <a:xfrm>
            <a:off x="11353800" y="5666780"/>
            <a:ext cx="25400" cy="63500"/>
          </a:xfrm>
          <a:prstGeom prst="rect">
            <a:avLst/>
          </a:prstGeom>
          <a:solidFill>
            <a:srgbClr val="9063CD"/>
          </a:solidFill>
          <a:ln/>
        </p:spPr>
      </p:sp>
      <p:sp>
        <p:nvSpPr>
          <p:cNvPr id="11" name="Text 9"/>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6B050"/>
                </a:solidFill>
                <a:latin typeface="Arial" pitchFamily="34" charset="0"/>
                <a:ea typeface="Arial" pitchFamily="34" charset="-122"/>
                <a:cs typeface="Arial" pitchFamily="34" charset="-120"/>
              </a:rPr>
              <a:t>第1群</a:t>
            </a:r>
            <a:r>
              <a:rPr lang="en-US" sz="1200" dirty="0">
                <a:solidFill>
                  <a:srgbClr val="7D8894"/>
                </a:solidFill>
                <a:latin typeface="Arial" pitchFamily="34" charset="0"/>
                <a:ea typeface="Arial" pitchFamily="34" charset="-122"/>
                <a:cs typeface="Arial" pitchFamily="34" charset="-120"/>
              </a:rPr>
              <a:t> · </a:t>
            </a:r>
            <a:r>
              <a:rPr lang="en-US" sz="1200" dirty="0">
                <a:solidFill>
                  <a:srgbClr val="ED7D32"/>
                </a:solidFill>
                <a:latin typeface="Arial" pitchFamily="34" charset="0"/>
                <a:ea typeface="Arial" pitchFamily="34" charset="-122"/>
                <a:cs typeface="Arial" pitchFamily="34" charset="-120"/>
              </a:rPr>
              <a:t>第2群</a:t>
            </a:r>
            <a:r>
              <a:rPr lang="en-US" sz="1200" dirty="0">
                <a:solidFill>
                  <a:srgbClr val="7D8894"/>
                </a:solidFill>
                <a:latin typeface="Arial" pitchFamily="34" charset="0"/>
                <a:ea typeface="Arial" pitchFamily="34" charset="-122"/>
                <a:cs typeface="Arial" pitchFamily="34" charset="-120"/>
              </a:rPr>
              <a:t> · </a:t>
            </a:r>
            <a:r>
              <a:rPr lang="en-US" sz="1200" dirty="0">
                <a:solidFill>
                  <a:srgbClr val="FFCC00"/>
                </a:solidFill>
                <a:latin typeface="Arial" pitchFamily="34" charset="0"/>
                <a:ea typeface="Arial" pitchFamily="34" charset="-122"/>
                <a:cs typeface="Arial" pitchFamily="34" charset="-120"/>
              </a:rPr>
              <a:t>第3群</a:t>
            </a:r>
            <a:r>
              <a:rPr lang="en-US" sz="1200" dirty="0">
                <a:solidFill>
                  <a:srgbClr val="7D8894"/>
                </a:solidFill>
                <a:latin typeface="Arial" pitchFamily="34" charset="0"/>
                <a:ea typeface="Arial" pitchFamily="34" charset="-122"/>
                <a:cs typeface="Arial" pitchFamily="34" charset="-120"/>
              </a:rPr>
              <a:t> · </a:t>
            </a:r>
            <a:r>
              <a:rPr lang="en-US" sz="1200" dirty="0">
                <a:solidFill>
                  <a:srgbClr val="FF0467"/>
                </a:solidFill>
                <a:latin typeface="Arial" pitchFamily="34" charset="0"/>
                <a:ea typeface="Arial" pitchFamily="34" charset="-122"/>
                <a:cs typeface="Arial" pitchFamily="34" charset="-120"/>
              </a:rPr>
              <a:t>第4群</a:t>
            </a:r>
            <a:r>
              <a:rPr lang="en-US" sz="1200" dirty="0">
                <a:solidFill>
                  <a:srgbClr val="7D8894"/>
                </a:solidFill>
                <a:latin typeface="Arial" pitchFamily="34" charset="0"/>
                <a:ea typeface="Arial" pitchFamily="34" charset="-122"/>
                <a:cs typeface="Arial" pitchFamily="34" charset="-120"/>
              </a:rPr>
              <a:t> · </a:t>
            </a:r>
            <a:r>
              <a:rPr lang="en-US" sz="1200" dirty="0">
                <a:solidFill>
                  <a:srgbClr val="9063CD"/>
                </a:solidFill>
                <a:latin typeface="Arial" pitchFamily="34" charset="0"/>
                <a:ea typeface="Arial" pitchFamily="34" charset="-122"/>
                <a:cs typeface="Arial" pitchFamily="34" charset="-120"/>
              </a:rPr>
              <a:t>第5群</a:t>
            </a:r>
            <a:r>
              <a:rPr lang="en-US" sz="1200" dirty="0">
                <a:solidFill>
                  <a:srgbClr val="7D8894"/>
                </a:solidFill>
                <a:latin typeface="Arial" pitchFamily="34" charset="0"/>
                <a:ea typeface="Arial" pitchFamily="34" charset="-122"/>
                <a:cs typeface="Arial" pitchFamily="34" charset="-120"/>
              </a:rPr>
              <a:t> — 放送15,275件の群別の割合（2022年1月〜2026年10月）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目次</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9部構成</a:t>
            </a:r>
            <a:endParaRPr lang="en-US" sz="3600" dirty="0"/>
          </a:p>
        </p:txBody>
      </p:sp>
      <p:sp>
        <p:nvSpPr>
          <p:cNvPr id="4" name="Shape 2"/>
          <p:cNvSpPr/>
          <p:nvPr/>
        </p:nvSpPr>
        <p:spPr>
          <a:xfrm>
            <a:off x="812800" y="1984325"/>
            <a:ext cx="5080000" cy="0"/>
          </a:xfrm>
          <a:prstGeom prst="line">
            <a:avLst/>
          </a:prstGeom>
          <a:noFill/>
          <a:ln w="6350">
            <a:solidFill>
              <a:srgbClr val="222A35"/>
            </a:solidFill>
            <a:prstDash val="solid"/>
          </a:ln>
        </p:spPr>
      </p:sp>
      <p:sp>
        <p:nvSpPr>
          <p:cNvPr id="5" name="Text 3"/>
          <p:cNvSpPr/>
          <p:nvPr/>
        </p:nvSpPr>
        <p:spPr>
          <a:xfrm>
            <a:off x="812800" y="2111325"/>
            <a:ext cx="3556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CC00"/>
                </a:solidFill>
                <a:latin typeface="Courier New" pitchFamily="49" charset="0"/>
                <a:ea typeface="Courier New" pitchFamily="49" charset="-122"/>
                <a:cs typeface="Courier New" pitchFamily="49" charset="-120"/>
              </a:rPr>
              <a:t>1</a:t>
            </a:r>
            <a:endParaRPr lang="en-US" sz="2200" dirty="0"/>
          </a:p>
        </p:txBody>
      </p:sp>
      <p:sp>
        <p:nvSpPr>
          <p:cNvPr id="6" name="Text 4"/>
          <p:cNvSpPr/>
          <p:nvPr/>
        </p:nvSpPr>
        <p:spPr>
          <a:xfrm>
            <a:off x="1270000" y="2089100"/>
            <a:ext cx="67056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DF3"/>
                </a:solidFill>
                <a:latin typeface="Arial" pitchFamily="34" charset="0"/>
                <a:ea typeface="Arial" pitchFamily="34" charset="-122"/>
                <a:cs typeface="Arial" pitchFamily="34" charset="-120"/>
              </a:rPr>
              <a:t>背景</a:t>
            </a:r>
            <a:endParaRPr lang="en-US" sz="2200" dirty="0"/>
          </a:p>
        </p:txBody>
      </p:sp>
      <p:sp>
        <p:nvSpPr>
          <p:cNvPr id="7" name="Shape 5"/>
          <p:cNvSpPr/>
          <p:nvPr/>
        </p:nvSpPr>
        <p:spPr>
          <a:xfrm>
            <a:off x="812800" y="2565350"/>
            <a:ext cx="5080000" cy="0"/>
          </a:xfrm>
          <a:prstGeom prst="line">
            <a:avLst/>
          </a:prstGeom>
          <a:noFill/>
          <a:ln w="6350">
            <a:solidFill>
              <a:srgbClr val="222A35"/>
            </a:solidFill>
            <a:prstDash val="solid"/>
          </a:ln>
        </p:spPr>
      </p:sp>
      <p:sp>
        <p:nvSpPr>
          <p:cNvPr id="8" name="Text 6"/>
          <p:cNvSpPr/>
          <p:nvPr/>
        </p:nvSpPr>
        <p:spPr>
          <a:xfrm>
            <a:off x="812800" y="2692350"/>
            <a:ext cx="3556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CC00"/>
                </a:solidFill>
                <a:latin typeface="Courier New" pitchFamily="49" charset="0"/>
                <a:ea typeface="Courier New" pitchFamily="49" charset="-122"/>
                <a:cs typeface="Courier New" pitchFamily="49" charset="-120"/>
              </a:rPr>
              <a:t>2</a:t>
            </a:r>
            <a:endParaRPr lang="en-US" sz="2200" dirty="0"/>
          </a:p>
        </p:txBody>
      </p:sp>
      <p:sp>
        <p:nvSpPr>
          <p:cNvPr id="9" name="Text 7"/>
          <p:cNvSpPr/>
          <p:nvPr/>
        </p:nvSpPr>
        <p:spPr>
          <a:xfrm>
            <a:off x="1270000" y="2670125"/>
            <a:ext cx="995839"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DF3"/>
                </a:solidFill>
                <a:latin typeface="Arial" pitchFamily="34" charset="0"/>
                <a:ea typeface="Arial" pitchFamily="34" charset="-122"/>
                <a:cs typeface="Arial" pitchFamily="34" charset="-120"/>
              </a:rPr>
              <a:t>サイト</a:t>
            </a:r>
            <a:endParaRPr lang="en-US" sz="2200" dirty="0"/>
          </a:p>
        </p:txBody>
      </p:sp>
      <p:sp>
        <p:nvSpPr>
          <p:cNvPr id="10" name="Shape 8"/>
          <p:cNvSpPr/>
          <p:nvPr/>
        </p:nvSpPr>
        <p:spPr>
          <a:xfrm>
            <a:off x="812800" y="3146375"/>
            <a:ext cx="5080000" cy="0"/>
          </a:xfrm>
          <a:prstGeom prst="line">
            <a:avLst/>
          </a:prstGeom>
          <a:noFill/>
          <a:ln w="6350">
            <a:solidFill>
              <a:srgbClr val="222A35"/>
            </a:solidFill>
            <a:prstDash val="solid"/>
          </a:ln>
        </p:spPr>
      </p:sp>
      <p:sp>
        <p:nvSpPr>
          <p:cNvPr id="11" name="Text 9"/>
          <p:cNvSpPr/>
          <p:nvPr/>
        </p:nvSpPr>
        <p:spPr>
          <a:xfrm>
            <a:off x="812800" y="3273375"/>
            <a:ext cx="3556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CC00"/>
                </a:solidFill>
                <a:latin typeface="Courier New" pitchFamily="49" charset="0"/>
                <a:ea typeface="Courier New" pitchFamily="49" charset="-122"/>
                <a:cs typeface="Courier New" pitchFamily="49" charset="-120"/>
              </a:rPr>
              <a:t>3</a:t>
            </a:r>
            <a:endParaRPr lang="en-US" sz="2200" dirty="0"/>
          </a:p>
        </p:txBody>
      </p:sp>
      <p:sp>
        <p:nvSpPr>
          <p:cNvPr id="12" name="Text 10"/>
          <p:cNvSpPr/>
          <p:nvPr/>
        </p:nvSpPr>
        <p:spPr>
          <a:xfrm>
            <a:off x="1270000" y="3251150"/>
            <a:ext cx="67056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DF3"/>
                </a:solidFill>
                <a:latin typeface="Arial" pitchFamily="34" charset="0"/>
                <a:ea typeface="Arial" pitchFamily="34" charset="-122"/>
                <a:cs typeface="Arial" pitchFamily="34" charset="-120"/>
              </a:rPr>
              <a:t>録音</a:t>
            </a:r>
            <a:endParaRPr lang="en-US" sz="2200" dirty="0"/>
          </a:p>
        </p:txBody>
      </p:sp>
      <p:sp>
        <p:nvSpPr>
          <p:cNvPr id="13" name="Shape 11"/>
          <p:cNvSpPr/>
          <p:nvPr/>
        </p:nvSpPr>
        <p:spPr>
          <a:xfrm>
            <a:off x="812800" y="3727400"/>
            <a:ext cx="5080000" cy="0"/>
          </a:xfrm>
          <a:prstGeom prst="line">
            <a:avLst/>
          </a:prstGeom>
          <a:noFill/>
          <a:ln w="6350">
            <a:solidFill>
              <a:srgbClr val="222A35"/>
            </a:solidFill>
            <a:prstDash val="solid"/>
          </a:ln>
        </p:spPr>
      </p:sp>
      <p:sp>
        <p:nvSpPr>
          <p:cNvPr id="14" name="Text 12"/>
          <p:cNvSpPr/>
          <p:nvPr/>
        </p:nvSpPr>
        <p:spPr>
          <a:xfrm>
            <a:off x="812800" y="3854400"/>
            <a:ext cx="3556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CC00"/>
                </a:solidFill>
                <a:latin typeface="Courier New" pitchFamily="49" charset="0"/>
                <a:ea typeface="Courier New" pitchFamily="49" charset="-122"/>
                <a:cs typeface="Courier New" pitchFamily="49" charset="-120"/>
              </a:rPr>
              <a:t>4</a:t>
            </a:r>
            <a:endParaRPr lang="en-US" sz="2200" dirty="0"/>
          </a:p>
        </p:txBody>
      </p:sp>
      <p:sp>
        <p:nvSpPr>
          <p:cNvPr id="15" name="Text 13"/>
          <p:cNvSpPr/>
          <p:nvPr/>
        </p:nvSpPr>
        <p:spPr>
          <a:xfrm>
            <a:off x="1270000" y="3832175"/>
            <a:ext cx="167640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DF3"/>
                </a:solidFill>
                <a:latin typeface="Arial" pitchFamily="34" charset="0"/>
                <a:ea typeface="Arial" pitchFamily="34" charset="-122"/>
                <a:cs typeface="Arial" pitchFamily="34" charset="-120"/>
              </a:rPr>
              <a:t>ギャラリー</a:t>
            </a:r>
            <a:endParaRPr lang="en-US" sz="2200" dirty="0"/>
          </a:p>
        </p:txBody>
      </p:sp>
      <p:sp>
        <p:nvSpPr>
          <p:cNvPr id="16" name="Shape 14"/>
          <p:cNvSpPr/>
          <p:nvPr/>
        </p:nvSpPr>
        <p:spPr>
          <a:xfrm>
            <a:off x="812800" y="4308425"/>
            <a:ext cx="5080000" cy="0"/>
          </a:xfrm>
          <a:prstGeom prst="line">
            <a:avLst/>
          </a:prstGeom>
          <a:noFill/>
          <a:ln w="6350">
            <a:solidFill>
              <a:srgbClr val="222A35"/>
            </a:solidFill>
            <a:prstDash val="solid"/>
          </a:ln>
        </p:spPr>
      </p:sp>
      <p:sp>
        <p:nvSpPr>
          <p:cNvPr id="17" name="Text 15"/>
          <p:cNvSpPr/>
          <p:nvPr/>
        </p:nvSpPr>
        <p:spPr>
          <a:xfrm>
            <a:off x="812800" y="4435425"/>
            <a:ext cx="3556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CC00"/>
                </a:solidFill>
                <a:latin typeface="Courier New" pitchFamily="49" charset="0"/>
                <a:ea typeface="Courier New" pitchFamily="49" charset="-122"/>
                <a:cs typeface="Courier New" pitchFamily="49" charset="-120"/>
              </a:rPr>
              <a:t>5</a:t>
            </a:r>
            <a:endParaRPr lang="en-US" sz="2200" dirty="0"/>
          </a:p>
        </p:txBody>
      </p:sp>
      <p:sp>
        <p:nvSpPr>
          <p:cNvPr id="18" name="Text 16"/>
          <p:cNvSpPr/>
          <p:nvPr/>
        </p:nvSpPr>
        <p:spPr>
          <a:xfrm>
            <a:off x="1270000" y="4413200"/>
            <a:ext cx="100584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DF3"/>
                </a:solidFill>
                <a:latin typeface="Arial" pitchFamily="34" charset="0"/>
                <a:ea typeface="Arial" pitchFamily="34" charset="-122"/>
                <a:cs typeface="Arial" pitchFamily="34" charset="-120"/>
              </a:rPr>
              <a:t>時系列</a:t>
            </a:r>
            <a:endParaRPr lang="en-US" sz="2200" dirty="0"/>
          </a:p>
        </p:txBody>
      </p:sp>
      <p:sp>
        <p:nvSpPr>
          <p:cNvPr id="19" name="Shape 17"/>
          <p:cNvSpPr/>
          <p:nvPr/>
        </p:nvSpPr>
        <p:spPr>
          <a:xfrm>
            <a:off x="6299200" y="1984325"/>
            <a:ext cx="5080000" cy="0"/>
          </a:xfrm>
          <a:prstGeom prst="line">
            <a:avLst/>
          </a:prstGeom>
          <a:noFill/>
          <a:ln w="6350">
            <a:solidFill>
              <a:srgbClr val="222A35"/>
            </a:solidFill>
            <a:prstDash val="solid"/>
          </a:ln>
        </p:spPr>
      </p:sp>
      <p:sp>
        <p:nvSpPr>
          <p:cNvPr id="20" name="Text 18"/>
          <p:cNvSpPr/>
          <p:nvPr/>
        </p:nvSpPr>
        <p:spPr>
          <a:xfrm>
            <a:off x="6299200" y="2111325"/>
            <a:ext cx="3556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CC00"/>
                </a:solidFill>
                <a:latin typeface="Courier New" pitchFamily="49" charset="0"/>
                <a:ea typeface="Courier New" pitchFamily="49" charset="-122"/>
                <a:cs typeface="Courier New" pitchFamily="49" charset="-120"/>
              </a:rPr>
              <a:t>6</a:t>
            </a:r>
            <a:endParaRPr lang="en-US" sz="2200" dirty="0"/>
          </a:p>
        </p:txBody>
      </p:sp>
      <p:sp>
        <p:nvSpPr>
          <p:cNvPr id="21" name="Text 19"/>
          <p:cNvSpPr/>
          <p:nvPr/>
        </p:nvSpPr>
        <p:spPr>
          <a:xfrm>
            <a:off x="6756400" y="2089100"/>
            <a:ext cx="201168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DF3"/>
                </a:solidFill>
                <a:latin typeface="Arial" pitchFamily="34" charset="0"/>
                <a:ea typeface="Arial" pitchFamily="34" charset="-122"/>
                <a:cs typeface="Arial" pitchFamily="34" charset="-120"/>
              </a:rPr>
              <a:t>長さ別の構造</a:t>
            </a:r>
            <a:endParaRPr lang="en-US" sz="2200" dirty="0"/>
          </a:p>
        </p:txBody>
      </p:sp>
      <p:sp>
        <p:nvSpPr>
          <p:cNvPr id="22" name="Shape 20"/>
          <p:cNvSpPr/>
          <p:nvPr/>
        </p:nvSpPr>
        <p:spPr>
          <a:xfrm>
            <a:off x="6299200" y="2565350"/>
            <a:ext cx="5080000" cy="0"/>
          </a:xfrm>
          <a:prstGeom prst="line">
            <a:avLst/>
          </a:prstGeom>
          <a:noFill/>
          <a:ln w="6350">
            <a:solidFill>
              <a:srgbClr val="222A35"/>
            </a:solidFill>
            <a:prstDash val="solid"/>
          </a:ln>
        </p:spPr>
      </p:sp>
      <p:sp>
        <p:nvSpPr>
          <p:cNvPr id="23" name="Text 21"/>
          <p:cNvSpPr/>
          <p:nvPr/>
        </p:nvSpPr>
        <p:spPr>
          <a:xfrm>
            <a:off x="6299200" y="2692350"/>
            <a:ext cx="3556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CC00"/>
                </a:solidFill>
                <a:latin typeface="Courier New" pitchFamily="49" charset="0"/>
                <a:ea typeface="Courier New" pitchFamily="49" charset="-122"/>
                <a:cs typeface="Courier New" pitchFamily="49" charset="-120"/>
              </a:rPr>
              <a:t>7</a:t>
            </a:r>
            <a:endParaRPr lang="en-US" sz="2200" dirty="0"/>
          </a:p>
        </p:txBody>
      </p:sp>
      <p:sp>
        <p:nvSpPr>
          <p:cNvPr id="24" name="Text 22"/>
          <p:cNvSpPr/>
          <p:nvPr/>
        </p:nvSpPr>
        <p:spPr>
          <a:xfrm>
            <a:off x="6756400" y="2670125"/>
            <a:ext cx="167640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DF3"/>
                </a:solidFill>
                <a:latin typeface="Arial" pitchFamily="34" charset="0"/>
                <a:ea typeface="Arial" pitchFamily="34" charset="-122"/>
                <a:cs typeface="Arial" pitchFamily="34" charset="-120"/>
              </a:rPr>
              <a:t>群別の構造</a:t>
            </a:r>
            <a:endParaRPr lang="en-US" sz="2200" dirty="0"/>
          </a:p>
        </p:txBody>
      </p:sp>
      <p:sp>
        <p:nvSpPr>
          <p:cNvPr id="25" name="Shape 23"/>
          <p:cNvSpPr/>
          <p:nvPr/>
        </p:nvSpPr>
        <p:spPr>
          <a:xfrm>
            <a:off x="6299200" y="3146375"/>
            <a:ext cx="5080000" cy="0"/>
          </a:xfrm>
          <a:prstGeom prst="line">
            <a:avLst/>
          </a:prstGeom>
          <a:noFill/>
          <a:ln w="6350">
            <a:solidFill>
              <a:srgbClr val="222A35"/>
            </a:solidFill>
            <a:prstDash val="solid"/>
          </a:ln>
        </p:spPr>
      </p:sp>
      <p:sp>
        <p:nvSpPr>
          <p:cNvPr id="26" name="Text 24"/>
          <p:cNvSpPr/>
          <p:nvPr/>
        </p:nvSpPr>
        <p:spPr>
          <a:xfrm>
            <a:off x="6299200" y="3273375"/>
            <a:ext cx="3556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CC00"/>
                </a:solidFill>
                <a:latin typeface="Courier New" pitchFamily="49" charset="0"/>
                <a:ea typeface="Courier New" pitchFamily="49" charset="-122"/>
                <a:cs typeface="Courier New" pitchFamily="49" charset="-120"/>
              </a:rPr>
              <a:t>8</a:t>
            </a:r>
            <a:endParaRPr lang="en-US" sz="2200" dirty="0"/>
          </a:p>
        </p:txBody>
      </p:sp>
      <p:sp>
        <p:nvSpPr>
          <p:cNvPr id="27" name="Text 25"/>
          <p:cNvSpPr/>
          <p:nvPr/>
        </p:nvSpPr>
        <p:spPr>
          <a:xfrm>
            <a:off x="6756400" y="3251150"/>
            <a:ext cx="301752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DF3"/>
                </a:solidFill>
                <a:latin typeface="Arial" pitchFamily="34" charset="0"/>
                <a:ea typeface="Arial" pitchFamily="34" charset="-122"/>
                <a:cs typeface="Arial" pitchFamily="34" charset="-120"/>
              </a:rPr>
              <a:t>出来事と外部データ</a:t>
            </a:r>
            <a:endParaRPr lang="en-US" sz="2200" dirty="0"/>
          </a:p>
        </p:txBody>
      </p:sp>
      <p:sp>
        <p:nvSpPr>
          <p:cNvPr id="28" name="Shape 26"/>
          <p:cNvSpPr/>
          <p:nvPr/>
        </p:nvSpPr>
        <p:spPr>
          <a:xfrm>
            <a:off x="6299200" y="3727400"/>
            <a:ext cx="5080000" cy="0"/>
          </a:xfrm>
          <a:prstGeom prst="line">
            <a:avLst/>
          </a:prstGeom>
          <a:noFill/>
          <a:ln w="6350">
            <a:solidFill>
              <a:srgbClr val="222A35"/>
            </a:solidFill>
            <a:prstDash val="solid"/>
          </a:ln>
        </p:spPr>
      </p:sp>
      <p:sp>
        <p:nvSpPr>
          <p:cNvPr id="29" name="Text 27"/>
          <p:cNvSpPr/>
          <p:nvPr/>
        </p:nvSpPr>
        <p:spPr>
          <a:xfrm>
            <a:off x="6299200" y="3854400"/>
            <a:ext cx="3556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CC00"/>
                </a:solidFill>
                <a:latin typeface="Courier New" pitchFamily="49" charset="0"/>
                <a:ea typeface="Courier New" pitchFamily="49" charset="-122"/>
                <a:cs typeface="Courier New" pitchFamily="49" charset="-120"/>
              </a:rPr>
              <a:t>9</a:t>
            </a:r>
            <a:endParaRPr lang="en-US" sz="2200" dirty="0"/>
          </a:p>
        </p:txBody>
      </p:sp>
      <p:sp>
        <p:nvSpPr>
          <p:cNvPr id="30" name="Text 28"/>
          <p:cNvSpPr/>
          <p:nvPr/>
        </p:nvSpPr>
        <p:spPr>
          <a:xfrm>
            <a:off x="6756400" y="3832175"/>
            <a:ext cx="301752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6EDF3"/>
                </a:solidFill>
                <a:latin typeface="Arial" pitchFamily="34" charset="0"/>
                <a:ea typeface="Arial" pitchFamily="34" charset="-122"/>
                <a:cs typeface="Arial" pitchFamily="34" charset="-120"/>
              </a:rPr>
              <a:t>参照・方法・まとめ</a:t>
            </a:r>
            <a:endParaRPr lang="en-US" sz="22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32" name="Text 30"/>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背景</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HFGCSとは</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地上局</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地上局</a:t>
            </a:r>
            <a:r>
              <a:rPr lang="en-US" sz="1600" dirty="0">
                <a:solidFill>
                  <a:srgbClr val="FFCC00"/>
                </a:solidFill>
                <a:latin typeface="Arial" pitchFamily="34" charset="0"/>
                <a:ea typeface="Arial" pitchFamily="34" charset="-122"/>
                <a:cs typeface="Arial" pitchFamily="34" charset="-120"/>
              </a:rPr>
              <a:t>13</a:t>
            </a:r>
            <a:r>
              <a:rPr lang="en-US" sz="1600" dirty="0">
                <a:solidFill>
                  <a:srgbClr val="E6EDF3"/>
                </a:solidFill>
                <a:latin typeface="Arial" pitchFamily="34" charset="0"/>
                <a:ea typeface="Arial" pitchFamily="34" charset="-122"/>
                <a:cs typeface="Arial" pitchFamily="34" charset="-120"/>
              </a:rPr>
              <a:t>局とネットワーク管制局</a:t>
            </a:r>
            <a:r>
              <a:rPr lang="en-US" sz="1600" dirty="0">
                <a:solidFill>
                  <a:srgbClr val="FFCC00"/>
                </a:solidFill>
                <a:latin typeface="Arial" pitchFamily="34" charset="0"/>
                <a:ea typeface="Arial" pitchFamily="34" charset="-122"/>
                <a:cs typeface="Arial" pitchFamily="34" charset="-120"/>
              </a:rPr>
              <a:t>2</a:t>
            </a:r>
            <a:r>
              <a:rPr lang="en-US" sz="1600" dirty="0">
                <a:solidFill>
                  <a:srgbClr val="E6EDF3"/>
                </a:solidFill>
                <a:latin typeface="Arial" pitchFamily="34" charset="0"/>
                <a:ea typeface="Arial" pitchFamily="34" charset="-122"/>
                <a:cs typeface="Arial" pitchFamily="34" charset="-120"/>
              </a:rPr>
              <a:t>局</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（FY27予算資料）</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空軍の中隊の壁地図には</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「14のHFサイトの一つ」</a:t>
            </a:r>
            <a:r>
              <a:rPr lang="en-US" sz="1600" dirty="0">
                <a:solidFill>
                  <a:srgbClr val="E6EDF3"/>
                </a:solidFill>
                <a:latin typeface="Arial" pitchFamily="34" charset="0"/>
                <a:ea typeface="Arial" pitchFamily="34" charset="-122"/>
                <a:cs typeface="Arial" pitchFamily="34" charset="-120"/>
              </a:rPr>
              <a:t>の表記</a:t>
            </a:r>
            <a:endParaRPr lang="en-US" sz="1600" dirty="0"/>
          </a:p>
        </p:txBody>
      </p:sp>
      <p:sp>
        <p:nvSpPr>
          <p:cNvPr id="8" name="Shape 6"/>
          <p:cNvSpPr/>
          <p:nvPr/>
        </p:nvSpPr>
        <p:spPr>
          <a:xfrm>
            <a:off x="812800" y="3622625"/>
            <a:ext cx="4572000" cy="0"/>
          </a:xfrm>
          <a:prstGeom prst="line">
            <a:avLst/>
          </a:prstGeom>
          <a:noFill/>
          <a:ln w="6350">
            <a:solidFill>
              <a:srgbClr val="222A35"/>
            </a:solidFill>
            <a:prstDash val="solid"/>
          </a:ln>
        </p:spPr>
      </p:sp>
      <p:sp>
        <p:nvSpPr>
          <p:cNvPr id="9" name="Text 7"/>
          <p:cNvSpPr/>
          <p:nvPr/>
        </p:nvSpPr>
        <p:spPr>
          <a:xfrm>
            <a:off x="812800" y="37274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どちらの管制局も、</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どの局でも遠隔で運用できるらしい</a:t>
            </a:r>
            <a:endParaRPr lang="en-US" sz="1600" dirty="0"/>
          </a:p>
        </p:txBody>
      </p:sp>
      <p:sp>
        <p:nvSpPr>
          <p:cNvPr id="10" name="Shape 8"/>
          <p:cNvSpPr/>
          <p:nvPr/>
        </p:nvSpPr>
        <p:spPr>
          <a:xfrm>
            <a:off x="812800" y="4441775"/>
            <a:ext cx="4572000" cy="0"/>
          </a:xfrm>
          <a:prstGeom prst="line">
            <a:avLst/>
          </a:prstGeom>
          <a:noFill/>
          <a:ln w="6350">
            <a:solidFill>
              <a:srgbClr val="222A35"/>
            </a:solidFill>
            <a:prstDash val="solid"/>
          </a:ln>
        </p:spPr>
      </p:sp>
      <p:sp>
        <p:nvSpPr>
          <p:cNvPr id="11" name="Text 9"/>
          <p:cNvSpPr/>
          <p:nvPr/>
        </p:nvSpPr>
        <p:spPr>
          <a:xfrm>
            <a:off x="812800" y="45465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送信所と受信所は離れている：</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オファットで</a:t>
            </a:r>
            <a:r>
              <a:rPr lang="en-US" sz="1600" dirty="0">
                <a:solidFill>
                  <a:srgbClr val="FFCC00"/>
                </a:solidFill>
                <a:latin typeface="Arial" pitchFamily="34" charset="0"/>
                <a:ea typeface="Arial" pitchFamily="34" charset="-122"/>
                <a:cs typeface="Arial" pitchFamily="34" charset="-120"/>
              </a:rPr>
              <a:t>45 km</a:t>
            </a:r>
            <a:r>
              <a:rPr lang="en-US" sz="1600" dirty="0">
                <a:solidFill>
                  <a:srgbClr val="E6EDF3"/>
                </a:solidFill>
                <a:latin typeface="Arial" pitchFamily="34" charset="0"/>
                <a:ea typeface="Arial" pitchFamily="34" charset="-122"/>
                <a:cs typeface="Arial" pitchFamily="34" charset="-120"/>
              </a:rPr>
              <a:t>、プエルトリコで</a:t>
            </a:r>
            <a:r>
              <a:rPr lang="en-US" sz="1600" dirty="0">
                <a:solidFill>
                  <a:srgbClr val="FFCC00"/>
                </a:solidFill>
                <a:latin typeface="Arial" pitchFamily="34" charset="0"/>
                <a:ea typeface="Arial" pitchFamily="34" charset="-122"/>
                <a:cs typeface="Arial" pitchFamily="34" charset="-120"/>
              </a:rPr>
              <a:t>97 km</a:t>
            </a:r>
            <a:endParaRPr lang="en-US" sz="1600" dirty="0"/>
          </a:p>
        </p:txBody>
      </p:sp>
      <p:sp>
        <p:nvSpPr>
          <p:cNvPr id="12" name="Text 10"/>
          <p:cNvSpPr/>
          <p:nvPr/>
        </p:nvSpPr>
        <p:spPr>
          <a:xfrm>
            <a:off x="5791200" y="1981150"/>
            <a:ext cx="27731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CC00"/>
                </a:solidFill>
                <a:latin typeface="Arial" pitchFamily="34" charset="0"/>
                <a:ea typeface="Arial" pitchFamily="34" charset="-122"/>
                <a:cs typeface="Arial" pitchFamily="34" charset="-120"/>
              </a:rPr>
              <a:t>ANCS（アンドルーズ？）</a:t>
            </a:r>
            <a:endParaRPr lang="en-US" sz="1200" dirty="0"/>
          </a:p>
        </p:txBody>
      </p:sp>
      <p:sp>
        <p:nvSpPr>
          <p:cNvPr id="13" name="Text 11"/>
          <p:cNvSpPr/>
          <p:nvPr/>
        </p:nvSpPr>
        <p:spPr>
          <a:xfrm>
            <a:off x="5794375" y="2248446"/>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ANDREWS</a:t>
            </a:r>
            <a:endParaRPr lang="en-US" sz="1200" dirty="0"/>
          </a:p>
        </p:txBody>
      </p:sp>
      <p:sp>
        <p:nvSpPr>
          <p:cNvPr id="14" name="Text 12"/>
          <p:cNvSpPr/>
          <p:nvPr/>
        </p:nvSpPr>
        <p:spPr>
          <a:xfrm>
            <a:off x="5794375" y="2601466"/>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HICKAM</a:t>
            </a:r>
            <a:endParaRPr lang="en-US" sz="1200" dirty="0"/>
          </a:p>
        </p:txBody>
      </p:sp>
      <p:sp>
        <p:nvSpPr>
          <p:cNvPr id="15" name="Text 13"/>
          <p:cNvSpPr/>
          <p:nvPr/>
        </p:nvSpPr>
        <p:spPr>
          <a:xfrm>
            <a:off x="5794375" y="2954486"/>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SIGONELLA</a:t>
            </a:r>
            <a:endParaRPr lang="en-US" sz="1200" dirty="0"/>
          </a:p>
        </p:txBody>
      </p:sp>
      <p:sp>
        <p:nvSpPr>
          <p:cNvPr id="16" name="Text 14"/>
          <p:cNvSpPr/>
          <p:nvPr/>
        </p:nvSpPr>
        <p:spPr>
          <a:xfrm>
            <a:off x="5794375" y="3307507"/>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DIEGO GARCIA</a:t>
            </a:r>
            <a:endParaRPr lang="en-US" sz="1200" dirty="0"/>
          </a:p>
        </p:txBody>
      </p:sp>
      <p:sp>
        <p:nvSpPr>
          <p:cNvPr id="17" name="Text 15"/>
          <p:cNvSpPr/>
          <p:nvPr/>
        </p:nvSpPr>
        <p:spPr>
          <a:xfrm>
            <a:off x="5794375" y="3660527"/>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YOKOTA</a:t>
            </a:r>
            <a:endParaRPr lang="en-US" sz="1200" dirty="0"/>
          </a:p>
        </p:txBody>
      </p:sp>
      <p:sp>
        <p:nvSpPr>
          <p:cNvPr id="18" name="Text 16"/>
          <p:cNvSpPr/>
          <p:nvPr/>
        </p:nvSpPr>
        <p:spPr>
          <a:xfrm>
            <a:off x="5794375" y="4013547"/>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LAJES</a:t>
            </a:r>
            <a:endParaRPr lang="en-US" sz="1200" dirty="0"/>
          </a:p>
        </p:txBody>
      </p:sp>
      <p:sp>
        <p:nvSpPr>
          <p:cNvPr id="19" name="Text 17"/>
          <p:cNvSpPr/>
          <p:nvPr/>
        </p:nvSpPr>
        <p:spPr>
          <a:xfrm>
            <a:off x="5794375" y="4366568"/>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WEST COAST</a:t>
            </a:r>
            <a:endParaRPr lang="en-US" sz="1200" dirty="0"/>
          </a:p>
        </p:txBody>
      </p:sp>
      <p:sp>
        <p:nvSpPr>
          <p:cNvPr id="20" name="Text 18"/>
          <p:cNvSpPr/>
          <p:nvPr/>
        </p:nvSpPr>
        <p:spPr>
          <a:xfrm>
            <a:off x="8686800" y="1981150"/>
            <a:ext cx="27731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CC00"/>
                </a:solidFill>
                <a:latin typeface="Arial" pitchFamily="34" charset="0"/>
                <a:ea typeface="Arial" pitchFamily="34" charset="-122"/>
                <a:cs typeface="Arial" pitchFamily="34" charset="-120"/>
              </a:rPr>
              <a:t>GFNCS（グランドフォークス？）</a:t>
            </a:r>
            <a:endParaRPr lang="en-US" sz="1200" dirty="0"/>
          </a:p>
        </p:txBody>
      </p:sp>
      <p:sp>
        <p:nvSpPr>
          <p:cNvPr id="21" name="Text 19"/>
          <p:cNvSpPr/>
          <p:nvPr/>
        </p:nvSpPr>
        <p:spPr>
          <a:xfrm>
            <a:off x="8689975" y="2248446"/>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ELMENDORF</a:t>
            </a:r>
            <a:endParaRPr lang="en-US" sz="1200" dirty="0"/>
          </a:p>
        </p:txBody>
      </p:sp>
      <p:sp>
        <p:nvSpPr>
          <p:cNvPr id="22" name="Text 20"/>
          <p:cNvSpPr/>
          <p:nvPr/>
        </p:nvSpPr>
        <p:spPr>
          <a:xfrm>
            <a:off x="8689975" y="2601466"/>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OFFUTT</a:t>
            </a:r>
            <a:endParaRPr lang="en-US" sz="1200" dirty="0"/>
          </a:p>
        </p:txBody>
      </p:sp>
      <p:sp>
        <p:nvSpPr>
          <p:cNvPr id="23" name="Text 21"/>
          <p:cNvSpPr/>
          <p:nvPr/>
        </p:nvSpPr>
        <p:spPr>
          <a:xfrm>
            <a:off x="8689975" y="2954486"/>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CROUGHTON</a:t>
            </a:r>
            <a:endParaRPr lang="en-US" sz="1200" dirty="0"/>
          </a:p>
        </p:txBody>
      </p:sp>
      <p:sp>
        <p:nvSpPr>
          <p:cNvPr id="24" name="Text 22"/>
          <p:cNvSpPr/>
          <p:nvPr/>
        </p:nvSpPr>
        <p:spPr>
          <a:xfrm>
            <a:off x="8689975" y="3307507"/>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ASCENSION</a:t>
            </a:r>
            <a:endParaRPr lang="en-US" sz="1200" dirty="0"/>
          </a:p>
        </p:txBody>
      </p:sp>
      <p:sp>
        <p:nvSpPr>
          <p:cNvPr id="25" name="Text 23"/>
          <p:cNvSpPr/>
          <p:nvPr/>
        </p:nvSpPr>
        <p:spPr>
          <a:xfrm>
            <a:off x="8689975" y="3660527"/>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PUERTO RICO</a:t>
            </a:r>
            <a:endParaRPr lang="en-US" sz="1200" dirty="0"/>
          </a:p>
        </p:txBody>
      </p:sp>
      <p:sp>
        <p:nvSpPr>
          <p:cNvPr id="26" name="Text 24"/>
          <p:cNvSpPr/>
          <p:nvPr/>
        </p:nvSpPr>
        <p:spPr>
          <a:xfrm>
            <a:off x="8689975" y="4013547"/>
            <a:ext cx="2686050" cy="295870"/>
          </a:xfrm>
          <a:prstGeom prst="roundRect">
            <a:avLst>
              <a:gd name="adj" fmla="val 16097"/>
            </a:avLst>
          </a:prstGeom>
          <a:solidFill>
            <a:srgbClr val="0E141B"/>
          </a:solidFill>
          <a:ln w="6350">
            <a:solidFill>
              <a:srgbClr val="222A35"/>
            </a:solidFill>
            <a:prstDash val="solid"/>
          </a:ln>
        </p:spPr>
        <p:txBody>
          <a:bodyPr wrap="square" lIns="116226" tIns="27326" rIns="43455" bIns="1926"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ANDERSEN</a:t>
            </a:r>
            <a:endParaRPr lang="en-US" sz="1200" dirty="0"/>
          </a:p>
        </p:txBody>
      </p:sp>
      <p:sp>
        <p:nvSpPr>
          <p:cNvPr id="27" name="Text 25"/>
          <p:cNvSpPr/>
          <p:nvPr/>
        </p:nvSpPr>
        <p:spPr>
          <a:xfrm>
            <a:off x="5791200" y="4818013"/>
            <a:ext cx="5755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局の振り分けはhfgcs-mslリポジトリによる（FAQの表）。</a:t>
            </a:r>
            <a:endParaRPr lang="en-US" sz="1200" dirty="0"/>
          </a:p>
        </p:txBody>
      </p:sp>
      <p:sp>
        <p:nvSpPr>
          <p:cNvPr id="28" name="Text 26"/>
          <p:cNvSpPr/>
          <p:nvPr/>
        </p:nvSpPr>
        <p:spPr>
          <a:xfrm>
            <a:off x="5791200" y="5056733"/>
            <a:ext cx="57556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FAQの地図の目印は14。</a:t>
            </a:r>
            <a:endParaRPr lang="en-US" sz="1200" dirty="0"/>
          </a:p>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この13局（ANDERSENはGUAM表記）とSOUTH ATLANTIC。</a:t>
            </a:r>
            <a:endParaRPr lang="en-US" sz="1200" dirty="0"/>
          </a:p>
        </p:txBody>
      </p:sp>
      <p:sp>
        <p:nvSpPr>
          <p:cNvPr id="29" name="Text 2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30" name="Text 28"/>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背景</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聞こえるもの</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放送の構成</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2636044"/>
        </p:xfrm>
        <a:graphic>
          <a:graphicData uri="http://schemas.openxmlformats.org/drawingml/2006/table">
            <a:tbl>
              <a:tblPr/>
              <a:tblGrid>
                <a:gridCol w="2321814"/>
                <a:gridCol w="8231886"/>
              </a:tblGrid>
              <a:tr h="43934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要素</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サイトの説明</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周波数</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4724 · 8992 · 11175 · 15016 kHz（2025年）· ふつうは4つ同時</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コールサイン</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日替わり、例：CHOPHOUSE（221116）· ふつうは00:00 UTCに交代</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宛先</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第2群の約半数：メッセージの前にFOR [CALLSIGN]</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メッセージ</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1文字ずつ読み上げ、A–Zと2–7 · 先頭2文字が接頭辞</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長さ</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30文字を超えるメッセージは長さも読み上げ</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出典：HFGCS FAQとサイトの構造ページ</a:t>
            </a:r>
            <a:endParaRPr lang="en-US" sz="1200" dirty="0"/>
          </a:p>
        </p:txBody>
      </p:sp>
      <p:sp>
        <p:nvSpPr>
          <p:cNvPr id="6" name="Text 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背景</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EAMとは</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EAMの4つの群</a:t>
            </a:r>
            <a:endParaRPr lang="en-US" sz="3600" dirty="0"/>
          </a:p>
        </p:txBody>
      </p:sp>
      <p:sp>
        <p:nvSpPr>
          <p:cNvPr id="4" name="Text 2"/>
          <p:cNvSpPr/>
          <p:nvPr/>
        </p:nvSpPr>
        <p:spPr>
          <a:xfrm>
            <a:off x="812800" y="19811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EAMはすべて2文字の接頭辞で始まり、群は接頭辞のふるまいで決まる</a:t>
            </a:r>
            <a:endParaRPr lang="en-US" sz="1600" dirty="0"/>
          </a:p>
        </p:txBody>
      </p:sp>
      <p:sp>
        <p:nvSpPr>
          <p:cNvPr id="5" name="Shape 3"/>
          <p:cNvSpPr/>
          <p:nvPr/>
        </p:nvSpPr>
        <p:spPr>
          <a:xfrm>
            <a:off x="812800" y="2590750"/>
            <a:ext cx="2527300" cy="1831280"/>
          </a:xfrm>
          <a:prstGeom prst="roundRect">
            <a:avLst>
              <a:gd name="adj" fmla="val 4161"/>
            </a:avLst>
          </a:prstGeom>
          <a:solidFill>
            <a:srgbClr val="0E141B"/>
          </a:solidFill>
          <a:ln/>
        </p:spPr>
      </p:sp>
      <p:sp>
        <p:nvSpPr>
          <p:cNvPr id="6" name="Shape 4"/>
          <p:cNvSpPr/>
          <p:nvPr/>
        </p:nvSpPr>
        <p:spPr>
          <a:xfrm>
            <a:off x="812800" y="2590750"/>
            <a:ext cx="2527300" cy="1831280"/>
          </a:xfrm>
          <a:custGeom>
            <a:avLst/>
            <a:gdLst/>
            <a:ahLst/>
            <a:cxnLst/>
            <a:rect l="l" t="t" r="r" b="b"/>
            <a:pathLst>
              <a:path w="2527300" h="1831280">
                <a:moveTo>
                  <a:pt x="0" y="76200"/>
                </a:moveTo>
                <a:lnTo>
                  <a:pt x="0" y="76200"/>
                </a:lnTo>
                <a:arcTo hR="76200" wR="76200" stAng="10800000" swAng="5400000"/>
                <a:lnTo>
                  <a:pt x="2451100" y="0"/>
                </a:lnTo>
                <a:arcTo hR="76200" wR="76200" stAng="16200000" swAng="5400000"/>
                <a:lnTo>
                  <a:pt x="2527300" y="76200"/>
                </a:lnTo>
                <a:arcTo hR="38100" wR="76200" stAng="0" swAng="-5400000"/>
                <a:lnTo>
                  <a:pt x="76200" y="38100"/>
                </a:lnTo>
                <a:arcTo hR="38100" wR="76200" stAng="16200000" swAng="-5400000"/>
                <a:close/>
              </a:path>
            </a:pathLst>
          </a:custGeom>
          <a:solidFill>
            <a:srgbClr val="06B050"/>
          </a:solidFill>
          <a:ln/>
        </p:spPr>
      </p:sp>
      <p:sp>
        <p:nvSpPr>
          <p:cNvPr id="7" name="Text 5"/>
          <p:cNvSpPr/>
          <p:nvPr/>
        </p:nvSpPr>
        <p:spPr>
          <a:xfrm>
            <a:off x="1016000" y="2832050"/>
            <a:ext cx="218452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6B050"/>
                </a:solidFill>
                <a:latin typeface="Arial" pitchFamily="34" charset="0"/>
                <a:ea typeface="Arial" pitchFamily="34" charset="-122"/>
                <a:cs typeface="Arial" pitchFamily="34" charset="-120"/>
              </a:rPr>
              <a:t>第1群</a:t>
            </a:r>
            <a:endParaRPr lang="en-US" sz="1200" dirty="0"/>
          </a:p>
        </p:txBody>
      </p:sp>
      <p:sp>
        <p:nvSpPr>
          <p:cNvPr id="8" name="Text 6"/>
          <p:cNvSpPr/>
          <p:nvPr/>
        </p:nvSpPr>
        <p:spPr>
          <a:xfrm>
            <a:off x="1016000" y="3121571"/>
            <a:ext cx="21845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~66%</a:t>
            </a:r>
            <a:endParaRPr lang="en-US" sz="2200" dirty="0"/>
          </a:p>
        </p:txBody>
      </p:sp>
      <p:sp>
        <p:nvSpPr>
          <p:cNvPr id="9" name="Text 7"/>
          <p:cNvSpPr/>
          <p:nvPr/>
        </p:nvSpPr>
        <p:spPr>
          <a:xfrm>
            <a:off x="1016000" y="3533031"/>
            <a:ext cx="2184527"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30文字。</a:t>
            </a:r>
            <a:endParaRPr lang="en-US" sz="1200" dirty="0"/>
          </a:p>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接頭辞は常に1つで、</a:t>
            </a:r>
            <a:endParaRPr lang="en-US" sz="1200" dirty="0"/>
          </a:p>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3〜8週間ごとに交代。</a:t>
            </a:r>
            <a:endParaRPr lang="en-US" sz="1200" dirty="0"/>
          </a:p>
        </p:txBody>
      </p:sp>
      <p:sp>
        <p:nvSpPr>
          <p:cNvPr id="10" name="Shape 8"/>
          <p:cNvSpPr/>
          <p:nvPr/>
        </p:nvSpPr>
        <p:spPr>
          <a:xfrm>
            <a:off x="3492500" y="2590750"/>
            <a:ext cx="2527300" cy="1831280"/>
          </a:xfrm>
          <a:prstGeom prst="roundRect">
            <a:avLst>
              <a:gd name="adj" fmla="val 4161"/>
            </a:avLst>
          </a:prstGeom>
          <a:solidFill>
            <a:srgbClr val="0E141B"/>
          </a:solidFill>
          <a:ln/>
        </p:spPr>
      </p:sp>
      <p:sp>
        <p:nvSpPr>
          <p:cNvPr id="11" name="Shape 9"/>
          <p:cNvSpPr/>
          <p:nvPr/>
        </p:nvSpPr>
        <p:spPr>
          <a:xfrm>
            <a:off x="3492500" y="2590750"/>
            <a:ext cx="2527300" cy="1831280"/>
          </a:xfrm>
          <a:custGeom>
            <a:avLst/>
            <a:gdLst/>
            <a:ahLst/>
            <a:cxnLst/>
            <a:rect l="l" t="t" r="r" b="b"/>
            <a:pathLst>
              <a:path w="2527300" h="1831280">
                <a:moveTo>
                  <a:pt x="0" y="76200"/>
                </a:moveTo>
                <a:lnTo>
                  <a:pt x="0" y="76200"/>
                </a:lnTo>
                <a:arcTo hR="76200" wR="76200" stAng="10800000" swAng="5400000"/>
                <a:lnTo>
                  <a:pt x="2451100" y="0"/>
                </a:lnTo>
                <a:arcTo hR="76200" wR="76200" stAng="16200000" swAng="5400000"/>
                <a:lnTo>
                  <a:pt x="2527300" y="76200"/>
                </a:lnTo>
                <a:arcTo hR="38100" wR="76200" stAng="0" swAng="-5400000"/>
                <a:lnTo>
                  <a:pt x="76200" y="38100"/>
                </a:lnTo>
                <a:arcTo hR="38100" wR="76200" stAng="16200000" swAng="-5400000"/>
                <a:close/>
              </a:path>
            </a:pathLst>
          </a:custGeom>
          <a:solidFill>
            <a:srgbClr val="ED7D32"/>
          </a:solidFill>
          <a:ln/>
        </p:spPr>
      </p:sp>
      <p:sp>
        <p:nvSpPr>
          <p:cNvPr id="12" name="Text 10"/>
          <p:cNvSpPr/>
          <p:nvPr/>
        </p:nvSpPr>
        <p:spPr>
          <a:xfrm>
            <a:off x="3695700" y="2832050"/>
            <a:ext cx="218452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D7D32"/>
                </a:solidFill>
                <a:latin typeface="Arial" pitchFamily="34" charset="0"/>
                <a:ea typeface="Arial" pitchFamily="34" charset="-122"/>
                <a:cs typeface="Arial" pitchFamily="34" charset="-120"/>
              </a:rPr>
              <a:t>第2群</a:t>
            </a:r>
            <a:endParaRPr lang="en-US" sz="1200" dirty="0"/>
          </a:p>
        </p:txBody>
      </p:sp>
      <p:sp>
        <p:nvSpPr>
          <p:cNvPr id="13" name="Text 11"/>
          <p:cNvSpPr/>
          <p:nvPr/>
        </p:nvSpPr>
        <p:spPr>
          <a:xfrm>
            <a:off x="3695700" y="3121571"/>
            <a:ext cx="21845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~26%</a:t>
            </a:r>
            <a:endParaRPr lang="en-US" sz="2200" dirty="0"/>
          </a:p>
        </p:txBody>
      </p:sp>
      <p:sp>
        <p:nvSpPr>
          <p:cNvPr id="14" name="Text 12"/>
          <p:cNvSpPr/>
          <p:nvPr/>
        </p:nvSpPr>
        <p:spPr>
          <a:xfrm>
            <a:off x="3695700" y="3533031"/>
            <a:ext cx="2184527"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ほとんどが30〜163文字。</a:t>
            </a:r>
            <a:endParaRPr lang="en-US" sz="1200" dirty="0"/>
          </a:p>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約47%は宛先付き</a:t>
            </a:r>
            <a:endParaRPr lang="en-US" sz="1200" dirty="0"/>
          </a:p>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（先に受信者を告げる）。</a:t>
            </a:r>
            <a:endParaRPr lang="en-US" sz="1200" dirty="0"/>
          </a:p>
        </p:txBody>
      </p:sp>
      <p:sp>
        <p:nvSpPr>
          <p:cNvPr id="15" name="Shape 13"/>
          <p:cNvSpPr/>
          <p:nvPr/>
        </p:nvSpPr>
        <p:spPr>
          <a:xfrm>
            <a:off x="6172200" y="2590750"/>
            <a:ext cx="2527300" cy="1831280"/>
          </a:xfrm>
          <a:prstGeom prst="roundRect">
            <a:avLst>
              <a:gd name="adj" fmla="val 4161"/>
            </a:avLst>
          </a:prstGeom>
          <a:solidFill>
            <a:srgbClr val="0E141B"/>
          </a:solidFill>
          <a:ln/>
        </p:spPr>
      </p:sp>
      <p:sp>
        <p:nvSpPr>
          <p:cNvPr id="16" name="Shape 14"/>
          <p:cNvSpPr/>
          <p:nvPr/>
        </p:nvSpPr>
        <p:spPr>
          <a:xfrm>
            <a:off x="6172200" y="2590750"/>
            <a:ext cx="2527300" cy="1831280"/>
          </a:xfrm>
          <a:custGeom>
            <a:avLst/>
            <a:gdLst/>
            <a:ahLst/>
            <a:cxnLst/>
            <a:rect l="l" t="t" r="r" b="b"/>
            <a:pathLst>
              <a:path w="2527300" h="1831280">
                <a:moveTo>
                  <a:pt x="0" y="76200"/>
                </a:moveTo>
                <a:lnTo>
                  <a:pt x="0" y="76200"/>
                </a:lnTo>
                <a:arcTo hR="76200" wR="76200" stAng="10800000" swAng="5400000"/>
                <a:lnTo>
                  <a:pt x="2451100" y="0"/>
                </a:lnTo>
                <a:arcTo hR="76200" wR="76200" stAng="16200000" swAng="5400000"/>
                <a:lnTo>
                  <a:pt x="2527300" y="76200"/>
                </a:lnTo>
                <a:arcTo hR="38100" wR="76200" stAng="0" swAng="-5400000"/>
                <a:lnTo>
                  <a:pt x="76200" y="38100"/>
                </a:lnTo>
                <a:arcTo hR="38100" wR="76200" stAng="16200000" swAng="-5400000"/>
                <a:close/>
              </a:path>
            </a:pathLst>
          </a:custGeom>
          <a:solidFill>
            <a:srgbClr val="FFCC00"/>
          </a:solidFill>
          <a:ln/>
        </p:spPr>
      </p:sp>
      <p:sp>
        <p:nvSpPr>
          <p:cNvPr id="17" name="Text 15"/>
          <p:cNvSpPr/>
          <p:nvPr/>
        </p:nvSpPr>
        <p:spPr>
          <a:xfrm>
            <a:off x="6375400" y="2832050"/>
            <a:ext cx="218452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第3群</a:t>
            </a:r>
            <a:endParaRPr lang="en-US" sz="1200" dirty="0"/>
          </a:p>
        </p:txBody>
      </p:sp>
      <p:sp>
        <p:nvSpPr>
          <p:cNvPr id="18" name="Text 16"/>
          <p:cNvSpPr/>
          <p:nvPr/>
        </p:nvSpPr>
        <p:spPr>
          <a:xfrm>
            <a:off x="6375400" y="3121571"/>
            <a:ext cx="21845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~3%</a:t>
            </a:r>
            <a:endParaRPr lang="en-US" sz="2200" dirty="0"/>
          </a:p>
        </p:txBody>
      </p:sp>
      <p:sp>
        <p:nvSpPr>
          <p:cNvPr id="19" name="Text 17"/>
          <p:cNvSpPr/>
          <p:nvPr/>
        </p:nvSpPr>
        <p:spPr>
          <a:xfrm>
            <a:off x="6375400" y="3533031"/>
            <a:ext cx="2184527"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長さは特定の値に集中。</a:t>
            </a:r>
            <a:endParaRPr lang="en-US" sz="1200" dirty="0"/>
          </a:p>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接頭辞は数日現れては、</a:t>
            </a:r>
            <a:endParaRPr lang="en-US" sz="1200" dirty="0"/>
          </a:p>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数週間〜数か月消える。</a:t>
            </a:r>
            <a:endParaRPr lang="en-US" sz="1200" dirty="0"/>
          </a:p>
        </p:txBody>
      </p:sp>
      <p:sp>
        <p:nvSpPr>
          <p:cNvPr id="20" name="Shape 18"/>
          <p:cNvSpPr/>
          <p:nvPr/>
        </p:nvSpPr>
        <p:spPr>
          <a:xfrm>
            <a:off x="8851900" y="2590750"/>
            <a:ext cx="2527300" cy="1831280"/>
          </a:xfrm>
          <a:prstGeom prst="roundRect">
            <a:avLst>
              <a:gd name="adj" fmla="val 4161"/>
            </a:avLst>
          </a:prstGeom>
          <a:solidFill>
            <a:srgbClr val="0E141B"/>
          </a:solidFill>
          <a:ln/>
        </p:spPr>
      </p:sp>
      <p:sp>
        <p:nvSpPr>
          <p:cNvPr id="21" name="Shape 19"/>
          <p:cNvSpPr/>
          <p:nvPr/>
        </p:nvSpPr>
        <p:spPr>
          <a:xfrm>
            <a:off x="8851900" y="2590750"/>
            <a:ext cx="2527300" cy="1831280"/>
          </a:xfrm>
          <a:custGeom>
            <a:avLst/>
            <a:gdLst/>
            <a:ahLst/>
            <a:cxnLst/>
            <a:rect l="l" t="t" r="r" b="b"/>
            <a:pathLst>
              <a:path w="2527300" h="1831280">
                <a:moveTo>
                  <a:pt x="0" y="76200"/>
                </a:moveTo>
                <a:lnTo>
                  <a:pt x="0" y="76200"/>
                </a:lnTo>
                <a:arcTo hR="76200" wR="76200" stAng="10800000" swAng="5400000"/>
                <a:lnTo>
                  <a:pt x="2451100" y="0"/>
                </a:lnTo>
                <a:arcTo hR="76200" wR="76200" stAng="16200000" swAng="5400000"/>
                <a:lnTo>
                  <a:pt x="2527300" y="76200"/>
                </a:lnTo>
                <a:arcTo hR="38100" wR="76200" stAng="0" swAng="-5400000"/>
                <a:lnTo>
                  <a:pt x="76200" y="38100"/>
                </a:lnTo>
                <a:arcTo hR="38100" wR="76200" stAng="16200000" swAng="-5400000"/>
                <a:close/>
              </a:path>
            </a:pathLst>
          </a:custGeom>
          <a:solidFill>
            <a:srgbClr val="FF0467"/>
          </a:solidFill>
          <a:ln/>
        </p:spPr>
      </p:sp>
      <p:sp>
        <p:nvSpPr>
          <p:cNvPr id="22" name="Text 20"/>
          <p:cNvSpPr/>
          <p:nvPr/>
        </p:nvSpPr>
        <p:spPr>
          <a:xfrm>
            <a:off x="9055100" y="2832050"/>
            <a:ext cx="218452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0467"/>
                </a:solidFill>
                <a:latin typeface="Arial" pitchFamily="34" charset="0"/>
                <a:ea typeface="Arial" pitchFamily="34" charset="-122"/>
                <a:cs typeface="Arial" pitchFamily="34" charset="-120"/>
              </a:rPr>
              <a:t>第4群</a:t>
            </a:r>
            <a:endParaRPr lang="en-US" sz="1200" dirty="0"/>
          </a:p>
        </p:txBody>
      </p:sp>
      <p:sp>
        <p:nvSpPr>
          <p:cNvPr id="23" name="Text 21"/>
          <p:cNvSpPr/>
          <p:nvPr/>
        </p:nvSpPr>
        <p:spPr>
          <a:xfrm>
            <a:off x="9055100" y="3121571"/>
            <a:ext cx="21845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~3%</a:t>
            </a:r>
            <a:endParaRPr lang="en-US" sz="2200" dirty="0"/>
          </a:p>
        </p:txBody>
      </p:sp>
      <p:sp>
        <p:nvSpPr>
          <p:cNvPr id="24" name="Text 22"/>
          <p:cNvSpPr/>
          <p:nvPr/>
        </p:nvSpPr>
        <p:spPr>
          <a:xfrm>
            <a:off x="9055100" y="3533031"/>
            <a:ext cx="2184527"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ほとんどが36〜292文字。</a:t>
            </a:r>
            <a:endParaRPr lang="en-US" sz="1200" dirty="0"/>
          </a:p>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約60%は連なりを含む</a:t>
            </a:r>
            <a:endParaRPr lang="en-US" sz="1200" dirty="0"/>
          </a:p>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（FFFF、ZZZZなど）。</a:t>
            </a:r>
            <a:endParaRPr lang="en-US" sz="1200" dirty="0"/>
          </a:p>
        </p:txBody>
      </p:sp>
      <p:sp>
        <p:nvSpPr>
          <p:cNvPr id="25" name="Text 23"/>
          <p:cNvSpPr/>
          <p:nvPr/>
        </p:nvSpPr>
        <p:spPr>
          <a:xfrm>
            <a:off x="812800" y="4726831"/>
            <a:ext cx="1088339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割合はFAQの値 · </a:t>
            </a:r>
            <a:r>
              <a:rPr lang="en-US" sz="1200" dirty="0">
                <a:solidFill>
                  <a:srgbClr val="9063CD"/>
                </a:solidFill>
                <a:latin typeface="Arial" pitchFamily="34" charset="0"/>
                <a:ea typeface="Arial" pitchFamily="34" charset="-122"/>
                <a:cs typeface="Arial" pitchFamily="34" charset="-120"/>
              </a:rPr>
              <a:t>第5群：2025年6月と2026年1月の4日間に13件の放送</a:t>
            </a:r>
            <a:endParaRPr lang="en-US" sz="1200" dirty="0"/>
          </a:p>
        </p:txBody>
      </p:sp>
      <p:sp>
        <p:nvSpPr>
          <p:cNvPr id="26" name="Text 2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27" name="Text 2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背景</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第1群</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接頭辞の使用期間</a:t>
            </a:r>
            <a:endParaRPr lang="en-US" sz="3600" dirty="0"/>
          </a:p>
        </p:txBody>
      </p:sp>
      <p:sp>
        <p:nvSpPr>
          <p:cNvPr id="4" name="Shape 2"/>
          <p:cNvSpPr/>
          <p:nvPr/>
        </p:nvSpPr>
        <p:spPr>
          <a:xfrm>
            <a:off x="812800" y="1984325"/>
            <a:ext cx="5232400" cy="0"/>
          </a:xfrm>
          <a:prstGeom prst="line">
            <a:avLst/>
          </a:prstGeom>
          <a:noFill/>
          <a:ln w="6350">
            <a:solidFill>
              <a:srgbClr val="222A35"/>
            </a:solidFill>
            <a:prstDash val="solid"/>
          </a:ln>
        </p:spPr>
      </p:sp>
      <p:sp>
        <p:nvSpPr>
          <p:cNvPr id="5" name="Text 3"/>
          <p:cNvSpPr/>
          <p:nvPr/>
        </p:nvSpPr>
        <p:spPr>
          <a:xfrm>
            <a:off x="812800" y="2089100"/>
            <a:ext cx="538937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第1群の接頭辞は、ネットワーク全体で常に1つだけ</a:t>
            </a:r>
            <a:endParaRPr lang="en-US" sz="1600" dirty="0"/>
          </a:p>
        </p:txBody>
      </p:sp>
      <p:sp>
        <p:nvSpPr>
          <p:cNvPr id="6" name="Shape 4"/>
          <p:cNvSpPr/>
          <p:nvPr/>
        </p:nvSpPr>
        <p:spPr>
          <a:xfrm>
            <a:off x="6146800" y="1984325"/>
            <a:ext cx="5232400" cy="0"/>
          </a:xfrm>
          <a:prstGeom prst="line">
            <a:avLst/>
          </a:prstGeom>
          <a:noFill/>
          <a:ln w="6350">
            <a:solidFill>
              <a:srgbClr val="222A35"/>
            </a:solidFill>
            <a:prstDash val="solid"/>
          </a:ln>
        </p:spPr>
      </p:sp>
      <p:sp>
        <p:nvSpPr>
          <p:cNvPr id="7" name="Text 5"/>
          <p:cNvSpPr/>
          <p:nvPr/>
        </p:nvSpPr>
        <p:spPr>
          <a:xfrm>
            <a:off x="6146800" y="2089100"/>
            <a:ext cx="538937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置き換えられた接頭辞は二度と戻らない。</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切り替えは00:00 UTCとは無関係</a:t>
            </a:r>
            <a:endParaRPr lang="en-US" sz="1600" dirty="0"/>
          </a:p>
        </p:txBody>
      </p:sp>
      <p:sp>
        <p:nvSpPr>
          <p:cNvPr id="8" name="Shape 6"/>
          <p:cNvSpPr/>
          <p:nvPr/>
        </p:nvSpPr>
        <p:spPr>
          <a:xfrm>
            <a:off x="812800" y="2803475"/>
            <a:ext cx="5232400" cy="0"/>
          </a:xfrm>
          <a:prstGeom prst="line">
            <a:avLst/>
          </a:prstGeom>
          <a:noFill/>
          <a:ln w="6350">
            <a:solidFill>
              <a:srgbClr val="222A35"/>
            </a:solidFill>
            <a:prstDash val="solid"/>
          </a:ln>
        </p:spPr>
      </p:sp>
      <p:sp>
        <p:nvSpPr>
          <p:cNvPr id="9" name="Text 7"/>
          <p:cNvSpPr/>
          <p:nvPr/>
        </p:nvSpPr>
        <p:spPr>
          <a:xfrm>
            <a:off x="812800" y="2908250"/>
            <a:ext cx="538937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第1群の接頭辞が2つ現れる</a:t>
            </a:r>
            <a:r>
              <a:rPr lang="en-US" sz="1600" dirty="0">
                <a:solidFill>
                  <a:srgbClr val="FFCC00"/>
                </a:solidFill>
                <a:latin typeface="Arial" pitchFamily="34" charset="0"/>
                <a:ea typeface="Arial" pitchFamily="34" charset="-122"/>
                <a:cs typeface="Arial" pitchFamily="34" charset="-120"/>
              </a:rPr>
              <a:t>28</a:t>
            </a:r>
            <a:r>
              <a:rPr lang="en-US" sz="1600" dirty="0">
                <a:solidFill>
                  <a:srgbClr val="E6EDF3"/>
                </a:solidFill>
                <a:latin typeface="Arial" pitchFamily="34" charset="0"/>
                <a:ea typeface="Arial" pitchFamily="34" charset="-122"/>
                <a:cs typeface="Arial" pitchFamily="34" charset="-120"/>
              </a:rPr>
              <a:t>日は、すべて交代日</a:t>
            </a:r>
            <a:endParaRPr lang="en-US" sz="1600" dirty="0"/>
          </a:p>
        </p:txBody>
      </p:sp>
      <p:sp>
        <p:nvSpPr>
          <p:cNvPr id="10" name="Shape 8"/>
          <p:cNvSpPr/>
          <p:nvPr/>
        </p:nvSpPr>
        <p:spPr>
          <a:xfrm>
            <a:off x="6146800" y="2803475"/>
            <a:ext cx="5232400" cy="0"/>
          </a:xfrm>
          <a:prstGeom prst="line">
            <a:avLst/>
          </a:prstGeom>
          <a:noFill/>
          <a:ln w="6350">
            <a:solidFill>
              <a:srgbClr val="222A35"/>
            </a:solidFill>
            <a:prstDash val="solid"/>
          </a:ln>
        </p:spPr>
      </p:sp>
      <p:sp>
        <p:nvSpPr>
          <p:cNvPr id="11" name="Text 9"/>
          <p:cNvSpPr/>
          <p:nvPr/>
        </p:nvSpPr>
        <p:spPr>
          <a:xfrm>
            <a:off x="6146800" y="2908250"/>
            <a:ext cx="538937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記録にある第1群の接頭辞は</a:t>
            </a:r>
            <a:r>
              <a:rPr lang="en-US" sz="1600" dirty="0">
                <a:solidFill>
                  <a:srgbClr val="FFCC00"/>
                </a:solidFill>
                <a:latin typeface="Arial" pitchFamily="34" charset="0"/>
                <a:ea typeface="Arial" pitchFamily="34" charset="-122"/>
                <a:cs typeface="Arial" pitchFamily="34" charset="-120"/>
              </a:rPr>
              <a:t>52</a:t>
            </a:r>
            <a:r>
              <a:rPr lang="en-US" sz="1600" dirty="0">
                <a:solidFill>
                  <a:srgbClr val="E6EDF3"/>
                </a:solidFill>
                <a:latin typeface="Arial" pitchFamily="34" charset="0"/>
                <a:ea typeface="Arial" pitchFamily="34" charset="-122"/>
                <a:cs typeface="Arial" pitchFamily="34" charset="-120"/>
              </a:rPr>
              <a:t>個</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（2022年1月〜2026年10月）</a:t>
            </a:r>
            <a:endParaRPr lang="en-US" sz="1600" dirty="0"/>
          </a:p>
        </p:txBody>
      </p:sp>
      <p:sp>
        <p:nvSpPr>
          <p:cNvPr id="12" name="Text 10"/>
          <p:cNvSpPr/>
          <p:nvPr/>
        </p:nvSpPr>
        <p:spPr>
          <a:xfrm>
            <a:off x="654304" y="3822650"/>
            <a:ext cx="1088339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A9B4BF"/>
                </a:solidFill>
                <a:latin typeface="Arial" pitchFamily="34" charset="0"/>
                <a:ea typeface="Arial" pitchFamily="34" charset="-122"/>
                <a:cs typeface="Arial" pitchFamily="34" charset="-120"/>
              </a:rPr>
              <a:t>DTCP第1部 · 網羅的監視 · 230623 – 240201</a:t>
            </a:r>
            <a:endParaRPr lang="en-US" sz="1200" dirty="0"/>
          </a:p>
        </p:txBody>
      </p:sp>
      <p:sp>
        <p:nvSpPr>
          <p:cNvPr id="13" name="Shape 11"/>
          <p:cNvSpPr/>
          <p:nvPr/>
        </p:nvSpPr>
        <p:spPr>
          <a:xfrm>
            <a:off x="812800" y="4070300"/>
            <a:ext cx="10566400" cy="0"/>
          </a:xfrm>
          <a:prstGeom prst="line">
            <a:avLst/>
          </a:prstGeom>
          <a:noFill/>
          <a:ln w="12700">
            <a:solidFill>
              <a:srgbClr val="7D8894"/>
            </a:solidFill>
            <a:prstDash val="solid"/>
          </a:ln>
        </p:spPr>
      </p:sp>
      <p:sp>
        <p:nvSpPr>
          <p:cNvPr id="14" name="Shape 12"/>
          <p:cNvSpPr/>
          <p:nvPr/>
        </p:nvSpPr>
        <p:spPr>
          <a:xfrm>
            <a:off x="11372850" y="4063950"/>
            <a:ext cx="0" cy="76200"/>
          </a:xfrm>
          <a:prstGeom prst="line">
            <a:avLst/>
          </a:prstGeom>
          <a:noFill/>
          <a:ln w="12700">
            <a:solidFill>
              <a:srgbClr val="7D8894"/>
            </a:solidFill>
            <a:prstDash val="solid"/>
          </a:ln>
        </p:spPr>
      </p:sp>
      <p:sp>
        <p:nvSpPr>
          <p:cNvPr id="15" name="Shape 13"/>
          <p:cNvSpPr/>
          <p:nvPr/>
        </p:nvSpPr>
        <p:spPr>
          <a:xfrm>
            <a:off x="819150" y="4063950"/>
            <a:ext cx="0" cy="76200"/>
          </a:xfrm>
          <a:prstGeom prst="line">
            <a:avLst/>
          </a:prstGeom>
          <a:noFill/>
          <a:ln w="12700">
            <a:solidFill>
              <a:srgbClr val="7D8894"/>
            </a:solidFill>
            <a:prstDash val="solid"/>
          </a:ln>
        </p:spPr>
      </p:sp>
      <p:sp>
        <p:nvSpPr>
          <p:cNvPr id="16" name="Shape 14"/>
          <p:cNvSpPr/>
          <p:nvPr/>
        </p:nvSpPr>
        <p:spPr>
          <a:xfrm>
            <a:off x="812800" y="4190950"/>
            <a:ext cx="603250" cy="660400"/>
          </a:xfrm>
          <a:prstGeom prst="rect">
            <a:avLst/>
          </a:prstGeom>
          <a:solidFill>
            <a:srgbClr val="054C28"/>
          </a:solidFill>
          <a:ln/>
        </p:spPr>
      </p:sp>
      <p:sp>
        <p:nvSpPr>
          <p:cNvPr id="17" name="Text 15"/>
          <p:cNvSpPr/>
          <p:nvPr/>
        </p:nvSpPr>
        <p:spPr>
          <a:xfrm>
            <a:off x="787400" y="4234160"/>
            <a:ext cx="654050" cy="248890"/>
          </a:xfrm>
          <a:prstGeom prst="rect">
            <a:avLst/>
          </a:prstGeom>
          <a:noFill/>
          <a:ln/>
        </p:spPr>
        <p:txBody>
          <a:bodyPr wrap="square" lIns="0" tIns="0" rIns="0" bIns="0" rtlCol="0" anchor="t">
            <a:normAutofit/>
          </a:bodyPr>
          <a:lstStyle/>
          <a:p>
            <a:pPr algn="ctr" indent="0" marL="0">
              <a:lnSpc>
                <a:spcPts val="1760"/>
              </a:lnSpc>
              <a:buNone/>
            </a:pPr>
            <a:r>
              <a:rPr lang="en-US" sz="1600" b="1" dirty="0">
                <a:solidFill>
                  <a:srgbClr val="E6EDF3"/>
                </a:solidFill>
                <a:latin typeface="Courier New" pitchFamily="49" charset="0"/>
                <a:ea typeface="Courier New" pitchFamily="49" charset="-122"/>
                <a:cs typeface="Courier New" pitchFamily="49" charset="-120"/>
              </a:rPr>
              <a:t>YL</a:t>
            </a:r>
            <a:endParaRPr lang="en-US" sz="1600" dirty="0"/>
          </a:p>
        </p:txBody>
      </p:sp>
      <p:sp>
        <p:nvSpPr>
          <p:cNvPr id="18" name="Text 16"/>
          <p:cNvSpPr/>
          <p:nvPr/>
        </p:nvSpPr>
        <p:spPr>
          <a:xfrm>
            <a:off x="787400" y="4457650"/>
            <a:ext cx="65405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6EDF3"/>
                </a:solidFill>
                <a:latin typeface="Arial" pitchFamily="34" charset="0"/>
                <a:ea typeface="Arial" pitchFamily="34" charset="-122"/>
                <a:cs typeface="Arial" pitchFamily="34" charset="-120"/>
              </a:rPr>
              <a:t>230524</a:t>
            </a:r>
            <a:endParaRPr lang="en-US" sz="1200" dirty="0"/>
          </a:p>
          <a:p>
            <a:pPr algn="ctr" indent="0" marL="0">
              <a:lnSpc>
                <a:spcPts val="1380"/>
              </a:lnSpc>
              <a:buNone/>
            </a:pPr>
            <a:r>
              <a:rPr lang="en-US" sz="1200" dirty="0">
                <a:solidFill>
                  <a:srgbClr val="E6EDF3"/>
                </a:solidFill>
                <a:latin typeface="Arial" pitchFamily="34" charset="0"/>
                <a:ea typeface="Arial" pitchFamily="34" charset="-122"/>
                <a:cs typeface="Arial" pitchFamily="34" charset="-120"/>
              </a:rPr>
              <a:t>から</a:t>
            </a:r>
            <a:endParaRPr lang="en-US" sz="1200" dirty="0"/>
          </a:p>
        </p:txBody>
      </p:sp>
      <p:sp>
        <p:nvSpPr>
          <p:cNvPr id="19" name="Shape 17"/>
          <p:cNvSpPr/>
          <p:nvPr/>
        </p:nvSpPr>
        <p:spPr>
          <a:xfrm>
            <a:off x="1441450" y="4190950"/>
            <a:ext cx="1631950" cy="660400"/>
          </a:xfrm>
          <a:prstGeom prst="rect">
            <a:avLst/>
          </a:prstGeom>
          <a:solidFill>
            <a:srgbClr val="06B050"/>
          </a:solidFill>
          <a:ln/>
        </p:spPr>
      </p:sp>
      <p:sp>
        <p:nvSpPr>
          <p:cNvPr id="20" name="Text 18"/>
          <p:cNvSpPr/>
          <p:nvPr/>
        </p:nvSpPr>
        <p:spPr>
          <a:xfrm>
            <a:off x="1416050" y="4310360"/>
            <a:ext cx="1682750" cy="248890"/>
          </a:xfrm>
          <a:prstGeom prst="rect">
            <a:avLst/>
          </a:prstGeom>
          <a:noFill/>
          <a:ln/>
        </p:spPr>
        <p:txBody>
          <a:bodyPr wrap="square" lIns="0" tIns="0" rIns="0" bIns="0" rtlCol="0" anchor="t">
            <a:normAutofit/>
          </a:bodyPr>
          <a:lstStyle/>
          <a:p>
            <a:pPr algn="ctr" indent="0" marL="0">
              <a:lnSpc>
                <a:spcPts val="1760"/>
              </a:lnSpc>
              <a:buNone/>
            </a:pPr>
            <a:r>
              <a:rPr lang="en-US" sz="1600" b="1" dirty="0">
                <a:solidFill>
                  <a:srgbClr val="05090E"/>
                </a:solidFill>
                <a:latin typeface="Courier New" pitchFamily="49" charset="0"/>
                <a:ea typeface="Courier New" pitchFamily="49" charset="-122"/>
                <a:cs typeface="Courier New" pitchFamily="49" charset="-120"/>
              </a:rPr>
              <a:t>YT</a:t>
            </a:r>
            <a:endParaRPr lang="en-US" sz="1600" dirty="0"/>
          </a:p>
        </p:txBody>
      </p:sp>
      <p:sp>
        <p:nvSpPr>
          <p:cNvPr id="21" name="Text 19"/>
          <p:cNvSpPr/>
          <p:nvPr/>
        </p:nvSpPr>
        <p:spPr>
          <a:xfrm>
            <a:off x="1416050" y="4533850"/>
            <a:ext cx="168275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05090E"/>
                </a:solidFill>
                <a:latin typeface="Arial" pitchFamily="34" charset="0"/>
                <a:ea typeface="Arial" pitchFamily="34" charset="-122"/>
                <a:cs typeface="Arial" pitchFamily="34" charset="-120"/>
              </a:rPr>
              <a:t>35日</a:t>
            </a:r>
            <a:endParaRPr lang="en-US" sz="1200" dirty="0"/>
          </a:p>
        </p:txBody>
      </p:sp>
      <p:sp>
        <p:nvSpPr>
          <p:cNvPr id="22" name="Shape 20"/>
          <p:cNvSpPr/>
          <p:nvPr/>
        </p:nvSpPr>
        <p:spPr>
          <a:xfrm>
            <a:off x="3098800" y="4190950"/>
            <a:ext cx="1911350" cy="660400"/>
          </a:xfrm>
          <a:prstGeom prst="rect">
            <a:avLst/>
          </a:prstGeom>
          <a:solidFill>
            <a:srgbClr val="06B050"/>
          </a:solidFill>
          <a:ln/>
        </p:spPr>
      </p:sp>
      <p:sp>
        <p:nvSpPr>
          <p:cNvPr id="23" name="Text 21"/>
          <p:cNvSpPr/>
          <p:nvPr/>
        </p:nvSpPr>
        <p:spPr>
          <a:xfrm>
            <a:off x="3070130" y="4310360"/>
            <a:ext cx="1968690" cy="248890"/>
          </a:xfrm>
          <a:prstGeom prst="rect">
            <a:avLst/>
          </a:prstGeom>
          <a:noFill/>
          <a:ln/>
        </p:spPr>
        <p:txBody>
          <a:bodyPr wrap="square" lIns="0" tIns="0" rIns="0" bIns="0" rtlCol="0" anchor="t">
            <a:normAutofit/>
          </a:bodyPr>
          <a:lstStyle/>
          <a:p>
            <a:pPr algn="ctr" indent="0" marL="0">
              <a:lnSpc>
                <a:spcPts val="1760"/>
              </a:lnSpc>
              <a:buNone/>
            </a:pPr>
            <a:r>
              <a:rPr lang="en-US" sz="1600" b="1" dirty="0">
                <a:solidFill>
                  <a:srgbClr val="05090E"/>
                </a:solidFill>
                <a:latin typeface="Courier New" pitchFamily="49" charset="0"/>
                <a:ea typeface="Courier New" pitchFamily="49" charset="-122"/>
                <a:cs typeface="Courier New" pitchFamily="49" charset="-120"/>
              </a:rPr>
              <a:t>PJ</a:t>
            </a:r>
            <a:endParaRPr lang="en-US" sz="1600" dirty="0"/>
          </a:p>
        </p:txBody>
      </p:sp>
      <p:sp>
        <p:nvSpPr>
          <p:cNvPr id="24" name="Text 22"/>
          <p:cNvSpPr/>
          <p:nvPr/>
        </p:nvSpPr>
        <p:spPr>
          <a:xfrm>
            <a:off x="3070130" y="4533850"/>
            <a:ext cx="196869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05090E"/>
                </a:solidFill>
                <a:latin typeface="Arial" pitchFamily="34" charset="0"/>
                <a:ea typeface="Arial" pitchFamily="34" charset="-122"/>
                <a:cs typeface="Arial" pitchFamily="34" charset="-120"/>
              </a:rPr>
              <a:t>41日</a:t>
            </a:r>
            <a:endParaRPr lang="en-US" sz="1200" dirty="0"/>
          </a:p>
        </p:txBody>
      </p:sp>
      <p:sp>
        <p:nvSpPr>
          <p:cNvPr id="25" name="Shape 23"/>
          <p:cNvSpPr/>
          <p:nvPr/>
        </p:nvSpPr>
        <p:spPr>
          <a:xfrm>
            <a:off x="5035550" y="4190950"/>
            <a:ext cx="2425700" cy="660400"/>
          </a:xfrm>
          <a:prstGeom prst="rect">
            <a:avLst/>
          </a:prstGeom>
          <a:solidFill>
            <a:srgbClr val="06B050"/>
          </a:solidFill>
          <a:ln/>
        </p:spPr>
      </p:sp>
      <p:sp>
        <p:nvSpPr>
          <p:cNvPr id="26" name="Text 24"/>
          <p:cNvSpPr/>
          <p:nvPr/>
        </p:nvSpPr>
        <p:spPr>
          <a:xfrm>
            <a:off x="4999165" y="4310360"/>
            <a:ext cx="2498471" cy="248890"/>
          </a:xfrm>
          <a:prstGeom prst="rect">
            <a:avLst/>
          </a:prstGeom>
          <a:noFill/>
          <a:ln/>
        </p:spPr>
        <p:txBody>
          <a:bodyPr wrap="square" lIns="0" tIns="0" rIns="0" bIns="0" rtlCol="0" anchor="t">
            <a:normAutofit/>
          </a:bodyPr>
          <a:lstStyle/>
          <a:p>
            <a:pPr algn="ctr" indent="0" marL="0">
              <a:lnSpc>
                <a:spcPts val="1760"/>
              </a:lnSpc>
              <a:buNone/>
            </a:pPr>
            <a:r>
              <a:rPr lang="en-US" sz="1600" b="1" dirty="0">
                <a:solidFill>
                  <a:srgbClr val="05090E"/>
                </a:solidFill>
                <a:latin typeface="Courier New" pitchFamily="49" charset="0"/>
                <a:ea typeface="Courier New" pitchFamily="49" charset="-122"/>
                <a:cs typeface="Courier New" pitchFamily="49" charset="-120"/>
              </a:rPr>
              <a:t>CZ</a:t>
            </a:r>
            <a:endParaRPr lang="en-US" sz="1600" dirty="0"/>
          </a:p>
        </p:txBody>
      </p:sp>
      <p:sp>
        <p:nvSpPr>
          <p:cNvPr id="27" name="Text 25"/>
          <p:cNvSpPr/>
          <p:nvPr/>
        </p:nvSpPr>
        <p:spPr>
          <a:xfrm>
            <a:off x="4999165" y="4533850"/>
            <a:ext cx="2498471"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05090E"/>
                </a:solidFill>
                <a:latin typeface="Arial" pitchFamily="34" charset="0"/>
                <a:ea typeface="Arial" pitchFamily="34" charset="-122"/>
                <a:cs typeface="Arial" pitchFamily="34" charset="-120"/>
              </a:rPr>
              <a:t>52日</a:t>
            </a:r>
            <a:endParaRPr lang="en-US" sz="1200" dirty="0"/>
          </a:p>
        </p:txBody>
      </p:sp>
      <p:sp>
        <p:nvSpPr>
          <p:cNvPr id="28" name="Shape 26"/>
          <p:cNvSpPr/>
          <p:nvPr/>
        </p:nvSpPr>
        <p:spPr>
          <a:xfrm>
            <a:off x="7486650" y="4190950"/>
            <a:ext cx="2705100" cy="660400"/>
          </a:xfrm>
          <a:prstGeom prst="rect">
            <a:avLst/>
          </a:prstGeom>
          <a:solidFill>
            <a:srgbClr val="06B050"/>
          </a:solidFill>
          <a:ln/>
        </p:spPr>
      </p:sp>
      <p:sp>
        <p:nvSpPr>
          <p:cNvPr id="29" name="Text 27"/>
          <p:cNvSpPr/>
          <p:nvPr/>
        </p:nvSpPr>
        <p:spPr>
          <a:xfrm>
            <a:off x="7446074" y="4310360"/>
            <a:ext cx="2786253" cy="248890"/>
          </a:xfrm>
          <a:prstGeom prst="rect">
            <a:avLst/>
          </a:prstGeom>
          <a:noFill/>
          <a:ln/>
        </p:spPr>
        <p:txBody>
          <a:bodyPr wrap="square" lIns="0" tIns="0" rIns="0" bIns="0" rtlCol="0" anchor="t">
            <a:normAutofit/>
          </a:bodyPr>
          <a:lstStyle/>
          <a:p>
            <a:pPr algn="ctr" indent="0" marL="0">
              <a:lnSpc>
                <a:spcPts val="1760"/>
              </a:lnSpc>
              <a:buNone/>
            </a:pPr>
            <a:r>
              <a:rPr lang="en-US" sz="1600" b="1" dirty="0">
                <a:solidFill>
                  <a:srgbClr val="05090E"/>
                </a:solidFill>
                <a:latin typeface="Courier New" pitchFamily="49" charset="0"/>
                <a:ea typeface="Courier New" pitchFamily="49" charset="-122"/>
                <a:cs typeface="Courier New" pitchFamily="49" charset="-120"/>
              </a:rPr>
              <a:t>WR</a:t>
            </a:r>
            <a:endParaRPr lang="en-US" sz="1600" dirty="0"/>
          </a:p>
        </p:txBody>
      </p:sp>
      <p:sp>
        <p:nvSpPr>
          <p:cNvPr id="30" name="Text 28"/>
          <p:cNvSpPr/>
          <p:nvPr/>
        </p:nvSpPr>
        <p:spPr>
          <a:xfrm>
            <a:off x="7446074" y="4533850"/>
            <a:ext cx="2786253"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05090E"/>
                </a:solidFill>
                <a:latin typeface="Arial" pitchFamily="34" charset="0"/>
                <a:ea typeface="Arial" pitchFamily="34" charset="-122"/>
                <a:cs typeface="Arial" pitchFamily="34" charset="-120"/>
              </a:rPr>
              <a:t>58日</a:t>
            </a:r>
            <a:endParaRPr lang="en-US" sz="1200" dirty="0"/>
          </a:p>
        </p:txBody>
      </p:sp>
      <p:sp>
        <p:nvSpPr>
          <p:cNvPr id="31" name="Shape 29"/>
          <p:cNvSpPr/>
          <p:nvPr/>
        </p:nvSpPr>
        <p:spPr>
          <a:xfrm>
            <a:off x="10217150" y="4190950"/>
            <a:ext cx="1162050" cy="660400"/>
          </a:xfrm>
          <a:prstGeom prst="rect">
            <a:avLst/>
          </a:prstGeom>
          <a:solidFill>
            <a:srgbClr val="054C28"/>
          </a:solidFill>
          <a:ln/>
        </p:spPr>
      </p:sp>
      <p:sp>
        <p:nvSpPr>
          <p:cNvPr id="32" name="Text 30"/>
          <p:cNvSpPr/>
          <p:nvPr/>
        </p:nvSpPr>
        <p:spPr>
          <a:xfrm>
            <a:off x="10191750" y="4310360"/>
            <a:ext cx="1212850" cy="248890"/>
          </a:xfrm>
          <a:prstGeom prst="rect">
            <a:avLst/>
          </a:prstGeom>
          <a:noFill/>
          <a:ln/>
        </p:spPr>
        <p:txBody>
          <a:bodyPr wrap="square" lIns="0" tIns="0" rIns="0" bIns="0" rtlCol="0" anchor="t">
            <a:normAutofit/>
          </a:bodyPr>
          <a:lstStyle/>
          <a:p>
            <a:pPr algn="ctr" indent="0" marL="0">
              <a:lnSpc>
                <a:spcPts val="1760"/>
              </a:lnSpc>
              <a:buNone/>
            </a:pPr>
            <a:r>
              <a:rPr lang="en-US" sz="1600" b="1" dirty="0">
                <a:solidFill>
                  <a:srgbClr val="E6EDF3"/>
                </a:solidFill>
                <a:latin typeface="Courier New" pitchFamily="49" charset="0"/>
                <a:ea typeface="Courier New" pitchFamily="49" charset="-122"/>
                <a:cs typeface="Courier New" pitchFamily="49" charset="-120"/>
              </a:rPr>
              <a:t>AS</a:t>
            </a:r>
            <a:endParaRPr lang="en-US" sz="1600" dirty="0"/>
          </a:p>
        </p:txBody>
      </p:sp>
      <p:sp>
        <p:nvSpPr>
          <p:cNvPr id="33" name="Text 31"/>
          <p:cNvSpPr/>
          <p:nvPr/>
        </p:nvSpPr>
        <p:spPr>
          <a:xfrm>
            <a:off x="10191750" y="4533850"/>
            <a:ext cx="121285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6EDF3"/>
                </a:solidFill>
                <a:latin typeface="Arial" pitchFamily="34" charset="0"/>
                <a:ea typeface="Arial" pitchFamily="34" charset="-122"/>
                <a:cs typeface="Arial" pitchFamily="34" charset="-120"/>
              </a:rPr>
              <a:t>240209まで</a:t>
            </a:r>
            <a:endParaRPr lang="en-US" sz="1200" dirty="0"/>
          </a:p>
        </p:txBody>
      </p:sp>
      <p:sp>
        <p:nvSpPr>
          <p:cNvPr id="34" name="Shape 32"/>
          <p:cNvSpPr/>
          <p:nvPr/>
        </p:nvSpPr>
        <p:spPr>
          <a:xfrm>
            <a:off x="1422400" y="4902150"/>
            <a:ext cx="12700" cy="88900"/>
          </a:xfrm>
          <a:prstGeom prst="rect">
            <a:avLst/>
          </a:prstGeom>
          <a:solidFill>
            <a:srgbClr val="7D8894"/>
          </a:solidFill>
          <a:ln/>
        </p:spPr>
      </p:sp>
      <p:sp>
        <p:nvSpPr>
          <p:cNvPr id="35" name="Shape 33"/>
          <p:cNvSpPr/>
          <p:nvPr/>
        </p:nvSpPr>
        <p:spPr>
          <a:xfrm>
            <a:off x="3079750" y="4902150"/>
            <a:ext cx="12700" cy="88900"/>
          </a:xfrm>
          <a:prstGeom prst="rect">
            <a:avLst/>
          </a:prstGeom>
          <a:solidFill>
            <a:srgbClr val="7D8894"/>
          </a:solidFill>
          <a:ln/>
        </p:spPr>
      </p:sp>
      <p:sp>
        <p:nvSpPr>
          <p:cNvPr id="36" name="Shape 34"/>
          <p:cNvSpPr/>
          <p:nvPr/>
        </p:nvSpPr>
        <p:spPr>
          <a:xfrm>
            <a:off x="5016500" y="4902150"/>
            <a:ext cx="12700" cy="88900"/>
          </a:xfrm>
          <a:prstGeom prst="rect">
            <a:avLst/>
          </a:prstGeom>
          <a:solidFill>
            <a:srgbClr val="7D8894"/>
          </a:solidFill>
          <a:ln/>
        </p:spPr>
      </p:sp>
      <p:sp>
        <p:nvSpPr>
          <p:cNvPr id="37" name="Shape 35"/>
          <p:cNvSpPr/>
          <p:nvPr/>
        </p:nvSpPr>
        <p:spPr>
          <a:xfrm>
            <a:off x="7467600" y="4902150"/>
            <a:ext cx="12700" cy="88900"/>
          </a:xfrm>
          <a:prstGeom prst="rect">
            <a:avLst/>
          </a:prstGeom>
          <a:solidFill>
            <a:srgbClr val="7D8894"/>
          </a:solidFill>
          <a:ln/>
        </p:spPr>
      </p:sp>
      <p:sp>
        <p:nvSpPr>
          <p:cNvPr id="38" name="Shape 36"/>
          <p:cNvSpPr/>
          <p:nvPr/>
        </p:nvSpPr>
        <p:spPr>
          <a:xfrm>
            <a:off x="10198100" y="4902150"/>
            <a:ext cx="12700" cy="88900"/>
          </a:xfrm>
          <a:prstGeom prst="rect">
            <a:avLst/>
          </a:prstGeom>
          <a:solidFill>
            <a:srgbClr val="7D8894"/>
          </a:solidFill>
          <a:ln/>
        </p:spPr>
      </p:sp>
      <p:sp>
        <p:nvSpPr>
          <p:cNvPr id="39" name="Text 37"/>
          <p:cNvSpPr/>
          <p:nvPr/>
        </p:nvSpPr>
        <p:spPr>
          <a:xfrm>
            <a:off x="787400" y="5029150"/>
            <a:ext cx="12827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Arial" pitchFamily="34" charset="0"/>
                <a:ea typeface="Arial" pitchFamily="34" charset="-122"/>
                <a:cs typeface="Arial" pitchFamily="34" charset="-120"/>
              </a:rPr>
              <a:t>230706（木）</a:t>
            </a:r>
            <a:endParaRPr lang="en-US" sz="1200" dirty="0"/>
          </a:p>
          <a:p>
            <a:pPr algn="ctr" indent="0" marL="0">
              <a:lnSpc>
                <a:spcPts val="1500"/>
              </a:lnSpc>
              <a:buNone/>
            </a:pPr>
            <a:r>
              <a:rPr lang="en-US" sz="1200" dirty="0">
                <a:solidFill>
                  <a:srgbClr val="A9B4BF"/>
                </a:solidFill>
                <a:latin typeface="Arial" pitchFamily="34" charset="0"/>
                <a:ea typeface="Arial" pitchFamily="34" charset="-122"/>
                <a:cs typeface="Arial" pitchFamily="34" charset="-120"/>
              </a:rPr>
              <a:t>15:06 → 15:56</a:t>
            </a:r>
            <a:endParaRPr lang="en-US" sz="1200" dirty="0"/>
          </a:p>
        </p:txBody>
      </p:sp>
      <p:sp>
        <p:nvSpPr>
          <p:cNvPr id="40" name="Text 38"/>
          <p:cNvSpPr/>
          <p:nvPr/>
        </p:nvSpPr>
        <p:spPr>
          <a:xfrm>
            <a:off x="2425700" y="5029150"/>
            <a:ext cx="13208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Arial" pitchFamily="34" charset="0"/>
                <a:ea typeface="Arial" pitchFamily="34" charset="-122"/>
                <a:cs typeface="Arial" pitchFamily="34" charset="-120"/>
              </a:rPr>
              <a:t>230810（木）</a:t>
            </a:r>
            <a:endParaRPr lang="en-US" sz="1200" dirty="0"/>
          </a:p>
          <a:p>
            <a:pPr algn="ctr" indent="0" marL="0">
              <a:lnSpc>
                <a:spcPts val="1500"/>
              </a:lnSpc>
              <a:buNone/>
            </a:pPr>
            <a:r>
              <a:rPr lang="en-US" sz="1200" dirty="0">
                <a:solidFill>
                  <a:srgbClr val="A9B4BF"/>
                </a:solidFill>
                <a:latin typeface="Arial" pitchFamily="34" charset="0"/>
                <a:ea typeface="Arial" pitchFamily="34" charset="-122"/>
                <a:cs typeface="Arial" pitchFamily="34" charset="-120"/>
              </a:rPr>
              <a:t>17:33 → 18:42</a:t>
            </a:r>
            <a:endParaRPr lang="en-US" sz="1200" dirty="0"/>
          </a:p>
        </p:txBody>
      </p:sp>
      <p:sp>
        <p:nvSpPr>
          <p:cNvPr id="41" name="Text 39"/>
          <p:cNvSpPr/>
          <p:nvPr/>
        </p:nvSpPr>
        <p:spPr>
          <a:xfrm>
            <a:off x="4362450" y="5029150"/>
            <a:ext cx="13208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Arial" pitchFamily="34" charset="0"/>
                <a:ea typeface="Arial" pitchFamily="34" charset="-122"/>
                <a:cs typeface="Arial" pitchFamily="34" charset="-120"/>
              </a:rPr>
              <a:t>230920（水）</a:t>
            </a:r>
            <a:endParaRPr lang="en-US" sz="1200" dirty="0"/>
          </a:p>
          <a:p>
            <a:pPr algn="ctr" indent="0" marL="0">
              <a:lnSpc>
                <a:spcPts val="1500"/>
              </a:lnSpc>
              <a:buNone/>
            </a:pPr>
            <a:r>
              <a:rPr lang="en-US" sz="1200" dirty="0">
                <a:solidFill>
                  <a:srgbClr val="A9B4BF"/>
                </a:solidFill>
                <a:latin typeface="Arial" pitchFamily="34" charset="0"/>
                <a:ea typeface="Arial" pitchFamily="34" charset="-122"/>
                <a:cs typeface="Arial" pitchFamily="34" charset="-120"/>
              </a:rPr>
              <a:t>21:32 → 23:50</a:t>
            </a:r>
            <a:endParaRPr lang="en-US" sz="1200" dirty="0"/>
          </a:p>
        </p:txBody>
      </p:sp>
      <p:sp>
        <p:nvSpPr>
          <p:cNvPr id="42" name="Text 40"/>
          <p:cNvSpPr/>
          <p:nvPr/>
        </p:nvSpPr>
        <p:spPr>
          <a:xfrm>
            <a:off x="6813550" y="5029150"/>
            <a:ext cx="13208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Arial" pitchFamily="34" charset="0"/>
                <a:ea typeface="Arial" pitchFamily="34" charset="-122"/>
                <a:cs typeface="Arial" pitchFamily="34" charset="-120"/>
              </a:rPr>
              <a:t>231111（土）</a:t>
            </a:r>
            <a:endParaRPr lang="en-US" sz="1200" dirty="0"/>
          </a:p>
          <a:p>
            <a:pPr algn="ctr" indent="0" marL="0">
              <a:lnSpc>
                <a:spcPts val="1500"/>
              </a:lnSpc>
              <a:buNone/>
            </a:pPr>
            <a:r>
              <a:rPr lang="en-US" sz="1200" dirty="0">
                <a:solidFill>
                  <a:srgbClr val="A9B4BF"/>
                </a:solidFill>
                <a:latin typeface="Arial" pitchFamily="34" charset="0"/>
                <a:ea typeface="Arial" pitchFamily="34" charset="-122"/>
                <a:cs typeface="Arial" pitchFamily="34" charset="-120"/>
              </a:rPr>
              <a:t>05:17 → 05:57</a:t>
            </a:r>
            <a:endParaRPr lang="en-US" sz="1200" dirty="0"/>
          </a:p>
        </p:txBody>
      </p:sp>
      <p:sp>
        <p:nvSpPr>
          <p:cNvPr id="43" name="Text 41"/>
          <p:cNvSpPr/>
          <p:nvPr/>
        </p:nvSpPr>
        <p:spPr>
          <a:xfrm>
            <a:off x="9125268" y="5029150"/>
            <a:ext cx="2158365"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Arial" pitchFamily="34" charset="0"/>
                <a:ea typeface="Arial" pitchFamily="34" charset="-122"/>
                <a:cs typeface="Arial" pitchFamily="34" charset="-120"/>
              </a:rPr>
              <a:t>240108（月）</a:t>
            </a:r>
            <a:endParaRPr lang="en-US" sz="1200" dirty="0"/>
          </a:p>
          <a:p>
            <a:pPr algn="ctr" indent="0" marL="0">
              <a:lnSpc>
                <a:spcPts val="1500"/>
              </a:lnSpc>
              <a:buNone/>
            </a:pPr>
            <a:r>
              <a:rPr lang="en-US" sz="1200" dirty="0">
                <a:solidFill>
                  <a:srgbClr val="A9B4BF"/>
                </a:solidFill>
                <a:latin typeface="Arial" pitchFamily="34" charset="0"/>
                <a:ea typeface="Arial" pitchFamily="34" charset="-122"/>
                <a:cs typeface="Arial" pitchFamily="34" charset="-120"/>
              </a:rPr>
              <a:t>20:10（240107）→ 00:23</a:t>
            </a:r>
            <a:endParaRPr lang="en-US" sz="1200" dirty="0"/>
          </a:p>
        </p:txBody>
      </p:sp>
      <p:sp>
        <p:nvSpPr>
          <p:cNvPr id="44" name="Text 42"/>
          <p:cNvSpPr/>
          <p:nvPr/>
        </p:nvSpPr>
        <p:spPr>
          <a:xfrm>
            <a:off x="812800" y="5460950"/>
            <a:ext cx="108833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D8894"/>
                </a:solidFill>
                <a:latin typeface="Arial" pitchFamily="34" charset="0"/>
                <a:ea typeface="Arial" pitchFamily="34" charset="-122"/>
                <a:cs typeface="Arial" pitchFamily="34" charset="-120"/>
              </a:rPr>
              <a:t>時刻はUTC：旧接頭辞の最後の放送 → 新接頭辞の最初の放送。</a:t>
            </a:r>
            <a:endParaRPr lang="en-US" sz="1200" dirty="0"/>
          </a:p>
        </p:txBody>
      </p:sp>
      <p:sp>
        <p:nvSpPr>
          <p:cNvPr id="45" name="Text 4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データ：公開中のHFGCS EAMカレンダー</a:t>
            </a:r>
            <a:endParaRPr lang="en-US" sz="1200" dirty="0"/>
          </a:p>
        </p:txBody>
      </p:sp>
      <p:sp>
        <p:nvSpPr>
          <p:cNvPr id="46" name="Text 44"/>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背景</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第2群</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宛先付きEAM</a:t>
            </a:r>
            <a:endParaRPr lang="en-US" sz="3600" dirty="0"/>
          </a:p>
        </p:txBody>
      </p:sp>
      <p:sp>
        <p:nvSpPr>
          <p:cNvPr id="4" name="Text 2"/>
          <p:cNvSpPr/>
          <p:nvPr/>
        </p:nvSpPr>
        <p:spPr>
          <a:xfrm>
            <a:off x="812800" y="198115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6EDF3"/>
                </a:solidFill>
                <a:latin typeface="Arial" pitchFamily="34" charset="0"/>
                <a:ea typeface="Arial" pitchFamily="34" charset="-122"/>
                <a:cs typeface="Arial" pitchFamily="34" charset="-120"/>
              </a:rPr>
              <a:t>第2群のメッセージの約</a:t>
            </a:r>
            <a:r>
              <a:rPr lang="en-US" sz="2200" dirty="0">
                <a:solidFill>
                  <a:srgbClr val="ED7D32"/>
                </a:solidFill>
                <a:latin typeface="Arial" pitchFamily="34" charset="0"/>
                <a:ea typeface="Arial" pitchFamily="34" charset="-122"/>
                <a:cs typeface="Arial" pitchFamily="34" charset="-120"/>
              </a:rPr>
              <a:t>47%</a:t>
            </a:r>
            <a:r>
              <a:rPr lang="en-US" sz="2200" dirty="0">
                <a:solidFill>
                  <a:srgbClr val="E6EDF3"/>
                </a:solidFill>
                <a:latin typeface="Arial" pitchFamily="34" charset="0"/>
                <a:ea typeface="Arial" pitchFamily="34" charset="-122"/>
                <a:cs typeface="Arial" pitchFamily="34" charset="-120"/>
              </a:rPr>
              <a:t>は、メッセージの前に受信者を告げる</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661841"/>
          <a:ext cx="10553700" cy="2196703"/>
        </p:xfrm>
        <a:graphic>
          <a:graphicData uri="http://schemas.openxmlformats.org/drawingml/2006/table">
            <a:tbl>
              <a:tblPr/>
              <a:tblGrid>
                <a:gridCol w="2427351"/>
                <a:gridCol w="1688592"/>
                <a:gridCol w="1266444"/>
                <a:gridCol w="949833"/>
                <a:gridCol w="4221480"/>
              </a:tblGrid>
              <a:tr h="43934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区分</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日付</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時刻</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接頭辞</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宛先</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ALPHABET FORCE</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251028（火）</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17:03 UTC</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D7D32"/>
                          </a:solidFill>
                          <a:latin typeface="Arial" pitchFamily="34" charset="0"/>
                          <a:ea typeface="Arial" pitchFamily="34" charset="-122"/>
                          <a:cs typeface="Arial" pitchFamily="34" charset="-120"/>
                        </a:rPr>
                        <a:t>7R</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FOR ALPHA FORCE, CHARLIE FORCE</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ALPHABET REGION</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231228（木）</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01:03 UTC</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D7D32"/>
                          </a:solidFill>
                          <a:latin typeface="Arial" pitchFamily="34" charset="0"/>
                          <a:ea typeface="Arial" pitchFamily="34" charset="-122"/>
                          <a:cs typeface="Arial" pitchFamily="34" charset="-120"/>
                        </a:rPr>
                        <a:t>DC</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FOR REGION BRAVO, REGION CHARLIE</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番号付きコールサイン</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230626（月）</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15:38 UTC</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D7D32"/>
                          </a:solidFill>
                          <a:latin typeface="Arial" pitchFamily="34" charset="0"/>
                          <a:ea typeface="Arial" pitchFamily="34" charset="-122"/>
                          <a:cs typeface="Arial" pitchFamily="34" charset="-120"/>
                        </a:rPr>
                        <a:t>T5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FOR TAMPA52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番号なしコールサイン</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241024（木）</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12:06 UTC</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D7D32"/>
                          </a:solidFill>
                          <a:latin typeface="Arial" pitchFamily="34" charset="0"/>
                          <a:ea typeface="Arial" pitchFamily="34" charset="-122"/>
                          <a:cs typeface="Arial" pitchFamily="34" charset="-120"/>
                        </a:rPr>
                        <a:t>AR</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FOR UPSTAGE, … 計10のコールサイン</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6" name="Text 3"/>
          <p:cNvSpPr/>
          <p:nvPr/>
        </p:nvSpPr>
        <p:spPr>
          <a:xfrm>
            <a:off x="812800" y="4960144"/>
            <a:ext cx="1088339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例はギャラリーのデータから</a:t>
            </a:r>
            <a:endParaRPr lang="en-US" sz="12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8"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背景</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空中の半分</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E-6Bによる中継</a:t>
            </a:r>
            <a:endParaRPr lang="en-US" sz="3600" dirty="0"/>
          </a:p>
        </p:txBody>
      </p:sp>
      <p:sp>
        <p:nvSpPr>
          <p:cNvPr id="4" name="Shape 2"/>
          <p:cNvSpPr/>
          <p:nvPr/>
        </p:nvSpPr>
        <p:spPr>
          <a:xfrm>
            <a:off x="812800" y="1984325"/>
            <a:ext cx="10566400" cy="0"/>
          </a:xfrm>
          <a:prstGeom prst="line">
            <a:avLst/>
          </a:prstGeom>
          <a:noFill/>
          <a:ln w="6350">
            <a:solidFill>
              <a:srgbClr val="222A35"/>
            </a:solidFill>
            <a:prstDash val="solid"/>
          </a:ln>
        </p:spPr>
      </p:sp>
      <p:sp>
        <p:nvSpPr>
          <p:cNvPr id="5" name="Text 3"/>
          <p:cNvSpPr/>
          <p:nvPr/>
        </p:nvSpPr>
        <p:spPr>
          <a:xfrm>
            <a:off x="812800" y="20891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3"/>
                </a:solidFill>
                <a:latin typeface="Arial" pitchFamily="34" charset="0"/>
                <a:ea typeface="Arial" pitchFamily="34" charset="-122"/>
                <a:cs typeface="Arial" pitchFamily="34" charset="-120"/>
              </a:rPr>
              <a:t>E-6Bマーキュリー：EAMを受信・検証・再送信する海軍機</a:t>
            </a:r>
            <a:endParaRPr lang="en-US" sz="1600" dirty="0"/>
          </a:p>
        </p:txBody>
      </p:sp>
      <p:sp>
        <p:nvSpPr>
          <p:cNvPr id="6" name="Shape 4"/>
          <p:cNvSpPr/>
          <p:nvPr/>
        </p:nvSpPr>
        <p:spPr>
          <a:xfrm>
            <a:off x="812800" y="2478336"/>
            <a:ext cx="10566400" cy="0"/>
          </a:xfrm>
          <a:prstGeom prst="line">
            <a:avLst/>
          </a:prstGeom>
          <a:noFill/>
          <a:ln w="6350">
            <a:solidFill>
              <a:srgbClr val="222A35"/>
            </a:solidFill>
            <a:prstDash val="solid"/>
          </a:ln>
        </p:spPr>
      </p:sp>
      <p:sp>
        <p:nvSpPr>
          <p:cNvPr id="7" name="Text 5"/>
          <p:cNvSpPr/>
          <p:nvPr/>
        </p:nvSpPr>
        <p:spPr>
          <a:xfrm>
            <a:off x="812800" y="25831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3"/>
                </a:solidFill>
                <a:latin typeface="Arial" pitchFamily="34" charset="0"/>
                <a:ea typeface="Arial" pitchFamily="34" charset="-122"/>
                <a:cs typeface="Arial" pitchFamily="34" charset="-120"/>
              </a:rPr>
              <a:t>HFで再放送し、潜水艦向けに曳航アンテナを使ってVLFでも放送</a:t>
            </a:r>
            <a:endParaRPr lang="en-US" sz="1600" dirty="0"/>
          </a:p>
        </p:txBody>
      </p:sp>
      <p:sp>
        <p:nvSpPr>
          <p:cNvPr id="8" name="Shape 6"/>
          <p:cNvSpPr/>
          <p:nvPr/>
        </p:nvSpPr>
        <p:spPr>
          <a:xfrm>
            <a:off x="812800" y="2972346"/>
            <a:ext cx="10566400" cy="0"/>
          </a:xfrm>
          <a:prstGeom prst="line">
            <a:avLst/>
          </a:prstGeom>
          <a:noFill/>
          <a:ln w="6350">
            <a:solidFill>
              <a:srgbClr val="222A35"/>
            </a:solidFill>
            <a:prstDash val="solid"/>
          </a:ln>
        </p:spPr>
      </p:sp>
      <p:sp>
        <p:nvSpPr>
          <p:cNvPr id="9" name="Text 7"/>
          <p:cNvSpPr/>
          <p:nvPr/>
        </p:nvSpPr>
        <p:spPr>
          <a:xfrm>
            <a:off x="812800" y="307712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3"/>
                </a:solidFill>
                <a:latin typeface="Arial" pitchFamily="34" charset="0"/>
                <a:ea typeface="Arial" pitchFamily="34" charset="-122"/>
                <a:cs typeface="Arial" pitchFamily="34" charset="-120"/>
              </a:rPr>
              <a:t>枠はおおむね海域に対応：:00/:30 アメリカ湾 · </a:t>
            </a:r>
            <a:r>
              <a:rPr lang="en-US" sz="1600" dirty="0">
                <a:solidFill>
                  <a:srgbClr val="FFCC00"/>
                </a:solidFill>
                <a:latin typeface="Arial" pitchFamily="34" charset="0"/>
                <a:ea typeface="Arial" pitchFamily="34" charset="-122"/>
                <a:cs typeface="Arial" pitchFamily="34" charset="-120"/>
              </a:rPr>
              <a:t>:10/:40 大西洋</a:t>
            </a:r>
            <a:r>
              <a:rPr lang="en-US" sz="1600" dirty="0">
                <a:solidFill>
                  <a:srgbClr val="E6EDF3"/>
                </a:solidFill>
                <a:latin typeface="Arial" pitchFamily="34" charset="0"/>
                <a:ea typeface="Arial" pitchFamily="34" charset="-122"/>
                <a:cs typeface="Arial" pitchFamily="34" charset="-120"/>
              </a:rPr>
              <a:t> · :20/:50 太平洋</a:t>
            </a:r>
            <a:endParaRPr lang="en-US" sz="1600" dirty="0"/>
          </a:p>
        </p:txBody>
      </p:sp>
      <p:sp>
        <p:nvSpPr>
          <p:cNvPr id="10" name="Text 8"/>
          <p:cNvSpPr/>
          <p:nvPr/>
        </p:nvSpPr>
        <p:spPr>
          <a:xfrm>
            <a:off x="812800" y="3666381"/>
            <a:ext cx="108833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260919（土）· 第1群のメッセージ1件 · ACZC4D…</a:t>
            </a:r>
            <a:endParaRPr lang="en-US" sz="1200" dirty="0"/>
          </a:p>
        </p:txBody>
      </p:sp>
      <p:sp>
        <p:nvSpPr>
          <p:cNvPr id="11" name="Text 9"/>
          <p:cNvSpPr/>
          <p:nvPr/>
        </p:nvSpPr>
        <p:spPr>
          <a:xfrm>
            <a:off x="776224" y="3907681"/>
            <a:ext cx="251155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Arial" pitchFamily="34" charset="0"/>
                <a:ea typeface="Arial" pitchFamily="34" charset="-122"/>
                <a:cs typeface="Arial" pitchFamily="34" charset="-120"/>
              </a:rPr>
              <a:t>最初の放送 · 18:00</a:t>
            </a:r>
            <a:endParaRPr lang="en-US" sz="1200" dirty="0"/>
          </a:p>
        </p:txBody>
      </p:sp>
      <p:sp>
        <p:nvSpPr>
          <p:cNvPr id="12" name="Shape 10"/>
          <p:cNvSpPr/>
          <p:nvPr/>
        </p:nvSpPr>
        <p:spPr>
          <a:xfrm>
            <a:off x="1943100" y="4148981"/>
            <a:ext cx="177800" cy="177800"/>
          </a:xfrm>
          <a:prstGeom prst="roundRect">
            <a:avLst>
              <a:gd name="adj" fmla="val 50000"/>
            </a:avLst>
          </a:prstGeom>
          <a:solidFill>
            <a:srgbClr val="06B050"/>
          </a:solidFill>
          <a:ln/>
        </p:spPr>
      </p:sp>
      <p:sp>
        <p:nvSpPr>
          <p:cNvPr id="13" name="Shape 11"/>
          <p:cNvSpPr/>
          <p:nvPr/>
        </p:nvSpPr>
        <p:spPr>
          <a:xfrm>
            <a:off x="1219200" y="4396631"/>
            <a:ext cx="9753600" cy="12700"/>
          </a:xfrm>
          <a:prstGeom prst="rect">
            <a:avLst/>
          </a:prstGeom>
          <a:solidFill>
            <a:srgbClr val="7D8894"/>
          </a:solidFill>
          <a:ln/>
        </p:spPr>
      </p:sp>
      <p:sp>
        <p:nvSpPr>
          <p:cNvPr id="14" name="Shape 12"/>
          <p:cNvSpPr/>
          <p:nvPr/>
        </p:nvSpPr>
        <p:spPr>
          <a:xfrm>
            <a:off x="1219200" y="4352181"/>
            <a:ext cx="6350" cy="101600"/>
          </a:xfrm>
          <a:prstGeom prst="rect">
            <a:avLst/>
          </a:prstGeom>
          <a:solidFill>
            <a:srgbClr val="222A35"/>
          </a:solidFill>
          <a:ln/>
        </p:spPr>
      </p:sp>
      <p:sp>
        <p:nvSpPr>
          <p:cNvPr id="15" name="Shape 13"/>
          <p:cNvSpPr/>
          <p:nvPr/>
        </p:nvSpPr>
        <p:spPr>
          <a:xfrm>
            <a:off x="2032000" y="4352181"/>
            <a:ext cx="6350" cy="101600"/>
          </a:xfrm>
          <a:prstGeom prst="rect">
            <a:avLst/>
          </a:prstGeom>
          <a:solidFill>
            <a:srgbClr val="222A35"/>
          </a:solidFill>
          <a:ln/>
        </p:spPr>
      </p:sp>
      <p:sp>
        <p:nvSpPr>
          <p:cNvPr id="16" name="Shape 14"/>
          <p:cNvSpPr/>
          <p:nvPr/>
        </p:nvSpPr>
        <p:spPr>
          <a:xfrm>
            <a:off x="2838450" y="4326781"/>
            <a:ext cx="19050" cy="152400"/>
          </a:xfrm>
          <a:prstGeom prst="rect">
            <a:avLst/>
          </a:prstGeom>
          <a:solidFill>
            <a:srgbClr val="E6EDF3"/>
          </a:solidFill>
          <a:ln/>
        </p:spPr>
      </p:sp>
      <p:sp>
        <p:nvSpPr>
          <p:cNvPr id="17" name="Shape 15"/>
          <p:cNvSpPr/>
          <p:nvPr/>
        </p:nvSpPr>
        <p:spPr>
          <a:xfrm>
            <a:off x="3657600" y="4352181"/>
            <a:ext cx="6350" cy="101600"/>
          </a:xfrm>
          <a:prstGeom prst="rect">
            <a:avLst/>
          </a:prstGeom>
          <a:solidFill>
            <a:srgbClr val="222A35"/>
          </a:solidFill>
          <a:ln/>
        </p:spPr>
      </p:sp>
      <p:sp>
        <p:nvSpPr>
          <p:cNvPr id="18" name="Shape 16"/>
          <p:cNvSpPr/>
          <p:nvPr/>
        </p:nvSpPr>
        <p:spPr>
          <a:xfrm>
            <a:off x="4470400" y="4352181"/>
            <a:ext cx="6350" cy="101600"/>
          </a:xfrm>
          <a:prstGeom prst="rect">
            <a:avLst/>
          </a:prstGeom>
          <a:solidFill>
            <a:srgbClr val="222A35"/>
          </a:solidFill>
          <a:ln/>
        </p:spPr>
      </p:sp>
      <p:sp>
        <p:nvSpPr>
          <p:cNvPr id="19" name="Shape 17"/>
          <p:cNvSpPr/>
          <p:nvPr/>
        </p:nvSpPr>
        <p:spPr>
          <a:xfrm>
            <a:off x="5276850" y="4326781"/>
            <a:ext cx="19050" cy="152400"/>
          </a:xfrm>
          <a:prstGeom prst="rect">
            <a:avLst/>
          </a:prstGeom>
          <a:solidFill>
            <a:srgbClr val="E6EDF3"/>
          </a:solidFill>
          <a:ln/>
        </p:spPr>
      </p:sp>
      <p:sp>
        <p:nvSpPr>
          <p:cNvPr id="20" name="Shape 18"/>
          <p:cNvSpPr/>
          <p:nvPr/>
        </p:nvSpPr>
        <p:spPr>
          <a:xfrm>
            <a:off x="6096000" y="4352181"/>
            <a:ext cx="6350" cy="101600"/>
          </a:xfrm>
          <a:prstGeom prst="rect">
            <a:avLst/>
          </a:prstGeom>
          <a:solidFill>
            <a:srgbClr val="222A35"/>
          </a:solidFill>
          <a:ln/>
        </p:spPr>
      </p:sp>
      <p:sp>
        <p:nvSpPr>
          <p:cNvPr id="21" name="Shape 19"/>
          <p:cNvSpPr/>
          <p:nvPr/>
        </p:nvSpPr>
        <p:spPr>
          <a:xfrm>
            <a:off x="6908800" y="4352181"/>
            <a:ext cx="6350" cy="101600"/>
          </a:xfrm>
          <a:prstGeom prst="rect">
            <a:avLst/>
          </a:prstGeom>
          <a:solidFill>
            <a:srgbClr val="222A35"/>
          </a:solidFill>
          <a:ln/>
        </p:spPr>
      </p:sp>
      <p:sp>
        <p:nvSpPr>
          <p:cNvPr id="22" name="Shape 20"/>
          <p:cNvSpPr/>
          <p:nvPr/>
        </p:nvSpPr>
        <p:spPr>
          <a:xfrm>
            <a:off x="7715250" y="4326781"/>
            <a:ext cx="19050" cy="152400"/>
          </a:xfrm>
          <a:prstGeom prst="rect">
            <a:avLst/>
          </a:prstGeom>
          <a:solidFill>
            <a:srgbClr val="E6EDF3"/>
          </a:solidFill>
          <a:ln/>
        </p:spPr>
      </p:sp>
      <p:sp>
        <p:nvSpPr>
          <p:cNvPr id="23" name="Shape 21"/>
          <p:cNvSpPr/>
          <p:nvPr/>
        </p:nvSpPr>
        <p:spPr>
          <a:xfrm>
            <a:off x="8534400" y="4352181"/>
            <a:ext cx="6350" cy="101600"/>
          </a:xfrm>
          <a:prstGeom prst="rect">
            <a:avLst/>
          </a:prstGeom>
          <a:solidFill>
            <a:srgbClr val="222A35"/>
          </a:solidFill>
          <a:ln/>
        </p:spPr>
      </p:sp>
      <p:sp>
        <p:nvSpPr>
          <p:cNvPr id="24" name="Shape 22"/>
          <p:cNvSpPr/>
          <p:nvPr/>
        </p:nvSpPr>
        <p:spPr>
          <a:xfrm>
            <a:off x="9347200" y="4352181"/>
            <a:ext cx="6350" cy="101600"/>
          </a:xfrm>
          <a:prstGeom prst="rect">
            <a:avLst/>
          </a:prstGeom>
          <a:solidFill>
            <a:srgbClr val="222A35"/>
          </a:solidFill>
          <a:ln/>
        </p:spPr>
      </p:sp>
      <p:sp>
        <p:nvSpPr>
          <p:cNvPr id="25" name="Shape 23"/>
          <p:cNvSpPr/>
          <p:nvPr/>
        </p:nvSpPr>
        <p:spPr>
          <a:xfrm>
            <a:off x="10153650" y="4326781"/>
            <a:ext cx="19050" cy="152400"/>
          </a:xfrm>
          <a:prstGeom prst="rect">
            <a:avLst/>
          </a:prstGeom>
          <a:solidFill>
            <a:srgbClr val="E6EDF3"/>
          </a:solidFill>
          <a:ln/>
        </p:spPr>
      </p:sp>
      <p:sp>
        <p:nvSpPr>
          <p:cNvPr id="26" name="Shape 24"/>
          <p:cNvSpPr/>
          <p:nvPr/>
        </p:nvSpPr>
        <p:spPr>
          <a:xfrm>
            <a:off x="10972800" y="4352181"/>
            <a:ext cx="6350" cy="101600"/>
          </a:xfrm>
          <a:prstGeom prst="rect">
            <a:avLst/>
          </a:prstGeom>
          <a:solidFill>
            <a:srgbClr val="222A35"/>
          </a:solidFill>
          <a:ln/>
        </p:spPr>
      </p:sp>
      <p:sp>
        <p:nvSpPr>
          <p:cNvPr id="27" name="Shape 25"/>
          <p:cNvSpPr/>
          <p:nvPr/>
        </p:nvSpPr>
        <p:spPr>
          <a:xfrm>
            <a:off x="2755900" y="4479181"/>
            <a:ext cx="177800" cy="177800"/>
          </a:xfrm>
          <a:prstGeom prst="roundRect">
            <a:avLst>
              <a:gd name="adj" fmla="val 50000"/>
            </a:avLst>
          </a:prstGeom>
          <a:solidFill>
            <a:srgbClr val="06B050"/>
          </a:solidFill>
          <a:ln/>
        </p:spPr>
      </p:sp>
      <p:sp>
        <p:nvSpPr>
          <p:cNvPr id="28" name="Shape 26"/>
          <p:cNvSpPr/>
          <p:nvPr/>
        </p:nvSpPr>
        <p:spPr>
          <a:xfrm>
            <a:off x="5194300" y="4479181"/>
            <a:ext cx="177800" cy="177800"/>
          </a:xfrm>
          <a:prstGeom prst="roundRect">
            <a:avLst>
              <a:gd name="adj" fmla="val 50000"/>
            </a:avLst>
          </a:prstGeom>
          <a:solidFill>
            <a:srgbClr val="06B050"/>
          </a:solidFill>
          <a:ln/>
        </p:spPr>
      </p:sp>
      <p:sp>
        <p:nvSpPr>
          <p:cNvPr id="29" name="Shape 27"/>
          <p:cNvSpPr/>
          <p:nvPr/>
        </p:nvSpPr>
        <p:spPr>
          <a:xfrm>
            <a:off x="7632700" y="4479181"/>
            <a:ext cx="177800" cy="177800"/>
          </a:xfrm>
          <a:prstGeom prst="roundRect">
            <a:avLst>
              <a:gd name="adj" fmla="val 50000"/>
            </a:avLst>
          </a:prstGeom>
          <a:solidFill>
            <a:srgbClr val="06B050"/>
          </a:solidFill>
          <a:ln/>
        </p:spPr>
      </p:sp>
      <p:sp>
        <p:nvSpPr>
          <p:cNvPr id="30" name="Shape 28"/>
          <p:cNvSpPr/>
          <p:nvPr/>
        </p:nvSpPr>
        <p:spPr>
          <a:xfrm>
            <a:off x="10071100" y="4479181"/>
            <a:ext cx="177800" cy="177800"/>
          </a:xfrm>
          <a:prstGeom prst="roundRect">
            <a:avLst>
              <a:gd name="adj" fmla="val 50000"/>
            </a:avLst>
          </a:prstGeom>
          <a:solidFill>
            <a:srgbClr val="06B050"/>
          </a:solidFill>
          <a:ln/>
        </p:spPr>
      </p:sp>
      <p:sp>
        <p:nvSpPr>
          <p:cNvPr id="31" name="Text 29"/>
          <p:cNvSpPr/>
          <p:nvPr/>
        </p:nvSpPr>
        <p:spPr>
          <a:xfrm>
            <a:off x="787400" y="47077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E-6B</a:t>
            </a:r>
            <a:endParaRPr lang="en-US" sz="1200" dirty="0"/>
          </a:p>
        </p:txBody>
      </p:sp>
      <p:sp>
        <p:nvSpPr>
          <p:cNvPr id="32" name="Text 30"/>
          <p:cNvSpPr/>
          <p:nvPr/>
        </p:nvSpPr>
        <p:spPr>
          <a:xfrm>
            <a:off x="1600200" y="47077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E-6B</a:t>
            </a:r>
            <a:endParaRPr lang="en-US" sz="1200" dirty="0"/>
          </a:p>
        </p:txBody>
      </p:sp>
      <p:sp>
        <p:nvSpPr>
          <p:cNvPr id="33" name="Text 31"/>
          <p:cNvSpPr/>
          <p:nvPr/>
        </p:nvSpPr>
        <p:spPr>
          <a:xfrm>
            <a:off x="2413000" y="47077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E-6B</a:t>
            </a:r>
            <a:endParaRPr lang="en-US" sz="1200" dirty="0"/>
          </a:p>
        </p:txBody>
      </p:sp>
      <p:sp>
        <p:nvSpPr>
          <p:cNvPr id="34" name="Text 32"/>
          <p:cNvSpPr/>
          <p:nvPr/>
        </p:nvSpPr>
        <p:spPr>
          <a:xfrm>
            <a:off x="3225800" y="47077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E-6B</a:t>
            </a:r>
            <a:endParaRPr lang="en-US" sz="1200" dirty="0"/>
          </a:p>
        </p:txBody>
      </p:sp>
      <p:sp>
        <p:nvSpPr>
          <p:cNvPr id="35" name="Text 33"/>
          <p:cNvSpPr/>
          <p:nvPr/>
        </p:nvSpPr>
        <p:spPr>
          <a:xfrm>
            <a:off x="7874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17:50</a:t>
            </a:r>
            <a:endParaRPr lang="en-US" sz="1200" dirty="0"/>
          </a:p>
        </p:txBody>
      </p:sp>
      <p:sp>
        <p:nvSpPr>
          <p:cNvPr id="36" name="Text 34"/>
          <p:cNvSpPr/>
          <p:nvPr/>
        </p:nvSpPr>
        <p:spPr>
          <a:xfrm>
            <a:off x="16002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18:00</a:t>
            </a:r>
            <a:endParaRPr lang="en-US" sz="1200" dirty="0"/>
          </a:p>
        </p:txBody>
      </p:sp>
      <p:sp>
        <p:nvSpPr>
          <p:cNvPr id="37" name="Text 35"/>
          <p:cNvSpPr/>
          <p:nvPr/>
        </p:nvSpPr>
        <p:spPr>
          <a:xfrm>
            <a:off x="24130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18:10</a:t>
            </a:r>
            <a:endParaRPr lang="en-US" sz="1200" dirty="0"/>
          </a:p>
        </p:txBody>
      </p:sp>
      <p:sp>
        <p:nvSpPr>
          <p:cNvPr id="38" name="Text 36"/>
          <p:cNvSpPr/>
          <p:nvPr/>
        </p:nvSpPr>
        <p:spPr>
          <a:xfrm>
            <a:off x="32258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18:20</a:t>
            </a:r>
            <a:endParaRPr lang="en-US" sz="1200" dirty="0"/>
          </a:p>
        </p:txBody>
      </p:sp>
      <p:sp>
        <p:nvSpPr>
          <p:cNvPr id="39" name="Text 37"/>
          <p:cNvSpPr/>
          <p:nvPr/>
        </p:nvSpPr>
        <p:spPr>
          <a:xfrm>
            <a:off x="40386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18:30</a:t>
            </a:r>
            <a:endParaRPr lang="en-US" sz="1200" dirty="0"/>
          </a:p>
        </p:txBody>
      </p:sp>
      <p:sp>
        <p:nvSpPr>
          <p:cNvPr id="40" name="Text 38"/>
          <p:cNvSpPr/>
          <p:nvPr/>
        </p:nvSpPr>
        <p:spPr>
          <a:xfrm>
            <a:off x="48514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18:40</a:t>
            </a:r>
            <a:endParaRPr lang="en-US" sz="1200" dirty="0"/>
          </a:p>
        </p:txBody>
      </p:sp>
      <p:sp>
        <p:nvSpPr>
          <p:cNvPr id="41" name="Text 39"/>
          <p:cNvSpPr/>
          <p:nvPr/>
        </p:nvSpPr>
        <p:spPr>
          <a:xfrm>
            <a:off x="56642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18:50</a:t>
            </a:r>
            <a:endParaRPr lang="en-US" sz="1200" dirty="0"/>
          </a:p>
        </p:txBody>
      </p:sp>
      <p:sp>
        <p:nvSpPr>
          <p:cNvPr id="42" name="Text 40"/>
          <p:cNvSpPr/>
          <p:nvPr/>
        </p:nvSpPr>
        <p:spPr>
          <a:xfrm>
            <a:off x="64770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19:00</a:t>
            </a:r>
            <a:endParaRPr lang="en-US" sz="1200" dirty="0"/>
          </a:p>
        </p:txBody>
      </p:sp>
      <p:sp>
        <p:nvSpPr>
          <p:cNvPr id="43" name="Text 41"/>
          <p:cNvSpPr/>
          <p:nvPr/>
        </p:nvSpPr>
        <p:spPr>
          <a:xfrm>
            <a:off x="72898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19:10</a:t>
            </a:r>
            <a:endParaRPr lang="en-US" sz="1200" dirty="0"/>
          </a:p>
        </p:txBody>
      </p:sp>
      <p:sp>
        <p:nvSpPr>
          <p:cNvPr id="44" name="Text 42"/>
          <p:cNvSpPr/>
          <p:nvPr/>
        </p:nvSpPr>
        <p:spPr>
          <a:xfrm>
            <a:off x="81026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19:20</a:t>
            </a:r>
            <a:endParaRPr lang="en-US" sz="1200" dirty="0"/>
          </a:p>
        </p:txBody>
      </p:sp>
      <p:sp>
        <p:nvSpPr>
          <p:cNvPr id="45" name="Text 43"/>
          <p:cNvSpPr/>
          <p:nvPr/>
        </p:nvSpPr>
        <p:spPr>
          <a:xfrm>
            <a:off x="89154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19:30</a:t>
            </a:r>
            <a:endParaRPr lang="en-US" sz="1200" dirty="0"/>
          </a:p>
        </p:txBody>
      </p:sp>
      <p:sp>
        <p:nvSpPr>
          <p:cNvPr id="46" name="Text 44"/>
          <p:cNvSpPr/>
          <p:nvPr/>
        </p:nvSpPr>
        <p:spPr>
          <a:xfrm>
            <a:off x="97282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19:40</a:t>
            </a:r>
            <a:endParaRPr lang="en-US" sz="1200" dirty="0"/>
          </a:p>
        </p:txBody>
      </p:sp>
      <p:sp>
        <p:nvSpPr>
          <p:cNvPr id="47" name="Text 45"/>
          <p:cNvSpPr/>
          <p:nvPr/>
        </p:nvSpPr>
        <p:spPr>
          <a:xfrm>
            <a:off x="10541000" y="4949081"/>
            <a:ext cx="863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19:50</a:t>
            </a:r>
            <a:endParaRPr lang="en-US" sz="1200" dirty="0"/>
          </a:p>
        </p:txBody>
      </p:sp>
      <p:sp>
        <p:nvSpPr>
          <p:cNvPr id="48" name="Text 46"/>
          <p:cNvSpPr/>
          <p:nvPr/>
        </p:nvSpPr>
        <p:spPr>
          <a:xfrm>
            <a:off x="819150" y="5196731"/>
            <a:ext cx="1656457" cy="304800"/>
          </a:xfrm>
          <a:prstGeom prst="roundRect">
            <a:avLst>
              <a:gd name="adj" fmla="val 14583"/>
            </a:avLst>
          </a:prstGeom>
          <a:noFill/>
          <a:ln w="12700">
            <a:solidFill>
              <a:srgbClr val="7D8894">
                <a:alpha val="40000"/>
              </a:srgbClr>
            </a:solidFill>
            <a:prstDash val="solid"/>
          </a:ln>
        </p:spPr>
        <p:txBody>
          <a:bodyPr wrap="none" lIns="0" tIns="0" rIns="0" bIns="0" rtlCol="0" anchor="ctr">
            <a:normAutofit/>
          </a:bodyPr>
          <a:lstStyle/>
          <a:p>
            <a:pPr algn="ctr" indent="0" marL="0">
              <a:lnSpc>
                <a:spcPts val="1500"/>
              </a:lnSpc>
              <a:buNone/>
            </a:pPr>
            <a:r>
              <a:rPr lang="en-US" sz="1200" dirty="0">
                <a:solidFill>
                  <a:srgbClr val="E6EDF3">
                    <a:alpha val="40000"/>
                  </a:srgbClr>
                </a:solidFill>
                <a:latin typeface="Arial" pitchFamily="34" charset="0"/>
                <a:ea typeface="Arial" pitchFamily="34" charset="-122"/>
                <a:cs typeface="Arial" pitchFamily="34" charset="-120"/>
              </a:rPr>
              <a:t>:00 / :30 · アメリカ湾</a:t>
            </a:r>
            <a:endParaRPr lang="en-US" sz="1200" dirty="0"/>
          </a:p>
        </p:txBody>
      </p:sp>
      <p:sp>
        <p:nvSpPr>
          <p:cNvPr id="49" name="Text 47"/>
          <p:cNvSpPr/>
          <p:nvPr/>
        </p:nvSpPr>
        <p:spPr>
          <a:xfrm>
            <a:off x="2589907" y="5196731"/>
            <a:ext cx="1359297" cy="304800"/>
          </a:xfrm>
          <a:prstGeom prst="roundRect">
            <a:avLst>
              <a:gd name="adj" fmla="val 14583"/>
            </a:avLst>
          </a:prstGeom>
          <a:noFill/>
          <a:ln w="12700">
            <a:solidFill>
              <a:srgbClr val="E6EDF3"/>
            </a:solidFill>
            <a:prstDash val="solid"/>
          </a:ln>
        </p:spPr>
        <p:txBody>
          <a:bodyPr wrap="none" lIns="0" tIns="0" rIns="0" bIns="0" rtlCol="0" anchor="ctr">
            <a:normAutofit/>
          </a:bodyPr>
          <a:lstStyle/>
          <a:p>
            <a:pPr algn="ctr" indent="0" marL="0">
              <a:lnSpc>
                <a:spcPts val="1500"/>
              </a:lnSpc>
              <a:buNone/>
            </a:pPr>
            <a:r>
              <a:rPr lang="en-US" sz="1200" dirty="0">
                <a:solidFill>
                  <a:srgbClr val="E6EDF3"/>
                </a:solidFill>
                <a:latin typeface="Arial" pitchFamily="34" charset="0"/>
                <a:ea typeface="Arial" pitchFamily="34" charset="-122"/>
                <a:cs typeface="Arial" pitchFamily="34" charset="-120"/>
              </a:rPr>
              <a:t>:10 / :40 · 大西洋</a:t>
            </a:r>
            <a:endParaRPr lang="en-US" sz="1200" dirty="0"/>
          </a:p>
        </p:txBody>
      </p:sp>
      <p:sp>
        <p:nvSpPr>
          <p:cNvPr id="50" name="Text 48"/>
          <p:cNvSpPr/>
          <p:nvPr/>
        </p:nvSpPr>
        <p:spPr>
          <a:xfrm>
            <a:off x="4063504" y="5196731"/>
            <a:ext cx="1359297" cy="304800"/>
          </a:xfrm>
          <a:prstGeom prst="roundRect">
            <a:avLst>
              <a:gd name="adj" fmla="val 14583"/>
            </a:avLst>
          </a:prstGeom>
          <a:noFill/>
          <a:ln w="12700">
            <a:solidFill>
              <a:srgbClr val="7D8894">
                <a:alpha val="40000"/>
              </a:srgbClr>
            </a:solidFill>
            <a:prstDash val="solid"/>
          </a:ln>
        </p:spPr>
        <p:txBody>
          <a:bodyPr wrap="none" lIns="0" tIns="0" rIns="0" bIns="0" rtlCol="0" anchor="ctr">
            <a:normAutofit/>
          </a:bodyPr>
          <a:lstStyle/>
          <a:p>
            <a:pPr algn="ctr" indent="0" marL="0">
              <a:lnSpc>
                <a:spcPts val="1500"/>
              </a:lnSpc>
              <a:buNone/>
            </a:pPr>
            <a:r>
              <a:rPr lang="en-US" sz="1200" dirty="0">
                <a:solidFill>
                  <a:srgbClr val="E6EDF3">
                    <a:alpha val="40000"/>
                  </a:srgbClr>
                </a:solidFill>
                <a:latin typeface="Arial" pitchFamily="34" charset="0"/>
                <a:ea typeface="Arial" pitchFamily="34" charset="-122"/>
                <a:cs typeface="Arial" pitchFamily="34" charset="-120"/>
              </a:rPr>
              <a:t>:20 / :50 · 太平洋</a:t>
            </a:r>
            <a:endParaRPr lang="en-US" sz="1200" dirty="0"/>
          </a:p>
        </p:txBody>
      </p:sp>
      <p:sp>
        <p:nvSpPr>
          <p:cNvPr id="51" name="Text 49"/>
          <p:cNvSpPr/>
          <p:nvPr/>
        </p:nvSpPr>
        <p:spPr>
          <a:xfrm>
            <a:off x="812800" y="5558681"/>
            <a:ext cx="108833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D8894"/>
                </a:solidFill>
                <a:latin typeface="Arial" pitchFamily="34" charset="0"/>
                <a:ea typeface="Arial" pitchFamily="34" charset="-122"/>
                <a:cs typeface="Arial" pitchFamily="34" charset="-120"/>
              </a:rPr>
              <a:t>同じ日：21:16 最初の放送 → 21:40 E-6B。時刻はUTC、カレンダーと再放送時系列から。</a:t>
            </a:r>
            <a:endParaRPr lang="en-US" sz="1200" dirty="0"/>
          </a:p>
        </p:txBody>
      </p:sp>
      <p:sp>
        <p:nvSpPr>
          <p:cNvPr id="52" name="Text 5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53" name="Text 51"/>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背景</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文字がこう見える理由</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ワンタイムパッド説</a:t>
            </a:r>
            <a:endParaRPr lang="en-US" sz="3600" dirty="0"/>
          </a:p>
        </p:txBody>
      </p:sp>
      <p:sp>
        <p:nvSpPr>
          <p:cNvPr id="4" name="Shape 2"/>
          <p:cNvSpPr/>
          <p:nvPr/>
        </p:nvSpPr>
        <p:spPr>
          <a:xfrm>
            <a:off x="812800" y="1984325"/>
            <a:ext cx="5232400" cy="0"/>
          </a:xfrm>
          <a:prstGeom prst="line">
            <a:avLst/>
          </a:prstGeom>
          <a:noFill/>
          <a:ln w="6350">
            <a:solidFill>
              <a:srgbClr val="222A35"/>
            </a:solidFill>
            <a:prstDash val="solid"/>
          </a:ln>
        </p:spPr>
      </p:sp>
      <p:sp>
        <p:nvSpPr>
          <p:cNvPr id="5" name="Text 3"/>
          <p:cNvSpPr/>
          <p:nvPr/>
        </p:nvSpPr>
        <p:spPr>
          <a:xfrm>
            <a:off x="812800" y="2089100"/>
            <a:ext cx="538937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32進：A–Z・2–7。通常のEAMに0・1・8・9はない</a:t>
            </a:r>
            <a:endParaRPr lang="en-US" sz="1600" dirty="0"/>
          </a:p>
        </p:txBody>
      </p:sp>
      <p:sp>
        <p:nvSpPr>
          <p:cNvPr id="6" name="Shape 4"/>
          <p:cNvSpPr/>
          <p:nvPr/>
        </p:nvSpPr>
        <p:spPr>
          <a:xfrm>
            <a:off x="6146800" y="1984325"/>
            <a:ext cx="5232400" cy="0"/>
          </a:xfrm>
          <a:prstGeom prst="line">
            <a:avLst/>
          </a:prstGeom>
          <a:noFill/>
          <a:ln w="6350">
            <a:solidFill>
              <a:srgbClr val="222A35"/>
            </a:solidFill>
            <a:prstDash val="solid"/>
          </a:ln>
        </p:spPr>
      </p:sp>
      <p:sp>
        <p:nvSpPr>
          <p:cNvPr id="7" name="Text 5"/>
          <p:cNvSpPr/>
          <p:nvPr/>
        </p:nvSpPr>
        <p:spPr>
          <a:xfrm>
            <a:off x="6146800" y="2089100"/>
            <a:ext cx="538937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06B050"/>
                </a:solidFill>
                <a:latin typeface="Arial" pitchFamily="34" charset="0"/>
                <a:ea typeface="Arial" pitchFamily="34" charset="-122"/>
                <a:cs typeface="Arial" pitchFamily="34" charset="-120"/>
              </a:rPr>
              <a:t>M</a:t>
            </a:r>
            <a:r>
              <a:rPr lang="en-US" sz="1600" dirty="0">
                <a:solidFill>
                  <a:srgbClr val="E6EDF3"/>
                </a:solidFill>
                <a:latin typeface="Arial" pitchFamily="34" charset="0"/>
                <a:ea typeface="Arial" pitchFamily="34" charset="-122"/>
                <a:cs typeface="Arial" pitchFamily="34" charset="-120"/>
              </a:rPr>
              <a:t>と</a:t>
            </a:r>
            <a:r>
              <a:rPr lang="en-US" sz="1600" dirty="0">
                <a:solidFill>
                  <a:srgbClr val="06B050"/>
                </a:solidFill>
                <a:latin typeface="Arial" pitchFamily="34" charset="0"/>
                <a:ea typeface="Arial" pitchFamily="34" charset="-122"/>
                <a:cs typeface="Arial" pitchFamily="34" charset="-120"/>
              </a:rPr>
              <a:t>5</a:t>
            </a:r>
            <a:r>
              <a:rPr lang="en-US" sz="1600" dirty="0">
                <a:solidFill>
                  <a:srgbClr val="E6EDF3"/>
                </a:solidFill>
                <a:latin typeface="Arial" pitchFamily="34" charset="0"/>
                <a:ea typeface="Arial" pitchFamily="34" charset="-122"/>
                <a:cs typeface="Arial" pitchFamily="34" charset="-120"/>
              </a:rPr>
              <a:t>は約3分の1少ない</a:t>
            </a:r>
            <a:endParaRPr lang="en-US" sz="1600" dirty="0"/>
          </a:p>
        </p:txBody>
      </p:sp>
      <p:sp>
        <p:nvSpPr>
          <p:cNvPr id="8" name="Shape 6"/>
          <p:cNvSpPr/>
          <p:nvPr/>
        </p:nvSpPr>
        <p:spPr>
          <a:xfrm>
            <a:off x="812800" y="2498675"/>
            <a:ext cx="5232400" cy="0"/>
          </a:xfrm>
          <a:prstGeom prst="line">
            <a:avLst/>
          </a:prstGeom>
          <a:noFill/>
          <a:ln w="6350">
            <a:solidFill>
              <a:srgbClr val="222A35"/>
            </a:solidFill>
            <a:prstDash val="solid"/>
          </a:ln>
        </p:spPr>
      </p:sp>
      <p:sp>
        <p:nvSpPr>
          <p:cNvPr id="9" name="Text 7"/>
          <p:cNvSpPr/>
          <p:nvPr/>
        </p:nvSpPr>
        <p:spPr>
          <a:xfrm>
            <a:off x="812800" y="2603450"/>
            <a:ext cx="538937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第1群の最後の6文字は</a:t>
            </a:r>
            <a:r>
              <a:rPr lang="en-US" sz="1600" dirty="0">
                <a:solidFill>
                  <a:srgbClr val="FFCC00"/>
                </a:solidFill>
                <a:latin typeface="Arial" pitchFamily="34" charset="0"/>
                <a:ea typeface="Arial" pitchFamily="34" charset="-122"/>
                <a:cs typeface="Arial" pitchFamily="34" charset="-120"/>
              </a:rPr>
              <a:t>97%</a:t>
            </a:r>
            <a:r>
              <a:rPr lang="en-US" sz="1600" dirty="0">
                <a:solidFill>
                  <a:srgbClr val="E6EDF3"/>
                </a:solidFill>
                <a:latin typeface="Arial" pitchFamily="34" charset="0"/>
                <a:ea typeface="Arial" pitchFamily="34" charset="-122"/>
                <a:cs typeface="Arial" pitchFamily="34" charset="-120"/>
              </a:rPr>
              <a:t>がすべて異なる</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（無作為なら61%）</a:t>
            </a:r>
            <a:endParaRPr lang="en-US" sz="1600" dirty="0"/>
          </a:p>
        </p:txBody>
      </p:sp>
      <p:sp>
        <p:nvSpPr>
          <p:cNvPr id="10" name="Shape 8"/>
          <p:cNvSpPr/>
          <p:nvPr/>
        </p:nvSpPr>
        <p:spPr>
          <a:xfrm>
            <a:off x="6146800" y="2498675"/>
            <a:ext cx="5232400" cy="0"/>
          </a:xfrm>
          <a:prstGeom prst="line">
            <a:avLst/>
          </a:prstGeom>
          <a:noFill/>
          <a:ln w="6350">
            <a:solidFill>
              <a:srgbClr val="222A35"/>
            </a:solidFill>
            <a:prstDash val="solid"/>
          </a:ln>
        </p:spPr>
      </p:sp>
      <p:sp>
        <p:nvSpPr>
          <p:cNvPr id="11" name="Text 9"/>
          <p:cNvSpPr/>
          <p:nvPr/>
        </p:nvSpPr>
        <p:spPr>
          <a:xfrm>
            <a:off x="6146800" y="2603450"/>
            <a:ext cx="538937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同じブロックが、数週間〜数か月離れた</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別のメッセージに再び現れる</a:t>
            </a:r>
            <a:endParaRPr lang="en-US" sz="1600" dirty="0"/>
          </a:p>
        </p:txBody>
      </p:sp>
      <p:sp>
        <p:nvSpPr>
          <p:cNvPr id="12" name="Shape 10"/>
          <p:cNvSpPr/>
          <p:nvPr/>
        </p:nvSpPr>
        <p:spPr>
          <a:xfrm>
            <a:off x="819150" y="5264100"/>
            <a:ext cx="241300" cy="114300"/>
          </a:xfrm>
          <a:prstGeom prst="rect">
            <a:avLst/>
          </a:prstGeom>
          <a:noFill/>
          <a:ln w="12700">
            <a:solidFill>
              <a:srgbClr val="7D8894"/>
            </a:solidFill>
            <a:prstDash val="dash"/>
          </a:ln>
        </p:spPr>
      </p:sp>
      <p:sp>
        <p:nvSpPr>
          <p:cNvPr id="13" name="Shape 11"/>
          <p:cNvSpPr/>
          <p:nvPr/>
        </p:nvSpPr>
        <p:spPr>
          <a:xfrm>
            <a:off x="1111250" y="5264100"/>
            <a:ext cx="241300" cy="114300"/>
          </a:xfrm>
          <a:prstGeom prst="rect">
            <a:avLst/>
          </a:prstGeom>
          <a:noFill/>
          <a:ln w="12700">
            <a:solidFill>
              <a:srgbClr val="7D8894"/>
            </a:solidFill>
            <a:prstDash val="dash"/>
          </a:ln>
        </p:spPr>
      </p:sp>
      <p:sp>
        <p:nvSpPr>
          <p:cNvPr id="14" name="Shape 12"/>
          <p:cNvSpPr/>
          <p:nvPr/>
        </p:nvSpPr>
        <p:spPr>
          <a:xfrm>
            <a:off x="1397000" y="3905200"/>
            <a:ext cx="254000" cy="1479550"/>
          </a:xfrm>
          <a:prstGeom prst="rect">
            <a:avLst/>
          </a:prstGeom>
          <a:solidFill>
            <a:srgbClr val="06B050">
              <a:alpha val="40000"/>
            </a:srgbClr>
          </a:solidFill>
          <a:ln/>
        </p:spPr>
      </p:sp>
      <p:sp>
        <p:nvSpPr>
          <p:cNvPr id="15" name="Shape 13"/>
          <p:cNvSpPr/>
          <p:nvPr/>
        </p:nvSpPr>
        <p:spPr>
          <a:xfrm>
            <a:off x="1689100" y="3905200"/>
            <a:ext cx="254000" cy="1479550"/>
          </a:xfrm>
          <a:prstGeom prst="rect">
            <a:avLst/>
          </a:prstGeom>
          <a:solidFill>
            <a:srgbClr val="06B050">
              <a:alpha val="40000"/>
            </a:srgbClr>
          </a:solidFill>
          <a:ln/>
        </p:spPr>
      </p:sp>
      <p:sp>
        <p:nvSpPr>
          <p:cNvPr id="16" name="Shape 14"/>
          <p:cNvSpPr/>
          <p:nvPr/>
        </p:nvSpPr>
        <p:spPr>
          <a:xfrm>
            <a:off x="1981200" y="3829000"/>
            <a:ext cx="254000" cy="1555750"/>
          </a:xfrm>
          <a:prstGeom prst="rect">
            <a:avLst/>
          </a:prstGeom>
          <a:solidFill>
            <a:srgbClr val="06B050">
              <a:alpha val="40000"/>
            </a:srgbClr>
          </a:solidFill>
          <a:ln/>
        </p:spPr>
      </p:sp>
      <p:sp>
        <p:nvSpPr>
          <p:cNvPr id="17" name="Shape 15"/>
          <p:cNvSpPr/>
          <p:nvPr/>
        </p:nvSpPr>
        <p:spPr>
          <a:xfrm>
            <a:off x="2273300" y="4451300"/>
            <a:ext cx="254000" cy="933450"/>
          </a:xfrm>
          <a:prstGeom prst="rect">
            <a:avLst/>
          </a:prstGeom>
          <a:solidFill>
            <a:srgbClr val="06B050"/>
          </a:solidFill>
          <a:ln/>
        </p:spPr>
      </p:sp>
      <p:sp>
        <p:nvSpPr>
          <p:cNvPr id="18" name="Shape 16"/>
          <p:cNvSpPr/>
          <p:nvPr/>
        </p:nvSpPr>
        <p:spPr>
          <a:xfrm>
            <a:off x="2565400" y="3905200"/>
            <a:ext cx="254000" cy="1479550"/>
          </a:xfrm>
          <a:prstGeom prst="rect">
            <a:avLst/>
          </a:prstGeom>
          <a:solidFill>
            <a:srgbClr val="06B050">
              <a:alpha val="40000"/>
            </a:srgbClr>
          </a:solidFill>
          <a:ln/>
        </p:spPr>
      </p:sp>
      <p:sp>
        <p:nvSpPr>
          <p:cNvPr id="19" name="Shape 17"/>
          <p:cNvSpPr/>
          <p:nvPr/>
        </p:nvSpPr>
        <p:spPr>
          <a:xfrm>
            <a:off x="2857500" y="3949650"/>
            <a:ext cx="254000" cy="1435100"/>
          </a:xfrm>
          <a:prstGeom prst="rect">
            <a:avLst/>
          </a:prstGeom>
          <a:solidFill>
            <a:srgbClr val="06B050">
              <a:alpha val="40000"/>
            </a:srgbClr>
          </a:solidFill>
          <a:ln/>
        </p:spPr>
      </p:sp>
      <p:sp>
        <p:nvSpPr>
          <p:cNvPr id="20" name="Shape 18"/>
          <p:cNvSpPr/>
          <p:nvPr/>
        </p:nvSpPr>
        <p:spPr>
          <a:xfrm>
            <a:off x="3155950" y="5264100"/>
            <a:ext cx="241300" cy="114300"/>
          </a:xfrm>
          <a:prstGeom prst="rect">
            <a:avLst/>
          </a:prstGeom>
          <a:noFill/>
          <a:ln w="12700">
            <a:solidFill>
              <a:srgbClr val="7D8894"/>
            </a:solidFill>
            <a:prstDash val="dash"/>
          </a:ln>
        </p:spPr>
      </p:sp>
      <p:sp>
        <p:nvSpPr>
          <p:cNvPr id="21" name="Shape 19"/>
          <p:cNvSpPr/>
          <p:nvPr/>
        </p:nvSpPr>
        <p:spPr>
          <a:xfrm>
            <a:off x="3448050" y="5264100"/>
            <a:ext cx="241300" cy="114300"/>
          </a:xfrm>
          <a:prstGeom prst="rect">
            <a:avLst/>
          </a:prstGeom>
          <a:noFill/>
          <a:ln w="12700">
            <a:solidFill>
              <a:srgbClr val="7D8894"/>
            </a:solidFill>
            <a:prstDash val="dash"/>
          </a:ln>
        </p:spPr>
      </p:sp>
      <p:sp>
        <p:nvSpPr>
          <p:cNvPr id="22" name="Shape 20"/>
          <p:cNvSpPr/>
          <p:nvPr/>
        </p:nvSpPr>
        <p:spPr>
          <a:xfrm>
            <a:off x="3733800" y="3733750"/>
            <a:ext cx="254000" cy="1651000"/>
          </a:xfrm>
          <a:prstGeom prst="rect">
            <a:avLst/>
          </a:prstGeom>
          <a:solidFill>
            <a:srgbClr val="06B050">
              <a:alpha val="40000"/>
            </a:srgbClr>
          </a:solidFill>
          <a:ln/>
        </p:spPr>
      </p:sp>
      <p:sp>
        <p:nvSpPr>
          <p:cNvPr id="23" name="Shape 21"/>
          <p:cNvSpPr/>
          <p:nvPr/>
        </p:nvSpPr>
        <p:spPr>
          <a:xfrm>
            <a:off x="4025900" y="3987750"/>
            <a:ext cx="254000" cy="1397000"/>
          </a:xfrm>
          <a:prstGeom prst="rect">
            <a:avLst/>
          </a:prstGeom>
          <a:solidFill>
            <a:srgbClr val="06B050">
              <a:alpha val="40000"/>
            </a:srgbClr>
          </a:solidFill>
          <a:ln/>
        </p:spPr>
      </p:sp>
      <p:sp>
        <p:nvSpPr>
          <p:cNvPr id="24" name="Shape 22"/>
          <p:cNvSpPr/>
          <p:nvPr/>
        </p:nvSpPr>
        <p:spPr>
          <a:xfrm>
            <a:off x="4318000" y="3778200"/>
            <a:ext cx="254000" cy="1606550"/>
          </a:xfrm>
          <a:prstGeom prst="rect">
            <a:avLst/>
          </a:prstGeom>
          <a:solidFill>
            <a:srgbClr val="06B050">
              <a:alpha val="40000"/>
            </a:srgbClr>
          </a:solidFill>
          <a:ln/>
        </p:spPr>
      </p:sp>
      <p:sp>
        <p:nvSpPr>
          <p:cNvPr id="25" name="Shape 23"/>
          <p:cNvSpPr/>
          <p:nvPr/>
        </p:nvSpPr>
        <p:spPr>
          <a:xfrm>
            <a:off x="4610100" y="3886150"/>
            <a:ext cx="254000" cy="1498600"/>
          </a:xfrm>
          <a:prstGeom prst="rect">
            <a:avLst/>
          </a:prstGeom>
          <a:solidFill>
            <a:srgbClr val="06B050">
              <a:alpha val="40000"/>
            </a:srgbClr>
          </a:solidFill>
          <a:ln/>
        </p:spPr>
      </p:sp>
      <p:sp>
        <p:nvSpPr>
          <p:cNvPr id="26" name="Shape 24"/>
          <p:cNvSpPr/>
          <p:nvPr/>
        </p:nvSpPr>
        <p:spPr>
          <a:xfrm>
            <a:off x="4902200" y="3892500"/>
            <a:ext cx="254000" cy="1492250"/>
          </a:xfrm>
          <a:prstGeom prst="rect">
            <a:avLst/>
          </a:prstGeom>
          <a:solidFill>
            <a:srgbClr val="06B050">
              <a:alpha val="40000"/>
            </a:srgbClr>
          </a:solidFill>
          <a:ln/>
        </p:spPr>
      </p:sp>
      <p:sp>
        <p:nvSpPr>
          <p:cNvPr id="27" name="Shape 25"/>
          <p:cNvSpPr/>
          <p:nvPr/>
        </p:nvSpPr>
        <p:spPr>
          <a:xfrm>
            <a:off x="5194300" y="3759150"/>
            <a:ext cx="254000" cy="1625600"/>
          </a:xfrm>
          <a:prstGeom prst="rect">
            <a:avLst/>
          </a:prstGeom>
          <a:solidFill>
            <a:srgbClr val="06B050">
              <a:alpha val="40000"/>
            </a:srgbClr>
          </a:solidFill>
          <a:ln/>
        </p:spPr>
      </p:sp>
      <p:sp>
        <p:nvSpPr>
          <p:cNvPr id="28" name="Shape 26"/>
          <p:cNvSpPr/>
          <p:nvPr/>
        </p:nvSpPr>
        <p:spPr>
          <a:xfrm>
            <a:off x="5486400" y="3886150"/>
            <a:ext cx="254000" cy="1498600"/>
          </a:xfrm>
          <a:prstGeom prst="rect">
            <a:avLst/>
          </a:prstGeom>
          <a:solidFill>
            <a:srgbClr val="06B050">
              <a:alpha val="40000"/>
            </a:srgbClr>
          </a:solidFill>
          <a:ln/>
        </p:spPr>
      </p:sp>
      <p:sp>
        <p:nvSpPr>
          <p:cNvPr id="29" name="Shape 27"/>
          <p:cNvSpPr/>
          <p:nvPr/>
        </p:nvSpPr>
        <p:spPr>
          <a:xfrm>
            <a:off x="5778500" y="3892500"/>
            <a:ext cx="254000" cy="1492250"/>
          </a:xfrm>
          <a:prstGeom prst="rect">
            <a:avLst/>
          </a:prstGeom>
          <a:solidFill>
            <a:srgbClr val="06B050">
              <a:alpha val="40000"/>
            </a:srgbClr>
          </a:solidFill>
          <a:ln/>
        </p:spPr>
      </p:sp>
      <p:sp>
        <p:nvSpPr>
          <p:cNvPr id="30" name="Shape 28"/>
          <p:cNvSpPr/>
          <p:nvPr/>
        </p:nvSpPr>
        <p:spPr>
          <a:xfrm>
            <a:off x="6070600" y="4025850"/>
            <a:ext cx="254000" cy="1358900"/>
          </a:xfrm>
          <a:prstGeom prst="rect">
            <a:avLst/>
          </a:prstGeom>
          <a:solidFill>
            <a:srgbClr val="06B050">
              <a:alpha val="40000"/>
            </a:srgbClr>
          </a:solidFill>
          <a:ln/>
        </p:spPr>
      </p:sp>
      <p:sp>
        <p:nvSpPr>
          <p:cNvPr id="31" name="Shape 29"/>
          <p:cNvSpPr/>
          <p:nvPr/>
        </p:nvSpPr>
        <p:spPr>
          <a:xfrm>
            <a:off x="6362700" y="3867100"/>
            <a:ext cx="254000" cy="1517650"/>
          </a:xfrm>
          <a:prstGeom prst="rect">
            <a:avLst/>
          </a:prstGeom>
          <a:solidFill>
            <a:srgbClr val="06B050">
              <a:alpha val="40000"/>
            </a:srgbClr>
          </a:solidFill>
          <a:ln/>
        </p:spPr>
      </p:sp>
      <p:sp>
        <p:nvSpPr>
          <p:cNvPr id="32" name="Shape 30"/>
          <p:cNvSpPr/>
          <p:nvPr/>
        </p:nvSpPr>
        <p:spPr>
          <a:xfrm>
            <a:off x="6654800" y="3911550"/>
            <a:ext cx="254000" cy="1473200"/>
          </a:xfrm>
          <a:prstGeom prst="rect">
            <a:avLst/>
          </a:prstGeom>
          <a:solidFill>
            <a:srgbClr val="06B050">
              <a:alpha val="40000"/>
            </a:srgbClr>
          </a:solidFill>
          <a:ln/>
        </p:spPr>
      </p:sp>
      <p:sp>
        <p:nvSpPr>
          <p:cNvPr id="33" name="Shape 31"/>
          <p:cNvSpPr/>
          <p:nvPr/>
        </p:nvSpPr>
        <p:spPr>
          <a:xfrm>
            <a:off x="6946900" y="3829000"/>
            <a:ext cx="254000" cy="1555750"/>
          </a:xfrm>
          <a:prstGeom prst="rect">
            <a:avLst/>
          </a:prstGeom>
          <a:solidFill>
            <a:srgbClr val="06B050">
              <a:alpha val="40000"/>
            </a:srgbClr>
          </a:solidFill>
          <a:ln/>
        </p:spPr>
      </p:sp>
      <p:sp>
        <p:nvSpPr>
          <p:cNvPr id="34" name="Shape 32"/>
          <p:cNvSpPr/>
          <p:nvPr/>
        </p:nvSpPr>
        <p:spPr>
          <a:xfrm>
            <a:off x="7239000" y="4387800"/>
            <a:ext cx="254000" cy="996950"/>
          </a:xfrm>
          <a:prstGeom prst="rect">
            <a:avLst/>
          </a:prstGeom>
          <a:solidFill>
            <a:srgbClr val="06B050"/>
          </a:solidFill>
          <a:ln/>
        </p:spPr>
      </p:sp>
      <p:sp>
        <p:nvSpPr>
          <p:cNvPr id="35" name="Shape 33"/>
          <p:cNvSpPr/>
          <p:nvPr/>
        </p:nvSpPr>
        <p:spPr>
          <a:xfrm>
            <a:off x="7531100" y="3943300"/>
            <a:ext cx="254000" cy="1441450"/>
          </a:xfrm>
          <a:prstGeom prst="rect">
            <a:avLst/>
          </a:prstGeom>
          <a:solidFill>
            <a:srgbClr val="06B050">
              <a:alpha val="40000"/>
            </a:srgbClr>
          </a:solidFill>
          <a:ln/>
        </p:spPr>
      </p:sp>
      <p:sp>
        <p:nvSpPr>
          <p:cNvPr id="36" name="Shape 34"/>
          <p:cNvSpPr/>
          <p:nvPr/>
        </p:nvSpPr>
        <p:spPr>
          <a:xfrm>
            <a:off x="7823200" y="4006800"/>
            <a:ext cx="254000" cy="1377950"/>
          </a:xfrm>
          <a:prstGeom prst="rect">
            <a:avLst/>
          </a:prstGeom>
          <a:solidFill>
            <a:srgbClr val="06B050">
              <a:alpha val="40000"/>
            </a:srgbClr>
          </a:solidFill>
          <a:ln/>
        </p:spPr>
      </p:sp>
      <p:sp>
        <p:nvSpPr>
          <p:cNvPr id="37" name="Shape 35"/>
          <p:cNvSpPr/>
          <p:nvPr/>
        </p:nvSpPr>
        <p:spPr>
          <a:xfrm>
            <a:off x="8115300" y="3886150"/>
            <a:ext cx="254000" cy="1498600"/>
          </a:xfrm>
          <a:prstGeom prst="rect">
            <a:avLst/>
          </a:prstGeom>
          <a:solidFill>
            <a:srgbClr val="06B050">
              <a:alpha val="40000"/>
            </a:srgbClr>
          </a:solidFill>
          <a:ln/>
        </p:spPr>
      </p:sp>
      <p:sp>
        <p:nvSpPr>
          <p:cNvPr id="38" name="Shape 36"/>
          <p:cNvSpPr/>
          <p:nvPr/>
        </p:nvSpPr>
        <p:spPr>
          <a:xfrm>
            <a:off x="8407400" y="3867100"/>
            <a:ext cx="254000" cy="1517650"/>
          </a:xfrm>
          <a:prstGeom prst="rect">
            <a:avLst/>
          </a:prstGeom>
          <a:solidFill>
            <a:srgbClr val="06B050">
              <a:alpha val="40000"/>
            </a:srgbClr>
          </a:solidFill>
          <a:ln/>
        </p:spPr>
      </p:sp>
      <p:sp>
        <p:nvSpPr>
          <p:cNvPr id="39" name="Shape 37"/>
          <p:cNvSpPr/>
          <p:nvPr/>
        </p:nvSpPr>
        <p:spPr>
          <a:xfrm>
            <a:off x="8699500" y="3867100"/>
            <a:ext cx="254000" cy="1517650"/>
          </a:xfrm>
          <a:prstGeom prst="rect">
            <a:avLst/>
          </a:prstGeom>
          <a:solidFill>
            <a:srgbClr val="06B050">
              <a:alpha val="40000"/>
            </a:srgbClr>
          </a:solidFill>
          <a:ln/>
        </p:spPr>
      </p:sp>
      <p:sp>
        <p:nvSpPr>
          <p:cNvPr id="40" name="Shape 38"/>
          <p:cNvSpPr/>
          <p:nvPr/>
        </p:nvSpPr>
        <p:spPr>
          <a:xfrm>
            <a:off x="8991600" y="3835350"/>
            <a:ext cx="254000" cy="1549400"/>
          </a:xfrm>
          <a:prstGeom prst="rect">
            <a:avLst/>
          </a:prstGeom>
          <a:solidFill>
            <a:srgbClr val="06B050">
              <a:alpha val="40000"/>
            </a:srgbClr>
          </a:solidFill>
          <a:ln/>
        </p:spPr>
      </p:sp>
      <p:sp>
        <p:nvSpPr>
          <p:cNvPr id="41" name="Shape 39"/>
          <p:cNvSpPr/>
          <p:nvPr/>
        </p:nvSpPr>
        <p:spPr>
          <a:xfrm>
            <a:off x="9283700" y="3835350"/>
            <a:ext cx="254000" cy="1549400"/>
          </a:xfrm>
          <a:prstGeom prst="rect">
            <a:avLst/>
          </a:prstGeom>
          <a:solidFill>
            <a:srgbClr val="06B050">
              <a:alpha val="40000"/>
            </a:srgbClr>
          </a:solidFill>
          <a:ln/>
        </p:spPr>
      </p:sp>
      <p:sp>
        <p:nvSpPr>
          <p:cNvPr id="42" name="Shape 40"/>
          <p:cNvSpPr/>
          <p:nvPr/>
        </p:nvSpPr>
        <p:spPr>
          <a:xfrm>
            <a:off x="9575800" y="3981400"/>
            <a:ext cx="254000" cy="1403350"/>
          </a:xfrm>
          <a:prstGeom prst="rect">
            <a:avLst/>
          </a:prstGeom>
          <a:solidFill>
            <a:srgbClr val="06B050">
              <a:alpha val="40000"/>
            </a:srgbClr>
          </a:solidFill>
          <a:ln/>
        </p:spPr>
      </p:sp>
      <p:sp>
        <p:nvSpPr>
          <p:cNvPr id="43" name="Shape 41"/>
          <p:cNvSpPr/>
          <p:nvPr/>
        </p:nvSpPr>
        <p:spPr>
          <a:xfrm>
            <a:off x="9867900" y="3943300"/>
            <a:ext cx="254000" cy="1441450"/>
          </a:xfrm>
          <a:prstGeom prst="rect">
            <a:avLst/>
          </a:prstGeom>
          <a:solidFill>
            <a:srgbClr val="06B050">
              <a:alpha val="40000"/>
            </a:srgbClr>
          </a:solidFill>
          <a:ln/>
        </p:spPr>
      </p:sp>
      <p:sp>
        <p:nvSpPr>
          <p:cNvPr id="44" name="Shape 42"/>
          <p:cNvSpPr/>
          <p:nvPr/>
        </p:nvSpPr>
        <p:spPr>
          <a:xfrm>
            <a:off x="10160000" y="3917900"/>
            <a:ext cx="254000" cy="1466850"/>
          </a:xfrm>
          <a:prstGeom prst="rect">
            <a:avLst/>
          </a:prstGeom>
          <a:solidFill>
            <a:srgbClr val="06B050">
              <a:alpha val="40000"/>
            </a:srgbClr>
          </a:solidFill>
          <a:ln/>
        </p:spPr>
      </p:sp>
      <p:sp>
        <p:nvSpPr>
          <p:cNvPr id="45" name="Shape 43"/>
          <p:cNvSpPr/>
          <p:nvPr/>
        </p:nvSpPr>
        <p:spPr>
          <a:xfrm>
            <a:off x="10452100" y="3930600"/>
            <a:ext cx="254000" cy="1454150"/>
          </a:xfrm>
          <a:prstGeom prst="rect">
            <a:avLst/>
          </a:prstGeom>
          <a:solidFill>
            <a:srgbClr val="06B050">
              <a:alpha val="40000"/>
            </a:srgbClr>
          </a:solidFill>
          <a:ln/>
        </p:spPr>
      </p:sp>
      <p:sp>
        <p:nvSpPr>
          <p:cNvPr id="46" name="Shape 44"/>
          <p:cNvSpPr/>
          <p:nvPr/>
        </p:nvSpPr>
        <p:spPr>
          <a:xfrm>
            <a:off x="10744200" y="3873450"/>
            <a:ext cx="254000" cy="1511300"/>
          </a:xfrm>
          <a:prstGeom prst="rect">
            <a:avLst/>
          </a:prstGeom>
          <a:solidFill>
            <a:srgbClr val="06B050">
              <a:alpha val="40000"/>
            </a:srgbClr>
          </a:solidFill>
          <a:ln/>
        </p:spPr>
      </p:sp>
      <p:sp>
        <p:nvSpPr>
          <p:cNvPr id="47" name="Shape 45"/>
          <p:cNvSpPr/>
          <p:nvPr/>
        </p:nvSpPr>
        <p:spPr>
          <a:xfrm>
            <a:off x="11036300" y="3867100"/>
            <a:ext cx="254000" cy="1517650"/>
          </a:xfrm>
          <a:prstGeom prst="rect">
            <a:avLst/>
          </a:prstGeom>
          <a:solidFill>
            <a:srgbClr val="06B050">
              <a:alpha val="40000"/>
            </a:srgbClr>
          </a:solidFill>
          <a:ln/>
        </p:spPr>
      </p:sp>
      <p:sp>
        <p:nvSpPr>
          <p:cNvPr id="48" name="Shape 46"/>
          <p:cNvSpPr/>
          <p:nvPr/>
        </p:nvSpPr>
        <p:spPr>
          <a:xfrm>
            <a:off x="812800" y="3924250"/>
            <a:ext cx="10477500" cy="0"/>
          </a:xfrm>
          <a:prstGeom prst="line">
            <a:avLst/>
          </a:prstGeom>
          <a:noFill/>
          <a:ln w="12700">
            <a:solidFill>
              <a:srgbClr val="A9B4BF"/>
            </a:solidFill>
            <a:prstDash val="dash"/>
          </a:ln>
        </p:spPr>
      </p:sp>
      <p:sp>
        <p:nvSpPr>
          <p:cNvPr id="49" name="Shape 47"/>
          <p:cNvSpPr/>
          <p:nvPr/>
        </p:nvSpPr>
        <p:spPr>
          <a:xfrm>
            <a:off x="2393950" y="3721050"/>
            <a:ext cx="12700" cy="704850"/>
          </a:xfrm>
          <a:prstGeom prst="rect">
            <a:avLst/>
          </a:prstGeom>
          <a:solidFill>
            <a:srgbClr val="7D8894"/>
          </a:solidFill>
          <a:ln/>
        </p:spPr>
      </p:sp>
      <p:sp>
        <p:nvSpPr>
          <p:cNvPr id="50" name="Shape 48"/>
          <p:cNvSpPr/>
          <p:nvPr/>
        </p:nvSpPr>
        <p:spPr>
          <a:xfrm>
            <a:off x="7359650" y="3721050"/>
            <a:ext cx="12700" cy="641350"/>
          </a:xfrm>
          <a:prstGeom prst="rect">
            <a:avLst/>
          </a:prstGeom>
          <a:solidFill>
            <a:srgbClr val="7D8894"/>
          </a:solidFill>
          <a:ln/>
        </p:spPr>
      </p:sp>
      <p:sp>
        <p:nvSpPr>
          <p:cNvPr id="51" name="Text 49"/>
          <p:cNvSpPr/>
          <p:nvPr/>
        </p:nvSpPr>
        <p:spPr>
          <a:xfrm>
            <a:off x="2089150" y="3517850"/>
            <a:ext cx="6223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2.00%</a:t>
            </a:r>
            <a:endParaRPr lang="en-US" sz="1200" dirty="0"/>
          </a:p>
        </p:txBody>
      </p:sp>
      <p:sp>
        <p:nvSpPr>
          <p:cNvPr id="52" name="Text 50"/>
          <p:cNvSpPr/>
          <p:nvPr/>
        </p:nvSpPr>
        <p:spPr>
          <a:xfrm>
            <a:off x="7054850" y="3517850"/>
            <a:ext cx="6223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2.13%</a:t>
            </a:r>
            <a:endParaRPr lang="en-US" sz="1200" dirty="0"/>
          </a:p>
        </p:txBody>
      </p:sp>
      <p:sp>
        <p:nvSpPr>
          <p:cNvPr id="53" name="Text 51"/>
          <p:cNvSpPr/>
          <p:nvPr/>
        </p:nvSpPr>
        <p:spPr>
          <a:xfrm>
            <a:off x="787400" y="5041850"/>
            <a:ext cx="5969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Arial" pitchFamily="34" charset="0"/>
                <a:ea typeface="Arial" pitchFamily="34" charset="-122"/>
                <a:cs typeface="Arial" pitchFamily="34" charset="-120"/>
              </a:rPr>
              <a:t>なし</a:t>
            </a:r>
            <a:endParaRPr lang="en-US" sz="1200" dirty="0"/>
          </a:p>
        </p:txBody>
      </p:sp>
      <p:sp>
        <p:nvSpPr>
          <p:cNvPr id="54" name="Text 52"/>
          <p:cNvSpPr/>
          <p:nvPr/>
        </p:nvSpPr>
        <p:spPr>
          <a:xfrm>
            <a:off x="3124200" y="5041850"/>
            <a:ext cx="5969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Arial" pitchFamily="34" charset="0"/>
                <a:ea typeface="Arial" pitchFamily="34" charset="-122"/>
                <a:cs typeface="Arial" pitchFamily="34" charset="-120"/>
              </a:rPr>
              <a:t>なし</a:t>
            </a:r>
            <a:endParaRPr lang="en-US" sz="1200" dirty="0"/>
          </a:p>
        </p:txBody>
      </p:sp>
      <p:sp>
        <p:nvSpPr>
          <p:cNvPr id="55" name="Shape 53"/>
          <p:cNvSpPr/>
          <p:nvPr/>
        </p:nvSpPr>
        <p:spPr>
          <a:xfrm>
            <a:off x="9321800" y="3619450"/>
            <a:ext cx="355600" cy="0"/>
          </a:xfrm>
          <a:prstGeom prst="line">
            <a:avLst/>
          </a:prstGeom>
          <a:noFill/>
          <a:ln w="12700">
            <a:solidFill>
              <a:srgbClr val="A9B4BF"/>
            </a:solidFill>
            <a:prstDash val="dash"/>
          </a:ln>
        </p:spPr>
      </p:sp>
      <p:sp>
        <p:nvSpPr>
          <p:cNvPr id="56" name="Text 54"/>
          <p:cNvSpPr/>
          <p:nvPr/>
        </p:nvSpPr>
        <p:spPr>
          <a:xfrm>
            <a:off x="9779000" y="3517850"/>
            <a:ext cx="15621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均等なら3.1%</a:t>
            </a:r>
            <a:endParaRPr lang="en-US" sz="1200" dirty="0"/>
          </a:p>
        </p:txBody>
      </p:sp>
      <p:sp>
        <p:nvSpPr>
          <p:cNvPr id="57" name="Text 55"/>
          <p:cNvSpPr/>
          <p:nvPr/>
        </p:nvSpPr>
        <p:spPr>
          <a:xfrm>
            <a:off x="7874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0</a:t>
            </a:r>
            <a:endParaRPr lang="en-US" sz="1200" dirty="0"/>
          </a:p>
        </p:txBody>
      </p:sp>
      <p:sp>
        <p:nvSpPr>
          <p:cNvPr id="58" name="Text 56"/>
          <p:cNvSpPr/>
          <p:nvPr/>
        </p:nvSpPr>
        <p:spPr>
          <a:xfrm>
            <a:off x="10795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59" name="Text 57"/>
          <p:cNvSpPr/>
          <p:nvPr/>
        </p:nvSpPr>
        <p:spPr>
          <a:xfrm>
            <a:off x="13716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2</a:t>
            </a:r>
            <a:endParaRPr lang="en-US" sz="1200" dirty="0"/>
          </a:p>
        </p:txBody>
      </p:sp>
      <p:sp>
        <p:nvSpPr>
          <p:cNvPr id="60" name="Text 58"/>
          <p:cNvSpPr/>
          <p:nvPr/>
        </p:nvSpPr>
        <p:spPr>
          <a:xfrm>
            <a:off x="16637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3</a:t>
            </a:r>
            <a:endParaRPr lang="en-US" sz="1200" dirty="0"/>
          </a:p>
        </p:txBody>
      </p:sp>
      <p:sp>
        <p:nvSpPr>
          <p:cNvPr id="61" name="Text 59"/>
          <p:cNvSpPr/>
          <p:nvPr/>
        </p:nvSpPr>
        <p:spPr>
          <a:xfrm>
            <a:off x="19558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4</a:t>
            </a:r>
            <a:endParaRPr lang="en-US" sz="1200" dirty="0"/>
          </a:p>
        </p:txBody>
      </p:sp>
      <p:sp>
        <p:nvSpPr>
          <p:cNvPr id="62" name="Text 60"/>
          <p:cNvSpPr/>
          <p:nvPr/>
        </p:nvSpPr>
        <p:spPr>
          <a:xfrm>
            <a:off x="22479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06B050"/>
                </a:solidFill>
                <a:latin typeface="Courier New" pitchFamily="49" charset="0"/>
                <a:ea typeface="Courier New" pitchFamily="49" charset="-122"/>
                <a:cs typeface="Courier New" pitchFamily="49" charset="-120"/>
              </a:rPr>
              <a:t>5</a:t>
            </a:r>
            <a:endParaRPr lang="en-US" sz="1200" dirty="0"/>
          </a:p>
        </p:txBody>
      </p:sp>
      <p:sp>
        <p:nvSpPr>
          <p:cNvPr id="63" name="Text 61"/>
          <p:cNvSpPr/>
          <p:nvPr/>
        </p:nvSpPr>
        <p:spPr>
          <a:xfrm>
            <a:off x="25400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6</a:t>
            </a:r>
            <a:endParaRPr lang="en-US" sz="1200" dirty="0"/>
          </a:p>
        </p:txBody>
      </p:sp>
      <p:sp>
        <p:nvSpPr>
          <p:cNvPr id="64" name="Text 62"/>
          <p:cNvSpPr/>
          <p:nvPr/>
        </p:nvSpPr>
        <p:spPr>
          <a:xfrm>
            <a:off x="28321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7</a:t>
            </a:r>
            <a:endParaRPr lang="en-US" sz="1200" dirty="0"/>
          </a:p>
        </p:txBody>
      </p:sp>
      <p:sp>
        <p:nvSpPr>
          <p:cNvPr id="65" name="Text 63"/>
          <p:cNvSpPr/>
          <p:nvPr/>
        </p:nvSpPr>
        <p:spPr>
          <a:xfrm>
            <a:off x="31242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8</a:t>
            </a:r>
            <a:endParaRPr lang="en-US" sz="1200" dirty="0"/>
          </a:p>
        </p:txBody>
      </p:sp>
      <p:sp>
        <p:nvSpPr>
          <p:cNvPr id="66" name="Text 64"/>
          <p:cNvSpPr/>
          <p:nvPr/>
        </p:nvSpPr>
        <p:spPr>
          <a:xfrm>
            <a:off x="34163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67" name="Text 65"/>
          <p:cNvSpPr/>
          <p:nvPr/>
        </p:nvSpPr>
        <p:spPr>
          <a:xfrm>
            <a:off x="37084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A</a:t>
            </a:r>
            <a:endParaRPr lang="en-US" sz="1200" dirty="0"/>
          </a:p>
        </p:txBody>
      </p:sp>
      <p:sp>
        <p:nvSpPr>
          <p:cNvPr id="68" name="Text 66"/>
          <p:cNvSpPr/>
          <p:nvPr/>
        </p:nvSpPr>
        <p:spPr>
          <a:xfrm>
            <a:off x="40005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B</a:t>
            </a:r>
            <a:endParaRPr lang="en-US" sz="1200" dirty="0"/>
          </a:p>
        </p:txBody>
      </p:sp>
      <p:sp>
        <p:nvSpPr>
          <p:cNvPr id="69" name="Text 67"/>
          <p:cNvSpPr/>
          <p:nvPr/>
        </p:nvSpPr>
        <p:spPr>
          <a:xfrm>
            <a:off x="42926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C</a:t>
            </a:r>
            <a:endParaRPr lang="en-US" sz="1200" dirty="0"/>
          </a:p>
        </p:txBody>
      </p:sp>
      <p:sp>
        <p:nvSpPr>
          <p:cNvPr id="70" name="Text 68"/>
          <p:cNvSpPr/>
          <p:nvPr/>
        </p:nvSpPr>
        <p:spPr>
          <a:xfrm>
            <a:off x="45847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D</a:t>
            </a:r>
            <a:endParaRPr lang="en-US" sz="1200" dirty="0"/>
          </a:p>
        </p:txBody>
      </p:sp>
      <p:sp>
        <p:nvSpPr>
          <p:cNvPr id="71" name="Text 69"/>
          <p:cNvSpPr/>
          <p:nvPr/>
        </p:nvSpPr>
        <p:spPr>
          <a:xfrm>
            <a:off x="48768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E</a:t>
            </a:r>
            <a:endParaRPr lang="en-US" sz="1200" dirty="0"/>
          </a:p>
        </p:txBody>
      </p:sp>
      <p:sp>
        <p:nvSpPr>
          <p:cNvPr id="72" name="Text 70"/>
          <p:cNvSpPr/>
          <p:nvPr/>
        </p:nvSpPr>
        <p:spPr>
          <a:xfrm>
            <a:off x="51689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F</a:t>
            </a:r>
            <a:endParaRPr lang="en-US" sz="1200" dirty="0"/>
          </a:p>
        </p:txBody>
      </p:sp>
      <p:sp>
        <p:nvSpPr>
          <p:cNvPr id="73" name="Text 71"/>
          <p:cNvSpPr/>
          <p:nvPr/>
        </p:nvSpPr>
        <p:spPr>
          <a:xfrm>
            <a:off x="54610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G</a:t>
            </a:r>
            <a:endParaRPr lang="en-US" sz="1200" dirty="0"/>
          </a:p>
        </p:txBody>
      </p:sp>
      <p:sp>
        <p:nvSpPr>
          <p:cNvPr id="74" name="Text 72"/>
          <p:cNvSpPr/>
          <p:nvPr/>
        </p:nvSpPr>
        <p:spPr>
          <a:xfrm>
            <a:off x="57531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H</a:t>
            </a:r>
            <a:endParaRPr lang="en-US" sz="1200" dirty="0"/>
          </a:p>
        </p:txBody>
      </p:sp>
      <p:sp>
        <p:nvSpPr>
          <p:cNvPr id="75" name="Text 73"/>
          <p:cNvSpPr/>
          <p:nvPr/>
        </p:nvSpPr>
        <p:spPr>
          <a:xfrm>
            <a:off x="60452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I</a:t>
            </a:r>
            <a:endParaRPr lang="en-US" sz="1200" dirty="0"/>
          </a:p>
        </p:txBody>
      </p:sp>
      <p:sp>
        <p:nvSpPr>
          <p:cNvPr id="76" name="Text 74"/>
          <p:cNvSpPr/>
          <p:nvPr/>
        </p:nvSpPr>
        <p:spPr>
          <a:xfrm>
            <a:off x="63373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J</a:t>
            </a:r>
            <a:endParaRPr lang="en-US" sz="1200" dirty="0"/>
          </a:p>
        </p:txBody>
      </p:sp>
      <p:sp>
        <p:nvSpPr>
          <p:cNvPr id="77" name="Text 75"/>
          <p:cNvSpPr/>
          <p:nvPr/>
        </p:nvSpPr>
        <p:spPr>
          <a:xfrm>
            <a:off x="66294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K</a:t>
            </a:r>
            <a:endParaRPr lang="en-US" sz="1200" dirty="0"/>
          </a:p>
        </p:txBody>
      </p:sp>
      <p:sp>
        <p:nvSpPr>
          <p:cNvPr id="78" name="Text 76"/>
          <p:cNvSpPr/>
          <p:nvPr/>
        </p:nvSpPr>
        <p:spPr>
          <a:xfrm>
            <a:off x="69215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L</a:t>
            </a:r>
            <a:endParaRPr lang="en-US" sz="1200" dirty="0"/>
          </a:p>
        </p:txBody>
      </p:sp>
      <p:sp>
        <p:nvSpPr>
          <p:cNvPr id="79" name="Text 77"/>
          <p:cNvSpPr/>
          <p:nvPr/>
        </p:nvSpPr>
        <p:spPr>
          <a:xfrm>
            <a:off x="72136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06B050"/>
                </a:solidFill>
                <a:latin typeface="Courier New" pitchFamily="49" charset="0"/>
                <a:ea typeface="Courier New" pitchFamily="49" charset="-122"/>
                <a:cs typeface="Courier New" pitchFamily="49" charset="-120"/>
              </a:rPr>
              <a:t>M</a:t>
            </a:r>
            <a:endParaRPr lang="en-US" sz="1200" dirty="0"/>
          </a:p>
        </p:txBody>
      </p:sp>
      <p:sp>
        <p:nvSpPr>
          <p:cNvPr id="80" name="Text 78"/>
          <p:cNvSpPr/>
          <p:nvPr/>
        </p:nvSpPr>
        <p:spPr>
          <a:xfrm>
            <a:off x="75057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N</a:t>
            </a:r>
            <a:endParaRPr lang="en-US" sz="1200" dirty="0"/>
          </a:p>
        </p:txBody>
      </p:sp>
      <p:sp>
        <p:nvSpPr>
          <p:cNvPr id="81" name="Text 79"/>
          <p:cNvSpPr/>
          <p:nvPr/>
        </p:nvSpPr>
        <p:spPr>
          <a:xfrm>
            <a:off x="77978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O</a:t>
            </a:r>
            <a:endParaRPr lang="en-US" sz="1200" dirty="0"/>
          </a:p>
        </p:txBody>
      </p:sp>
      <p:sp>
        <p:nvSpPr>
          <p:cNvPr id="82" name="Text 80"/>
          <p:cNvSpPr/>
          <p:nvPr/>
        </p:nvSpPr>
        <p:spPr>
          <a:xfrm>
            <a:off x="80899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P</a:t>
            </a:r>
            <a:endParaRPr lang="en-US" sz="1200" dirty="0"/>
          </a:p>
        </p:txBody>
      </p:sp>
      <p:sp>
        <p:nvSpPr>
          <p:cNvPr id="83" name="Text 81"/>
          <p:cNvSpPr/>
          <p:nvPr/>
        </p:nvSpPr>
        <p:spPr>
          <a:xfrm>
            <a:off x="83820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Q</a:t>
            </a:r>
            <a:endParaRPr lang="en-US" sz="1200" dirty="0"/>
          </a:p>
        </p:txBody>
      </p:sp>
      <p:sp>
        <p:nvSpPr>
          <p:cNvPr id="84" name="Text 82"/>
          <p:cNvSpPr/>
          <p:nvPr/>
        </p:nvSpPr>
        <p:spPr>
          <a:xfrm>
            <a:off x="86741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R</a:t>
            </a:r>
            <a:endParaRPr lang="en-US" sz="1200" dirty="0"/>
          </a:p>
        </p:txBody>
      </p:sp>
      <p:sp>
        <p:nvSpPr>
          <p:cNvPr id="85" name="Text 83"/>
          <p:cNvSpPr/>
          <p:nvPr/>
        </p:nvSpPr>
        <p:spPr>
          <a:xfrm>
            <a:off x="89662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S</a:t>
            </a:r>
            <a:endParaRPr lang="en-US" sz="1200" dirty="0"/>
          </a:p>
        </p:txBody>
      </p:sp>
      <p:sp>
        <p:nvSpPr>
          <p:cNvPr id="86" name="Text 84"/>
          <p:cNvSpPr/>
          <p:nvPr/>
        </p:nvSpPr>
        <p:spPr>
          <a:xfrm>
            <a:off x="92583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T</a:t>
            </a:r>
            <a:endParaRPr lang="en-US" sz="1200" dirty="0"/>
          </a:p>
        </p:txBody>
      </p:sp>
      <p:sp>
        <p:nvSpPr>
          <p:cNvPr id="87" name="Text 85"/>
          <p:cNvSpPr/>
          <p:nvPr/>
        </p:nvSpPr>
        <p:spPr>
          <a:xfrm>
            <a:off x="95504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U</a:t>
            </a:r>
            <a:endParaRPr lang="en-US" sz="1200" dirty="0"/>
          </a:p>
        </p:txBody>
      </p:sp>
      <p:sp>
        <p:nvSpPr>
          <p:cNvPr id="88" name="Text 86"/>
          <p:cNvSpPr/>
          <p:nvPr/>
        </p:nvSpPr>
        <p:spPr>
          <a:xfrm>
            <a:off x="98425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V</a:t>
            </a:r>
            <a:endParaRPr lang="en-US" sz="1200" dirty="0"/>
          </a:p>
        </p:txBody>
      </p:sp>
      <p:sp>
        <p:nvSpPr>
          <p:cNvPr id="89" name="Text 87"/>
          <p:cNvSpPr/>
          <p:nvPr/>
        </p:nvSpPr>
        <p:spPr>
          <a:xfrm>
            <a:off x="101346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W</a:t>
            </a:r>
            <a:endParaRPr lang="en-US" sz="1200" dirty="0"/>
          </a:p>
        </p:txBody>
      </p:sp>
      <p:sp>
        <p:nvSpPr>
          <p:cNvPr id="90" name="Text 88"/>
          <p:cNvSpPr/>
          <p:nvPr/>
        </p:nvSpPr>
        <p:spPr>
          <a:xfrm>
            <a:off x="104267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X</a:t>
            </a:r>
            <a:endParaRPr lang="en-US" sz="1200" dirty="0"/>
          </a:p>
        </p:txBody>
      </p:sp>
      <p:sp>
        <p:nvSpPr>
          <p:cNvPr id="91" name="Text 89"/>
          <p:cNvSpPr/>
          <p:nvPr/>
        </p:nvSpPr>
        <p:spPr>
          <a:xfrm>
            <a:off x="107188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Y</a:t>
            </a:r>
            <a:endParaRPr lang="en-US" sz="1200" dirty="0"/>
          </a:p>
        </p:txBody>
      </p:sp>
      <p:sp>
        <p:nvSpPr>
          <p:cNvPr id="92" name="Text 90"/>
          <p:cNvSpPr/>
          <p:nvPr/>
        </p:nvSpPr>
        <p:spPr>
          <a:xfrm>
            <a:off x="11010900" y="5435550"/>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Z</a:t>
            </a:r>
            <a:endParaRPr lang="en-US" sz="1200" dirty="0"/>
          </a:p>
        </p:txBody>
      </p:sp>
      <p:sp>
        <p:nvSpPr>
          <p:cNvPr id="93" name="Text 9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各文字の割合、一意な30文字・第1群のEAM 3,584件（FAQの図）</a:t>
            </a:r>
            <a:endParaRPr lang="en-US" sz="1200" dirty="0"/>
          </a:p>
        </p:txBody>
      </p:sp>
      <p:sp>
        <p:nvSpPr>
          <p:cNvPr id="94" name="Text 92"/>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背景</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サイトの土台</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記録</a:t>
            </a:r>
            <a:endParaRPr lang="en-US" sz="3600" dirty="0"/>
          </a:p>
        </p:txBody>
      </p:sp>
      <p:sp>
        <p:nvSpPr>
          <p:cNvPr id="4" name="Text 2"/>
          <p:cNvSpPr/>
          <p:nvPr/>
        </p:nvSpPr>
        <p:spPr>
          <a:xfrm>
            <a:off x="812800" y="1981150"/>
            <a:ext cx="340106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CC00"/>
                </a:solidFill>
                <a:latin typeface="Arial" pitchFamily="34" charset="0"/>
                <a:ea typeface="Arial" pitchFamily="34" charset="-122"/>
                <a:cs typeface="Arial" pitchFamily="34" charset="-120"/>
              </a:rPr>
              <a:t>15,277</a:t>
            </a:r>
            <a:endParaRPr lang="en-US" sz="8000" dirty="0"/>
          </a:p>
        </p:txBody>
      </p:sp>
      <p:sp>
        <p:nvSpPr>
          <p:cNvPr id="5" name="Text 3"/>
          <p:cNvSpPr/>
          <p:nvPr/>
        </p:nvSpPr>
        <p:spPr>
          <a:xfrm>
            <a:off x="812800" y="3047950"/>
            <a:ext cx="34010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件の放送、1,072日分の記録</a:t>
            </a:r>
            <a:endParaRPr lang="en-US" sz="1600" dirty="0"/>
          </a:p>
        </p:txBody>
      </p:sp>
      <p:sp>
        <p:nvSpPr>
          <p:cNvPr id="6" name="Shape 4"/>
          <p:cNvSpPr/>
          <p:nvPr/>
        </p:nvSpPr>
        <p:spPr>
          <a:xfrm>
            <a:off x="4521200" y="1984325"/>
            <a:ext cx="6858000" cy="0"/>
          </a:xfrm>
          <a:prstGeom prst="line">
            <a:avLst/>
          </a:prstGeom>
          <a:noFill/>
          <a:ln w="6350">
            <a:solidFill>
              <a:srgbClr val="222A35"/>
            </a:solidFill>
            <a:prstDash val="solid"/>
          </a:ln>
        </p:spPr>
      </p:sp>
      <p:sp>
        <p:nvSpPr>
          <p:cNvPr id="7" name="Text 5"/>
          <p:cNvSpPr/>
          <p:nvPr/>
        </p:nvSpPr>
        <p:spPr>
          <a:xfrm>
            <a:off x="4521200" y="2089100"/>
            <a:ext cx="7063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2022年1月25日〜2026年10月9日</a:t>
            </a:r>
            <a:endParaRPr lang="en-US" sz="1600" dirty="0"/>
          </a:p>
        </p:txBody>
      </p:sp>
      <p:sp>
        <p:nvSpPr>
          <p:cNvPr id="8" name="Shape 6"/>
          <p:cNvSpPr/>
          <p:nvPr/>
        </p:nvSpPr>
        <p:spPr>
          <a:xfrm>
            <a:off x="4521200" y="2498675"/>
            <a:ext cx="6858000" cy="0"/>
          </a:xfrm>
          <a:prstGeom prst="line">
            <a:avLst/>
          </a:prstGeom>
          <a:noFill/>
          <a:ln w="6350">
            <a:solidFill>
              <a:srgbClr val="222A35"/>
            </a:solidFill>
            <a:prstDash val="solid"/>
          </a:ln>
        </p:spPr>
      </p:sp>
      <p:sp>
        <p:nvSpPr>
          <p:cNvPr id="9" name="Text 7"/>
          <p:cNvSpPr/>
          <p:nvPr/>
        </p:nvSpPr>
        <p:spPr>
          <a:xfrm>
            <a:off x="4521200" y="2603450"/>
            <a:ext cx="7063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うち</a:t>
            </a:r>
            <a:r>
              <a:rPr lang="en-US" sz="1600" dirty="0">
                <a:solidFill>
                  <a:srgbClr val="FFCC00"/>
                </a:solidFill>
                <a:latin typeface="Arial" pitchFamily="34" charset="0"/>
                <a:ea typeface="Arial" pitchFamily="34" charset="-122"/>
                <a:cs typeface="Arial" pitchFamily="34" charset="-120"/>
              </a:rPr>
              <a:t>2,966</a:t>
            </a:r>
            <a:r>
              <a:rPr lang="en-US" sz="1600" dirty="0">
                <a:solidFill>
                  <a:srgbClr val="E6EDF3"/>
                </a:solidFill>
                <a:latin typeface="Arial" pitchFamily="34" charset="0"/>
                <a:ea typeface="Arial" pitchFamily="34" charset="-122"/>
                <a:cs typeface="Arial" pitchFamily="34" charset="-120"/>
              </a:rPr>
              <a:t>件はE-6Bによる放送</a:t>
            </a:r>
            <a:endParaRPr lang="en-US" sz="1600" dirty="0"/>
          </a:p>
        </p:txBody>
      </p:sp>
      <p:sp>
        <p:nvSpPr>
          <p:cNvPr id="10" name="Shape 8"/>
          <p:cNvSpPr/>
          <p:nvPr/>
        </p:nvSpPr>
        <p:spPr>
          <a:xfrm>
            <a:off x="4521200" y="3013025"/>
            <a:ext cx="6858000" cy="0"/>
          </a:xfrm>
          <a:prstGeom prst="line">
            <a:avLst/>
          </a:prstGeom>
          <a:noFill/>
          <a:ln w="6350">
            <a:solidFill>
              <a:srgbClr val="222A35"/>
            </a:solidFill>
            <a:prstDash val="solid"/>
          </a:ln>
        </p:spPr>
      </p:sp>
      <p:sp>
        <p:nvSpPr>
          <p:cNvPr id="11" name="Text 9"/>
          <p:cNvSpPr/>
          <p:nvPr/>
        </p:nvSpPr>
        <p:spPr>
          <a:xfrm>
            <a:off x="4521200" y="3117800"/>
            <a:ext cx="7063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再放送も1回の放送として数える</a:t>
            </a:r>
            <a:endParaRPr lang="en-US" sz="1600" dirty="0"/>
          </a:p>
        </p:txBody>
      </p:sp>
      <p:sp>
        <p:nvSpPr>
          <p:cNvPr id="12" name="Shape 10"/>
          <p:cNvSpPr/>
          <p:nvPr/>
        </p:nvSpPr>
        <p:spPr>
          <a:xfrm>
            <a:off x="812800" y="5354340"/>
            <a:ext cx="6940550" cy="101600"/>
          </a:xfrm>
          <a:prstGeom prst="rect">
            <a:avLst/>
          </a:prstGeom>
          <a:solidFill>
            <a:srgbClr val="06B050"/>
          </a:solidFill>
          <a:ln/>
        </p:spPr>
      </p:sp>
      <p:sp>
        <p:nvSpPr>
          <p:cNvPr id="13" name="Shape 11"/>
          <p:cNvSpPr/>
          <p:nvPr/>
        </p:nvSpPr>
        <p:spPr>
          <a:xfrm>
            <a:off x="7791450" y="5354340"/>
            <a:ext cx="2552700" cy="101600"/>
          </a:xfrm>
          <a:prstGeom prst="rect">
            <a:avLst/>
          </a:prstGeom>
          <a:solidFill>
            <a:srgbClr val="ED7D32"/>
          </a:solidFill>
          <a:ln/>
        </p:spPr>
      </p:sp>
      <p:sp>
        <p:nvSpPr>
          <p:cNvPr id="14" name="Shape 12"/>
          <p:cNvSpPr/>
          <p:nvPr/>
        </p:nvSpPr>
        <p:spPr>
          <a:xfrm>
            <a:off x="10382250" y="5354340"/>
            <a:ext cx="533400" cy="101600"/>
          </a:xfrm>
          <a:prstGeom prst="rect">
            <a:avLst/>
          </a:prstGeom>
          <a:solidFill>
            <a:srgbClr val="FFCC00"/>
          </a:solidFill>
          <a:ln/>
        </p:spPr>
      </p:sp>
      <p:sp>
        <p:nvSpPr>
          <p:cNvPr id="15" name="Shape 13"/>
          <p:cNvSpPr/>
          <p:nvPr/>
        </p:nvSpPr>
        <p:spPr>
          <a:xfrm>
            <a:off x="10953750" y="5354340"/>
            <a:ext cx="361950" cy="101600"/>
          </a:xfrm>
          <a:prstGeom prst="rect">
            <a:avLst/>
          </a:prstGeom>
          <a:solidFill>
            <a:srgbClr val="FF0467"/>
          </a:solidFill>
          <a:ln/>
        </p:spPr>
      </p:sp>
      <p:sp>
        <p:nvSpPr>
          <p:cNvPr id="16" name="Shape 14"/>
          <p:cNvSpPr/>
          <p:nvPr/>
        </p:nvSpPr>
        <p:spPr>
          <a:xfrm>
            <a:off x="11353800" y="5354340"/>
            <a:ext cx="25400" cy="101600"/>
          </a:xfrm>
          <a:prstGeom prst="rect">
            <a:avLst/>
          </a:prstGeom>
          <a:solidFill>
            <a:srgbClr val="9063CD"/>
          </a:solidFill>
          <a:ln/>
        </p:spPr>
      </p:sp>
      <p:sp>
        <p:nvSpPr>
          <p:cNvPr id="17" name="Text 15"/>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6B050"/>
                </a:solidFill>
                <a:latin typeface="Arial" pitchFamily="34" charset="0"/>
                <a:ea typeface="Arial" pitchFamily="34" charset="-122"/>
                <a:cs typeface="Arial" pitchFamily="34" charset="-120"/>
              </a:rPr>
              <a:t>第1群 10,207</a:t>
            </a:r>
            <a:r>
              <a:rPr lang="en-US" sz="1600" dirty="0">
                <a:solidFill>
                  <a:srgbClr val="A9B4BF"/>
                </a:solidFill>
                <a:latin typeface="Arial" pitchFamily="34" charset="0"/>
                <a:ea typeface="Arial" pitchFamily="34" charset="-122"/>
                <a:cs typeface="Arial" pitchFamily="34" charset="-120"/>
              </a:rPr>
              <a:t> · </a:t>
            </a:r>
            <a:r>
              <a:rPr lang="en-US" sz="1600" dirty="0">
                <a:solidFill>
                  <a:srgbClr val="ED7D32"/>
                </a:solidFill>
                <a:latin typeface="Arial" pitchFamily="34" charset="0"/>
                <a:ea typeface="Arial" pitchFamily="34" charset="-122"/>
                <a:cs typeface="Arial" pitchFamily="34" charset="-120"/>
              </a:rPr>
              <a:t>第2群 3,740</a:t>
            </a:r>
            <a:r>
              <a:rPr lang="en-US" sz="1600" dirty="0">
                <a:solidFill>
                  <a:srgbClr val="A9B4BF"/>
                </a:solidFill>
                <a:latin typeface="Arial" pitchFamily="34" charset="0"/>
                <a:ea typeface="Arial" pitchFamily="34" charset="-122"/>
                <a:cs typeface="Arial" pitchFamily="34" charset="-120"/>
              </a:rPr>
              <a:t> · </a:t>
            </a:r>
            <a:r>
              <a:rPr lang="en-US" sz="1600" dirty="0">
                <a:solidFill>
                  <a:srgbClr val="FFCC00"/>
                </a:solidFill>
                <a:latin typeface="Arial" pitchFamily="34" charset="0"/>
                <a:ea typeface="Arial" pitchFamily="34" charset="-122"/>
                <a:cs typeface="Arial" pitchFamily="34" charset="-120"/>
              </a:rPr>
              <a:t>第3群 784</a:t>
            </a:r>
            <a:r>
              <a:rPr lang="en-US" sz="1600" dirty="0">
                <a:solidFill>
                  <a:srgbClr val="A9B4BF"/>
                </a:solidFill>
                <a:latin typeface="Arial" pitchFamily="34" charset="0"/>
                <a:ea typeface="Arial" pitchFamily="34" charset="-122"/>
                <a:cs typeface="Arial" pitchFamily="34" charset="-120"/>
              </a:rPr>
              <a:t> · </a:t>
            </a:r>
            <a:r>
              <a:rPr lang="en-US" sz="1600" dirty="0">
                <a:solidFill>
                  <a:srgbClr val="FF0467"/>
                </a:solidFill>
                <a:latin typeface="Arial" pitchFamily="34" charset="0"/>
                <a:ea typeface="Arial" pitchFamily="34" charset="-122"/>
                <a:cs typeface="Arial" pitchFamily="34" charset="-120"/>
              </a:rPr>
              <a:t>第4群 531</a:t>
            </a:r>
            <a:r>
              <a:rPr lang="en-US" sz="1600" dirty="0">
                <a:solidFill>
                  <a:srgbClr val="A9B4BF"/>
                </a:solidFill>
                <a:latin typeface="Arial" pitchFamily="34" charset="0"/>
                <a:ea typeface="Arial" pitchFamily="34" charset="-122"/>
                <a:cs typeface="Arial" pitchFamily="34" charset="-120"/>
              </a:rPr>
              <a:t> · </a:t>
            </a:r>
            <a:r>
              <a:rPr lang="en-US" sz="1600" dirty="0">
                <a:solidFill>
                  <a:srgbClr val="9063CD"/>
                </a:solidFill>
                <a:latin typeface="Arial" pitchFamily="34" charset="0"/>
                <a:ea typeface="Arial" pitchFamily="34" charset="-122"/>
                <a:cs typeface="Arial" pitchFamily="34" charset="-120"/>
              </a:rPr>
              <a:t>第5群 13</a:t>
            </a:r>
            <a:r>
              <a:rPr lang="en-US" sz="1600" dirty="0">
                <a:solidFill>
                  <a:srgbClr val="A9B4BF"/>
                </a:solidFill>
                <a:latin typeface="Arial" pitchFamily="34" charset="0"/>
                <a:ea typeface="Arial" pitchFamily="34" charset="-122"/>
                <a:cs typeface="Arial" pitchFamily="34" charset="-120"/>
              </a:rPr>
              <a:t> · 群なし 2</a:t>
            </a:r>
            <a:endParaRPr lang="en-US" sz="16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出典：公開中のHFGCS EAMカレンダー（生成日 261009）</a:t>
            </a:r>
            <a:endParaRPr lang="en-US" sz="1200" dirty="0"/>
          </a:p>
        </p:txBody>
      </p:sp>
      <p:sp>
        <p:nvSpPr>
          <p:cNvPr id="19" name="Text 17"/>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背景</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41B"/>
        </a:solidFill>
      </p:bgPr>
    </p:bg>
    <p:spTree>
      <p:nvGrpSpPr>
        <p:cNvPr id="1" name=""/>
        <p:cNvGrpSpPr/>
        <p:nvPr/>
      </p:nvGrpSpPr>
      <p:grpSpPr>
        <a:xfrm>
          <a:off x="0" y="0"/>
          <a:ext cx="0" cy="0"/>
          <a:chOff x="0" y="0"/>
          <a:chExt cx="0" cy="0"/>
        </a:xfrm>
      </p:grpSpPr>
      <p:sp>
        <p:nvSpPr>
          <p:cNvPr id="2" name="Text 0"/>
          <p:cNvSpPr/>
          <p:nvPr/>
        </p:nvSpPr>
        <p:spPr>
          <a:xfrm>
            <a:off x="812800" y="245427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第2部</a:t>
            </a:r>
            <a:endParaRPr lang="en-US" sz="1200" dirty="0"/>
          </a:p>
        </p:txBody>
      </p:sp>
      <p:sp>
        <p:nvSpPr>
          <p:cNvPr id="3" name="Text 1"/>
          <p:cNvSpPr/>
          <p:nvPr>
            <p:ph type="title"/>
          </p:nvPr>
        </p:nvSpPr>
        <p:spPr>
          <a:xfrm>
            <a:off x="812800" y="2769195"/>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サイト</a:t>
            </a:r>
            <a:endParaRPr lang="en-US" sz="3600" dirty="0"/>
          </a:p>
        </p:txBody>
      </p:sp>
      <p:sp>
        <p:nvSpPr>
          <p:cNvPr id="4" name="Shape 2"/>
          <p:cNvSpPr/>
          <p:nvPr/>
        </p:nvSpPr>
        <p:spPr>
          <a:xfrm>
            <a:off x="812800" y="3625800"/>
            <a:ext cx="10566400" cy="0"/>
          </a:xfrm>
          <a:prstGeom prst="line">
            <a:avLst/>
          </a:prstGeom>
          <a:noFill/>
          <a:ln w="6350">
            <a:solidFill>
              <a:srgbClr val="2A3340"/>
            </a:solidFill>
            <a:prstDash val="solid"/>
          </a:ln>
        </p:spPr>
      </p:sp>
      <p:sp>
        <p:nvSpPr>
          <p:cNvPr id="5" name="Text 3"/>
          <p:cNvSpPr/>
          <p:nvPr/>
        </p:nvSpPr>
        <p:spPr>
          <a:xfrm>
            <a:off x="812800" y="3781375"/>
            <a:ext cx="10883392"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サイトの構成と操作、そしてデータの作り方・数え方・監視範囲</a:t>
            </a:r>
            <a:endParaRPr lang="en-US" sz="22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7"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サイト</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サイトの構成</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サイトマップ</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スタート · 構造 · スカイマスター · DTCP ·</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その他 · ウィキ · 連絡先</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スタート</a:t>
            </a:r>
            <a:r>
              <a:rPr lang="en-US" sz="1600" dirty="0">
                <a:solidFill>
                  <a:srgbClr val="E6EDF3"/>
                </a:solidFill>
                <a:latin typeface="Arial" pitchFamily="34" charset="0"/>
                <a:ea typeface="Arial" pitchFamily="34" charset="-122"/>
                <a:cs typeface="Arial" pitchFamily="34" charset="-120"/>
              </a:rPr>
              <a:t>：タイル8枚、</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ライブ配信とNOTAMマッパー</a:t>
            </a:r>
            <a:endParaRPr lang="en-US" sz="1600" dirty="0"/>
          </a:p>
        </p:txBody>
      </p:sp>
      <p:sp>
        <p:nvSpPr>
          <p:cNvPr id="8" name="Shape 6"/>
          <p:cNvSpPr/>
          <p:nvPr/>
        </p:nvSpPr>
        <p:spPr>
          <a:xfrm>
            <a:off x="812800" y="3622625"/>
            <a:ext cx="4572000" cy="0"/>
          </a:xfrm>
          <a:prstGeom prst="line">
            <a:avLst/>
          </a:prstGeom>
          <a:noFill/>
          <a:ln w="6350">
            <a:solidFill>
              <a:srgbClr val="222A35"/>
            </a:solidFill>
            <a:prstDash val="solid"/>
          </a:ln>
        </p:spPr>
      </p:sp>
      <p:sp>
        <p:nvSpPr>
          <p:cNvPr id="9" name="Text 7"/>
          <p:cNvSpPr/>
          <p:nvPr/>
        </p:nvSpPr>
        <p:spPr>
          <a:xfrm>
            <a:off x="812800" y="37274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構造</a:t>
            </a:r>
            <a:r>
              <a:rPr lang="en-US" sz="1600" dirty="0">
                <a:solidFill>
                  <a:srgbClr val="E6EDF3"/>
                </a:solidFill>
                <a:latin typeface="Arial" pitchFamily="34" charset="0"/>
                <a:ea typeface="Arial" pitchFamily="34" charset="-122"/>
                <a:cs typeface="Arial" pitchFamily="34" charset="-120"/>
              </a:rPr>
              <a:t>：ヒートマップ103ページ、17〜292文字</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スカイマスター</a:t>
            </a:r>
            <a:r>
              <a:rPr lang="en-US" sz="1600" dirty="0">
                <a:solidFill>
                  <a:srgbClr val="E6EDF3"/>
                </a:solidFill>
                <a:latin typeface="Arial" pitchFamily="34" charset="0"/>
                <a:ea typeface="Arial" pitchFamily="34" charset="-122"/>
                <a:cs typeface="Arial" pitchFamily="34" charset="-120"/>
              </a:rPr>
              <a:t>：2023〜2026年の出来事33件</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DTCP</a:t>
            </a:r>
            <a:r>
              <a:rPr lang="en-US" sz="1600" dirty="0">
                <a:solidFill>
                  <a:srgbClr val="E6EDF3"/>
                </a:solidFill>
                <a:latin typeface="Arial" pitchFamily="34" charset="0"/>
                <a:ea typeface="Arial" pitchFamily="34" charset="-122"/>
                <a:cs typeface="Arial" pitchFamily="34" charset="-120"/>
              </a:rPr>
              <a:t>：ギャラリー3つ</a:t>
            </a:r>
            <a:endParaRPr lang="en-US" sz="1600" dirty="0"/>
          </a:p>
        </p:txBody>
      </p:sp>
      <p:sp>
        <p:nvSpPr>
          <p:cNvPr id="12" name="Shape 10"/>
          <p:cNvSpPr/>
          <p:nvPr/>
        </p:nvSpPr>
        <p:spPr>
          <a:xfrm>
            <a:off x="812800" y="4956125"/>
            <a:ext cx="4572000" cy="0"/>
          </a:xfrm>
          <a:prstGeom prst="line">
            <a:avLst/>
          </a:prstGeom>
          <a:noFill/>
          <a:ln w="6350">
            <a:solidFill>
              <a:srgbClr val="222A35"/>
            </a:solidFill>
            <a:prstDash val="solid"/>
          </a:ln>
        </p:spPr>
      </p:sp>
      <p:sp>
        <p:nvSpPr>
          <p:cNvPr id="13" name="Text 11"/>
          <p:cNvSpPr/>
          <p:nvPr/>
        </p:nvSpPr>
        <p:spPr>
          <a:xfrm>
            <a:off x="812800" y="50609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その他</a:t>
            </a:r>
            <a:r>
              <a:rPr lang="en-US" sz="1600" dirty="0">
                <a:solidFill>
                  <a:srgbClr val="E6EDF3"/>
                </a:solidFill>
                <a:latin typeface="Arial" pitchFamily="34" charset="0"/>
                <a:ea typeface="Arial" pitchFamily="34" charset="-122"/>
                <a:cs typeface="Arial" pitchFamily="34" charset="-120"/>
              </a:rPr>
              <a:t>：分析リンク20件、参考資料4件</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ウィキ</a:t>
            </a:r>
            <a:r>
              <a:rPr lang="en-US" sz="1600" dirty="0">
                <a:solidFill>
                  <a:srgbClr val="E6EDF3"/>
                </a:solidFill>
                <a:latin typeface="Arial" pitchFamily="34" charset="0"/>
                <a:ea typeface="Arial" pitchFamily="34" charset="-122"/>
                <a:cs typeface="Arial" pitchFamily="34" charset="-120"/>
              </a:rPr>
              <a:t>：保存されたページ27件</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NEET INTELの目次ページ、スタートタブ、ダークテーマ、日本語表示：7つのタブ、プロジェクトの説明、8つのアイコンタイル、ライブ配信とNOTAMマッパーのリンク">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サイト</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目次ページの移動</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アドレスとキー</a:t>
            </a:r>
            <a:endParaRPr lang="en-US" sz="3600" dirty="0"/>
          </a:p>
        </p:txBody>
      </p:sp>
      <p:sp>
        <p:nvSpPr>
          <p:cNvPr id="4" name="Text 2"/>
          <p:cNvSpPr/>
          <p:nvPr/>
        </p:nvSpPr>
        <p:spPr>
          <a:xfrm>
            <a:off x="812800" y="1981150"/>
            <a:ext cx="2720848" cy="22349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7D8894"/>
                </a:solidFill>
                <a:latin typeface="Arial" pitchFamily="34" charset="0"/>
                <a:ea typeface="Arial" pitchFamily="34" charset="-122"/>
                <a:cs typeface="Arial" pitchFamily="34" charset="-120"/>
              </a:rPr>
              <a:t>アドレス</a:t>
            </a:r>
            <a:endParaRPr lang="en-US" sz="1200" dirty="0"/>
          </a:p>
        </p:txBody>
      </p:sp>
      <p:sp>
        <p:nvSpPr>
          <p:cNvPr id="5" name="Text 3"/>
          <p:cNvSpPr/>
          <p:nvPr/>
        </p:nvSpPr>
        <p:spPr>
          <a:xfrm>
            <a:off x="3606800" y="1981150"/>
            <a:ext cx="2459228" cy="22349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7D8894"/>
                </a:solidFill>
                <a:latin typeface="Arial" pitchFamily="34" charset="0"/>
                <a:ea typeface="Arial" pitchFamily="34" charset="-122"/>
                <a:cs typeface="Arial" pitchFamily="34" charset="-120"/>
              </a:rPr>
              <a:t>スタートからのキー</a:t>
            </a:r>
            <a:endParaRPr lang="en-US" sz="1200" dirty="0"/>
          </a:p>
        </p:txBody>
      </p:sp>
      <p:sp>
        <p:nvSpPr>
          <p:cNvPr id="6" name="Text 4"/>
          <p:cNvSpPr/>
          <p:nvPr/>
        </p:nvSpPr>
        <p:spPr>
          <a:xfrm>
            <a:off x="6146800" y="1981150"/>
            <a:ext cx="5232400" cy="22349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7D8894"/>
                </a:solidFill>
                <a:latin typeface="Arial" pitchFamily="34" charset="0"/>
                <a:ea typeface="Arial" pitchFamily="34" charset="-122"/>
                <a:cs typeface="Arial" pitchFamily="34" charset="-120"/>
              </a:rPr>
              <a:t>開く先</a:t>
            </a:r>
            <a:endParaRPr lang="en-US" sz="1200" dirty="0"/>
          </a:p>
        </p:txBody>
      </p:sp>
      <p:sp>
        <p:nvSpPr>
          <p:cNvPr id="7" name="Shape 5"/>
          <p:cNvSpPr/>
          <p:nvPr/>
        </p:nvSpPr>
        <p:spPr>
          <a:xfrm>
            <a:off x="812800" y="2233216"/>
            <a:ext cx="2794000" cy="0"/>
          </a:xfrm>
          <a:prstGeom prst="line">
            <a:avLst/>
          </a:prstGeom>
          <a:noFill/>
          <a:ln w="6350">
            <a:solidFill>
              <a:srgbClr val="222A35"/>
            </a:solidFill>
            <a:prstDash val="solid"/>
          </a:ln>
        </p:spPr>
      </p:sp>
      <p:sp>
        <p:nvSpPr>
          <p:cNvPr id="8" name="Text 6"/>
          <p:cNvSpPr/>
          <p:nvPr/>
        </p:nvSpPr>
        <p:spPr>
          <a:xfrm>
            <a:off x="812800" y="2287191"/>
            <a:ext cx="272084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7D8894"/>
                </a:solidFill>
                <a:latin typeface="Arial" pitchFamily="34" charset="0"/>
                <a:ea typeface="Arial" pitchFamily="34" charset="-122"/>
                <a:cs typeface="Arial" pitchFamily="34" charset="-120"/>
              </a:rPr>
              <a:t>（URLのみ）</a:t>
            </a:r>
            <a:endParaRPr lang="en-US" sz="1600" dirty="0"/>
          </a:p>
        </p:txBody>
      </p:sp>
      <p:sp>
        <p:nvSpPr>
          <p:cNvPr id="9" name="Shape 7"/>
          <p:cNvSpPr/>
          <p:nvPr/>
        </p:nvSpPr>
        <p:spPr>
          <a:xfrm>
            <a:off x="3606800" y="2233216"/>
            <a:ext cx="2540000" cy="0"/>
          </a:xfrm>
          <a:prstGeom prst="line">
            <a:avLst/>
          </a:prstGeom>
          <a:noFill/>
          <a:ln w="6350">
            <a:solidFill>
              <a:srgbClr val="222A35"/>
            </a:solidFill>
            <a:prstDash val="solid"/>
          </a:ln>
        </p:spPr>
      </p:sp>
      <p:sp>
        <p:nvSpPr>
          <p:cNvPr id="10" name="Text 8"/>
          <p:cNvSpPr/>
          <p:nvPr/>
        </p:nvSpPr>
        <p:spPr>
          <a:xfrm>
            <a:off x="3606800" y="2287191"/>
            <a:ext cx="24592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7D8894"/>
                </a:solidFill>
                <a:latin typeface="Courier New" pitchFamily="49" charset="0"/>
                <a:ea typeface="Courier New" pitchFamily="49" charset="-122"/>
                <a:cs typeface="Courier New" pitchFamily="49" charset="-120"/>
              </a:rPr>
              <a:t>—</a:t>
            </a:r>
            <a:endParaRPr lang="en-US" sz="1600" dirty="0"/>
          </a:p>
        </p:txBody>
      </p:sp>
      <p:sp>
        <p:nvSpPr>
          <p:cNvPr id="11" name="Shape 9"/>
          <p:cNvSpPr/>
          <p:nvPr/>
        </p:nvSpPr>
        <p:spPr>
          <a:xfrm>
            <a:off x="6146800" y="2233216"/>
            <a:ext cx="5232400" cy="0"/>
          </a:xfrm>
          <a:prstGeom prst="line">
            <a:avLst/>
          </a:prstGeom>
          <a:noFill/>
          <a:ln w="6350">
            <a:solidFill>
              <a:srgbClr val="222A35"/>
            </a:solidFill>
            <a:prstDash val="solid"/>
          </a:ln>
        </p:spPr>
      </p:sp>
      <p:sp>
        <p:nvSpPr>
          <p:cNvPr id="12" name="Text 10"/>
          <p:cNvSpPr/>
          <p:nvPr/>
        </p:nvSpPr>
        <p:spPr>
          <a:xfrm>
            <a:off x="6146800" y="2287191"/>
            <a:ext cx="52324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Arial" pitchFamily="34" charset="0"/>
                <a:ea typeface="Arial" pitchFamily="34" charset="-122"/>
                <a:cs typeface="Arial" pitchFamily="34" charset="-120"/>
              </a:rPr>
              <a:t>スタート</a:t>
            </a:r>
            <a:endParaRPr lang="en-US" sz="1600" dirty="0"/>
          </a:p>
        </p:txBody>
      </p:sp>
      <p:sp>
        <p:nvSpPr>
          <p:cNvPr id="13" name="Shape 11"/>
          <p:cNvSpPr/>
          <p:nvPr/>
        </p:nvSpPr>
        <p:spPr>
          <a:xfrm>
            <a:off x="812800" y="2595166"/>
            <a:ext cx="2794000" cy="0"/>
          </a:xfrm>
          <a:prstGeom prst="line">
            <a:avLst/>
          </a:prstGeom>
          <a:noFill/>
          <a:ln w="6350">
            <a:solidFill>
              <a:srgbClr val="222A35"/>
            </a:solidFill>
            <a:prstDash val="solid"/>
          </a:ln>
        </p:spPr>
      </p:sp>
      <p:sp>
        <p:nvSpPr>
          <p:cNvPr id="14" name="Text 12"/>
          <p:cNvSpPr/>
          <p:nvPr/>
        </p:nvSpPr>
        <p:spPr>
          <a:xfrm>
            <a:off x="812800" y="2649141"/>
            <a:ext cx="272084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CC00"/>
                </a:solidFill>
                <a:latin typeface="Courier New" pitchFamily="49" charset="0"/>
                <a:ea typeface="Courier New" pitchFamily="49" charset="-122"/>
                <a:cs typeface="Courier New" pitchFamily="49" charset="-120"/>
              </a:rPr>
              <a:t>?structures</a:t>
            </a:r>
            <a:endParaRPr lang="en-US" sz="1600" dirty="0"/>
          </a:p>
        </p:txBody>
      </p:sp>
      <p:sp>
        <p:nvSpPr>
          <p:cNvPr id="15" name="Shape 13"/>
          <p:cNvSpPr/>
          <p:nvPr/>
        </p:nvSpPr>
        <p:spPr>
          <a:xfrm>
            <a:off x="3606800" y="2595166"/>
            <a:ext cx="2540000" cy="0"/>
          </a:xfrm>
          <a:prstGeom prst="line">
            <a:avLst/>
          </a:prstGeom>
          <a:noFill/>
          <a:ln w="6350">
            <a:solidFill>
              <a:srgbClr val="222A35"/>
            </a:solidFill>
            <a:prstDash val="solid"/>
          </a:ln>
        </p:spPr>
      </p:sp>
      <p:sp>
        <p:nvSpPr>
          <p:cNvPr id="16" name="Text 14"/>
          <p:cNvSpPr/>
          <p:nvPr/>
        </p:nvSpPr>
        <p:spPr>
          <a:xfrm>
            <a:off x="3606800" y="2649141"/>
            <a:ext cx="24592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a:t>
            </a:r>
            <a:endParaRPr lang="en-US" sz="1600" dirty="0"/>
          </a:p>
        </p:txBody>
      </p:sp>
      <p:sp>
        <p:nvSpPr>
          <p:cNvPr id="17" name="Shape 15"/>
          <p:cNvSpPr/>
          <p:nvPr/>
        </p:nvSpPr>
        <p:spPr>
          <a:xfrm>
            <a:off x="6146800" y="2595166"/>
            <a:ext cx="5232400" cy="0"/>
          </a:xfrm>
          <a:prstGeom prst="line">
            <a:avLst/>
          </a:prstGeom>
          <a:noFill/>
          <a:ln w="6350">
            <a:solidFill>
              <a:srgbClr val="222A35"/>
            </a:solidFill>
            <a:prstDash val="solid"/>
          </a:ln>
        </p:spPr>
      </p:sp>
      <p:sp>
        <p:nvSpPr>
          <p:cNvPr id="18" name="Text 16"/>
          <p:cNvSpPr/>
          <p:nvPr/>
        </p:nvSpPr>
        <p:spPr>
          <a:xfrm>
            <a:off x="6146800" y="2649141"/>
            <a:ext cx="52324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Arial" pitchFamily="34" charset="0"/>
                <a:ea typeface="Arial" pitchFamily="34" charset="-122"/>
                <a:cs typeface="Arial" pitchFamily="34" charset="-120"/>
              </a:rPr>
              <a:t>構造、103種類の長さ</a:t>
            </a:r>
            <a:endParaRPr lang="en-US" sz="1600" dirty="0"/>
          </a:p>
        </p:txBody>
      </p:sp>
      <p:sp>
        <p:nvSpPr>
          <p:cNvPr id="19" name="Shape 17"/>
          <p:cNvSpPr/>
          <p:nvPr/>
        </p:nvSpPr>
        <p:spPr>
          <a:xfrm>
            <a:off x="812800" y="2957116"/>
            <a:ext cx="2794000" cy="0"/>
          </a:xfrm>
          <a:prstGeom prst="line">
            <a:avLst/>
          </a:prstGeom>
          <a:noFill/>
          <a:ln w="6350">
            <a:solidFill>
              <a:srgbClr val="222A35"/>
            </a:solidFill>
            <a:prstDash val="solid"/>
          </a:ln>
        </p:spPr>
      </p:sp>
      <p:sp>
        <p:nvSpPr>
          <p:cNvPr id="20" name="Text 18"/>
          <p:cNvSpPr/>
          <p:nvPr/>
        </p:nvSpPr>
        <p:spPr>
          <a:xfrm>
            <a:off x="812800" y="3011091"/>
            <a:ext cx="272084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CC00"/>
                </a:solidFill>
                <a:latin typeface="Courier New" pitchFamily="49" charset="0"/>
                <a:ea typeface="Courier New" pitchFamily="49" charset="-122"/>
                <a:cs typeface="Courier New" pitchFamily="49" charset="-120"/>
              </a:rPr>
              <a:t>?skymasters</a:t>
            </a:r>
            <a:endParaRPr lang="en-US" sz="1600" dirty="0"/>
          </a:p>
        </p:txBody>
      </p:sp>
      <p:sp>
        <p:nvSpPr>
          <p:cNvPr id="21" name="Shape 19"/>
          <p:cNvSpPr/>
          <p:nvPr/>
        </p:nvSpPr>
        <p:spPr>
          <a:xfrm>
            <a:off x="3606800" y="2957116"/>
            <a:ext cx="2540000" cy="0"/>
          </a:xfrm>
          <a:prstGeom prst="line">
            <a:avLst/>
          </a:prstGeom>
          <a:noFill/>
          <a:ln w="6350">
            <a:solidFill>
              <a:srgbClr val="222A35"/>
            </a:solidFill>
            <a:prstDash val="solid"/>
          </a:ln>
        </p:spPr>
      </p:sp>
      <p:sp>
        <p:nvSpPr>
          <p:cNvPr id="22" name="Text 20"/>
          <p:cNvSpPr/>
          <p:nvPr/>
        </p:nvSpPr>
        <p:spPr>
          <a:xfrm>
            <a:off x="3606800" y="3011091"/>
            <a:ext cx="24592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 →</a:t>
            </a:r>
            <a:endParaRPr lang="en-US" sz="1600" dirty="0"/>
          </a:p>
        </p:txBody>
      </p:sp>
      <p:sp>
        <p:nvSpPr>
          <p:cNvPr id="23" name="Shape 21"/>
          <p:cNvSpPr/>
          <p:nvPr/>
        </p:nvSpPr>
        <p:spPr>
          <a:xfrm>
            <a:off x="6146800" y="2957116"/>
            <a:ext cx="5232400" cy="0"/>
          </a:xfrm>
          <a:prstGeom prst="line">
            <a:avLst/>
          </a:prstGeom>
          <a:noFill/>
          <a:ln w="6350">
            <a:solidFill>
              <a:srgbClr val="222A35"/>
            </a:solidFill>
            <a:prstDash val="solid"/>
          </a:ln>
        </p:spPr>
      </p:sp>
      <p:sp>
        <p:nvSpPr>
          <p:cNvPr id="24" name="Text 22"/>
          <p:cNvSpPr/>
          <p:nvPr/>
        </p:nvSpPr>
        <p:spPr>
          <a:xfrm>
            <a:off x="6146800" y="3011091"/>
            <a:ext cx="52324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Arial" pitchFamily="34" charset="0"/>
                <a:ea typeface="Arial" pitchFamily="34" charset="-122"/>
                <a:cs typeface="Arial" pitchFamily="34" charset="-120"/>
              </a:rPr>
              <a:t>スカイマスター、2023年の一覧</a:t>
            </a:r>
            <a:endParaRPr lang="en-US" sz="1600" dirty="0"/>
          </a:p>
        </p:txBody>
      </p:sp>
      <p:sp>
        <p:nvSpPr>
          <p:cNvPr id="25" name="Shape 23"/>
          <p:cNvSpPr/>
          <p:nvPr/>
        </p:nvSpPr>
        <p:spPr>
          <a:xfrm>
            <a:off x="812800" y="3319066"/>
            <a:ext cx="2794000" cy="0"/>
          </a:xfrm>
          <a:prstGeom prst="line">
            <a:avLst/>
          </a:prstGeom>
          <a:noFill/>
          <a:ln w="6350">
            <a:solidFill>
              <a:srgbClr val="222A35"/>
            </a:solidFill>
            <a:prstDash val="solid"/>
          </a:ln>
        </p:spPr>
      </p:sp>
      <p:sp>
        <p:nvSpPr>
          <p:cNvPr id="26" name="Text 24"/>
          <p:cNvSpPr/>
          <p:nvPr/>
        </p:nvSpPr>
        <p:spPr>
          <a:xfrm>
            <a:off x="812800" y="3373041"/>
            <a:ext cx="272084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CC00"/>
                </a:solidFill>
                <a:latin typeface="Courier New" pitchFamily="49" charset="0"/>
                <a:ea typeface="Courier New" pitchFamily="49" charset="-122"/>
                <a:cs typeface="Courier New" pitchFamily="49" charset="-120"/>
              </a:rPr>
              <a:t>?compare</a:t>
            </a:r>
            <a:endParaRPr lang="en-US" sz="1600" dirty="0"/>
          </a:p>
        </p:txBody>
      </p:sp>
      <p:sp>
        <p:nvSpPr>
          <p:cNvPr id="27" name="Shape 25"/>
          <p:cNvSpPr/>
          <p:nvPr/>
        </p:nvSpPr>
        <p:spPr>
          <a:xfrm>
            <a:off x="3606800" y="3319066"/>
            <a:ext cx="2540000" cy="0"/>
          </a:xfrm>
          <a:prstGeom prst="line">
            <a:avLst/>
          </a:prstGeom>
          <a:noFill/>
          <a:ln w="6350">
            <a:solidFill>
              <a:srgbClr val="222A35"/>
            </a:solidFill>
            <a:prstDash val="solid"/>
          </a:ln>
        </p:spPr>
      </p:sp>
      <p:sp>
        <p:nvSpPr>
          <p:cNvPr id="28" name="Text 26"/>
          <p:cNvSpPr/>
          <p:nvPr/>
        </p:nvSpPr>
        <p:spPr>
          <a:xfrm>
            <a:off x="3606800" y="3373041"/>
            <a:ext cx="24592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 → ↑</a:t>
            </a:r>
            <a:endParaRPr lang="en-US" sz="1600" dirty="0"/>
          </a:p>
        </p:txBody>
      </p:sp>
      <p:sp>
        <p:nvSpPr>
          <p:cNvPr id="29" name="Shape 27"/>
          <p:cNvSpPr/>
          <p:nvPr/>
        </p:nvSpPr>
        <p:spPr>
          <a:xfrm>
            <a:off x="6146800" y="3319066"/>
            <a:ext cx="5232400" cy="0"/>
          </a:xfrm>
          <a:prstGeom prst="line">
            <a:avLst/>
          </a:prstGeom>
          <a:noFill/>
          <a:ln w="6350">
            <a:solidFill>
              <a:srgbClr val="222A35"/>
            </a:solidFill>
            <a:prstDash val="solid"/>
          </a:ln>
        </p:spPr>
      </p:sp>
      <p:sp>
        <p:nvSpPr>
          <p:cNvPr id="30" name="Text 28"/>
          <p:cNvSpPr/>
          <p:nvPr/>
        </p:nvSpPr>
        <p:spPr>
          <a:xfrm>
            <a:off x="6146800" y="3373041"/>
            <a:ext cx="52324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Arial" pitchFamily="34" charset="0"/>
                <a:ea typeface="Arial" pitchFamily="34" charset="-122"/>
                <a:cs typeface="Arial" pitchFamily="34" charset="-120"/>
              </a:rPr>
              <a:t>スカイマスター、比較表示</a:t>
            </a:r>
            <a:endParaRPr lang="en-US" sz="1600" dirty="0"/>
          </a:p>
        </p:txBody>
      </p:sp>
      <p:sp>
        <p:nvSpPr>
          <p:cNvPr id="31" name="Shape 29"/>
          <p:cNvSpPr/>
          <p:nvPr/>
        </p:nvSpPr>
        <p:spPr>
          <a:xfrm>
            <a:off x="812800" y="3681016"/>
            <a:ext cx="2794000" cy="0"/>
          </a:xfrm>
          <a:prstGeom prst="line">
            <a:avLst/>
          </a:prstGeom>
          <a:noFill/>
          <a:ln w="6350">
            <a:solidFill>
              <a:srgbClr val="222A35"/>
            </a:solidFill>
            <a:prstDash val="solid"/>
          </a:ln>
        </p:spPr>
      </p:sp>
      <p:sp>
        <p:nvSpPr>
          <p:cNvPr id="32" name="Text 30"/>
          <p:cNvSpPr/>
          <p:nvPr/>
        </p:nvSpPr>
        <p:spPr>
          <a:xfrm>
            <a:off x="812800" y="3734991"/>
            <a:ext cx="272084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CC00"/>
                </a:solidFill>
                <a:latin typeface="Courier New" pitchFamily="49" charset="0"/>
                <a:ea typeface="Courier New" pitchFamily="49" charset="-122"/>
                <a:cs typeface="Courier New" pitchFamily="49" charset="-120"/>
              </a:rPr>
              <a:t>?dtcp</a:t>
            </a:r>
            <a:endParaRPr lang="en-US" sz="1600" dirty="0"/>
          </a:p>
        </p:txBody>
      </p:sp>
      <p:sp>
        <p:nvSpPr>
          <p:cNvPr id="33" name="Shape 31"/>
          <p:cNvSpPr/>
          <p:nvPr/>
        </p:nvSpPr>
        <p:spPr>
          <a:xfrm>
            <a:off x="3606800" y="3681016"/>
            <a:ext cx="2540000" cy="0"/>
          </a:xfrm>
          <a:prstGeom prst="line">
            <a:avLst/>
          </a:prstGeom>
          <a:noFill/>
          <a:ln w="6350">
            <a:solidFill>
              <a:srgbClr val="222A35"/>
            </a:solidFill>
            <a:prstDash val="solid"/>
          </a:ln>
        </p:spPr>
      </p:sp>
      <p:sp>
        <p:nvSpPr>
          <p:cNvPr id="34" name="Text 32"/>
          <p:cNvSpPr/>
          <p:nvPr/>
        </p:nvSpPr>
        <p:spPr>
          <a:xfrm>
            <a:off x="3606800" y="3734991"/>
            <a:ext cx="24592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 → → ↓ ↓</a:t>
            </a:r>
            <a:endParaRPr lang="en-US" sz="1600" dirty="0"/>
          </a:p>
        </p:txBody>
      </p:sp>
      <p:sp>
        <p:nvSpPr>
          <p:cNvPr id="35" name="Shape 33"/>
          <p:cNvSpPr/>
          <p:nvPr/>
        </p:nvSpPr>
        <p:spPr>
          <a:xfrm>
            <a:off x="6146800" y="3681016"/>
            <a:ext cx="5232400" cy="0"/>
          </a:xfrm>
          <a:prstGeom prst="line">
            <a:avLst/>
          </a:prstGeom>
          <a:noFill/>
          <a:ln w="6350">
            <a:solidFill>
              <a:srgbClr val="222A35"/>
            </a:solidFill>
            <a:prstDash val="solid"/>
          </a:ln>
        </p:spPr>
      </p:sp>
      <p:sp>
        <p:nvSpPr>
          <p:cNvPr id="36" name="Text 34"/>
          <p:cNvSpPr/>
          <p:nvPr/>
        </p:nvSpPr>
        <p:spPr>
          <a:xfrm>
            <a:off x="6146800" y="3734991"/>
            <a:ext cx="52324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Arial" pitchFamily="34" charset="0"/>
                <a:ea typeface="Arial" pitchFamily="34" charset="-122"/>
                <a:cs typeface="Arial" pitchFamily="34" charset="-120"/>
              </a:rPr>
              <a:t>DTCPタブ、タイムカードのギャラリーを選択中</a:t>
            </a:r>
            <a:endParaRPr lang="en-US" sz="1600" dirty="0"/>
          </a:p>
        </p:txBody>
      </p:sp>
      <p:sp>
        <p:nvSpPr>
          <p:cNvPr id="37" name="Shape 35"/>
          <p:cNvSpPr/>
          <p:nvPr/>
        </p:nvSpPr>
        <p:spPr>
          <a:xfrm>
            <a:off x="812800" y="4042966"/>
            <a:ext cx="2794000" cy="0"/>
          </a:xfrm>
          <a:prstGeom prst="line">
            <a:avLst/>
          </a:prstGeom>
          <a:noFill/>
          <a:ln w="6350">
            <a:solidFill>
              <a:srgbClr val="222A35"/>
            </a:solidFill>
            <a:prstDash val="solid"/>
          </a:ln>
        </p:spPr>
      </p:sp>
      <p:sp>
        <p:nvSpPr>
          <p:cNvPr id="38" name="Text 36"/>
          <p:cNvSpPr/>
          <p:nvPr/>
        </p:nvSpPr>
        <p:spPr>
          <a:xfrm>
            <a:off x="812800" y="4096941"/>
            <a:ext cx="272084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CC00"/>
                </a:solidFill>
                <a:latin typeface="Courier New" pitchFamily="49" charset="0"/>
                <a:ea typeface="Courier New" pitchFamily="49" charset="-122"/>
                <a:cs typeface="Courier New" pitchFamily="49" charset="-120"/>
              </a:rPr>
              <a:t>?misc</a:t>
            </a:r>
            <a:endParaRPr lang="en-US" sz="1600" dirty="0"/>
          </a:p>
        </p:txBody>
      </p:sp>
      <p:sp>
        <p:nvSpPr>
          <p:cNvPr id="39" name="Shape 37"/>
          <p:cNvSpPr/>
          <p:nvPr/>
        </p:nvSpPr>
        <p:spPr>
          <a:xfrm>
            <a:off x="3606800" y="4042966"/>
            <a:ext cx="2540000" cy="0"/>
          </a:xfrm>
          <a:prstGeom prst="line">
            <a:avLst/>
          </a:prstGeom>
          <a:noFill/>
          <a:ln w="6350">
            <a:solidFill>
              <a:srgbClr val="222A35"/>
            </a:solidFill>
            <a:prstDash val="solid"/>
          </a:ln>
        </p:spPr>
      </p:sp>
      <p:sp>
        <p:nvSpPr>
          <p:cNvPr id="40" name="Text 38"/>
          <p:cNvSpPr/>
          <p:nvPr/>
        </p:nvSpPr>
        <p:spPr>
          <a:xfrm>
            <a:off x="3606800" y="4096941"/>
            <a:ext cx="24592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 ← ←</a:t>
            </a:r>
            <a:endParaRPr lang="en-US" sz="1600" dirty="0"/>
          </a:p>
        </p:txBody>
      </p:sp>
      <p:sp>
        <p:nvSpPr>
          <p:cNvPr id="41" name="Shape 39"/>
          <p:cNvSpPr/>
          <p:nvPr/>
        </p:nvSpPr>
        <p:spPr>
          <a:xfrm>
            <a:off x="6146800" y="4042966"/>
            <a:ext cx="5232400" cy="0"/>
          </a:xfrm>
          <a:prstGeom prst="line">
            <a:avLst/>
          </a:prstGeom>
          <a:noFill/>
          <a:ln w="6350">
            <a:solidFill>
              <a:srgbClr val="222A35"/>
            </a:solidFill>
            <a:prstDash val="solid"/>
          </a:ln>
        </p:spPr>
      </p:sp>
      <p:sp>
        <p:nvSpPr>
          <p:cNvPr id="42" name="Text 40"/>
          <p:cNvSpPr/>
          <p:nvPr/>
        </p:nvSpPr>
        <p:spPr>
          <a:xfrm>
            <a:off x="6146800" y="4096941"/>
            <a:ext cx="52324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Arial" pitchFamily="34" charset="0"/>
                <a:ea typeface="Arial" pitchFamily="34" charset="-122"/>
                <a:cs typeface="Arial" pitchFamily="34" charset="-120"/>
              </a:rPr>
              <a:t>その他、分析</a:t>
            </a:r>
            <a:endParaRPr lang="en-US" sz="1600" dirty="0"/>
          </a:p>
        </p:txBody>
      </p:sp>
      <p:sp>
        <p:nvSpPr>
          <p:cNvPr id="43" name="Shape 41"/>
          <p:cNvSpPr/>
          <p:nvPr/>
        </p:nvSpPr>
        <p:spPr>
          <a:xfrm>
            <a:off x="812800" y="4404916"/>
            <a:ext cx="2794000" cy="0"/>
          </a:xfrm>
          <a:prstGeom prst="line">
            <a:avLst/>
          </a:prstGeom>
          <a:noFill/>
          <a:ln w="6350">
            <a:solidFill>
              <a:srgbClr val="222A35"/>
            </a:solidFill>
            <a:prstDash val="solid"/>
          </a:ln>
        </p:spPr>
      </p:sp>
      <p:sp>
        <p:nvSpPr>
          <p:cNvPr id="44" name="Text 42"/>
          <p:cNvSpPr/>
          <p:nvPr/>
        </p:nvSpPr>
        <p:spPr>
          <a:xfrm>
            <a:off x="812800" y="4458891"/>
            <a:ext cx="272084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CC00"/>
                </a:solidFill>
                <a:latin typeface="Courier New" pitchFamily="49" charset="0"/>
                <a:ea typeface="Courier New" pitchFamily="49" charset="-122"/>
                <a:cs typeface="Courier New" pitchFamily="49" charset="-120"/>
              </a:rPr>
              <a:t>?references</a:t>
            </a:r>
            <a:endParaRPr lang="en-US" sz="1600" dirty="0"/>
          </a:p>
        </p:txBody>
      </p:sp>
      <p:sp>
        <p:nvSpPr>
          <p:cNvPr id="45" name="Shape 43"/>
          <p:cNvSpPr/>
          <p:nvPr/>
        </p:nvSpPr>
        <p:spPr>
          <a:xfrm>
            <a:off x="3606800" y="4404916"/>
            <a:ext cx="2540000" cy="0"/>
          </a:xfrm>
          <a:prstGeom prst="line">
            <a:avLst/>
          </a:prstGeom>
          <a:noFill/>
          <a:ln w="6350">
            <a:solidFill>
              <a:srgbClr val="222A35"/>
            </a:solidFill>
            <a:prstDash val="solid"/>
          </a:ln>
        </p:spPr>
      </p:sp>
      <p:sp>
        <p:nvSpPr>
          <p:cNvPr id="46" name="Text 44"/>
          <p:cNvSpPr/>
          <p:nvPr/>
        </p:nvSpPr>
        <p:spPr>
          <a:xfrm>
            <a:off x="3606800" y="4458891"/>
            <a:ext cx="24592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 ← ← ↓</a:t>
            </a:r>
            <a:endParaRPr lang="en-US" sz="1600" dirty="0"/>
          </a:p>
        </p:txBody>
      </p:sp>
      <p:sp>
        <p:nvSpPr>
          <p:cNvPr id="47" name="Shape 45"/>
          <p:cNvSpPr/>
          <p:nvPr/>
        </p:nvSpPr>
        <p:spPr>
          <a:xfrm>
            <a:off x="6146800" y="4404916"/>
            <a:ext cx="5232400" cy="0"/>
          </a:xfrm>
          <a:prstGeom prst="line">
            <a:avLst/>
          </a:prstGeom>
          <a:noFill/>
          <a:ln w="6350">
            <a:solidFill>
              <a:srgbClr val="222A35"/>
            </a:solidFill>
            <a:prstDash val="solid"/>
          </a:ln>
        </p:spPr>
      </p:sp>
      <p:sp>
        <p:nvSpPr>
          <p:cNvPr id="48" name="Text 46"/>
          <p:cNvSpPr/>
          <p:nvPr/>
        </p:nvSpPr>
        <p:spPr>
          <a:xfrm>
            <a:off x="6146800" y="4458891"/>
            <a:ext cx="52324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Arial" pitchFamily="34" charset="0"/>
                <a:ea typeface="Arial" pitchFamily="34" charset="-122"/>
                <a:cs typeface="Arial" pitchFamily="34" charset="-120"/>
              </a:rPr>
              <a:t>その他、参考資料</a:t>
            </a:r>
            <a:endParaRPr lang="en-US" sz="1600" dirty="0"/>
          </a:p>
        </p:txBody>
      </p:sp>
      <p:sp>
        <p:nvSpPr>
          <p:cNvPr id="49" name="Shape 47"/>
          <p:cNvSpPr/>
          <p:nvPr/>
        </p:nvSpPr>
        <p:spPr>
          <a:xfrm>
            <a:off x="812800" y="4766866"/>
            <a:ext cx="2794000" cy="0"/>
          </a:xfrm>
          <a:prstGeom prst="line">
            <a:avLst/>
          </a:prstGeom>
          <a:noFill/>
          <a:ln w="6350">
            <a:solidFill>
              <a:srgbClr val="222A35"/>
            </a:solidFill>
            <a:prstDash val="solid"/>
          </a:ln>
        </p:spPr>
      </p:sp>
      <p:sp>
        <p:nvSpPr>
          <p:cNvPr id="50" name="Text 48"/>
          <p:cNvSpPr/>
          <p:nvPr/>
        </p:nvSpPr>
        <p:spPr>
          <a:xfrm>
            <a:off x="812800" y="4820841"/>
            <a:ext cx="272084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CC00"/>
                </a:solidFill>
                <a:latin typeface="Courier New" pitchFamily="49" charset="0"/>
                <a:ea typeface="Courier New" pitchFamily="49" charset="-122"/>
                <a:cs typeface="Courier New" pitchFamily="49" charset="-120"/>
              </a:rPr>
              <a:t>?wiki · ?contact</a:t>
            </a:r>
            <a:endParaRPr lang="en-US" sz="1600" dirty="0"/>
          </a:p>
        </p:txBody>
      </p:sp>
      <p:sp>
        <p:nvSpPr>
          <p:cNvPr id="51" name="Shape 49"/>
          <p:cNvSpPr/>
          <p:nvPr/>
        </p:nvSpPr>
        <p:spPr>
          <a:xfrm>
            <a:off x="3606800" y="4766866"/>
            <a:ext cx="2540000" cy="0"/>
          </a:xfrm>
          <a:prstGeom prst="line">
            <a:avLst/>
          </a:prstGeom>
          <a:noFill/>
          <a:ln w="6350">
            <a:solidFill>
              <a:srgbClr val="222A35"/>
            </a:solidFill>
            <a:prstDash val="solid"/>
          </a:ln>
        </p:spPr>
      </p:sp>
      <p:sp>
        <p:nvSpPr>
          <p:cNvPr id="52" name="Text 50"/>
          <p:cNvSpPr/>
          <p:nvPr/>
        </p:nvSpPr>
        <p:spPr>
          <a:xfrm>
            <a:off x="3606800" y="4820841"/>
            <a:ext cx="24592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 ← · ←</a:t>
            </a:r>
            <a:endParaRPr lang="en-US" sz="1600" dirty="0"/>
          </a:p>
        </p:txBody>
      </p:sp>
      <p:sp>
        <p:nvSpPr>
          <p:cNvPr id="53" name="Shape 51"/>
          <p:cNvSpPr/>
          <p:nvPr/>
        </p:nvSpPr>
        <p:spPr>
          <a:xfrm>
            <a:off x="6146800" y="4766866"/>
            <a:ext cx="5232400" cy="0"/>
          </a:xfrm>
          <a:prstGeom prst="line">
            <a:avLst/>
          </a:prstGeom>
          <a:noFill/>
          <a:ln w="6350">
            <a:solidFill>
              <a:srgbClr val="222A35"/>
            </a:solidFill>
            <a:prstDash val="solid"/>
          </a:ln>
        </p:spPr>
      </p:sp>
      <p:sp>
        <p:nvSpPr>
          <p:cNvPr id="54" name="Text 52"/>
          <p:cNvSpPr/>
          <p:nvPr/>
        </p:nvSpPr>
        <p:spPr>
          <a:xfrm>
            <a:off x="6146800" y="4820841"/>
            <a:ext cx="52324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Arial" pitchFamily="34" charset="0"/>
                <a:ea typeface="Arial" pitchFamily="34" charset="-122"/>
                <a:cs typeface="Arial" pitchFamily="34" charset="-120"/>
              </a:rPr>
              <a:t>ウィキ · 連絡先</a:t>
            </a:r>
            <a:endParaRPr lang="en-US" sz="1600" dirty="0"/>
          </a:p>
        </p:txBody>
      </p:sp>
      <p:sp>
        <p:nvSpPr>
          <p:cNvPr id="55" name="Shape 53"/>
          <p:cNvSpPr/>
          <p:nvPr/>
        </p:nvSpPr>
        <p:spPr>
          <a:xfrm>
            <a:off x="812800" y="5128816"/>
            <a:ext cx="2794000" cy="0"/>
          </a:xfrm>
          <a:prstGeom prst="line">
            <a:avLst/>
          </a:prstGeom>
          <a:noFill/>
          <a:ln w="6350">
            <a:solidFill>
              <a:srgbClr val="222A35"/>
            </a:solidFill>
            <a:prstDash val="solid"/>
          </a:ln>
        </p:spPr>
      </p:sp>
      <p:sp>
        <p:nvSpPr>
          <p:cNvPr id="56" name="Text 54"/>
          <p:cNvSpPr/>
          <p:nvPr/>
        </p:nvSpPr>
        <p:spPr>
          <a:xfrm>
            <a:off x="812800" y="5182791"/>
            <a:ext cx="272084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7D8894"/>
                </a:solidFill>
                <a:latin typeface="Courier New" pitchFamily="49" charset="0"/>
                <a:ea typeface="Courier New" pitchFamily="49" charset="-122"/>
                <a:cs typeface="Courier New" pitchFamily="49" charset="-120"/>
              </a:rPr>
              <a:t>—</a:t>
            </a:r>
            <a:endParaRPr lang="en-US" sz="1600" dirty="0"/>
          </a:p>
        </p:txBody>
      </p:sp>
      <p:sp>
        <p:nvSpPr>
          <p:cNvPr id="57" name="Shape 55"/>
          <p:cNvSpPr/>
          <p:nvPr/>
        </p:nvSpPr>
        <p:spPr>
          <a:xfrm>
            <a:off x="3606800" y="5128816"/>
            <a:ext cx="2540000" cy="0"/>
          </a:xfrm>
          <a:prstGeom prst="line">
            <a:avLst/>
          </a:prstGeom>
          <a:noFill/>
          <a:ln w="6350">
            <a:solidFill>
              <a:srgbClr val="222A35"/>
            </a:solidFill>
            <a:prstDash val="solid"/>
          </a:ln>
        </p:spPr>
      </p:sp>
      <p:sp>
        <p:nvSpPr>
          <p:cNvPr id="58" name="Text 56"/>
          <p:cNvSpPr/>
          <p:nvPr/>
        </p:nvSpPr>
        <p:spPr>
          <a:xfrm>
            <a:off x="3606800" y="5182791"/>
            <a:ext cx="24592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 1 4 2 Enter</a:t>
            </a:r>
            <a:endParaRPr lang="en-US" sz="1600" dirty="0"/>
          </a:p>
        </p:txBody>
      </p:sp>
      <p:sp>
        <p:nvSpPr>
          <p:cNvPr id="59" name="Shape 57"/>
          <p:cNvSpPr/>
          <p:nvPr/>
        </p:nvSpPr>
        <p:spPr>
          <a:xfrm>
            <a:off x="6146800" y="5128816"/>
            <a:ext cx="5232400" cy="0"/>
          </a:xfrm>
          <a:prstGeom prst="line">
            <a:avLst/>
          </a:prstGeom>
          <a:noFill/>
          <a:ln w="6350">
            <a:solidFill>
              <a:srgbClr val="222A35"/>
            </a:solidFill>
            <a:prstDash val="solid"/>
          </a:ln>
        </p:spPr>
      </p:sp>
      <p:sp>
        <p:nvSpPr>
          <p:cNvPr id="60" name="Text 58"/>
          <p:cNvSpPr/>
          <p:nvPr/>
        </p:nvSpPr>
        <p:spPr>
          <a:xfrm>
            <a:off x="6146800" y="5182791"/>
            <a:ext cx="523240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E6EDF3"/>
                </a:solidFill>
                <a:latin typeface="Arial" pitchFamily="34" charset="0"/>
                <a:ea typeface="Arial" pitchFamily="34" charset="-122"/>
                <a:cs typeface="Arial" pitchFamily="34" charset="-120"/>
              </a:rPr>
              <a:t>142文字のヒートマップ（新しいタブ）</a:t>
            </a:r>
            <a:endParaRPr lang="en-US" sz="1600" dirty="0"/>
          </a:p>
        </p:txBody>
      </p:sp>
      <p:sp>
        <p:nvSpPr>
          <p:cNvPr id="61" name="Text 5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62" name="Text 60"/>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サイト</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2つの切り替え</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言語とテーマ</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2636044"/>
        </p:xfrm>
        <a:graphic>
          <a:graphicData uri="http://schemas.openxmlformats.org/drawingml/2006/table">
            <a:tbl>
              <a:tblPr/>
              <a:tblGrid>
                <a:gridCol w="5910072"/>
                <a:gridCol w="1794129"/>
                <a:gridCol w="1794129"/>
                <a:gridCol w="1055370"/>
              </a:tblGrid>
              <a:tr h="43934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ページ</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言語</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テーマ</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記憶</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目次ページ、FAQ、基地ページ2件、分析ページ16件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日本語 / EN</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ライト / ダーク</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あり</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カレンダー</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日本語 / EN</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ダーク</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なし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ギャラリー3件、ヒートマップ103件、IPEマップ I・II</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英語</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ダーク</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7D889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NOTAM再現ページ、NOTAMマッパー</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切り替えなし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ダーク</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7D889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キー</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J・N・E</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A・D</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7D889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5" name="Text 2"/>
          <p:cNvSpPr/>
          <p:nvPr/>
        </p:nvSpPr>
        <p:spPr>
          <a:xfrm>
            <a:off x="812800" y="4833094"/>
            <a:ext cx="1088339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1行目の20ページでは、選択がブラウザに保存されて次のページにも引き継がれます。テーマを選ぶまでは、ページはOSの設定に従います。</a:t>
            </a:r>
            <a:endParaRPr lang="en-US" sz="16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7" name="Text 4"/>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サイト</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データの作り方</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データの流れ</a:t>
            </a:r>
            <a:endParaRPr lang="en-US" sz="3600" dirty="0"/>
          </a:p>
        </p:txBody>
      </p:sp>
      <p:sp>
        <p:nvSpPr>
          <p:cNvPr id="4" name="Shape 2"/>
          <p:cNvSpPr/>
          <p:nvPr/>
        </p:nvSpPr>
        <p:spPr>
          <a:xfrm>
            <a:off x="815975" y="1984325"/>
            <a:ext cx="2228850" cy="2886670"/>
          </a:xfrm>
          <a:prstGeom prst="roundRect">
            <a:avLst>
              <a:gd name="adj" fmla="val 3276"/>
            </a:avLst>
          </a:prstGeom>
          <a:solidFill>
            <a:srgbClr val="0E141B"/>
          </a:solidFill>
          <a:ln w="6350">
            <a:solidFill>
              <a:srgbClr val="2A3340"/>
            </a:solidFill>
            <a:prstDash val="solid"/>
          </a:ln>
        </p:spPr>
      </p:sp>
      <p:sp>
        <p:nvSpPr>
          <p:cNvPr id="5" name="Text 3"/>
          <p:cNvSpPr/>
          <p:nvPr/>
        </p:nvSpPr>
        <p:spPr>
          <a:xfrm>
            <a:off x="971550" y="2139900"/>
            <a:ext cx="197523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録音</a:t>
            </a:r>
            <a:endParaRPr lang="en-US" sz="1200" dirty="0"/>
          </a:p>
        </p:txBody>
      </p:sp>
      <p:sp>
        <p:nvSpPr>
          <p:cNvPr id="6" name="Text 4"/>
          <p:cNvSpPr/>
          <p:nvPr/>
        </p:nvSpPr>
        <p:spPr>
          <a:xfrm>
            <a:off x="971550" y="2429421"/>
            <a:ext cx="197523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北米・欧州の</a:t>
            </a:r>
            <a:endParaRPr lang="en-US" sz="1200" dirty="0"/>
          </a:p>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オンライン受信機</a:t>
            </a:r>
            <a:endParaRPr lang="en-US" sz="1200" dirty="0"/>
          </a:p>
        </p:txBody>
      </p:sp>
      <p:sp>
        <p:nvSpPr>
          <p:cNvPr id="7" name="Text 5"/>
          <p:cNvSpPr/>
          <p:nvPr/>
        </p:nvSpPr>
        <p:spPr>
          <a:xfrm>
            <a:off x="971550" y="2962821"/>
            <a:ext cx="197523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ライブ配信：1日を</a:t>
            </a:r>
            <a:endParaRPr lang="en-US" sz="1200" dirty="0"/>
          </a:p>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前半Aと後半Bに分割</a:t>
            </a:r>
            <a:endParaRPr lang="en-US" sz="1200" dirty="0"/>
          </a:p>
        </p:txBody>
      </p:sp>
      <p:sp>
        <p:nvSpPr>
          <p:cNvPr id="8" name="Text 6"/>
          <p:cNvSpPr/>
          <p:nvPr/>
        </p:nvSpPr>
        <p:spPr>
          <a:xfrm>
            <a:off x="971550" y="3496221"/>
            <a:ext cx="197523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録画809日分</a:t>
            </a:r>
            <a:endParaRPr lang="en-US" sz="1200" dirty="0"/>
          </a:p>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230203–260908</a:t>
            </a:r>
            <a:endParaRPr lang="en-US" sz="1200" dirty="0"/>
          </a:p>
        </p:txBody>
      </p:sp>
      <p:sp>
        <p:nvSpPr>
          <p:cNvPr id="9" name="Text 7"/>
          <p:cNvSpPr/>
          <p:nvPr/>
        </p:nvSpPr>
        <p:spPr>
          <a:xfrm>
            <a:off x="971550" y="4029621"/>
            <a:ext cx="197523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それ以前：DCRPの</a:t>
            </a:r>
            <a:endParaRPr lang="en-US" sz="1200" dirty="0"/>
          </a:p>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編集録音（220125〜）</a:t>
            </a:r>
            <a:endParaRPr lang="en-US" sz="1200" dirty="0"/>
          </a:p>
        </p:txBody>
      </p:sp>
      <p:pic>
        <p:nvPicPr>
          <p:cNvPr id="10" name="Image 0" descr="arrow-right">    </p:cNvPr>
          <p:cNvPicPr>
            <a:picLocks noChangeAspect="1"/>
          </p:cNvPicPr>
          <p:nvPr/>
        </p:nvPicPr>
        <p:blipFill>
          <a:blip r:embed="rId1"/>
          <a:srcRect l="0" r="0" t="0" b="0"/>
          <a:stretch/>
        </p:blipFill>
        <p:spPr>
          <a:xfrm>
            <a:off x="3124200" y="3376861"/>
            <a:ext cx="203200" cy="101600"/>
          </a:xfrm>
          <a:prstGeom prst="rect">
            <a:avLst/>
          </a:prstGeom>
        </p:spPr>
      </p:pic>
      <p:sp>
        <p:nvSpPr>
          <p:cNvPr id="11" name="Shape 8"/>
          <p:cNvSpPr/>
          <p:nvPr/>
        </p:nvSpPr>
        <p:spPr>
          <a:xfrm>
            <a:off x="3406775" y="1984325"/>
            <a:ext cx="2228850" cy="2886670"/>
          </a:xfrm>
          <a:prstGeom prst="roundRect">
            <a:avLst>
              <a:gd name="adj" fmla="val 3276"/>
            </a:avLst>
          </a:prstGeom>
          <a:solidFill>
            <a:srgbClr val="0E141B"/>
          </a:solidFill>
          <a:ln w="6350">
            <a:solidFill>
              <a:srgbClr val="2A3340"/>
            </a:solidFill>
            <a:prstDash val="solid"/>
          </a:ln>
        </p:spPr>
      </p:sp>
      <p:sp>
        <p:nvSpPr>
          <p:cNvPr id="12" name="Text 9"/>
          <p:cNvSpPr/>
          <p:nvPr/>
        </p:nvSpPr>
        <p:spPr>
          <a:xfrm>
            <a:off x="3562350" y="2139900"/>
            <a:ext cx="197523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確認</a:t>
            </a:r>
            <a:endParaRPr lang="en-US" sz="1200" dirty="0"/>
          </a:p>
        </p:txBody>
      </p:sp>
      <p:sp>
        <p:nvSpPr>
          <p:cNvPr id="13" name="Text 10"/>
          <p:cNvSpPr/>
          <p:nvPr/>
        </p:nvSpPr>
        <p:spPr>
          <a:xfrm>
            <a:off x="3562350" y="2429421"/>
            <a:ext cx="197523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EAMごとにUTC時刻、</a:t>
            </a:r>
            <a:endParaRPr lang="en-US" sz="1200" dirty="0"/>
          </a:p>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コールサイン、文面を記録</a:t>
            </a:r>
            <a:endParaRPr lang="en-US" sz="1200" dirty="0"/>
          </a:p>
        </p:txBody>
      </p:sp>
      <p:sp>
        <p:nvSpPr>
          <p:cNvPr id="14" name="Text 11"/>
          <p:cNvSpPr/>
          <p:nvPr/>
        </p:nvSpPr>
        <p:spPr>
          <a:xfrm>
            <a:off x="3562350" y="2962821"/>
            <a:ext cx="197523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確認済みの日 =</a:t>
            </a:r>
            <a:endParaRPr lang="en-US" sz="1200" dirty="0"/>
          </a:p>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DTCPタイムカード</a:t>
            </a:r>
            <a:endParaRPr lang="en-US" sz="1200" dirty="0"/>
          </a:p>
        </p:txBody>
      </p:sp>
      <p:sp>
        <p:nvSpPr>
          <p:cNvPr id="15" name="Text 12"/>
          <p:cNvSpPr/>
          <p:nvPr/>
        </p:nvSpPr>
        <p:spPr>
          <a:xfrm>
            <a:off x="3562350" y="3496221"/>
            <a:ext cx="197523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タイムカード641日分</a:t>
            </a:r>
            <a:endParaRPr lang="en-US" sz="1200" dirty="0"/>
          </a:p>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230623–261013</a:t>
            </a:r>
            <a:endParaRPr lang="en-US" sz="1200" dirty="0"/>
          </a:p>
        </p:txBody>
      </p:sp>
      <p:sp>
        <p:nvSpPr>
          <p:cNvPr id="16" name="Text 13"/>
          <p:cNvSpPr/>
          <p:nvPr/>
        </p:nvSpPr>
        <p:spPr>
          <a:xfrm>
            <a:off x="3562350" y="4029621"/>
            <a:ext cx="197523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確認済みの録画：</a:t>
            </a:r>
            <a:endParaRPr lang="en-US" sz="1200" dirty="0"/>
          </a:p>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809日中474日</a:t>
            </a:r>
            <a:endParaRPr lang="en-US" sz="1200" dirty="0"/>
          </a:p>
        </p:txBody>
      </p:sp>
      <p:pic>
        <p:nvPicPr>
          <p:cNvPr id="17" name="Image 1" descr="arrow-right">    </p:cNvPr>
          <p:cNvPicPr>
            <a:picLocks noChangeAspect="1"/>
          </p:cNvPicPr>
          <p:nvPr/>
        </p:nvPicPr>
        <p:blipFill>
          <a:blip r:embed="rId2"/>
          <a:srcRect l="0" r="0" t="0" b="0"/>
          <a:stretch/>
        </p:blipFill>
        <p:spPr>
          <a:xfrm>
            <a:off x="5715000" y="3376861"/>
            <a:ext cx="203200" cy="101600"/>
          </a:xfrm>
          <a:prstGeom prst="rect">
            <a:avLst/>
          </a:prstGeom>
        </p:spPr>
      </p:pic>
      <p:sp>
        <p:nvSpPr>
          <p:cNvPr id="18" name="Shape 14"/>
          <p:cNvSpPr/>
          <p:nvPr/>
        </p:nvSpPr>
        <p:spPr>
          <a:xfrm>
            <a:off x="5997575" y="1984325"/>
            <a:ext cx="2228850" cy="2886670"/>
          </a:xfrm>
          <a:prstGeom prst="roundRect">
            <a:avLst>
              <a:gd name="adj" fmla="val 3276"/>
            </a:avLst>
          </a:prstGeom>
          <a:solidFill>
            <a:srgbClr val="0E141B"/>
          </a:solidFill>
          <a:ln w="6350">
            <a:solidFill>
              <a:srgbClr val="2A3340"/>
            </a:solidFill>
            <a:prstDash val="solid"/>
          </a:ln>
        </p:spPr>
      </p:sp>
      <p:sp>
        <p:nvSpPr>
          <p:cNvPr id="19" name="Text 15"/>
          <p:cNvSpPr/>
          <p:nvPr/>
        </p:nvSpPr>
        <p:spPr>
          <a:xfrm>
            <a:off x="6153150" y="2139900"/>
            <a:ext cx="197523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記録 · SHORTWAVES</a:t>
            </a:r>
            <a:endParaRPr lang="en-US" sz="1200" dirty="0"/>
          </a:p>
        </p:txBody>
      </p:sp>
      <p:sp>
        <p:nvSpPr>
          <p:cNvPr id="20" name="Text 16"/>
          <p:cNvSpPr/>
          <p:nvPr/>
        </p:nvSpPr>
        <p:spPr>
          <a:xfrm>
            <a:off x="6153150" y="2429421"/>
            <a:ext cx="197523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放送1回につき1行</a:t>
            </a:r>
            <a:endParaRPr lang="en-US" sz="1200" dirty="0"/>
          </a:p>
        </p:txBody>
      </p:sp>
      <p:sp>
        <p:nvSpPr>
          <p:cNvPr id="21" name="Text 17"/>
          <p:cNvSpPr/>
          <p:nvPr/>
        </p:nvSpPr>
        <p:spPr>
          <a:xfrm>
            <a:off x="6153150" y="2734221"/>
            <a:ext cx="558800" cy="228600"/>
          </a:xfrm>
          <a:custGeom>
            <a:avLst/>
            <a:gdLst/>
            <a:ahLst/>
            <a:cxnLst/>
            <a:rect l="l" t="t" r="r" b="b"/>
            <a:pathLst>
              <a:path w="558800" h="228600">
                <a:moveTo>
                  <a:pt x="38100" y="0"/>
                </a:moveTo>
                <a:lnTo>
                  <a:pt x="520700" y="0"/>
                </a:lnTo>
                <a:arcTo hR="38100" wR="38100" stAng="16200000" swAng="5400000"/>
                <a:lnTo>
                  <a:pt x="558800" y="190500"/>
                </a:lnTo>
                <a:arcTo hR="38100" wR="38100" stAng="0" swAng="5400000"/>
                <a:lnTo>
                  <a:pt x="38100" y="228600"/>
                </a:lnTo>
                <a:arcTo hR="38100" wR="38100" stAng="5400000" swAng="5400000"/>
                <a:lnTo>
                  <a:pt x="0" y="38100"/>
                </a:lnTo>
                <a:arcTo hR="38100" wR="38100" stAng="10800000" swAng="5400000"/>
                <a:close/>
              </a:path>
            </a:pathLst>
          </a:custGeom>
          <a:solidFill>
            <a:srgbClr val="141A20"/>
          </a:solidFill>
          <a:ln/>
        </p:spPr>
        <p:txBody>
          <a:bodyPr wrap="square" lIns="0" tIns="0" rIns="0" bIns="0" rtlCol="0" anchor="t">
            <a:normAutofit/>
          </a:bodyPr>
          <a:lstStyle/>
          <a:p>
            <a:pPr algn="ctr" indent="0" marL="0">
              <a:lnSpc>
                <a:spcPts val="1800"/>
              </a:lnSpc>
              <a:buNone/>
            </a:pPr>
            <a:r>
              <a:rPr lang="en-US" sz="1200" dirty="0">
                <a:solidFill>
                  <a:srgbClr val="FFCC00"/>
                </a:solidFill>
                <a:latin typeface="Courier New" pitchFamily="49" charset="0"/>
                <a:ea typeface="Courier New" pitchFamily="49" charset="-122"/>
                <a:cs typeface="Courier New" pitchFamily="49" charset="-120"/>
              </a:rPr>
              <a:t>*</a:t>
            </a:r>
            <a:endParaRPr lang="en-US" sz="1200" dirty="0"/>
          </a:p>
        </p:txBody>
      </p:sp>
      <p:sp>
        <p:nvSpPr>
          <p:cNvPr id="22" name="Text 18"/>
          <p:cNvSpPr/>
          <p:nvPr/>
        </p:nvSpPr>
        <p:spPr>
          <a:xfrm>
            <a:off x="6788150" y="2734221"/>
            <a:ext cx="1346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部分的な受信</a:t>
            </a:r>
            <a:endParaRPr lang="en-US" sz="1200" dirty="0"/>
          </a:p>
        </p:txBody>
      </p:sp>
      <p:sp>
        <p:nvSpPr>
          <p:cNvPr id="23" name="Text 19"/>
          <p:cNvSpPr/>
          <p:nvPr/>
        </p:nvSpPr>
        <p:spPr>
          <a:xfrm>
            <a:off x="6153150" y="3039021"/>
            <a:ext cx="558800" cy="228600"/>
          </a:xfrm>
          <a:custGeom>
            <a:avLst/>
            <a:gdLst/>
            <a:ahLst/>
            <a:cxnLst/>
            <a:rect l="l" t="t" r="r" b="b"/>
            <a:pathLst>
              <a:path w="558800" h="228600">
                <a:moveTo>
                  <a:pt x="38100" y="0"/>
                </a:moveTo>
                <a:lnTo>
                  <a:pt x="520700" y="0"/>
                </a:lnTo>
                <a:arcTo hR="38100" wR="38100" stAng="16200000" swAng="5400000"/>
                <a:lnTo>
                  <a:pt x="558800" y="190500"/>
                </a:lnTo>
                <a:arcTo hR="38100" wR="38100" stAng="0" swAng="5400000"/>
                <a:lnTo>
                  <a:pt x="38100" y="228600"/>
                </a:lnTo>
                <a:arcTo hR="38100" wR="38100" stAng="5400000" swAng="5400000"/>
                <a:lnTo>
                  <a:pt x="0" y="38100"/>
                </a:lnTo>
                <a:arcTo hR="38100" wR="38100" stAng="10800000" swAng="5400000"/>
                <a:close/>
              </a:path>
            </a:pathLst>
          </a:custGeom>
          <a:solidFill>
            <a:srgbClr val="141A20"/>
          </a:solidFill>
          <a:ln/>
        </p:spPr>
        <p:txBody>
          <a:bodyPr wrap="square" lIns="0" tIns="0" rIns="0" bIns="0" rtlCol="0" anchor="t">
            <a:normAutofit/>
          </a:bodyPr>
          <a:lstStyle/>
          <a:p>
            <a:pPr algn="ctr" indent="0" marL="0">
              <a:lnSpc>
                <a:spcPts val="1800"/>
              </a:lnSpc>
              <a:buNone/>
            </a:pPr>
            <a:r>
              <a:rPr lang="en-US" sz="1200" dirty="0">
                <a:solidFill>
                  <a:srgbClr val="FFCC00"/>
                </a:solidFill>
                <a:latin typeface="Courier New" pitchFamily="49" charset="0"/>
                <a:ea typeface="Courier New" pitchFamily="49" charset="-122"/>
                <a:cs typeface="Courier New" pitchFamily="49" charset="-120"/>
              </a:rPr>
              <a:t>\</a:t>
            </a:r>
            <a:endParaRPr lang="en-US" sz="1200" dirty="0"/>
          </a:p>
        </p:txBody>
      </p:sp>
      <p:sp>
        <p:nvSpPr>
          <p:cNvPr id="24" name="Text 20"/>
          <p:cNvSpPr/>
          <p:nvPr/>
        </p:nvSpPr>
        <p:spPr>
          <a:xfrm>
            <a:off x="6788150" y="3039021"/>
            <a:ext cx="13462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無効とした</a:t>
            </a:r>
            <a:endParaRPr lang="en-US" sz="1200" dirty="0"/>
          </a:p>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読み取り</a:t>
            </a:r>
            <a:endParaRPr lang="en-US" sz="1200" dirty="0"/>
          </a:p>
        </p:txBody>
      </p:sp>
      <p:sp>
        <p:nvSpPr>
          <p:cNvPr id="25" name="Text 21"/>
          <p:cNvSpPr/>
          <p:nvPr/>
        </p:nvSpPr>
        <p:spPr>
          <a:xfrm>
            <a:off x="6153150" y="3572421"/>
            <a:ext cx="558800" cy="228600"/>
          </a:xfrm>
          <a:custGeom>
            <a:avLst/>
            <a:gdLst/>
            <a:ahLst/>
            <a:cxnLst/>
            <a:rect l="l" t="t" r="r" b="b"/>
            <a:pathLst>
              <a:path w="558800" h="228600">
                <a:moveTo>
                  <a:pt x="38100" y="0"/>
                </a:moveTo>
                <a:lnTo>
                  <a:pt x="520700" y="0"/>
                </a:lnTo>
                <a:arcTo hR="38100" wR="38100" stAng="16200000" swAng="5400000"/>
                <a:lnTo>
                  <a:pt x="558800" y="190500"/>
                </a:lnTo>
                <a:arcTo hR="38100" wR="38100" stAng="0" swAng="5400000"/>
                <a:lnTo>
                  <a:pt x="38100" y="228600"/>
                </a:lnTo>
                <a:arcTo hR="38100" wR="38100" stAng="5400000" swAng="5400000"/>
                <a:lnTo>
                  <a:pt x="0" y="38100"/>
                </a:lnTo>
                <a:arcTo hR="38100" wR="38100" stAng="10800000" swAng="5400000"/>
                <a:close/>
              </a:path>
            </a:pathLst>
          </a:custGeom>
          <a:solidFill>
            <a:srgbClr val="141A20"/>
          </a:solidFill>
          <a:ln/>
        </p:spPr>
        <p:txBody>
          <a:bodyPr wrap="square" lIns="0" tIns="0" rIns="0" bIns="0" rtlCol="0" anchor="t">
            <a:normAutofit/>
          </a:bodyPr>
          <a:lstStyle/>
          <a:p>
            <a:pPr algn="ctr" indent="0" marL="0">
              <a:lnSpc>
                <a:spcPts val="1800"/>
              </a:lnSpc>
              <a:buNone/>
            </a:pPr>
            <a:r>
              <a:rPr lang="en-US" sz="1200" dirty="0">
                <a:solidFill>
                  <a:srgbClr val="FFCC00"/>
                </a:solidFill>
                <a:latin typeface="Courier New" pitchFamily="49" charset="0"/>
                <a:ea typeface="Courier New" pitchFamily="49" charset="-122"/>
                <a:cs typeface="Courier New" pitchFamily="49" charset="-120"/>
              </a:rPr>
              <a:t>? _ .</a:t>
            </a:r>
            <a:endParaRPr lang="en-US" sz="1200" dirty="0"/>
          </a:p>
        </p:txBody>
      </p:sp>
      <p:sp>
        <p:nvSpPr>
          <p:cNvPr id="26" name="Text 22"/>
          <p:cNvSpPr/>
          <p:nvPr/>
        </p:nvSpPr>
        <p:spPr>
          <a:xfrm>
            <a:off x="6788150" y="3572421"/>
            <a:ext cx="13462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受信できなかった</a:t>
            </a:r>
            <a:endParaRPr lang="en-US" sz="1200" dirty="0"/>
          </a:p>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文字</a:t>
            </a:r>
            <a:endParaRPr lang="en-US" sz="1200" dirty="0"/>
          </a:p>
        </p:txBody>
      </p:sp>
      <p:sp>
        <p:nvSpPr>
          <p:cNvPr id="27" name="Text 23"/>
          <p:cNvSpPr/>
          <p:nvPr/>
        </p:nvSpPr>
        <p:spPr>
          <a:xfrm>
            <a:off x="6153150" y="4105821"/>
            <a:ext cx="197523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30文字を超える長さは</a:t>
            </a:r>
            <a:endParaRPr lang="en-US" sz="1200" dirty="0"/>
          </a:p>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放送中に読み上げられる</a:t>
            </a:r>
            <a:endParaRPr lang="en-US" sz="1200" dirty="0"/>
          </a:p>
        </p:txBody>
      </p:sp>
      <p:pic>
        <p:nvPicPr>
          <p:cNvPr id="28" name="Image 2" descr="arrow-right">    </p:cNvPr>
          <p:cNvPicPr>
            <a:picLocks noChangeAspect="1"/>
          </p:cNvPicPr>
          <p:nvPr/>
        </p:nvPicPr>
        <p:blipFill>
          <a:blip r:embed="rId3"/>
          <a:srcRect l="0" r="0" t="0" b="0"/>
          <a:stretch/>
        </p:blipFill>
        <p:spPr>
          <a:xfrm>
            <a:off x="8305800" y="3376861"/>
            <a:ext cx="203200" cy="101600"/>
          </a:xfrm>
          <a:prstGeom prst="rect">
            <a:avLst/>
          </a:prstGeom>
        </p:spPr>
      </p:pic>
      <p:sp>
        <p:nvSpPr>
          <p:cNvPr id="29" name="Shape 24"/>
          <p:cNvSpPr/>
          <p:nvPr/>
        </p:nvSpPr>
        <p:spPr>
          <a:xfrm>
            <a:off x="8588375" y="1984325"/>
            <a:ext cx="2787650" cy="2886670"/>
          </a:xfrm>
          <a:prstGeom prst="roundRect">
            <a:avLst>
              <a:gd name="adj" fmla="val 2620"/>
            </a:avLst>
          </a:prstGeom>
          <a:solidFill>
            <a:srgbClr val="0E141B"/>
          </a:solidFill>
          <a:ln w="6350">
            <a:solidFill>
              <a:srgbClr val="2A3340"/>
            </a:solidFill>
            <a:prstDash val="solid"/>
          </a:ln>
        </p:spPr>
      </p:sp>
      <p:sp>
        <p:nvSpPr>
          <p:cNvPr id="30" name="Text 25"/>
          <p:cNvSpPr/>
          <p:nvPr/>
        </p:nvSpPr>
        <p:spPr>
          <a:xfrm>
            <a:off x="8743950" y="2139900"/>
            <a:ext cx="255079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ページの基準日（2026年）</a:t>
            </a:r>
            <a:endParaRPr lang="en-US" sz="1200" dirty="0"/>
          </a:p>
        </p:txBody>
      </p:sp>
      <p:sp>
        <p:nvSpPr>
          <p:cNvPr id="31" name="Text 26"/>
          <p:cNvSpPr/>
          <p:nvPr/>
        </p:nvSpPr>
        <p:spPr>
          <a:xfrm>
            <a:off x="8743950" y="2429421"/>
            <a:ext cx="1727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カレンダー</a:t>
            </a:r>
            <a:endParaRPr lang="en-US" sz="1200" dirty="0"/>
          </a:p>
        </p:txBody>
      </p:sp>
      <p:sp>
        <p:nvSpPr>
          <p:cNvPr id="32" name="Text 27"/>
          <p:cNvSpPr/>
          <p:nvPr/>
        </p:nvSpPr>
        <p:spPr>
          <a:xfrm>
            <a:off x="10471150" y="2429421"/>
            <a:ext cx="7620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A9B4BF"/>
                </a:solidFill>
                <a:latin typeface="Arial" pitchFamily="34" charset="0"/>
                <a:ea typeface="Arial" pitchFamily="34" charset="-122"/>
                <a:cs typeface="Arial" pitchFamily="34" charset="-120"/>
              </a:rPr>
              <a:t>10月9日</a:t>
            </a:r>
            <a:endParaRPr lang="en-US" sz="1200" dirty="0"/>
          </a:p>
        </p:txBody>
      </p:sp>
      <p:sp>
        <p:nvSpPr>
          <p:cNvPr id="33" name="Text 28"/>
          <p:cNvSpPr/>
          <p:nvPr/>
        </p:nvSpPr>
        <p:spPr>
          <a:xfrm>
            <a:off x="8743950" y="2734221"/>
            <a:ext cx="1727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長文G4ブロック</a:t>
            </a:r>
            <a:endParaRPr lang="en-US" sz="1200" dirty="0"/>
          </a:p>
        </p:txBody>
      </p:sp>
      <p:sp>
        <p:nvSpPr>
          <p:cNvPr id="34" name="Text 29"/>
          <p:cNvSpPr/>
          <p:nvPr/>
        </p:nvSpPr>
        <p:spPr>
          <a:xfrm>
            <a:off x="10471150" y="2734221"/>
            <a:ext cx="7620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A9B4BF"/>
                </a:solidFill>
                <a:latin typeface="Arial" pitchFamily="34" charset="0"/>
                <a:ea typeface="Arial" pitchFamily="34" charset="-122"/>
                <a:cs typeface="Arial" pitchFamily="34" charset="-120"/>
              </a:rPr>
              <a:t>10月13日</a:t>
            </a:r>
            <a:endParaRPr lang="en-US" sz="1200" dirty="0"/>
          </a:p>
        </p:txBody>
      </p:sp>
      <p:sp>
        <p:nvSpPr>
          <p:cNvPr id="35" name="Text 30"/>
          <p:cNvSpPr/>
          <p:nvPr/>
        </p:nvSpPr>
        <p:spPr>
          <a:xfrm>
            <a:off x="8743950" y="3039021"/>
            <a:ext cx="1727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長さをまたぐ対</a:t>
            </a:r>
            <a:endParaRPr lang="en-US" sz="1200" dirty="0"/>
          </a:p>
        </p:txBody>
      </p:sp>
      <p:sp>
        <p:nvSpPr>
          <p:cNvPr id="36" name="Text 31"/>
          <p:cNvSpPr/>
          <p:nvPr/>
        </p:nvSpPr>
        <p:spPr>
          <a:xfrm>
            <a:off x="10471150" y="3039021"/>
            <a:ext cx="7620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A9B4BF"/>
                </a:solidFill>
                <a:latin typeface="Arial" pitchFamily="34" charset="0"/>
                <a:ea typeface="Arial" pitchFamily="34" charset="-122"/>
                <a:cs typeface="Arial" pitchFamily="34" charset="-120"/>
              </a:rPr>
              <a:t>10月6日</a:t>
            </a:r>
            <a:endParaRPr lang="en-US" sz="1200" dirty="0"/>
          </a:p>
        </p:txBody>
      </p:sp>
      <p:sp>
        <p:nvSpPr>
          <p:cNvPr id="37" name="Text 32"/>
          <p:cNvSpPr/>
          <p:nvPr/>
        </p:nvSpPr>
        <p:spPr>
          <a:xfrm>
            <a:off x="8743950" y="3343821"/>
            <a:ext cx="1727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ヒートマップについて</a:t>
            </a:r>
            <a:endParaRPr lang="en-US" sz="1200" dirty="0"/>
          </a:p>
        </p:txBody>
      </p:sp>
      <p:sp>
        <p:nvSpPr>
          <p:cNvPr id="38" name="Text 33"/>
          <p:cNvSpPr/>
          <p:nvPr/>
        </p:nvSpPr>
        <p:spPr>
          <a:xfrm>
            <a:off x="10471150" y="3343821"/>
            <a:ext cx="7620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A9B4BF"/>
                </a:solidFill>
                <a:latin typeface="Arial" pitchFamily="34" charset="0"/>
                <a:ea typeface="Arial" pitchFamily="34" charset="-122"/>
                <a:cs typeface="Arial" pitchFamily="34" charset="-120"/>
              </a:rPr>
              <a:t>10月5日</a:t>
            </a:r>
            <a:endParaRPr lang="en-US" sz="1200" dirty="0"/>
          </a:p>
        </p:txBody>
      </p:sp>
      <p:sp>
        <p:nvSpPr>
          <p:cNvPr id="39" name="Text 34"/>
          <p:cNvSpPr/>
          <p:nvPr/>
        </p:nvSpPr>
        <p:spPr>
          <a:xfrm>
            <a:off x="8743950" y="3648621"/>
            <a:ext cx="1727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再放送時系列</a:t>
            </a:r>
            <a:endParaRPr lang="en-US" sz="1200" dirty="0"/>
          </a:p>
        </p:txBody>
      </p:sp>
      <p:sp>
        <p:nvSpPr>
          <p:cNvPr id="40" name="Text 35"/>
          <p:cNvSpPr/>
          <p:nvPr/>
        </p:nvSpPr>
        <p:spPr>
          <a:xfrm>
            <a:off x="10471150" y="3648621"/>
            <a:ext cx="7620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A9B4BF"/>
                </a:solidFill>
                <a:latin typeface="Arial" pitchFamily="34" charset="0"/>
                <a:ea typeface="Arial" pitchFamily="34" charset="-122"/>
                <a:cs typeface="Arial" pitchFamily="34" charset="-120"/>
              </a:rPr>
              <a:t>9月24日</a:t>
            </a:r>
            <a:endParaRPr lang="en-US" sz="1200" dirty="0"/>
          </a:p>
        </p:txBody>
      </p:sp>
      <p:sp>
        <p:nvSpPr>
          <p:cNvPr id="41" name="Text 36"/>
          <p:cNvSpPr/>
          <p:nvPr/>
        </p:nvSpPr>
        <p:spPr>
          <a:xfrm>
            <a:off x="8743950" y="3953421"/>
            <a:ext cx="1727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30文字形式の分析</a:t>
            </a:r>
            <a:endParaRPr lang="en-US" sz="1200" dirty="0"/>
          </a:p>
        </p:txBody>
      </p:sp>
      <p:sp>
        <p:nvSpPr>
          <p:cNvPr id="42" name="Text 37"/>
          <p:cNvSpPr/>
          <p:nvPr/>
        </p:nvSpPr>
        <p:spPr>
          <a:xfrm>
            <a:off x="10471150" y="3953421"/>
            <a:ext cx="7620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A9B4BF"/>
                </a:solidFill>
                <a:latin typeface="Arial" pitchFamily="34" charset="0"/>
                <a:ea typeface="Arial" pitchFamily="34" charset="-122"/>
                <a:cs typeface="Arial" pitchFamily="34" charset="-120"/>
              </a:rPr>
              <a:t>7月29日</a:t>
            </a:r>
            <a:endParaRPr lang="en-US" sz="1200" dirty="0"/>
          </a:p>
        </p:txBody>
      </p:sp>
      <p:sp>
        <p:nvSpPr>
          <p:cNvPr id="43" name="Text 38"/>
          <p:cNvSpPr/>
          <p:nvPr/>
        </p:nvSpPr>
        <p:spPr>
          <a:xfrm>
            <a:off x="8743950" y="4258221"/>
            <a:ext cx="2550795"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最終更新：ミニットマン 3月3日 ·</a:t>
            </a:r>
            <a:endParaRPr lang="en-US" sz="1200" dirty="0"/>
          </a:p>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8888 3月15日（2026年）</a:t>
            </a:r>
            <a:endParaRPr lang="en-US" sz="1200" dirty="0"/>
          </a:p>
        </p:txBody>
      </p:sp>
      <p:sp>
        <p:nvSpPr>
          <p:cNvPr id="44" name="Text 39"/>
          <p:cNvSpPr/>
          <p:nvPr/>
        </p:nvSpPr>
        <p:spPr>
          <a:xfrm>
            <a:off x="812800" y="5128171"/>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各ページはそれぞれの作成日の記録から作られ、2つのページでデータが数か月ずれることもある</a:t>
            </a:r>
            <a:endParaRPr lang="en-US" sz="1600" dirty="0"/>
          </a:p>
        </p:txBody>
      </p:sp>
      <p:sp>
        <p:nvSpPr>
          <p:cNvPr id="45" name="Text 4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46" name="Text 41"/>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サイト</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2通りの数え方</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放送とメッセージ</a:t>
            </a:r>
            <a:endParaRPr lang="en-US" sz="3600" dirty="0"/>
          </a:p>
        </p:txBody>
      </p:sp>
      <p:sp>
        <p:nvSpPr>
          <p:cNvPr id="4" name="Text 2"/>
          <p:cNvSpPr/>
          <p:nvPr/>
        </p:nvSpPr>
        <p:spPr>
          <a:xfrm>
            <a:off x="812800" y="1981150"/>
            <a:ext cx="1088339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0467"/>
                </a:solidFill>
                <a:latin typeface="Arial" pitchFamily="34" charset="0"/>
                <a:ea typeface="Arial" pitchFamily="34" charset="-122"/>
                <a:cs typeface="Arial" pitchFamily="34" charset="-120"/>
              </a:rPr>
              <a:t>第4群</a:t>
            </a:r>
            <a:r>
              <a:rPr lang="en-US" sz="1200" dirty="0">
                <a:solidFill>
                  <a:srgbClr val="A9B4BF"/>
                </a:solidFill>
                <a:latin typeface="Arial" pitchFamily="34" charset="0"/>
                <a:ea typeface="Arial" pitchFamily="34" charset="-122"/>
                <a:cs typeface="Arial" pitchFamily="34" charset="-120"/>
              </a:rPr>
              <a:t> · 50文字 · 初回放送 251027 15:41 UTC · COMPETENT</a:t>
            </a:r>
            <a:endParaRPr lang="en-US" sz="1200" dirty="0"/>
          </a:p>
        </p:txBody>
      </p:sp>
      <p:sp>
        <p:nvSpPr>
          <p:cNvPr id="5" name="Text 3"/>
          <p:cNvSpPr/>
          <p:nvPr/>
        </p:nvSpPr>
        <p:spPr>
          <a:xfrm>
            <a:off x="815975" y="2251025"/>
            <a:ext cx="190500" cy="273050"/>
          </a:xfrm>
          <a:prstGeom prst="rect">
            <a:avLst/>
          </a:prstGeom>
          <a:solidFill>
            <a:srgbClr val="FF0467"/>
          </a:solidFill>
          <a:ln w="6350">
            <a:solidFill>
              <a:srgbClr val="FF0467"/>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6" name="Text 4"/>
          <p:cNvSpPr/>
          <p:nvPr/>
        </p:nvSpPr>
        <p:spPr>
          <a:xfrm>
            <a:off x="1025525" y="2251025"/>
            <a:ext cx="190500" cy="273050"/>
          </a:xfrm>
          <a:prstGeom prst="rect">
            <a:avLst/>
          </a:prstGeom>
          <a:solidFill>
            <a:srgbClr val="FF0467"/>
          </a:solidFill>
          <a:ln w="6350">
            <a:solidFill>
              <a:srgbClr val="FF0467"/>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7" name="Text 5"/>
          <p:cNvSpPr/>
          <p:nvPr/>
        </p:nvSpPr>
        <p:spPr>
          <a:xfrm>
            <a:off x="12350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8" name="Text 6"/>
          <p:cNvSpPr/>
          <p:nvPr/>
        </p:nvSpPr>
        <p:spPr>
          <a:xfrm>
            <a:off x="14446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9" name="Text 7"/>
          <p:cNvSpPr/>
          <p:nvPr/>
        </p:nvSpPr>
        <p:spPr>
          <a:xfrm>
            <a:off x="16541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Y</a:t>
            </a:r>
            <a:endParaRPr lang="en-US" sz="1600" dirty="0"/>
          </a:p>
        </p:txBody>
      </p:sp>
      <p:sp>
        <p:nvSpPr>
          <p:cNvPr id="10" name="Text 8"/>
          <p:cNvSpPr/>
          <p:nvPr/>
        </p:nvSpPr>
        <p:spPr>
          <a:xfrm>
            <a:off x="18637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11" name="Text 9"/>
          <p:cNvSpPr/>
          <p:nvPr/>
        </p:nvSpPr>
        <p:spPr>
          <a:xfrm>
            <a:off x="20732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12" name="Text 10"/>
          <p:cNvSpPr/>
          <p:nvPr/>
        </p:nvSpPr>
        <p:spPr>
          <a:xfrm>
            <a:off x="22828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13" name="Text 11"/>
          <p:cNvSpPr/>
          <p:nvPr/>
        </p:nvSpPr>
        <p:spPr>
          <a:xfrm>
            <a:off x="24923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14" name="Text 12"/>
          <p:cNvSpPr/>
          <p:nvPr/>
        </p:nvSpPr>
        <p:spPr>
          <a:xfrm>
            <a:off x="27019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15" name="Text 13"/>
          <p:cNvSpPr/>
          <p:nvPr/>
        </p:nvSpPr>
        <p:spPr>
          <a:xfrm>
            <a:off x="29114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16" name="Text 14"/>
          <p:cNvSpPr/>
          <p:nvPr/>
        </p:nvSpPr>
        <p:spPr>
          <a:xfrm>
            <a:off x="31210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17" name="Text 15"/>
          <p:cNvSpPr/>
          <p:nvPr/>
        </p:nvSpPr>
        <p:spPr>
          <a:xfrm>
            <a:off x="33305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Q</a:t>
            </a:r>
            <a:endParaRPr lang="en-US" sz="1600" dirty="0"/>
          </a:p>
        </p:txBody>
      </p:sp>
      <p:sp>
        <p:nvSpPr>
          <p:cNvPr id="18" name="Text 16"/>
          <p:cNvSpPr/>
          <p:nvPr/>
        </p:nvSpPr>
        <p:spPr>
          <a:xfrm>
            <a:off x="35401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F</a:t>
            </a:r>
            <a:endParaRPr lang="en-US" sz="1600" dirty="0"/>
          </a:p>
        </p:txBody>
      </p:sp>
      <p:sp>
        <p:nvSpPr>
          <p:cNvPr id="19" name="Text 17"/>
          <p:cNvSpPr/>
          <p:nvPr/>
        </p:nvSpPr>
        <p:spPr>
          <a:xfrm>
            <a:off x="37496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C</a:t>
            </a:r>
            <a:endParaRPr lang="en-US" sz="1600" dirty="0"/>
          </a:p>
        </p:txBody>
      </p:sp>
      <p:sp>
        <p:nvSpPr>
          <p:cNvPr id="20" name="Text 18"/>
          <p:cNvSpPr/>
          <p:nvPr/>
        </p:nvSpPr>
        <p:spPr>
          <a:xfrm>
            <a:off x="39592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R</a:t>
            </a:r>
            <a:endParaRPr lang="en-US" sz="1600" dirty="0"/>
          </a:p>
        </p:txBody>
      </p:sp>
      <p:sp>
        <p:nvSpPr>
          <p:cNvPr id="21" name="Text 19"/>
          <p:cNvSpPr/>
          <p:nvPr/>
        </p:nvSpPr>
        <p:spPr>
          <a:xfrm>
            <a:off x="41687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22" name="Text 20"/>
          <p:cNvSpPr/>
          <p:nvPr/>
        </p:nvSpPr>
        <p:spPr>
          <a:xfrm>
            <a:off x="43783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23" name="Text 21"/>
          <p:cNvSpPr/>
          <p:nvPr/>
        </p:nvSpPr>
        <p:spPr>
          <a:xfrm>
            <a:off x="45878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24" name="Text 22"/>
          <p:cNvSpPr/>
          <p:nvPr/>
        </p:nvSpPr>
        <p:spPr>
          <a:xfrm>
            <a:off x="47974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25" name="Text 23"/>
          <p:cNvSpPr/>
          <p:nvPr/>
        </p:nvSpPr>
        <p:spPr>
          <a:xfrm>
            <a:off x="50069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26" name="Text 24"/>
          <p:cNvSpPr/>
          <p:nvPr/>
        </p:nvSpPr>
        <p:spPr>
          <a:xfrm>
            <a:off x="52165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27" name="Text 25"/>
          <p:cNvSpPr/>
          <p:nvPr/>
        </p:nvSpPr>
        <p:spPr>
          <a:xfrm>
            <a:off x="54260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A</a:t>
            </a:r>
            <a:endParaRPr lang="en-US" sz="1600" dirty="0"/>
          </a:p>
        </p:txBody>
      </p:sp>
      <p:sp>
        <p:nvSpPr>
          <p:cNvPr id="28" name="Text 26"/>
          <p:cNvSpPr/>
          <p:nvPr/>
        </p:nvSpPr>
        <p:spPr>
          <a:xfrm>
            <a:off x="56356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29" name="Text 27"/>
          <p:cNvSpPr/>
          <p:nvPr/>
        </p:nvSpPr>
        <p:spPr>
          <a:xfrm>
            <a:off x="58451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30" name="Text 28"/>
          <p:cNvSpPr/>
          <p:nvPr/>
        </p:nvSpPr>
        <p:spPr>
          <a:xfrm>
            <a:off x="60547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C</a:t>
            </a:r>
            <a:endParaRPr lang="en-US" sz="1600" dirty="0"/>
          </a:p>
        </p:txBody>
      </p:sp>
      <p:sp>
        <p:nvSpPr>
          <p:cNvPr id="31" name="Text 29"/>
          <p:cNvSpPr/>
          <p:nvPr/>
        </p:nvSpPr>
        <p:spPr>
          <a:xfrm>
            <a:off x="62642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C</a:t>
            </a:r>
            <a:endParaRPr lang="en-US" sz="1600" dirty="0"/>
          </a:p>
        </p:txBody>
      </p:sp>
      <p:sp>
        <p:nvSpPr>
          <p:cNvPr id="32" name="Text 30"/>
          <p:cNvSpPr/>
          <p:nvPr/>
        </p:nvSpPr>
        <p:spPr>
          <a:xfrm>
            <a:off x="64738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33" name="Text 31"/>
          <p:cNvSpPr/>
          <p:nvPr/>
        </p:nvSpPr>
        <p:spPr>
          <a:xfrm>
            <a:off x="66833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34" name="Text 32"/>
          <p:cNvSpPr/>
          <p:nvPr/>
        </p:nvSpPr>
        <p:spPr>
          <a:xfrm>
            <a:off x="68929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3</a:t>
            </a:r>
            <a:endParaRPr lang="en-US" sz="1600" dirty="0"/>
          </a:p>
        </p:txBody>
      </p:sp>
      <p:sp>
        <p:nvSpPr>
          <p:cNvPr id="35" name="Text 33"/>
          <p:cNvSpPr/>
          <p:nvPr/>
        </p:nvSpPr>
        <p:spPr>
          <a:xfrm>
            <a:off x="71024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36" name="Text 34"/>
          <p:cNvSpPr/>
          <p:nvPr/>
        </p:nvSpPr>
        <p:spPr>
          <a:xfrm>
            <a:off x="73120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37" name="Text 35"/>
          <p:cNvSpPr/>
          <p:nvPr/>
        </p:nvSpPr>
        <p:spPr>
          <a:xfrm>
            <a:off x="75215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38" name="Text 36"/>
          <p:cNvSpPr/>
          <p:nvPr/>
        </p:nvSpPr>
        <p:spPr>
          <a:xfrm>
            <a:off x="77311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39" name="Text 37"/>
          <p:cNvSpPr/>
          <p:nvPr/>
        </p:nvSpPr>
        <p:spPr>
          <a:xfrm>
            <a:off x="79406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40" name="Text 38"/>
          <p:cNvSpPr/>
          <p:nvPr/>
        </p:nvSpPr>
        <p:spPr>
          <a:xfrm>
            <a:off x="81502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41" name="Text 39"/>
          <p:cNvSpPr/>
          <p:nvPr/>
        </p:nvSpPr>
        <p:spPr>
          <a:xfrm>
            <a:off x="83597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R</a:t>
            </a:r>
            <a:endParaRPr lang="en-US" sz="1600" dirty="0"/>
          </a:p>
        </p:txBody>
      </p:sp>
      <p:sp>
        <p:nvSpPr>
          <p:cNvPr id="42" name="Text 40"/>
          <p:cNvSpPr/>
          <p:nvPr/>
        </p:nvSpPr>
        <p:spPr>
          <a:xfrm>
            <a:off x="85693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43" name="Text 41"/>
          <p:cNvSpPr/>
          <p:nvPr/>
        </p:nvSpPr>
        <p:spPr>
          <a:xfrm>
            <a:off x="87788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44" name="Text 42"/>
          <p:cNvSpPr/>
          <p:nvPr/>
        </p:nvSpPr>
        <p:spPr>
          <a:xfrm>
            <a:off x="89884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45" name="Text 43"/>
          <p:cNvSpPr/>
          <p:nvPr/>
        </p:nvSpPr>
        <p:spPr>
          <a:xfrm>
            <a:off x="91979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46" name="Text 44"/>
          <p:cNvSpPr/>
          <p:nvPr/>
        </p:nvSpPr>
        <p:spPr>
          <a:xfrm>
            <a:off x="94075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P</a:t>
            </a:r>
            <a:endParaRPr lang="en-US" sz="1600" dirty="0"/>
          </a:p>
        </p:txBody>
      </p:sp>
      <p:sp>
        <p:nvSpPr>
          <p:cNvPr id="47" name="Text 45"/>
          <p:cNvSpPr/>
          <p:nvPr/>
        </p:nvSpPr>
        <p:spPr>
          <a:xfrm>
            <a:off x="96170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48" name="Text 46"/>
          <p:cNvSpPr/>
          <p:nvPr/>
        </p:nvSpPr>
        <p:spPr>
          <a:xfrm>
            <a:off x="98266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49" name="Text 47"/>
          <p:cNvSpPr/>
          <p:nvPr/>
        </p:nvSpPr>
        <p:spPr>
          <a:xfrm>
            <a:off x="100361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T</a:t>
            </a:r>
            <a:endParaRPr lang="en-US" sz="1600" dirty="0"/>
          </a:p>
        </p:txBody>
      </p:sp>
      <p:sp>
        <p:nvSpPr>
          <p:cNvPr id="50" name="Text 48"/>
          <p:cNvSpPr/>
          <p:nvPr/>
        </p:nvSpPr>
        <p:spPr>
          <a:xfrm>
            <a:off x="102457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51" name="Text 49"/>
          <p:cNvSpPr/>
          <p:nvPr/>
        </p:nvSpPr>
        <p:spPr>
          <a:xfrm>
            <a:off x="104552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52" name="Text 50"/>
          <p:cNvSpPr/>
          <p:nvPr/>
        </p:nvSpPr>
        <p:spPr>
          <a:xfrm>
            <a:off x="106648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V</a:t>
            </a:r>
            <a:endParaRPr lang="en-US" sz="1600" dirty="0"/>
          </a:p>
        </p:txBody>
      </p:sp>
      <p:sp>
        <p:nvSpPr>
          <p:cNvPr id="53" name="Text 51"/>
          <p:cNvSpPr/>
          <p:nvPr/>
        </p:nvSpPr>
        <p:spPr>
          <a:xfrm>
            <a:off x="1087437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V</a:t>
            </a:r>
            <a:endParaRPr lang="en-US" sz="1600" dirty="0"/>
          </a:p>
        </p:txBody>
      </p:sp>
      <p:sp>
        <p:nvSpPr>
          <p:cNvPr id="54" name="Text 52"/>
          <p:cNvSpPr/>
          <p:nvPr/>
        </p:nvSpPr>
        <p:spPr>
          <a:xfrm>
            <a:off x="11083925" y="2251025"/>
            <a:ext cx="190500" cy="273050"/>
          </a:xfrm>
          <a:prstGeom prst="rect">
            <a:avLst/>
          </a:prstGeom>
          <a:solidFill>
            <a:srgbClr val="0E141B"/>
          </a:solidFill>
          <a:ln w="6350">
            <a:solidFill>
              <a:srgbClr val="2A3340"/>
            </a:solidFill>
            <a:prstDash val="solid"/>
          </a:ln>
        </p:spPr>
        <p:txBody>
          <a:bodyPr wrap="square" lIns="0" tIns="3175"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55" name="Text 53"/>
          <p:cNvSpPr/>
          <p:nvPr/>
        </p:nvSpPr>
        <p:spPr>
          <a:xfrm>
            <a:off x="787400" y="2565350"/>
            <a:ext cx="24765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56" name="Text 54"/>
          <p:cNvSpPr/>
          <p:nvPr/>
        </p:nvSpPr>
        <p:spPr>
          <a:xfrm>
            <a:off x="996950" y="2565350"/>
            <a:ext cx="24765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57" name="Text 55"/>
          <p:cNvSpPr/>
          <p:nvPr/>
        </p:nvSpPr>
        <p:spPr>
          <a:xfrm>
            <a:off x="1206500" y="2565350"/>
            <a:ext cx="24765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20</a:t>
            </a:r>
            <a:endParaRPr lang="en-US" sz="1200" dirty="0"/>
          </a:p>
        </p:txBody>
      </p:sp>
      <p:sp>
        <p:nvSpPr>
          <p:cNvPr id="58" name="Text 56"/>
          <p:cNvSpPr/>
          <p:nvPr/>
        </p:nvSpPr>
        <p:spPr>
          <a:xfrm>
            <a:off x="1416050" y="2565350"/>
            <a:ext cx="24765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30</a:t>
            </a:r>
            <a:endParaRPr lang="en-US" sz="1200" dirty="0"/>
          </a:p>
        </p:txBody>
      </p:sp>
      <p:sp>
        <p:nvSpPr>
          <p:cNvPr id="59" name="Text 57"/>
          <p:cNvSpPr/>
          <p:nvPr/>
        </p:nvSpPr>
        <p:spPr>
          <a:xfrm>
            <a:off x="1625600" y="2565350"/>
            <a:ext cx="24765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40</a:t>
            </a:r>
            <a:endParaRPr lang="en-US" sz="1200" dirty="0"/>
          </a:p>
        </p:txBody>
      </p:sp>
      <p:sp>
        <p:nvSpPr>
          <p:cNvPr id="60" name="Text 58"/>
          <p:cNvSpPr/>
          <p:nvPr/>
        </p:nvSpPr>
        <p:spPr>
          <a:xfrm>
            <a:off x="1835150" y="2565350"/>
            <a:ext cx="24765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50</a:t>
            </a:r>
            <a:endParaRPr lang="en-US" sz="1200" dirty="0"/>
          </a:p>
        </p:txBody>
      </p:sp>
      <p:sp>
        <p:nvSpPr>
          <p:cNvPr id="61" name="Text 59"/>
          <p:cNvSpPr/>
          <p:nvPr/>
        </p:nvSpPr>
        <p:spPr>
          <a:xfrm>
            <a:off x="812800" y="2966641"/>
            <a:ext cx="217187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0467"/>
                </a:solidFill>
                <a:latin typeface="Arial" pitchFamily="34" charset="0"/>
                <a:ea typeface="Arial" pitchFamily="34" charset="-122"/>
                <a:cs typeface="Arial" pitchFamily="34" charset="-120"/>
              </a:rPr>
              <a:t>●</a:t>
            </a:r>
            <a:r>
              <a:rPr lang="en-US" sz="1200" dirty="0">
                <a:solidFill>
                  <a:srgbClr val="A9B4BF"/>
                </a:solidFill>
                <a:latin typeface="Arial" pitchFamily="34" charset="0"/>
                <a:ea typeface="Arial" pitchFamily="34" charset="-122"/>
                <a:cs typeface="Arial" pitchFamily="34" charset="-120"/>
              </a:rPr>
              <a:t> 放送 · </a:t>
            </a:r>
            <a:r>
              <a:rPr lang="en-US" sz="1200" dirty="0">
                <a:solidFill>
                  <a:srgbClr val="FF0467"/>
                </a:solidFill>
                <a:latin typeface="Arial" pitchFamily="34" charset="0"/>
                <a:ea typeface="Arial" pitchFamily="34" charset="-122"/>
                <a:cs typeface="Arial" pitchFamily="34" charset="-120"/>
              </a:rPr>
              <a:t>○</a:t>
            </a:r>
            <a:r>
              <a:rPr lang="en-US" sz="1200" dirty="0">
                <a:solidFill>
                  <a:srgbClr val="A9B4BF"/>
                </a:solidFill>
                <a:latin typeface="Arial" pitchFamily="34" charset="0"/>
                <a:ea typeface="Arial" pitchFamily="34" charset="-122"/>
                <a:cs typeface="Arial" pitchFamily="34" charset="-120"/>
              </a:rPr>
              <a:t> E-6B該当の放送</a:t>
            </a:r>
            <a:endParaRPr lang="en-US" sz="1200" dirty="0"/>
          </a:p>
        </p:txBody>
      </p:sp>
      <p:sp>
        <p:nvSpPr>
          <p:cNvPr id="62" name="Text 60"/>
          <p:cNvSpPr/>
          <p:nvPr/>
        </p:nvSpPr>
        <p:spPr>
          <a:xfrm>
            <a:off x="8218507" y="2966641"/>
            <a:ext cx="3160693"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FFCC00"/>
                </a:solidFill>
                <a:latin typeface="Arial" pitchFamily="34" charset="0"/>
                <a:ea typeface="Arial" pitchFamily="34" charset="-122"/>
                <a:cs typeface="Arial" pitchFamily="34" charset="-120"/>
              </a:rPr>
              <a:t>32 回放送 · 継続 8.98 時間 · E-6B 27件</a:t>
            </a:r>
            <a:endParaRPr lang="en-US" sz="1200" dirty="0"/>
          </a:p>
        </p:txBody>
      </p:sp>
      <p:pic>
        <p:nvPicPr>
          <p:cNvPr id="63" name="Image 0" descr="2025年10月27日15:00 UTCから10月28日01:00 UTCまでの32回の放送：17:36 UTCまでの放送5回と、19:34 UTCから00:40 UTCまでのE-6B該当の放送27回">    </p:cNvPr>
          <p:cNvPicPr>
            <a:picLocks noChangeAspect="1"/>
          </p:cNvPicPr>
          <p:nvPr/>
        </p:nvPicPr>
        <p:blipFill>
          <a:blip r:embed="rId1"/>
          <a:srcRect l="-147" r="-147" t="0" b="0"/>
          <a:stretch/>
        </p:blipFill>
        <p:spPr>
          <a:xfrm>
            <a:off x="812800" y="3233341"/>
            <a:ext cx="10566400" cy="406400"/>
          </a:xfrm>
          <a:prstGeom prst="rect">
            <a:avLst/>
          </a:prstGeom>
        </p:spPr>
      </p:pic>
      <p:sp>
        <p:nvSpPr>
          <p:cNvPr id="64" name="Text 61"/>
          <p:cNvSpPr/>
          <p:nvPr/>
        </p:nvSpPr>
        <p:spPr>
          <a:xfrm>
            <a:off x="787400" y="3677841"/>
            <a:ext cx="685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15:00</a:t>
            </a:r>
            <a:endParaRPr lang="en-US" sz="1200" dirty="0"/>
          </a:p>
        </p:txBody>
      </p:sp>
      <p:sp>
        <p:nvSpPr>
          <p:cNvPr id="65" name="Text 62"/>
          <p:cNvSpPr/>
          <p:nvPr/>
        </p:nvSpPr>
        <p:spPr>
          <a:xfrm>
            <a:off x="1422400" y="3677841"/>
            <a:ext cx="685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17:00</a:t>
            </a:r>
            <a:endParaRPr lang="en-US" sz="1200" dirty="0"/>
          </a:p>
        </p:txBody>
      </p:sp>
      <p:sp>
        <p:nvSpPr>
          <p:cNvPr id="66" name="Text 63"/>
          <p:cNvSpPr/>
          <p:nvPr/>
        </p:nvSpPr>
        <p:spPr>
          <a:xfrm>
            <a:off x="2057400" y="3677841"/>
            <a:ext cx="685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19:00</a:t>
            </a:r>
            <a:endParaRPr lang="en-US" sz="1200" dirty="0"/>
          </a:p>
        </p:txBody>
      </p:sp>
      <p:sp>
        <p:nvSpPr>
          <p:cNvPr id="67" name="Text 64"/>
          <p:cNvSpPr/>
          <p:nvPr/>
        </p:nvSpPr>
        <p:spPr>
          <a:xfrm>
            <a:off x="2692400" y="3677841"/>
            <a:ext cx="685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21:00</a:t>
            </a:r>
            <a:endParaRPr lang="en-US" sz="1200" dirty="0"/>
          </a:p>
        </p:txBody>
      </p:sp>
      <p:sp>
        <p:nvSpPr>
          <p:cNvPr id="68" name="Text 65"/>
          <p:cNvSpPr/>
          <p:nvPr/>
        </p:nvSpPr>
        <p:spPr>
          <a:xfrm>
            <a:off x="3327400" y="3677841"/>
            <a:ext cx="685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23:00</a:t>
            </a:r>
            <a:endParaRPr lang="en-US" sz="1200" dirty="0"/>
          </a:p>
        </p:txBody>
      </p:sp>
      <p:sp>
        <p:nvSpPr>
          <p:cNvPr id="69" name="Text 66"/>
          <p:cNvSpPr/>
          <p:nvPr/>
        </p:nvSpPr>
        <p:spPr>
          <a:xfrm>
            <a:off x="3962400" y="3677841"/>
            <a:ext cx="1320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FFCC00"/>
                </a:solidFill>
                <a:latin typeface="Arial" pitchFamily="34" charset="0"/>
                <a:ea typeface="Arial" pitchFamily="34" charset="-122"/>
                <a:cs typeface="Arial" pitchFamily="34" charset="-120"/>
              </a:rPr>
              <a:t>00:00 UTC</a:t>
            </a:r>
            <a:endParaRPr lang="en-US" sz="1200" dirty="0"/>
          </a:p>
          <a:p>
            <a:pPr algn="ctr" indent="0" marL="0">
              <a:lnSpc>
                <a:spcPts val="1560"/>
              </a:lnSpc>
              <a:buNone/>
            </a:pPr>
            <a:r>
              <a:rPr lang="en-US" sz="1200" dirty="0">
                <a:solidFill>
                  <a:srgbClr val="FFCC00"/>
                </a:solidFill>
                <a:latin typeface="Arial" pitchFamily="34" charset="0"/>
                <a:ea typeface="Arial" pitchFamily="34" charset="-122"/>
                <a:cs typeface="Arial" pitchFamily="34" charset="-120"/>
              </a:rPr>
              <a:t>日付が変わる</a:t>
            </a:r>
            <a:endParaRPr lang="en-US" sz="1200" dirty="0"/>
          </a:p>
        </p:txBody>
      </p:sp>
      <p:sp>
        <p:nvSpPr>
          <p:cNvPr id="70" name="Text 67"/>
          <p:cNvSpPr/>
          <p:nvPr/>
        </p:nvSpPr>
        <p:spPr>
          <a:xfrm>
            <a:off x="5232400" y="3677841"/>
            <a:ext cx="685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01:00</a:t>
            </a:r>
            <a:endParaRPr lang="en-US" sz="1200" dirty="0"/>
          </a:p>
        </p:txBody>
      </p:sp>
      <p:sp>
        <p:nvSpPr>
          <p:cNvPr id="71" name="Shape 68"/>
          <p:cNvSpPr/>
          <p:nvPr/>
        </p:nvSpPr>
        <p:spPr>
          <a:xfrm>
            <a:off x="815975" y="4280396"/>
            <a:ext cx="3414167" cy="1189930"/>
          </a:xfrm>
          <a:prstGeom prst="roundRect">
            <a:avLst>
              <a:gd name="adj" fmla="val 6137"/>
            </a:avLst>
          </a:prstGeom>
          <a:solidFill>
            <a:srgbClr val="0E141B"/>
          </a:solidFill>
          <a:ln w="6350">
            <a:solidFill>
              <a:srgbClr val="2A3340"/>
            </a:solidFill>
            <a:prstDash val="solid"/>
          </a:ln>
        </p:spPr>
      </p:sp>
      <p:sp>
        <p:nvSpPr>
          <p:cNvPr id="72" name="Text 69"/>
          <p:cNvSpPr/>
          <p:nvPr/>
        </p:nvSpPr>
        <p:spPr>
          <a:xfrm>
            <a:off x="971550" y="4435971"/>
            <a:ext cx="3196107"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FCC00"/>
                </a:solidFill>
                <a:latin typeface="Arial" pitchFamily="34" charset="0"/>
                <a:ea typeface="Arial" pitchFamily="34" charset="-122"/>
                <a:cs typeface="Arial" pitchFamily="34" charset="-120"/>
              </a:rPr>
              <a:t>カレンダー · 放送回数</a:t>
            </a:r>
            <a:endParaRPr lang="en-US" sz="1200" dirty="0"/>
          </a:p>
        </p:txBody>
      </p:sp>
      <p:sp>
        <p:nvSpPr>
          <p:cNvPr id="73" name="Text 70"/>
          <p:cNvSpPr/>
          <p:nvPr/>
        </p:nvSpPr>
        <p:spPr>
          <a:xfrm>
            <a:off x="971550" y="4700091"/>
            <a:ext cx="319610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32</a:t>
            </a:r>
            <a:endParaRPr lang="en-US" sz="2200" dirty="0"/>
          </a:p>
        </p:txBody>
      </p:sp>
      <p:sp>
        <p:nvSpPr>
          <p:cNvPr id="74" name="Text 71"/>
          <p:cNvSpPr/>
          <p:nvPr/>
        </p:nvSpPr>
        <p:spPr>
          <a:xfrm>
            <a:off x="971550" y="5086152"/>
            <a:ext cx="319610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251027に28回 + 251028に4回</a:t>
            </a:r>
            <a:endParaRPr lang="en-US" sz="1200" dirty="0"/>
          </a:p>
        </p:txBody>
      </p:sp>
      <p:sp>
        <p:nvSpPr>
          <p:cNvPr id="75" name="Shape 72"/>
          <p:cNvSpPr/>
          <p:nvPr/>
        </p:nvSpPr>
        <p:spPr>
          <a:xfrm>
            <a:off x="4388892" y="4280396"/>
            <a:ext cx="3414167" cy="1189930"/>
          </a:xfrm>
          <a:prstGeom prst="roundRect">
            <a:avLst>
              <a:gd name="adj" fmla="val 6137"/>
            </a:avLst>
          </a:prstGeom>
          <a:solidFill>
            <a:srgbClr val="0E141B"/>
          </a:solidFill>
          <a:ln w="6350">
            <a:solidFill>
              <a:srgbClr val="2A3340"/>
            </a:solidFill>
            <a:prstDash val="solid"/>
          </a:ln>
        </p:spPr>
      </p:sp>
      <p:sp>
        <p:nvSpPr>
          <p:cNvPr id="76" name="Text 73"/>
          <p:cNvSpPr/>
          <p:nvPr/>
        </p:nvSpPr>
        <p:spPr>
          <a:xfrm>
            <a:off x="4544467" y="4435971"/>
            <a:ext cx="3196107"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FCC00"/>
                </a:solidFill>
                <a:latin typeface="Arial" pitchFamily="34" charset="0"/>
                <a:ea typeface="Arial" pitchFamily="34" charset="-122"/>
                <a:cs typeface="Arial" pitchFamily="34" charset="-120"/>
              </a:rPr>
              <a:t>50文字のヒートマップ · メッセージ数</a:t>
            </a:r>
            <a:endParaRPr lang="en-US" sz="1200" dirty="0"/>
          </a:p>
        </p:txBody>
      </p:sp>
      <p:sp>
        <p:nvSpPr>
          <p:cNvPr id="77" name="Text 74"/>
          <p:cNvSpPr/>
          <p:nvPr/>
        </p:nvSpPr>
        <p:spPr>
          <a:xfrm>
            <a:off x="4544467" y="4700091"/>
            <a:ext cx="319610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1行</a:t>
            </a:r>
            <a:endParaRPr lang="en-US" sz="2200" dirty="0"/>
          </a:p>
        </p:txBody>
      </p:sp>
      <p:sp>
        <p:nvSpPr>
          <p:cNvPr id="78" name="Text 75"/>
          <p:cNvSpPr/>
          <p:nvPr/>
        </p:nvSpPr>
        <p:spPr>
          <a:xfrm>
            <a:off x="4544467" y="5086152"/>
            <a:ext cx="319610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Courier New" pitchFamily="49" charset="0"/>
                <a:ea typeface="Courier New" pitchFamily="49" charset="-122"/>
                <a:cs typeface="Courier New" pitchFamily="49" charset="-120"/>
              </a:rPr>
              <a:t>20251027 15:41 COMPETENT</a:t>
            </a:r>
            <a:endParaRPr lang="en-US" sz="1200" dirty="0"/>
          </a:p>
        </p:txBody>
      </p:sp>
      <p:sp>
        <p:nvSpPr>
          <p:cNvPr id="79" name="Shape 76"/>
          <p:cNvSpPr/>
          <p:nvPr/>
        </p:nvSpPr>
        <p:spPr>
          <a:xfrm>
            <a:off x="7961809" y="4280396"/>
            <a:ext cx="3414216" cy="1189930"/>
          </a:xfrm>
          <a:prstGeom prst="roundRect">
            <a:avLst>
              <a:gd name="adj" fmla="val 6137"/>
            </a:avLst>
          </a:prstGeom>
          <a:solidFill>
            <a:srgbClr val="0E141B"/>
          </a:solidFill>
          <a:ln w="6350">
            <a:solidFill>
              <a:srgbClr val="2A3340"/>
            </a:solidFill>
            <a:prstDash val="solid"/>
          </a:ln>
        </p:spPr>
      </p:sp>
      <p:sp>
        <p:nvSpPr>
          <p:cNvPr id="80" name="Text 77"/>
          <p:cNvSpPr/>
          <p:nvPr/>
        </p:nvSpPr>
        <p:spPr>
          <a:xfrm>
            <a:off x="8117384" y="4435971"/>
            <a:ext cx="3196158"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FCC00"/>
                </a:solidFill>
                <a:latin typeface="Arial" pitchFamily="34" charset="0"/>
                <a:ea typeface="Arial" pitchFamily="34" charset="-122"/>
                <a:cs typeface="Arial" pitchFamily="34" charset="-120"/>
              </a:rPr>
              <a:t>2025年10月27〜28日</a:t>
            </a:r>
            <a:endParaRPr lang="en-US" sz="1200" dirty="0"/>
          </a:p>
        </p:txBody>
      </p:sp>
      <p:sp>
        <p:nvSpPr>
          <p:cNvPr id="81" name="Text 78"/>
          <p:cNvSpPr/>
          <p:nvPr/>
        </p:nvSpPr>
        <p:spPr>
          <a:xfrm>
            <a:off x="8117384" y="4700091"/>
            <a:ext cx="319615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S7のメッセージ4件</a:t>
            </a:r>
            <a:endParaRPr lang="en-US" sz="2200" dirty="0"/>
          </a:p>
        </p:txBody>
      </p:sp>
      <p:sp>
        <p:nvSpPr>
          <p:cNvPr id="82" name="Text 79"/>
          <p:cNvSpPr/>
          <p:nvPr/>
        </p:nvSpPr>
        <p:spPr>
          <a:xfrm>
            <a:off x="8117384" y="5086152"/>
            <a:ext cx="319615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カレンダーで85回 · ヒートマップで4行</a:t>
            </a:r>
            <a:endParaRPr lang="en-US" sz="1200" dirty="0"/>
          </a:p>
        </p:txBody>
      </p:sp>
      <p:sp>
        <p:nvSpPr>
          <p:cNvPr id="83" name="Text 8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データ：再放送時系列、EAMカレンダー、50文字のヒートマップ</a:t>
            </a:r>
            <a:endParaRPr lang="en-US" sz="1200" dirty="0"/>
          </a:p>
        </p:txBody>
      </p:sp>
      <p:sp>
        <p:nvSpPr>
          <p:cNvPr id="84" name="Text 81"/>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サイト</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何を監視済みとみなすか</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監視範囲の段階</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2022年1月25日〜2026年10月9日：</a:t>
            </a:r>
            <a:r>
              <a:rPr lang="en-US" sz="1600" dirty="0">
                <a:solidFill>
                  <a:srgbClr val="FFCC00"/>
                </a:solidFill>
                <a:latin typeface="Arial" pitchFamily="34" charset="0"/>
                <a:ea typeface="Arial" pitchFamily="34" charset="-122"/>
                <a:cs typeface="Arial" pitchFamily="34" charset="-120"/>
              </a:rPr>
              <a:t>1,719日</a:t>
            </a:r>
            <a:endParaRPr lang="en-US" sz="1600" dirty="0"/>
          </a:p>
        </p:txBody>
      </p:sp>
      <p:sp>
        <p:nvSpPr>
          <p:cNvPr id="6" name="Shape 4"/>
          <p:cNvSpPr/>
          <p:nvPr/>
        </p:nvSpPr>
        <p:spPr>
          <a:xfrm>
            <a:off x="812800" y="2498675"/>
            <a:ext cx="4572000" cy="0"/>
          </a:xfrm>
          <a:prstGeom prst="line">
            <a:avLst/>
          </a:prstGeom>
          <a:noFill/>
          <a:ln w="6350">
            <a:solidFill>
              <a:srgbClr val="222A35"/>
            </a:solidFill>
            <a:prstDash val="solid"/>
          </a:ln>
        </p:spPr>
      </p:sp>
      <p:sp>
        <p:nvSpPr>
          <p:cNvPr id="7" name="Text 5"/>
          <p:cNvSpPr/>
          <p:nvPr/>
        </p:nvSpPr>
        <p:spPr>
          <a:xfrm>
            <a:off x="812800" y="26034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実線</a:t>
            </a:r>
            <a:r>
              <a:rPr lang="en-US" sz="1600" dirty="0">
                <a:solidFill>
                  <a:srgbClr val="E6EDF3"/>
                </a:solidFill>
                <a:latin typeface="Arial" pitchFamily="34" charset="0"/>
                <a:ea typeface="Arial" pitchFamily="34" charset="-122"/>
                <a:cs typeface="Arial" pitchFamily="34" charset="-120"/>
              </a:rPr>
              <a:t> · 網羅的監視：789日</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（録音あり788日、通信ゼロ確認1日）</a:t>
            </a:r>
            <a:endParaRPr lang="en-US" sz="1600" dirty="0"/>
          </a:p>
        </p:txBody>
      </p:sp>
      <p:sp>
        <p:nvSpPr>
          <p:cNvPr id="8" name="Shape 6"/>
          <p:cNvSpPr/>
          <p:nvPr/>
        </p:nvSpPr>
        <p:spPr>
          <a:xfrm>
            <a:off x="812800" y="3317825"/>
            <a:ext cx="4572000" cy="0"/>
          </a:xfrm>
          <a:prstGeom prst="line">
            <a:avLst/>
          </a:prstGeom>
          <a:noFill/>
          <a:ln w="6350">
            <a:solidFill>
              <a:srgbClr val="222A35"/>
            </a:solidFill>
            <a:prstDash val="solid"/>
          </a:ln>
        </p:spPr>
      </p:sp>
      <p:sp>
        <p:nvSpPr>
          <p:cNvPr id="9" name="Text 7"/>
          <p:cNvSpPr/>
          <p:nvPr/>
        </p:nvSpPr>
        <p:spPr>
          <a:xfrm>
            <a:off x="812800" y="34226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破線</a:t>
            </a:r>
            <a:r>
              <a:rPr lang="en-US" sz="1600" dirty="0">
                <a:solidFill>
                  <a:srgbClr val="E6EDF3"/>
                </a:solidFill>
                <a:latin typeface="Arial" pitchFamily="34" charset="0"/>
                <a:ea typeface="Arial" pitchFamily="34" charset="-122"/>
                <a:cs typeface="Arial" pitchFamily="34" charset="-120"/>
              </a:rPr>
              <a:t> · 非網羅的な監視：通信記録あり305日</a:t>
            </a:r>
            <a:endParaRPr lang="en-US" sz="1600" dirty="0"/>
          </a:p>
        </p:txBody>
      </p:sp>
      <p:sp>
        <p:nvSpPr>
          <p:cNvPr id="10" name="Shape 8"/>
          <p:cNvSpPr/>
          <p:nvPr/>
        </p:nvSpPr>
        <p:spPr>
          <a:xfrm>
            <a:off x="812800" y="3832175"/>
            <a:ext cx="4572000" cy="0"/>
          </a:xfrm>
          <a:prstGeom prst="line">
            <a:avLst/>
          </a:prstGeom>
          <a:noFill/>
          <a:ln w="6350">
            <a:solidFill>
              <a:srgbClr val="222A35"/>
            </a:solidFill>
            <a:prstDash val="solid"/>
          </a:ln>
        </p:spPr>
      </p:sp>
      <p:sp>
        <p:nvSpPr>
          <p:cNvPr id="11" name="Text 9"/>
          <p:cNvSpPr/>
          <p:nvPr/>
        </p:nvSpPr>
        <p:spPr>
          <a:xfrm>
            <a:off x="812800" y="393695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枠なし</a:t>
            </a:r>
            <a:r>
              <a:rPr lang="en-US" sz="1600" dirty="0">
                <a:solidFill>
                  <a:srgbClr val="E6EDF3"/>
                </a:solidFill>
                <a:latin typeface="Arial" pitchFamily="34" charset="0"/>
                <a:ea typeface="Arial" pitchFamily="34" charset="-122"/>
                <a:cs typeface="Arial" pitchFamily="34" charset="-120"/>
              </a:rPr>
              <a:t> · 監視なし：625日</a:t>
            </a:r>
            <a:endParaRPr lang="en-US" sz="1600" dirty="0"/>
          </a:p>
        </p:txBody>
      </p:sp>
      <p:sp>
        <p:nvSpPr>
          <p:cNvPr id="12" name="Shape 10"/>
          <p:cNvSpPr/>
          <p:nvPr/>
        </p:nvSpPr>
        <p:spPr>
          <a:xfrm>
            <a:off x="812800" y="4346525"/>
            <a:ext cx="4572000" cy="0"/>
          </a:xfrm>
          <a:prstGeom prst="line">
            <a:avLst/>
          </a:prstGeom>
          <a:noFill/>
          <a:ln w="6350">
            <a:solidFill>
              <a:srgbClr val="222A35"/>
            </a:solidFill>
            <a:prstDash val="solid"/>
          </a:ln>
        </p:spPr>
      </p:sp>
      <p:sp>
        <p:nvSpPr>
          <p:cNvPr id="13" name="Text 11"/>
          <p:cNvSpPr/>
          <p:nvPr/>
        </p:nvSpPr>
        <p:spPr>
          <a:xfrm>
            <a:off x="812800" y="44513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放送15,277回のうち12,641回が実線の日</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EAMカレンダーの2023年のタブ、日本語表示：12か月分の月の表、6月下旬から12月までの実線のセル、左下に網羅的監視・非網羅的な監視・監視なしの凡例">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出典：公開中のEAMカレンダー（生成日 261009）</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サイト</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41B"/>
        </a:solidFill>
      </p:bgPr>
    </p:bg>
    <p:spTree>
      <p:nvGrpSpPr>
        <p:cNvPr id="1" name=""/>
        <p:cNvGrpSpPr/>
        <p:nvPr/>
      </p:nvGrpSpPr>
      <p:grpSpPr>
        <a:xfrm>
          <a:off x="0" y="0"/>
          <a:ext cx="0" cy="0"/>
          <a:chOff x="0" y="0"/>
          <a:chExt cx="0" cy="0"/>
        </a:xfrm>
      </p:grpSpPr>
      <p:sp>
        <p:nvSpPr>
          <p:cNvPr id="2" name="Text 0"/>
          <p:cNvSpPr/>
          <p:nvPr/>
        </p:nvSpPr>
        <p:spPr>
          <a:xfrm>
            <a:off x="812800" y="224472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第3部</a:t>
            </a:r>
            <a:endParaRPr lang="en-US" sz="1200" dirty="0"/>
          </a:p>
        </p:txBody>
      </p:sp>
      <p:sp>
        <p:nvSpPr>
          <p:cNvPr id="3" name="Text 1"/>
          <p:cNvSpPr/>
          <p:nvPr>
            <p:ph type="title"/>
          </p:nvPr>
        </p:nvSpPr>
        <p:spPr>
          <a:xfrm>
            <a:off x="812800" y="2559645"/>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録音</a:t>
            </a:r>
            <a:endParaRPr lang="en-US" sz="3600" dirty="0"/>
          </a:p>
        </p:txBody>
      </p:sp>
      <p:sp>
        <p:nvSpPr>
          <p:cNvPr id="4" name="Shape 2"/>
          <p:cNvSpPr/>
          <p:nvPr/>
        </p:nvSpPr>
        <p:spPr>
          <a:xfrm>
            <a:off x="812800" y="3416250"/>
            <a:ext cx="10566400" cy="0"/>
          </a:xfrm>
          <a:prstGeom prst="line">
            <a:avLst/>
          </a:prstGeom>
          <a:noFill/>
          <a:ln w="6350">
            <a:solidFill>
              <a:srgbClr val="2A3340"/>
            </a:solidFill>
            <a:prstDash val="solid"/>
          </a:ln>
        </p:spPr>
      </p:sp>
      <p:sp>
        <p:nvSpPr>
          <p:cNvPr id="5" name="Text 3"/>
          <p:cNvSpPr/>
          <p:nvPr/>
        </p:nvSpPr>
        <p:spPr>
          <a:xfrm>
            <a:off x="812800" y="3571825"/>
            <a:ext cx="10883392" cy="8636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3つの録音アーカイブ：DCRPの編集録音、</a:t>
            </a:r>
            <a:endParaRPr lang="en-US" sz="2200" dirty="0"/>
          </a:p>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DTCPタイムカードの読み方、タイムカードの範囲、ライブ配信の録画</a:t>
            </a:r>
            <a:endParaRPr lang="en-US" sz="22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7"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録音</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DTCPタブ</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3つの録音アーカイブ</a:t>
            </a:r>
            <a:endParaRPr lang="en-US" sz="3600" dirty="0"/>
          </a:p>
        </p:txBody>
      </p:sp>
      <p:sp>
        <p:nvSpPr>
          <p:cNvPr id="4" name="Shape 2"/>
          <p:cNvSpPr/>
          <p:nvPr/>
        </p:nvSpPr>
        <p:spPr>
          <a:xfrm>
            <a:off x="812800" y="1984325"/>
            <a:ext cx="5207000" cy="0"/>
          </a:xfrm>
          <a:prstGeom prst="line">
            <a:avLst/>
          </a:prstGeom>
          <a:noFill/>
          <a:ln w="6350">
            <a:solidFill>
              <a:srgbClr val="222A35"/>
            </a:solidFill>
            <a:prstDash val="solid"/>
          </a:ln>
        </p:spPr>
      </p:sp>
      <p:sp>
        <p:nvSpPr>
          <p:cNvPr id="5" name="Text 3"/>
          <p:cNvSpPr/>
          <p:nvPr/>
        </p:nvSpPr>
        <p:spPr>
          <a:xfrm>
            <a:off x="812800" y="2089100"/>
            <a:ext cx="53632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CC00"/>
                </a:solidFill>
                <a:latin typeface="Arial" pitchFamily="34" charset="0"/>
                <a:ea typeface="Arial" pitchFamily="34" charset="-122"/>
                <a:cs typeface="Arial" pitchFamily="34" charset="-120"/>
              </a:rPr>
              <a:t>DCRP</a:t>
            </a:r>
            <a:r>
              <a:rPr lang="en-US" sz="1600" dirty="0">
                <a:solidFill>
                  <a:srgbClr val="E6EDF3"/>
                </a:solidFill>
                <a:latin typeface="Arial" pitchFamily="34" charset="0"/>
                <a:ea typeface="Arial" pitchFamily="34" charset="-122"/>
                <a:cs typeface="Arial" pitchFamily="34" charset="-120"/>
              </a:rPr>
              <a:t> · 161枚 · 2022–2023年、以降は少数</a:t>
            </a:r>
            <a:endParaRPr lang="en-US" sz="1600" dirty="0"/>
          </a:p>
        </p:txBody>
      </p:sp>
      <p:sp>
        <p:nvSpPr>
          <p:cNvPr id="6" name="Shape 4"/>
          <p:cNvSpPr/>
          <p:nvPr/>
        </p:nvSpPr>
        <p:spPr>
          <a:xfrm>
            <a:off x="6172200" y="1984325"/>
            <a:ext cx="5207000" cy="0"/>
          </a:xfrm>
          <a:prstGeom prst="line">
            <a:avLst/>
          </a:prstGeom>
          <a:noFill/>
          <a:ln w="6350">
            <a:solidFill>
              <a:srgbClr val="222A35"/>
            </a:solidFill>
            <a:prstDash val="solid"/>
          </a:ln>
        </p:spPr>
      </p:sp>
      <p:sp>
        <p:nvSpPr>
          <p:cNvPr id="7" name="Text 5"/>
          <p:cNvSpPr/>
          <p:nvPr/>
        </p:nvSpPr>
        <p:spPr>
          <a:xfrm>
            <a:off x="6172200" y="2089100"/>
            <a:ext cx="53632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CC00"/>
                </a:solidFill>
                <a:latin typeface="Arial" pitchFamily="34" charset="0"/>
                <a:ea typeface="Arial" pitchFamily="34" charset="-122"/>
                <a:cs typeface="Arial" pitchFamily="34" charset="-120"/>
              </a:rPr>
              <a:t>DTCP</a:t>
            </a:r>
            <a:r>
              <a:rPr lang="en-US" sz="1600" dirty="0">
                <a:solidFill>
                  <a:srgbClr val="E6EDF3"/>
                </a:solidFill>
                <a:latin typeface="Arial" pitchFamily="34" charset="0"/>
                <a:ea typeface="Arial" pitchFamily="34" charset="-122"/>
                <a:cs typeface="Arial" pitchFamily="34" charset="-120"/>
              </a:rPr>
              <a:t> · タイムカード641日分 · 230623–261013</a:t>
            </a:r>
            <a:endParaRPr lang="en-US" sz="1600" dirty="0"/>
          </a:p>
        </p:txBody>
      </p:sp>
      <p:sp>
        <p:nvSpPr>
          <p:cNvPr id="8" name="Shape 6"/>
          <p:cNvSpPr/>
          <p:nvPr/>
        </p:nvSpPr>
        <p:spPr>
          <a:xfrm>
            <a:off x="812800" y="2529136"/>
            <a:ext cx="5207000" cy="0"/>
          </a:xfrm>
          <a:prstGeom prst="line">
            <a:avLst/>
          </a:prstGeom>
          <a:noFill/>
          <a:ln w="6350">
            <a:solidFill>
              <a:srgbClr val="222A35"/>
            </a:solidFill>
            <a:prstDash val="solid"/>
          </a:ln>
        </p:spPr>
      </p:sp>
      <p:sp>
        <p:nvSpPr>
          <p:cNvPr id="9" name="Text 7"/>
          <p:cNvSpPr/>
          <p:nvPr/>
        </p:nvSpPr>
        <p:spPr>
          <a:xfrm>
            <a:off x="812800" y="2633911"/>
            <a:ext cx="53632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CC00"/>
                </a:solidFill>
                <a:latin typeface="Arial" pitchFamily="34" charset="0"/>
                <a:ea typeface="Arial" pitchFamily="34" charset="-122"/>
                <a:cs typeface="Arial" pitchFamily="34" charset="-120"/>
              </a:rPr>
              <a:t>ライブ配信</a:t>
            </a:r>
            <a:r>
              <a:rPr lang="en-US" sz="1600" dirty="0">
                <a:solidFill>
                  <a:srgbClr val="E6EDF3"/>
                </a:solidFill>
                <a:latin typeface="Arial" pitchFamily="34" charset="0"/>
                <a:ea typeface="Arial" pitchFamily="34" charset="-122"/>
                <a:cs typeface="Arial" pitchFamily="34" charset="-120"/>
              </a:rPr>
              <a:t> · 録画809日分 · 230203–260908</a:t>
            </a:r>
            <a:endParaRPr lang="en-US" sz="1600" dirty="0"/>
          </a:p>
        </p:txBody>
      </p:sp>
      <p:sp>
        <p:nvSpPr>
          <p:cNvPr id="10" name="Shape 8"/>
          <p:cNvSpPr/>
          <p:nvPr/>
        </p:nvSpPr>
        <p:spPr>
          <a:xfrm>
            <a:off x="6172200" y="2529136"/>
            <a:ext cx="5207000" cy="0"/>
          </a:xfrm>
          <a:prstGeom prst="line">
            <a:avLst/>
          </a:prstGeom>
          <a:noFill/>
          <a:ln w="6350">
            <a:solidFill>
              <a:srgbClr val="222A35"/>
            </a:solidFill>
            <a:prstDash val="solid"/>
          </a:ln>
        </p:spPr>
      </p:sp>
      <p:sp>
        <p:nvSpPr>
          <p:cNvPr id="11" name="Text 9"/>
          <p:cNvSpPr/>
          <p:nvPr/>
        </p:nvSpPr>
        <p:spPr>
          <a:xfrm>
            <a:off x="6172200" y="2633911"/>
            <a:ext cx="53632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3"/>
                </a:solidFill>
                <a:latin typeface="Arial" pitchFamily="34" charset="0"/>
                <a:ea typeface="Arial" pitchFamily="34" charset="-122"/>
                <a:cs typeface="Arial" pitchFamily="34" charset="-120"/>
              </a:rPr>
              <a:t>タイムカードがある日は、録画を確認済み</a:t>
            </a:r>
            <a:endParaRPr lang="en-US" sz="1600" dirty="0"/>
          </a:p>
        </p:txBody>
      </p:sp>
      <p:sp>
        <p:nvSpPr>
          <p:cNvPr id="12" name="Text 10"/>
          <p:cNvSpPr/>
          <p:nvPr/>
        </p:nvSpPr>
        <p:spPr>
          <a:xfrm>
            <a:off x="2082800" y="3223171"/>
            <a:ext cx="1792097"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2022</a:t>
            </a:r>
            <a:endParaRPr lang="en-US" sz="1200" dirty="0"/>
          </a:p>
        </p:txBody>
      </p:sp>
      <p:sp>
        <p:nvSpPr>
          <p:cNvPr id="13" name="Text 11"/>
          <p:cNvSpPr/>
          <p:nvPr/>
        </p:nvSpPr>
        <p:spPr>
          <a:xfrm>
            <a:off x="3949700" y="3223171"/>
            <a:ext cx="1792097"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2023</a:t>
            </a:r>
            <a:endParaRPr lang="en-US" sz="1200" dirty="0"/>
          </a:p>
        </p:txBody>
      </p:sp>
      <p:sp>
        <p:nvSpPr>
          <p:cNvPr id="14" name="Text 12"/>
          <p:cNvSpPr/>
          <p:nvPr/>
        </p:nvSpPr>
        <p:spPr>
          <a:xfrm>
            <a:off x="5816600" y="3223171"/>
            <a:ext cx="1792097"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2024</a:t>
            </a:r>
            <a:endParaRPr lang="en-US" sz="1200" dirty="0"/>
          </a:p>
        </p:txBody>
      </p:sp>
      <p:sp>
        <p:nvSpPr>
          <p:cNvPr id="15" name="Text 13"/>
          <p:cNvSpPr/>
          <p:nvPr/>
        </p:nvSpPr>
        <p:spPr>
          <a:xfrm>
            <a:off x="7683500" y="3223171"/>
            <a:ext cx="1792097"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2025</a:t>
            </a:r>
            <a:endParaRPr lang="en-US" sz="1200" dirty="0"/>
          </a:p>
        </p:txBody>
      </p:sp>
      <p:sp>
        <p:nvSpPr>
          <p:cNvPr id="16" name="Text 14"/>
          <p:cNvSpPr/>
          <p:nvPr/>
        </p:nvSpPr>
        <p:spPr>
          <a:xfrm>
            <a:off x="9550400" y="3223171"/>
            <a:ext cx="1792097"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2026</a:t>
            </a:r>
            <a:endParaRPr lang="en-US" sz="1200" dirty="0"/>
          </a:p>
        </p:txBody>
      </p:sp>
      <p:sp>
        <p:nvSpPr>
          <p:cNvPr id="17" name="Text 15"/>
          <p:cNvSpPr/>
          <p:nvPr/>
        </p:nvSpPr>
        <p:spPr>
          <a:xfrm>
            <a:off x="20574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Q1</a:t>
            </a:r>
            <a:endParaRPr lang="en-US" sz="1200" dirty="0"/>
          </a:p>
        </p:txBody>
      </p:sp>
      <p:sp>
        <p:nvSpPr>
          <p:cNvPr id="18" name="Text 16"/>
          <p:cNvSpPr/>
          <p:nvPr/>
        </p:nvSpPr>
        <p:spPr>
          <a:xfrm>
            <a:off x="25019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Q2</a:t>
            </a:r>
            <a:endParaRPr lang="en-US" sz="1200" dirty="0"/>
          </a:p>
        </p:txBody>
      </p:sp>
      <p:sp>
        <p:nvSpPr>
          <p:cNvPr id="19" name="Text 17"/>
          <p:cNvSpPr/>
          <p:nvPr/>
        </p:nvSpPr>
        <p:spPr>
          <a:xfrm>
            <a:off x="29464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Q3</a:t>
            </a:r>
            <a:endParaRPr lang="en-US" sz="1200" dirty="0"/>
          </a:p>
        </p:txBody>
      </p:sp>
      <p:sp>
        <p:nvSpPr>
          <p:cNvPr id="20" name="Text 18"/>
          <p:cNvSpPr/>
          <p:nvPr/>
        </p:nvSpPr>
        <p:spPr>
          <a:xfrm>
            <a:off x="33909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Q4</a:t>
            </a:r>
            <a:endParaRPr lang="en-US" sz="1200" dirty="0"/>
          </a:p>
        </p:txBody>
      </p:sp>
      <p:sp>
        <p:nvSpPr>
          <p:cNvPr id="21" name="Text 19"/>
          <p:cNvSpPr/>
          <p:nvPr/>
        </p:nvSpPr>
        <p:spPr>
          <a:xfrm>
            <a:off x="39243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Q1</a:t>
            </a:r>
            <a:endParaRPr lang="en-US" sz="1200" dirty="0"/>
          </a:p>
        </p:txBody>
      </p:sp>
      <p:sp>
        <p:nvSpPr>
          <p:cNvPr id="22" name="Text 20"/>
          <p:cNvSpPr/>
          <p:nvPr/>
        </p:nvSpPr>
        <p:spPr>
          <a:xfrm>
            <a:off x="43688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Q2</a:t>
            </a:r>
            <a:endParaRPr lang="en-US" sz="1200" dirty="0"/>
          </a:p>
        </p:txBody>
      </p:sp>
      <p:sp>
        <p:nvSpPr>
          <p:cNvPr id="23" name="Text 21"/>
          <p:cNvSpPr/>
          <p:nvPr/>
        </p:nvSpPr>
        <p:spPr>
          <a:xfrm>
            <a:off x="48133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Q3</a:t>
            </a:r>
            <a:endParaRPr lang="en-US" sz="1200" dirty="0"/>
          </a:p>
        </p:txBody>
      </p:sp>
      <p:sp>
        <p:nvSpPr>
          <p:cNvPr id="24" name="Text 22"/>
          <p:cNvSpPr/>
          <p:nvPr/>
        </p:nvSpPr>
        <p:spPr>
          <a:xfrm>
            <a:off x="52578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Q4</a:t>
            </a:r>
            <a:endParaRPr lang="en-US" sz="1200" dirty="0"/>
          </a:p>
        </p:txBody>
      </p:sp>
      <p:sp>
        <p:nvSpPr>
          <p:cNvPr id="25" name="Text 23"/>
          <p:cNvSpPr/>
          <p:nvPr/>
        </p:nvSpPr>
        <p:spPr>
          <a:xfrm>
            <a:off x="57912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Q1</a:t>
            </a:r>
            <a:endParaRPr lang="en-US" sz="1200" dirty="0"/>
          </a:p>
        </p:txBody>
      </p:sp>
      <p:sp>
        <p:nvSpPr>
          <p:cNvPr id="26" name="Text 24"/>
          <p:cNvSpPr/>
          <p:nvPr/>
        </p:nvSpPr>
        <p:spPr>
          <a:xfrm>
            <a:off x="62357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Q2</a:t>
            </a:r>
            <a:endParaRPr lang="en-US" sz="1200" dirty="0"/>
          </a:p>
        </p:txBody>
      </p:sp>
      <p:sp>
        <p:nvSpPr>
          <p:cNvPr id="27" name="Text 25"/>
          <p:cNvSpPr/>
          <p:nvPr/>
        </p:nvSpPr>
        <p:spPr>
          <a:xfrm>
            <a:off x="66802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Q3</a:t>
            </a:r>
            <a:endParaRPr lang="en-US" sz="1200" dirty="0"/>
          </a:p>
        </p:txBody>
      </p:sp>
      <p:sp>
        <p:nvSpPr>
          <p:cNvPr id="28" name="Text 26"/>
          <p:cNvSpPr/>
          <p:nvPr/>
        </p:nvSpPr>
        <p:spPr>
          <a:xfrm>
            <a:off x="71247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Q4</a:t>
            </a:r>
            <a:endParaRPr lang="en-US" sz="1200" dirty="0"/>
          </a:p>
        </p:txBody>
      </p:sp>
      <p:sp>
        <p:nvSpPr>
          <p:cNvPr id="29" name="Text 27"/>
          <p:cNvSpPr/>
          <p:nvPr/>
        </p:nvSpPr>
        <p:spPr>
          <a:xfrm>
            <a:off x="76581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Q1</a:t>
            </a:r>
            <a:endParaRPr lang="en-US" sz="1200" dirty="0"/>
          </a:p>
        </p:txBody>
      </p:sp>
      <p:sp>
        <p:nvSpPr>
          <p:cNvPr id="30" name="Text 28"/>
          <p:cNvSpPr/>
          <p:nvPr/>
        </p:nvSpPr>
        <p:spPr>
          <a:xfrm>
            <a:off x="81026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Q2</a:t>
            </a:r>
            <a:endParaRPr lang="en-US" sz="1200" dirty="0"/>
          </a:p>
        </p:txBody>
      </p:sp>
      <p:sp>
        <p:nvSpPr>
          <p:cNvPr id="31" name="Text 29"/>
          <p:cNvSpPr/>
          <p:nvPr/>
        </p:nvSpPr>
        <p:spPr>
          <a:xfrm>
            <a:off x="85471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Q3</a:t>
            </a:r>
            <a:endParaRPr lang="en-US" sz="1200" dirty="0"/>
          </a:p>
        </p:txBody>
      </p:sp>
      <p:sp>
        <p:nvSpPr>
          <p:cNvPr id="32" name="Text 30"/>
          <p:cNvSpPr/>
          <p:nvPr/>
        </p:nvSpPr>
        <p:spPr>
          <a:xfrm>
            <a:off x="89916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Q4</a:t>
            </a:r>
            <a:endParaRPr lang="en-US" sz="1200" dirty="0"/>
          </a:p>
        </p:txBody>
      </p:sp>
      <p:sp>
        <p:nvSpPr>
          <p:cNvPr id="33" name="Text 31"/>
          <p:cNvSpPr/>
          <p:nvPr/>
        </p:nvSpPr>
        <p:spPr>
          <a:xfrm>
            <a:off x="95250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Q1</a:t>
            </a:r>
            <a:endParaRPr lang="en-US" sz="1200" dirty="0"/>
          </a:p>
        </p:txBody>
      </p:sp>
      <p:sp>
        <p:nvSpPr>
          <p:cNvPr id="34" name="Text 32"/>
          <p:cNvSpPr/>
          <p:nvPr/>
        </p:nvSpPr>
        <p:spPr>
          <a:xfrm>
            <a:off x="99695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Q2</a:t>
            </a:r>
            <a:endParaRPr lang="en-US" sz="1200" dirty="0"/>
          </a:p>
        </p:txBody>
      </p:sp>
      <p:sp>
        <p:nvSpPr>
          <p:cNvPr id="35" name="Text 33"/>
          <p:cNvSpPr/>
          <p:nvPr/>
        </p:nvSpPr>
        <p:spPr>
          <a:xfrm>
            <a:off x="104140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Q3</a:t>
            </a:r>
            <a:endParaRPr lang="en-US" sz="1200" dirty="0"/>
          </a:p>
        </p:txBody>
      </p:sp>
      <p:sp>
        <p:nvSpPr>
          <p:cNvPr id="36" name="Text 34"/>
          <p:cNvSpPr/>
          <p:nvPr/>
        </p:nvSpPr>
        <p:spPr>
          <a:xfrm>
            <a:off x="10858500" y="350202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Q4</a:t>
            </a:r>
            <a:endParaRPr lang="en-US" sz="1200" dirty="0"/>
          </a:p>
        </p:txBody>
      </p:sp>
      <p:sp>
        <p:nvSpPr>
          <p:cNvPr id="37" name="Text 35"/>
          <p:cNvSpPr/>
          <p:nvPr/>
        </p:nvSpPr>
        <p:spPr>
          <a:xfrm>
            <a:off x="812800" y="3780879"/>
            <a:ext cx="1193800" cy="432296"/>
          </a:xfrm>
          <a:prstGeom prst="rect">
            <a:avLst/>
          </a:prstGeom>
          <a:noFill/>
          <a:ln/>
        </p:spPr>
        <p:txBody>
          <a:bodyPr wrap="square" lIns="0" tIns="0" rIns="0" bIns="0" rtlCol="0" anchor="t">
            <a:normAutofit/>
          </a:bodyPr>
          <a:lstStyle/>
          <a:p>
            <a:pPr algn="l" indent="0" marL="0">
              <a:lnSpc>
                <a:spcPts val="3204"/>
              </a:lnSpc>
              <a:buNone/>
            </a:pPr>
            <a:r>
              <a:rPr lang="en-US" sz="1200" dirty="0">
                <a:solidFill>
                  <a:srgbClr val="A9B4BF"/>
                </a:solidFill>
                <a:latin typeface="Courier New" pitchFamily="49" charset="0"/>
                <a:ea typeface="Courier New" pitchFamily="49" charset="-122"/>
                <a:cs typeface="Courier New" pitchFamily="49" charset="-120"/>
              </a:rPr>
              <a:t>DCRP</a:t>
            </a:r>
            <a:endParaRPr lang="en-US" sz="1200" dirty="0"/>
          </a:p>
        </p:txBody>
      </p:sp>
      <p:sp>
        <p:nvSpPr>
          <p:cNvPr id="38" name="Text 36"/>
          <p:cNvSpPr/>
          <p:nvPr/>
        </p:nvSpPr>
        <p:spPr>
          <a:xfrm>
            <a:off x="2085975" y="3784302"/>
            <a:ext cx="400050" cy="400050"/>
          </a:xfrm>
          <a:prstGeom prst="rect">
            <a:avLst/>
          </a:prstGeom>
          <a:solidFill>
            <a:srgbClr val="E6EDF3">
              <a:alpha val="21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19</a:t>
            </a:r>
            <a:endParaRPr lang="en-US" sz="1200" dirty="0"/>
          </a:p>
        </p:txBody>
      </p:sp>
      <p:sp>
        <p:nvSpPr>
          <p:cNvPr id="39" name="Shape 37"/>
          <p:cNvSpPr/>
          <p:nvPr/>
        </p:nvSpPr>
        <p:spPr>
          <a:xfrm>
            <a:off x="2530475" y="3784302"/>
            <a:ext cx="400050" cy="400050"/>
          </a:xfrm>
          <a:prstGeom prst="rect">
            <a:avLst/>
          </a:prstGeom>
          <a:noFill/>
          <a:ln w="6350">
            <a:solidFill>
              <a:srgbClr val="222A35"/>
            </a:solidFill>
            <a:prstDash val="solid"/>
          </a:ln>
        </p:spPr>
      </p:sp>
      <p:sp>
        <p:nvSpPr>
          <p:cNvPr id="40" name="Text 38"/>
          <p:cNvSpPr/>
          <p:nvPr/>
        </p:nvSpPr>
        <p:spPr>
          <a:xfrm>
            <a:off x="2974975" y="3784302"/>
            <a:ext cx="400050" cy="400050"/>
          </a:xfrm>
          <a:prstGeom prst="rect">
            <a:avLst/>
          </a:prstGeom>
          <a:solidFill>
            <a:srgbClr val="E6EDF3">
              <a:alpha val="2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2</a:t>
            </a:r>
            <a:endParaRPr lang="en-US" sz="1200" dirty="0"/>
          </a:p>
        </p:txBody>
      </p:sp>
      <p:sp>
        <p:nvSpPr>
          <p:cNvPr id="41" name="Text 39"/>
          <p:cNvSpPr/>
          <p:nvPr/>
        </p:nvSpPr>
        <p:spPr>
          <a:xfrm>
            <a:off x="3419475" y="3784302"/>
            <a:ext cx="400050" cy="400050"/>
          </a:xfrm>
          <a:prstGeom prst="rect">
            <a:avLst/>
          </a:prstGeom>
          <a:solidFill>
            <a:srgbClr val="E6EDF3">
              <a:alpha val="84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77</a:t>
            </a:r>
            <a:endParaRPr lang="en-US" sz="1200" dirty="0"/>
          </a:p>
        </p:txBody>
      </p:sp>
      <p:sp>
        <p:nvSpPr>
          <p:cNvPr id="42" name="Text 40"/>
          <p:cNvSpPr/>
          <p:nvPr/>
        </p:nvSpPr>
        <p:spPr>
          <a:xfrm>
            <a:off x="3952875" y="3784302"/>
            <a:ext cx="400050" cy="400050"/>
          </a:xfrm>
          <a:prstGeom prst="rect">
            <a:avLst/>
          </a:prstGeom>
          <a:solidFill>
            <a:srgbClr val="E6EDF3">
              <a:alpha val="54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50</a:t>
            </a:r>
            <a:endParaRPr lang="en-US" sz="1200" dirty="0"/>
          </a:p>
        </p:txBody>
      </p:sp>
      <p:sp>
        <p:nvSpPr>
          <p:cNvPr id="43" name="Shape 41"/>
          <p:cNvSpPr/>
          <p:nvPr/>
        </p:nvSpPr>
        <p:spPr>
          <a:xfrm>
            <a:off x="4397375" y="3784302"/>
            <a:ext cx="400050" cy="400050"/>
          </a:xfrm>
          <a:prstGeom prst="rect">
            <a:avLst/>
          </a:prstGeom>
          <a:noFill/>
          <a:ln w="6350">
            <a:solidFill>
              <a:srgbClr val="222A35"/>
            </a:solidFill>
            <a:prstDash val="solid"/>
          </a:ln>
        </p:spPr>
      </p:sp>
      <p:sp>
        <p:nvSpPr>
          <p:cNvPr id="44" name="Shape 42"/>
          <p:cNvSpPr/>
          <p:nvPr/>
        </p:nvSpPr>
        <p:spPr>
          <a:xfrm>
            <a:off x="4841875" y="3784302"/>
            <a:ext cx="400050" cy="400050"/>
          </a:xfrm>
          <a:prstGeom prst="rect">
            <a:avLst/>
          </a:prstGeom>
          <a:noFill/>
          <a:ln w="6350">
            <a:solidFill>
              <a:srgbClr val="222A35"/>
            </a:solidFill>
            <a:prstDash val="solid"/>
          </a:ln>
        </p:spPr>
      </p:sp>
      <p:sp>
        <p:nvSpPr>
          <p:cNvPr id="45" name="Shape 43"/>
          <p:cNvSpPr/>
          <p:nvPr/>
        </p:nvSpPr>
        <p:spPr>
          <a:xfrm>
            <a:off x="5286375" y="3784302"/>
            <a:ext cx="400050" cy="400050"/>
          </a:xfrm>
          <a:prstGeom prst="rect">
            <a:avLst/>
          </a:prstGeom>
          <a:noFill/>
          <a:ln w="6350">
            <a:solidFill>
              <a:srgbClr val="222A35"/>
            </a:solidFill>
            <a:prstDash val="solid"/>
          </a:ln>
        </p:spPr>
      </p:sp>
      <p:sp>
        <p:nvSpPr>
          <p:cNvPr id="46" name="Text 44"/>
          <p:cNvSpPr/>
          <p:nvPr/>
        </p:nvSpPr>
        <p:spPr>
          <a:xfrm>
            <a:off x="5819775" y="3784302"/>
            <a:ext cx="400050" cy="400050"/>
          </a:xfrm>
          <a:prstGeom prst="rect">
            <a:avLst/>
          </a:prstGeom>
          <a:solidFill>
            <a:srgbClr val="E6EDF3">
              <a:alpha val="2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2</a:t>
            </a:r>
            <a:endParaRPr lang="en-US" sz="1200" dirty="0"/>
          </a:p>
        </p:txBody>
      </p:sp>
      <p:sp>
        <p:nvSpPr>
          <p:cNvPr id="47" name="Text 45"/>
          <p:cNvSpPr/>
          <p:nvPr/>
        </p:nvSpPr>
        <p:spPr>
          <a:xfrm>
            <a:off x="6264275" y="3784302"/>
            <a:ext cx="400050" cy="400050"/>
          </a:xfrm>
          <a:prstGeom prst="rect">
            <a:avLst/>
          </a:prstGeom>
          <a:solidFill>
            <a:srgbClr val="E6EDF3">
              <a:alpha val="1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1</a:t>
            </a:r>
            <a:endParaRPr lang="en-US" sz="1200" dirty="0"/>
          </a:p>
        </p:txBody>
      </p:sp>
      <p:sp>
        <p:nvSpPr>
          <p:cNvPr id="48" name="Shape 46"/>
          <p:cNvSpPr/>
          <p:nvPr/>
        </p:nvSpPr>
        <p:spPr>
          <a:xfrm>
            <a:off x="6708775" y="3784302"/>
            <a:ext cx="400050" cy="400050"/>
          </a:xfrm>
          <a:prstGeom prst="rect">
            <a:avLst/>
          </a:prstGeom>
          <a:noFill/>
          <a:ln w="6350">
            <a:solidFill>
              <a:srgbClr val="222A35"/>
            </a:solidFill>
            <a:prstDash val="solid"/>
          </a:ln>
        </p:spPr>
      </p:sp>
      <p:sp>
        <p:nvSpPr>
          <p:cNvPr id="49" name="Shape 47"/>
          <p:cNvSpPr/>
          <p:nvPr/>
        </p:nvSpPr>
        <p:spPr>
          <a:xfrm>
            <a:off x="7153275" y="3784302"/>
            <a:ext cx="400050" cy="400050"/>
          </a:xfrm>
          <a:prstGeom prst="rect">
            <a:avLst/>
          </a:prstGeom>
          <a:noFill/>
          <a:ln w="6350">
            <a:solidFill>
              <a:srgbClr val="222A35"/>
            </a:solidFill>
            <a:prstDash val="solid"/>
          </a:ln>
        </p:spPr>
      </p:sp>
      <p:sp>
        <p:nvSpPr>
          <p:cNvPr id="50" name="Shape 48"/>
          <p:cNvSpPr/>
          <p:nvPr/>
        </p:nvSpPr>
        <p:spPr>
          <a:xfrm>
            <a:off x="7686675" y="3784302"/>
            <a:ext cx="400050" cy="400050"/>
          </a:xfrm>
          <a:prstGeom prst="rect">
            <a:avLst/>
          </a:prstGeom>
          <a:noFill/>
          <a:ln w="6350">
            <a:solidFill>
              <a:srgbClr val="222A35"/>
            </a:solidFill>
            <a:prstDash val="solid"/>
          </a:ln>
        </p:spPr>
      </p:sp>
      <p:sp>
        <p:nvSpPr>
          <p:cNvPr id="51" name="Shape 49"/>
          <p:cNvSpPr/>
          <p:nvPr/>
        </p:nvSpPr>
        <p:spPr>
          <a:xfrm>
            <a:off x="8131175" y="3784302"/>
            <a:ext cx="400050" cy="400050"/>
          </a:xfrm>
          <a:prstGeom prst="rect">
            <a:avLst/>
          </a:prstGeom>
          <a:noFill/>
          <a:ln w="6350">
            <a:solidFill>
              <a:srgbClr val="222A35"/>
            </a:solidFill>
            <a:prstDash val="solid"/>
          </a:ln>
        </p:spPr>
      </p:sp>
      <p:sp>
        <p:nvSpPr>
          <p:cNvPr id="52" name="Text 50"/>
          <p:cNvSpPr/>
          <p:nvPr/>
        </p:nvSpPr>
        <p:spPr>
          <a:xfrm>
            <a:off x="8575675" y="3784302"/>
            <a:ext cx="400050" cy="400050"/>
          </a:xfrm>
          <a:prstGeom prst="rect">
            <a:avLst/>
          </a:prstGeom>
          <a:solidFill>
            <a:srgbClr val="E6EDF3">
              <a:alpha val="3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3</a:t>
            </a:r>
            <a:endParaRPr lang="en-US" sz="1200" dirty="0"/>
          </a:p>
        </p:txBody>
      </p:sp>
      <p:sp>
        <p:nvSpPr>
          <p:cNvPr id="53" name="Shape 51"/>
          <p:cNvSpPr/>
          <p:nvPr/>
        </p:nvSpPr>
        <p:spPr>
          <a:xfrm>
            <a:off x="9020175" y="3784302"/>
            <a:ext cx="400050" cy="400050"/>
          </a:xfrm>
          <a:prstGeom prst="rect">
            <a:avLst/>
          </a:prstGeom>
          <a:noFill/>
          <a:ln w="6350">
            <a:solidFill>
              <a:srgbClr val="222A35"/>
            </a:solidFill>
            <a:prstDash val="solid"/>
          </a:ln>
        </p:spPr>
      </p:sp>
      <p:sp>
        <p:nvSpPr>
          <p:cNvPr id="54" name="Text 52"/>
          <p:cNvSpPr/>
          <p:nvPr/>
        </p:nvSpPr>
        <p:spPr>
          <a:xfrm>
            <a:off x="9553575" y="3784302"/>
            <a:ext cx="400050" cy="400050"/>
          </a:xfrm>
          <a:prstGeom prst="rect">
            <a:avLst/>
          </a:prstGeom>
          <a:solidFill>
            <a:srgbClr val="E6EDF3">
              <a:alpha val="1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1</a:t>
            </a:r>
            <a:endParaRPr lang="en-US" sz="1200" dirty="0"/>
          </a:p>
        </p:txBody>
      </p:sp>
      <p:sp>
        <p:nvSpPr>
          <p:cNvPr id="55" name="Shape 53"/>
          <p:cNvSpPr/>
          <p:nvPr/>
        </p:nvSpPr>
        <p:spPr>
          <a:xfrm>
            <a:off x="9998075" y="3784302"/>
            <a:ext cx="400050" cy="400050"/>
          </a:xfrm>
          <a:prstGeom prst="rect">
            <a:avLst/>
          </a:prstGeom>
          <a:noFill/>
          <a:ln w="6350">
            <a:solidFill>
              <a:srgbClr val="222A35"/>
            </a:solidFill>
            <a:prstDash val="solid"/>
          </a:ln>
        </p:spPr>
      </p:sp>
      <p:sp>
        <p:nvSpPr>
          <p:cNvPr id="56" name="Shape 54"/>
          <p:cNvSpPr/>
          <p:nvPr/>
        </p:nvSpPr>
        <p:spPr>
          <a:xfrm>
            <a:off x="10442575" y="3784302"/>
            <a:ext cx="400050" cy="400050"/>
          </a:xfrm>
          <a:prstGeom prst="rect">
            <a:avLst/>
          </a:prstGeom>
          <a:noFill/>
          <a:ln w="6350">
            <a:solidFill>
              <a:srgbClr val="222A35"/>
            </a:solidFill>
            <a:prstDash val="solid"/>
          </a:ln>
        </p:spPr>
      </p:sp>
      <p:sp>
        <p:nvSpPr>
          <p:cNvPr id="57" name="Shape 55"/>
          <p:cNvSpPr/>
          <p:nvPr/>
        </p:nvSpPr>
        <p:spPr>
          <a:xfrm>
            <a:off x="10887075" y="3784302"/>
            <a:ext cx="400050" cy="400050"/>
          </a:xfrm>
          <a:prstGeom prst="rect">
            <a:avLst/>
          </a:prstGeom>
          <a:noFill/>
          <a:ln w="6350">
            <a:solidFill>
              <a:srgbClr val="222A35"/>
            </a:solidFill>
            <a:prstDash val="solid"/>
          </a:ln>
        </p:spPr>
      </p:sp>
      <p:sp>
        <p:nvSpPr>
          <p:cNvPr id="58" name="Text 56"/>
          <p:cNvSpPr/>
          <p:nvPr/>
        </p:nvSpPr>
        <p:spPr>
          <a:xfrm>
            <a:off x="812800" y="4263975"/>
            <a:ext cx="1193800" cy="432296"/>
          </a:xfrm>
          <a:prstGeom prst="rect">
            <a:avLst/>
          </a:prstGeom>
          <a:noFill/>
          <a:ln/>
        </p:spPr>
        <p:txBody>
          <a:bodyPr wrap="square" lIns="0" tIns="0" rIns="0" bIns="0" rtlCol="0" anchor="t">
            <a:normAutofit/>
          </a:bodyPr>
          <a:lstStyle/>
          <a:p>
            <a:pPr algn="l" indent="0" marL="0">
              <a:lnSpc>
                <a:spcPts val="3204"/>
              </a:lnSpc>
              <a:buNone/>
            </a:pPr>
            <a:r>
              <a:rPr lang="en-US" sz="1200" dirty="0">
                <a:solidFill>
                  <a:srgbClr val="A9B4BF"/>
                </a:solidFill>
                <a:latin typeface="Courier New" pitchFamily="49" charset="0"/>
                <a:ea typeface="Courier New" pitchFamily="49" charset="-122"/>
                <a:cs typeface="Courier New" pitchFamily="49" charset="-120"/>
              </a:rPr>
              <a:t>DTCP</a:t>
            </a:r>
            <a:endParaRPr lang="en-US" sz="1200" dirty="0"/>
          </a:p>
        </p:txBody>
      </p:sp>
      <p:sp>
        <p:nvSpPr>
          <p:cNvPr id="59" name="Shape 57"/>
          <p:cNvSpPr/>
          <p:nvPr/>
        </p:nvSpPr>
        <p:spPr>
          <a:xfrm>
            <a:off x="2085975" y="4267398"/>
            <a:ext cx="400050" cy="400050"/>
          </a:xfrm>
          <a:prstGeom prst="rect">
            <a:avLst/>
          </a:prstGeom>
          <a:noFill/>
          <a:ln w="6350">
            <a:solidFill>
              <a:srgbClr val="222A35"/>
            </a:solidFill>
            <a:prstDash val="solid"/>
          </a:ln>
        </p:spPr>
      </p:sp>
      <p:sp>
        <p:nvSpPr>
          <p:cNvPr id="60" name="Shape 58"/>
          <p:cNvSpPr/>
          <p:nvPr/>
        </p:nvSpPr>
        <p:spPr>
          <a:xfrm>
            <a:off x="2530475" y="4267398"/>
            <a:ext cx="400050" cy="400050"/>
          </a:xfrm>
          <a:prstGeom prst="rect">
            <a:avLst/>
          </a:prstGeom>
          <a:noFill/>
          <a:ln w="6350">
            <a:solidFill>
              <a:srgbClr val="222A35"/>
            </a:solidFill>
            <a:prstDash val="solid"/>
          </a:ln>
        </p:spPr>
      </p:sp>
      <p:sp>
        <p:nvSpPr>
          <p:cNvPr id="61" name="Shape 59"/>
          <p:cNvSpPr/>
          <p:nvPr/>
        </p:nvSpPr>
        <p:spPr>
          <a:xfrm>
            <a:off x="2974975" y="4267398"/>
            <a:ext cx="400050" cy="400050"/>
          </a:xfrm>
          <a:prstGeom prst="rect">
            <a:avLst/>
          </a:prstGeom>
          <a:noFill/>
          <a:ln w="6350">
            <a:solidFill>
              <a:srgbClr val="222A35"/>
            </a:solidFill>
            <a:prstDash val="solid"/>
          </a:ln>
        </p:spPr>
      </p:sp>
      <p:sp>
        <p:nvSpPr>
          <p:cNvPr id="62" name="Shape 60"/>
          <p:cNvSpPr/>
          <p:nvPr/>
        </p:nvSpPr>
        <p:spPr>
          <a:xfrm>
            <a:off x="3419475" y="4267398"/>
            <a:ext cx="400050" cy="400050"/>
          </a:xfrm>
          <a:prstGeom prst="rect">
            <a:avLst/>
          </a:prstGeom>
          <a:noFill/>
          <a:ln w="6350">
            <a:solidFill>
              <a:srgbClr val="222A35"/>
            </a:solidFill>
            <a:prstDash val="solid"/>
          </a:ln>
        </p:spPr>
      </p:sp>
      <p:sp>
        <p:nvSpPr>
          <p:cNvPr id="63" name="Shape 61"/>
          <p:cNvSpPr/>
          <p:nvPr/>
        </p:nvSpPr>
        <p:spPr>
          <a:xfrm>
            <a:off x="3952875" y="4267398"/>
            <a:ext cx="400050" cy="400050"/>
          </a:xfrm>
          <a:prstGeom prst="rect">
            <a:avLst/>
          </a:prstGeom>
          <a:noFill/>
          <a:ln w="6350">
            <a:solidFill>
              <a:srgbClr val="222A35"/>
            </a:solidFill>
            <a:prstDash val="solid"/>
          </a:ln>
        </p:spPr>
      </p:sp>
      <p:sp>
        <p:nvSpPr>
          <p:cNvPr id="64" name="Text 62"/>
          <p:cNvSpPr/>
          <p:nvPr/>
        </p:nvSpPr>
        <p:spPr>
          <a:xfrm>
            <a:off x="4397375" y="4267398"/>
            <a:ext cx="400050" cy="400050"/>
          </a:xfrm>
          <a:prstGeom prst="rect">
            <a:avLst/>
          </a:prstGeom>
          <a:solidFill>
            <a:srgbClr val="E6EDF3">
              <a:alpha val="9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8</a:t>
            </a:r>
            <a:endParaRPr lang="en-US" sz="1200" dirty="0"/>
          </a:p>
        </p:txBody>
      </p:sp>
      <p:sp>
        <p:nvSpPr>
          <p:cNvPr id="65" name="Text 63"/>
          <p:cNvSpPr/>
          <p:nvPr/>
        </p:nvSpPr>
        <p:spPr>
          <a:xfrm>
            <a:off x="4841875" y="4267398"/>
            <a:ext cx="400050" cy="4000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92</a:t>
            </a:r>
            <a:endParaRPr lang="en-US" sz="1200" dirty="0"/>
          </a:p>
        </p:txBody>
      </p:sp>
      <p:sp>
        <p:nvSpPr>
          <p:cNvPr id="66" name="Text 64"/>
          <p:cNvSpPr/>
          <p:nvPr/>
        </p:nvSpPr>
        <p:spPr>
          <a:xfrm>
            <a:off x="5286375" y="4267398"/>
            <a:ext cx="400050" cy="4000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92</a:t>
            </a:r>
            <a:endParaRPr lang="en-US" sz="1200" dirty="0"/>
          </a:p>
        </p:txBody>
      </p:sp>
      <p:sp>
        <p:nvSpPr>
          <p:cNvPr id="67" name="Text 65"/>
          <p:cNvSpPr/>
          <p:nvPr/>
        </p:nvSpPr>
        <p:spPr>
          <a:xfrm>
            <a:off x="5819775" y="4267398"/>
            <a:ext cx="400050" cy="400050"/>
          </a:xfrm>
          <a:prstGeom prst="rect">
            <a:avLst/>
          </a:prstGeom>
          <a:solidFill>
            <a:srgbClr val="E6EDF3">
              <a:alpha val="40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37</a:t>
            </a:r>
            <a:endParaRPr lang="en-US" sz="1200" dirty="0"/>
          </a:p>
        </p:txBody>
      </p:sp>
      <p:sp>
        <p:nvSpPr>
          <p:cNvPr id="68" name="Text 66"/>
          <p:cNvSpPr/>
          <p:nvPr/>
        </p:nvSpPr>
        <p:spPr>
          <a:xfrm>
            <a:off x="6264275" y="4267398"/>
            <a:ext cx="400050" cy="400050"/>
          </a:xfrm>
          <a:prstGeom prst="rect">
            <a:avLst/>
          </a:prstGeom>
          <a:solidFill>
            <a:srgbClr val="E6EDF3">
              <a:alpha val="62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57</a:t>
            </a:r>
            <a:endParaRPr lang="en-US" sz="1200" dirty="0"/>
          </a:p>
        </p:txBody>
      </p:sp>
      <p:sp>
        <p:nvSpPr>
          <p:cNvPr id="69" name="Text 67"/>
          <p:cNvSpPr/>
          <p:nvPr/>
        </p:nvSpPr>
        <p:spPr>
          <a:xfrm>
            <a:off x="6708775" y="4267398"/>
            <a:ext cx="400050" cy="400050"/>
          </a:xfrm>
          <a:prstGeom prst="rect">
            <a:avLst/>
          </a:prstGeom>
          <a:solidFill>
            <a:srgbClr val="E6EDF3">
              <a:alpha val="28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26</a:t>
            </a:r>
            <a:endParaRPr lang="en-US" sz="1200" dirty="0"/>
          </a:p>
        </p:txBody>
      </p:sp>
      <p:sp>
        <p:nvSpPr>
          <p:cNvPr id="70" name="Text 68"/>
          <p:cNvSpPr/>
          <p:nvPr/>
        </p:nvSpPr>
        <p:spPr>
          <a:xfrm>
            <a:off x="7153275" y="4267398"/>
            <a:ext cx="400050" cy="400050"/>
          </a:xfrm>
          <a:prstGeom prst="rect">
            <a:avLst/>
          </a:prstGeom>
          <a:solidFill>
            <a:srgbClr val="E6EDF3">
              <a:alpha val="82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75</a:t>
            </a:r>
            <a:endParaRPr lang="en-US" sz="1200" dirty="0"/>
          </a:p>
        </p:txBody>
      </p:sp>
      <p:sp>
        <p:nvSpPr>
          <p:cNvPr id="71" name="Text 69"/>
          <p:cNvSpPr/>
          <p:nvPr/>
        </p:nvSpPr>
        <p:spPr>
          <a:xfrm>
            <a:off x="7686675" y="4267398"/>
            <a:ext cx="400050" cy="400050"/>
          </a:xfrm>
          <a:prstGeom prst="rect">
            <a:avLst/>
          </a:prstGeom>
          <a:solidFill>
            <a:srgbClr val="E6EDF3">
              <a:alpha val="21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19</a:t>
            </a:r>
            <a:endParaRPr lang="en-US" sz="1200" dirty="0"/>
          </a:p>
        </p:txBody>
      </p:sp>
      <p:sp>
        <p:nvSpPr>
          <p:cNvPr id="72" name="Text 70"/>
          <p:cNvSpPr/>
          <p:nvPr/>
        </p:nvSpPr>
        <p:spPr>
          <a:xfrm>
            <a:off x="8131175" y="4267398"/>
            <a:ext cx="400050" cy="400050"/>
          </a:xfrm>
          <a:prstGeom prst="rect">
            <a:avLst/>
          </a:prstGeom>
          <a:solidFill>
            <a:srgbClr val="E6EDF3">
              <a:alpha val="27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25</a:t>
            </a:r>
            <a:endParaRPr lang="en-US" sz="1200" dirty="0"/>
          </a:p>
        </p:txBody>
      </p:sp>
      <p:sp>
        <p:nvSpPr>
          <p:cNvPr id="73" name="Text 71"/>
          <p:cNvSpPr/>
          <p:nvPr/>
        </p:nvSpPr>
        <p:spPr>
          <a:xfrm>
            <a:off x="8575675" y="4267398"/>
            <a:ext cx="400050" cy="400050"/>
          </a:xfrm>
          <a:prstGeom prst="rect">
            <a:avLst/>
          </a:prstGeom>
          <a:solidFill>
            <a:srgbClr val="E6EDF3">
              <a:alpha val="73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67</a:t>
            </a:r>
            <a:endParaRPr lang="en-US" sz="1200" dirty="0"/>
          </a:p>
        </p:txBody>
      </p:sp>
      <p:sp>
        <p:nvSpPr>
          <p:cNvPr id="74" name="Text 72"/>
          <p:cNvSpPr/>
          <p:nvPr/>
        </p:nvSpPr>
        <p:spPr>
          <a:xfrm>
            <a:off x="9020175" y="4267398"/>
            <a:ext cx="400050" cy="400050"/>
          </a:xfrm>
          <a:prstGeom prst="rect">
            <a:avLst/>
          </a:prstGeom>
          <a:solidFill>
            <a:srgbClr val="E6EDF3">
              <a:alpha val="14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13</a:t>
            </a:r>
            <a:endParaRPr lang="en-US" sz="1200" dirty="0"/>
          </a:p>
        </p:txBody>
      </p:sp>
      <p:sp>
        <p:nvSpPr>
          <p:cNvPr id="75" name="Text 73"/>
          <p:cNvSpPr/>
          <p:nvPr/>
        </p:nvSpPr>
        <p:spPr>
          <a:xfrm>
            <a:off x="9553575" y="4267398"/>
            <a:ext cx="400050" cy="400050"/>
          </a:xfrm>
          <a:prstGeom prst="rect">
            <a:avLst/>
          </a:prstGeom>
          <a:solidFill>
            <a:srgbClr val="E6EDF3">
              <a:alpha val="14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13</a:t>
            </a:r>
            <a:endParaRPr lang="en-US" sz="1200" dirty="0"/>
          </a:p>
        </p:txBody>
      </p:sp>
      <p:sp>
        <p:nvSpPr>
          <p:cNvPr id="76" name="Text 74"/>
          <p:cNvSpPr/>
          <p:nvPr/>
        </p:nvSpPr>
        <p:spPr>
          <a:xfrm>
            <a:off x="9998075" y="4267398"/>
            <a:ext cx="400050" cy="400050"/>
          </a:xfrm>
          <a:prstGeom prst="rect">
            <a:avLst/>
          </a:prstGeom>
          <a:solidFill>
            <a:srgbClr val="E6EDF3">
              <a:alpha val="41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38</a:t>
            </a:r>
            <a:endParaRPr lang="en-US" sz="1200" dirty="0"/>
          </a:p>
        </p:txBody>
      </p:sp>
      <p:sp>
        <p:nvSpPr>
          <p:cNvPr id="77" name="Text 75"/>
          <p:cNvSpPr/>
          <p:nvPr/>
        </p:nvSpPr>
        <p:spPr>
          <a:xfrm>
            <a:off x="10442575" y="4267398"/>
            <a:ext cx="400050" cy="400050"/>
          </a:xfrm>
          <a:prstGeom prst="rect">
            <a:avLst/>
          </a:prstGeom>
          <a:solidFill>
            <a:srgbClr val="E6EDF3">
              <a:alpha val="72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66</a:t>
            </a:r>
            <a:endParaRPr lang="en-US" sz="1200" dirty="0"/>
          </a:p>
        </p:txBody>
      </p:sp>
      <p:sp>
        <p:nvSpPr>
          <p:cNvPr id="78" name="Text 76"/>
          <p:cNvSpPr/>
          <p:nvPr/>
        </p:nvSpPr>
        <p:spPr>
          <a:xfrm>
            <a:off x="10887075" y="4267398"/>
            <a:ext cx="400050" cy="400050"/>
          </a:xfrm>
          <a:prstGeom prst="rect">
            <a:avLst/>
          </a:prstGeom>
          <a:solidFill>
            <a:srgbClr val="E6EDF3">
              <a:alpha val="14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13</a:t>
            </a:r>
            <a:endParaRPr lang="en-US" sz="1200" dirty="0"/>
          </a:p>
        </p:txBody>
      </p:sp>
      <p:sp>
        <p:nvSpPr>
          <p:cNvPr id="79" name="Text 77"/>
          <p:cNvSpPr/>
          <p:nvPr/>
        </p:nvSpPr>
        <p:spPr>
          <a:xfrm>
            <a:off x="812800" y="4747071"/>
            <a:ext cx="1193800" cy="432296"/>
          </a:xfrm>
          <a:prstGeom prst="rect">
            <a:avLst/>
          </a:prstGeom>
          <a:noFill/>
          <a:ln/>
        </p:spPr>
        <p:txBody>
          <a:bodyPr wrap="square" lIns="0" tIns="0" rIns="0" bIns="0" rtlCol="0" anchor="t">
            <a:normAutofit/>
          </a:bodyPr>
          <a:lstStyle/>
          <a:p>
            <a:pPr algn="l" indent="0" marL="0">
              <a:lnSpc>
                <a:spcPts val="3204"/>
              </a:lnSpc>
              <a:buNone/>
            </a:pPr>
            <a:r>
              <a:rPr lang="en-US" sz="1200" dirty="0">
                <a:solidFill>
                  <a:srgbClr val="A9B4BF"/>
                </a:solidFill>
                <a:latin typeface="Arial" pitchFamily="34" charset="0"/>
                <a:ea typeface="Arial" pitchFamily="34" charset="-122"/>
                <a:cs typeface="Arial" pitchFamily="34" charset="-120"/>
              </a:rPr>
              <a:t>ライブ配信</a:t>
            </a:r>
            <a:endParaRPr lang="en-US" sz="1200" dirty="0"/>
          </a:p>
        </p:txBody>
      </p:sp>
      <p:sp>
        <p:nvSpPr>
          <p:cNvPr id="80" name="Shape 78"/>
          <p:cNvSpPr/>
          <p:nvPr/>
        </p:nvSpPr>
        <p:spPr>
          <a:xfrm>
            <a:off x="2085975" y="4750495"/>
            <a:ext cx="400050" cy="400050"/>
          </a:xfrm>
          <a:prstGeom prst="rect">
            <a:avLst/>
          </a:prstGeom>
          <a:noFill/>
          <a:ln w="6350">
            <a:solidFill>
              <a:srgbClr val="222A35"/>
            </a:solidFill>
            <a:prstDash val="solid"/>
          </a:ln>
        </p:spPr>
      </p:sp>
      <p:sp>
        <p:nvSpPr>
          <p:cNvPr id="81" name="Shape 79"/>
          <p:cNvSpPr/>
          <p:nvPr/>
        </p:nvSpPr>
        <p:spPr>
          <a:xfrm>
            <a:off x="2530475" y="4750495"/>
            <a:ext cx="400050" cy="400050"/>
          </a:xfrm>
          <a:prstGeom prst="rect">
            <a:avLst/>
          </a:prstGeom>
          <a:noFill/>
          <a:ln w="6350">
            <a:solidFill>
              <a:srgbClr val="222A35"/>
            </a:solidFill>
            <a:prstDash val="solid"/>
          </a:ln>
        </p:spPr>
      </p:sp>
      <p:sp>
        <p:nvSpPr>
          <p:cNvPr id="82" name="Shape 80"/>
          <p:cNvSpPr/>
          <p:nvPr/>
        </p:nvSpPr>
        <p:spPr>
          <a:xfrm>
            <a:off x="2974975" y="4750495"/>
            <a:ext cx="400050" cy="400050"/>
          </a:xfrm>
          <a:prstGeom prst="rect">
            <a:avLst/>
          </a:prstGeom>
          <a:noFill/>
          <a:ln w="6350">
            <a:solidFill>
              <a:srgbClr val="222A35"/>
            </a:solidFill>
            <a:prstDash val="solid"/>
          </a:ln>
        </p:spPr>
      </p:sp>
      <p:sp>
        <p:nvSpPr>
          <p:cNvPr id="83" name="Shape 81"/>
          <p:cNvSpPr/>
          <p:nvPr/>
        </p:nvSpPr>
        <p:spPr>
          <a:xfrm>
            <a:off x="3419475" y="4750495"/>
            <a:ext cx="400050" cy="400050"/>
          </a:xfrm>
          <a:prstGeom prst="rect">
            <a:avLst/>
          </a:prstGeom>
          <a:noFill/>
          <a:ln w="6350">
            <a:solidFill>
              <a:srgbClr val="222A35"/>
            </a:solidFill>
            <a:prstDash val="solid"/>
          </a:ln>
        </p:spPr>
      </p:sp>
      <p:sp>
        <p:nvSpPr>
          <p:cNvPr id="84" name="Text 82"/>
          <p:cNvSpPr/>
          <p:nvPr/>
        </p:nvSpPr>
        <p:spPr>
          <a:xfrm>
            <a:off x="3952875" y="4750495"/>
            <a:ext cx="400050" cy="400050"/>
          </a:xfrm>
          <a:prstGeom prst="rect">
            <a:avLst/>
          </a:prstGeom>
          <a:solidFill>
            <a:srgbClr val="E6EDF3">
              <a:alpha val="2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2</a:t>
            </a:r>
            <a:endParaRPr lang="en-US" sz="1200" dirty="0"/>
          </a:p>
        </p:txBody>
      </p:sp>
      <p:sp>
        <p:nvSpPr>
          <p:cNvPr id="85" name="Shape 83"/>
          <p:cNvSpPr/>
          <p:nvPr/>
        </p:nvSpPr>
        <p:spPr>
          <a:xfrm>
            <a:off x="4397375" y="4750495"/>
            <a:ext cx="400050" cy="400050"/>
          </a:xfrm>
          <a:prstGeom prst="rect">
            <a:avLst/>
          </a:prstGeom>
          <a:noFill/>
          <a:ln w="6350">
            <a:solidFill>
              <a:srgbClr val="222A35"/>
            </a:solidFill>
            <a:prstDash val="solid"/>
          </a:ln>
        </p:spPr>
      </p:sp>
      <p:sp>
        <p:nvSpPr>
          <p:cNvPr id="86" name="Text 84"/>
          <p:cNvSpPr/>
          <p:nvPr/>
        </p:nvSpPr>
        <p:spPr>
          <a:xfrm>
            <a:off x="4841875" y="4750495"/>
            <a:ext cx="400050" cy="400050"/>
          </a:xfrm>
          <a:prstGeom prst="rect">
            <a:avLst/>
          </a:prstGeom>
          <a:solidFill>
            <a:srgbClr val="E6EDF3">
              <a:alpha val="22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20</a:t>
            </a:r>
            <a:endParaRPr lang="en-US" sz="1200" dirty="0"/>
          </a:p>
        </p:txBody>
      </p:sp>
      <p:sp>
        <p:nvSpPr>
          <p:cNvPr id="87" name="Text 85"/>
          <p:cNvSpPr/>
          <p:nvPr/>
        </p:nvSpPr>
        <p:spPr>
          <a:xfrm>
            <a:off x="5286375" y="4750495"/>
            <a:ext cx="400050" cy="400050"/>
          </a:xfrm>
          <a:prstGeom prst="rect">
            <a:avLst/>
          </a:prstGeom>
          <a:solidFill>
            <a:srgbClr val="E6EDF3">
              <a:alpha val="86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79</a:t>
            </a:r>
            <a:endParaRPr lang="en-US" sz="1200" dirty="0"/>
          </a:p>
        </p:txBody>
      </p:sp>
      <p:sp>
        <p:nvSpPr>
          <p:cNvPr id="88" name="Text 86"/>
          <p:cNvSpPr/>
          <p:nvPr/>
        </p:nvSpPr>
        <p:spPr>
          <a:xfrm>
            <a:off x="5819775" y="4750495"/>
            <a:ext cx="400050" cy="400050"/>
          </a:xfrm>
          <a:prstGeom prst="rect">
            <a:avLst/>
          </a:prstGeom>
          <a:solidFill>
            <a:srgbClr val="E6EDF3">
              <a:alpha val="76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70</a:t>
            </a:r>
            <a:endParaRPr lang="en-US" sz="1200" dirty="0"/>
          </a:p>
        </p:txBody>
      </p:sp>
      <p:sp>
        <p:nvSpPr>
          <p:cNvPr id="89" name="Text 87"/>
          <p:cNvSpPr/>
          <p:nvPr/>
        </p:nvSpPr>
        <p:spPr>
          <a:xfrm>
            <a:off x="6264275" y="4750495"/>
            <a:ext cx="400050" cy="400050"/>
          </a:xfrm>
          <a:prstGeom prst="rect">
            <a:avLst/>
          </a:prstGeom>
          <a:solidFill>
            <a:srgbClr val="E6EDF3">
              <a:alpha val="93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86</a:t>
            </a:r>
            <a:endParaRPr lang="en-US" sz="1200" dirty="0"/>
          </a:p>
        </p:txBody>
      </p:sp>
      <p:sp>
        <p:nvSpPr>
          <p:cNvPr id="90" name="Text 88"/>
          <p:cNvSpPr/>
          <p:nvPr/>
        </p:nvSpPr>
        <p:spPr>
          <a:xfrm>
            <a:off x="6708775" y="4750495"/>
            <a:ext cx="400050" cy="400050"/>
          </a:xfrm>
          <a:prstGeom prst="rect">
            <a:avLst/>
          </a:prstGeom>
          <a:solidFill>
            <a:srgbClr val="E6EDF3">
              <a:alpha val="68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63</a:t>
            </a:r>
            <a:endParaRPr lang="en-US" sz="1200" dirty="0"/>
          </a:p>
        </p:txBody>
      </p:sp>
      <p:sp>
        <p:nvSpPr>
          <p:cNvPr id="91" name="Text 89"/>
          <p:cNvSpPr/>
          <p:nvPr/>
        </p:nvSpPr>
        <p:spPr>
          <a:xfrm>
            <a:off x="7153275" y="4750495"/>
            <a:ext cx="400050" cy="400050"/>
          </a:xfrm>
          <a:prstGeom prst="rect">
            <a:avLst/>
          </a:prstGeom>
          <a:solidFill>
            <a:srgbClr val="E6EDF3">
              <a:alpha val="89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82</a:t>
            </a:r>
            <a:endParaRPr lang="en-US" sz="1200" dirty="0"/>
          </a:p>
        </p:txBody>
      </p:sp>
      <p:sp>
        <p:nvSpPr>
          <p:cNvPr id="92" name="Text 90"/>
          <p:cNvSpPr/>
          <p:nvPr/>
        </p:nvSpPr>
        <p:spPr>
          <a:xfrm>
            <a:off x="7686675" y="4750495"/>
            <a:ext cx="400050" cy="400050"/>
          </a:xfrm>
          <a:prstGeom prst="rect">
            <a:avLst/>
          </a:prstGeom>
          <a:solidFill>
            <a:srgbClr val="E6EDF3">
              <a:alpha val="52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48</a:t>
            </a:r>
            <a:endParaRPr lang="en-US" sz="1200" dirty="0"/>
          </a:p>
        </p:txBody>
      </p:sp>
      <p:sp>
        <p:nvSpPr>
          <p:cNvPr id="93" name="Text 91"/>
          <p:cNvSpPr/>
          <p:nvPr/>
        </p:nvSpPr>
        <p:spPr>
          <a:xfrm>
            <a:off x="8131175" y="4750495"/>
            <a:ext cx="400050" cy="400050"/>
          </a:xfrm>
          <a:prstGeom prst="rect">
            <a:avLst/>
          </a:prstGeom>
          <a:solidFill>
            <a:srgbClr val="E6EDF3">
              <a:alpha val="64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59</a:t>
            </a:r>
            <a:endParaRPr lang="en-US" sz="1200" dirty="0"/>
          </a:p>
        </p:txBody>
      </p:sp>
      <p:sp>
        <p:nvSpPr>
          <p:cNvPr id="94" name="Text 92"/>
          <p:cNvSpPr/>
          <p:nvPr/>
        </p:nvSpPr>
        <p:spPr>
          <a:xfrm>
            <a:off x="8575675" y="4750495"/>
            <a:ext cx="400050" cy="400050"/>
          </a:xfrm>
          <a:prstGeom prst="rect">
            <a:avLst/>
          </a:prstGeom>
          <a:solidFill>
            <a:srgbClr val="E6EDF3">
              <a:alpha val="92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85</a:t>
            </a:r>
            <a:endParaRPr lang="en-US" sz="1200" dirty="0"/>
          </a:p>
        </p:txBody>
      </p:sp>
      <p:sp>
        <p:nvSpPr>
          <p:cNvPr id="95" name="Text 93"/>
          <p:cNvSpPr/>
          <p:nvPr/>
        </p:nvSpPr>
        <p:spPr>
          <a:xfrm>
            <a:off x="9020175" y="4750495"/>
            <a:ext cx="400050" cy="400050"/>
          </a:xfrm>
          <a:prstGeom prst="rect">
            <a:avLst/>
          </a:prstGeom>
          <a:solidFill>
            <a:srgbClr val="E6EDF3">
              <a:alpha val="95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87</a:t>
            </a:r>
            <a:endParaRPr lang="en-US" sz="1200" dirty="0"/>
          </a:p>
        </p:txBody>
      </p:sp>
      <p:sp>
        <p:nvSpPr>
          <p:cNvPr id="96" name="Text 94"/>
          <p:cNvSpPr/>
          <p:nvPr/>
        </p:nvSpPr>
        <p:spPr>
          <a:xfrm>
            <a:off x="9553575" y="4750495"/>
            <a:ext cx="400050" cy="400050"/>
          </a:xfrm>
          <a:prstGeom prst="rect">
            <a:avLst/>
          </a:prstGeom>
          <a:solidFill>
            <a:srgbClr val="E6EDF3">
              <a:alpha val="34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31</a:t>
            </a:r>
            <a:endParaRPr lang="en-US" sz="1200" dirty="0"/>
          </a:p>
        </p:txBody>
      </p:sp>
      <p:sp>
        <p:nvSpPr>
          <p:cNvPr id="97" name="Text 95"/>
          <p:cNvSpPr/>
          <p:nvPr/>
        </p:nvSpPr>
        <p:spPr>
          <a:xfrm>
            <a:off x="9998075" y="4750495"/>
            <a:ext cx="400050" cy="400050"/>
          </a:xfrm>
          <a:prstGeom prst="rect">
            <a:avLst/>
          </a:prstGeom>
          <a:solidFill>
            <a:srgbClr val="E6EDF3">
              <a:alpha val="70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05090E"/>
                </a:solidFill>
                <a:latin typeface="Courier New" pitchFamily="49" charset="0"/>
                <a:ea typeface="Courier New" pitchFamily="49" charset="-122"/>
                <a:cs typeface="Courier New" pitchFamily="49" charset="-120"/>
              </a:rPr>
              <a:t>64</a:t>
            </a:r>
            <a:endParaRPr lang="en-US" sz="1200" dirty="0"/>
          </a:p>
        </p:txBody>
      </p:sp>
      <p:sp>
        <p:nvSpPr>
          <p:cNvPr id="98" name="Text 96"/>
          <p:cNvSpPr/>
          <p:nvPr/>
        </p:nvSpPr>
        <p:spPr>
          <a:xfrm>
            <a:off x="10442575" y="4750495"/>
            <a:ext cx="400050" cy="400050"/>
          </a:xfrm>
          <a:prstGeom prst="rect">
            <a:avLst/>
          </a:prstGeom>
          <a:solidFill>
            <a:srgbClr val="E6EDF3">
              <a:alpha val="36000"/>
            </a:srgbClr>
          </a:solidFill>
          <a:ln w="6350">
            <a:solidFill>
              <a:srgbClr val="222A35"/>
            </a:solidFill>
            <a:prstDash val="solid"/>
          </a:ln>
        </p:spPr>
        <p:txBody>
          <a:bodyPr wrap="square" lIns="0" tIns="3175" rIns="0" bIns="0" rtlCol="0" anchor="t">
            <a:normAutofit/>
          </a:bodyPr>
          <a:lstStyle/>
          <a:p>
            <a:pPr algn="ctr" indent="0" marL="0">
              <a:lnSpc>
                <a:spcPts val="3096"/>
              </a:lnSpc>
              <a:buNone/>
            </a:pPr>
            <a:r>
              <a:rPr lang="en-US" sz="1200" dirty="0">
                <a:solidFill>
                  <a:srgbClr val="E6EDF3"/>
                </a:solidFill>
                <a:latin typeface="Courier New" pitchFamily="49" charset="0"/>
                <a:ea typeface="Courier New" pitchFamily="49" charset="-122"/>
                <a:cs typeface="Courier New" pitchFamily="49" charset="-120"/>
              </a:rPr>
              <a:t>33</a:t>
            </a:r>
            <a:endParaRPr lang="en-US" sz="1200" dirty="0"/>
          </a:p>
        </p:txBody>
      </p:sp>
      <p:sp>
        <p:nvSpPr>
          <p:cNvPr id="99" name="Shape 97"/>
          <p:cNvSpPr/>
          <p:nvPr/>
        </p:nvSpPr>
        <p:spPr>
          <a:xfrm>
            <a:off x="10887075" y="4750495"/>
            <a:ext cx="400050" cy="400050"/>
          </a:xfrm>
          <a:prstGeom prst="rect">
            <a:avLst/>
          </a:prstGeom>
          <a:noFill/>
          <a:ln w="6350">
            <a:solidFill>
              <a:srgbClr val="222A35"/>
            </a:solidFill>
            <a:prstDash val="solid"/>
          </a:ln>
        </p:spPr>
      </p:sp>
      <p:sp>
        <p:nvSpPr>
          <p:cNvPr id="100" name="Text 98"/>
          <p:cNvSpPr/>
          <p:nvPr/>
        </p:nvSpPr>
        <p:spPr>
          <a:xfrm>
            <a:off x="4375150" y="4289971"/>
            <a:ext cx="2616200"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FFCC00"/>
                </a:solidFill>
                <a:latin typeface="Arial" pitchFamily="34" charset="0"/>
                <a:ea typeface="Arial" pitchFamily="34" charset="-122"/>
                <a:cs typeface="Arial" pitchFamily="34" charset="-120"/>
              </a:rPr>
              <a:t>第1部 · 230623–240201</a:t>
            </a:r>
            <a:endParaRPr lang="en-US" sz="1200" dirty="0"/>
          </a:p>
        </p:txBody>
      </p:sp>
      <p:sp>
        <p:nvSpPr>
          <p:cNvPr id="101" name="Shape 99"/>
          <p:cNvSpPr/>
          <p:nvPr/>
        </p:nvSpPr>
        <p:spPr>
          <a:xfrm>
            <a:off x="4384675" y="4585246"/>
            <a:ext cx="1847850" cy="425450"/>
          </a:xfrm>
          <a:prstGeom prst="roundRect">
            <a:avLst>
              <a:gd name="adj" fmla="val 3731"/>
            </a:avLst>
          </a:prstGeom>
          <a:noFill/>
          <a:ln w="19050">
            <a:solidFill>
              <a:srgbClr val="FFCC00"/>
            </a:solidFill>
            <a:prstDash val="solid"/>
          </a:ln>
        </p:spPr>
      </p:sp>
      <p:sp>
        <p:nvSpPr>
          <p:cNvPr id="102" name="Text 100"/>
          <p:cNvSpPr/>
          <p:nvPr/>
        </p:nvSpPr>
        <p:spPr>
          <a:xfrm>
            <a:off x="812800" y="5255568"/>
            <a:ext cx="1088339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四半期ごとの日数。DTCPは261013まで、ライブ配信ギャラリーは260908まで。</a:t>
            </a:r>
            <a:endParaRPr lang="en-US" sz="1200" dirty="0"/>
          </a:p>
        </p:txBody>
      </p:sp>
      <p:sp>
        <p:nvSpPr>
          <p:cNvPr id="103" name="Text 10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04" name="Text 102"/>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録音</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DCRPギャラリー</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編集録音</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最初の試み：</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「その日たまたま聞こえたもの」</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155の日付に161枚、元の動画は108本</a:t>
            </a:r>
            <a:endParaRPr lang="en-US" sz="1600" dirty="0"/>
          </a:p>
        </p:txBody>
      </p:sp>
      <p:sp>
        <p:nvSpPr>
          <p:cNvPr id="8" name="Shape 6"/>
          <p:cNvSpPr/>
          <p:nvPr/>
        </p:nvSpPr>
        <p:spPr>
          <a:xfrm>
            <a:off x="812800" y="3317825"/>
            <a:ext cx="4572000" cy="0"/>
          </a:xfrm>
          <a:prstGeom prst="line">
            <a:avLst/>
          </a:prstGeom>
          <a:noFill/>
          <a:ln w="6350">
            <a:solidFill>
              <a:srgbClr val="222A35"/>
            </a:solidFill>
            <a:prstDash val="solid"/>
          </a:ln>
        </p:spPr>
      </p:sp>
      <p:sp>
        <p:nvSpPr>
          <p:cNvPr id="9" name="Text 7"/>
          <p:cNvSpPr/>
          <p:nvPr/>
        </p:nvSpPr>
        <p:spPr>
          <a:xfrm>
            <a:off x="812800" y="34226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2022年 103 · 2023年 51 · 2024–2026年 7</a:t>
            </a:r>
            <a:endParaRPr lang="en-US" sz="1600" dirty="0"/>
          </a:p>
        </p:txBody>
      </p:sp>
      <p:sp>
        <p:nvSpPr>
          <p:cNvPr id="10" name="Shape 8"/>
          <p:cNvSpPr/>
          <p:nvPr/>
        </p:nvSpPr>
        <p:spPr>
          <a:xfrm>
            <a:off x="812800" y="3832175"/>
            <a:ext cx="4572000" cy="0"/>
          </a:xfrm>
          <a:prstGeom prst="line">
            <a:avLst/>
          </a:prstGeom>
          <a:noFill/>
          <a:ln w="6350">
            <a:solidFill>
              <a:srgbClr val="222A35"/>
            </a:solidFill>
            <a:prstDash val="solid"/>
          </a:ln>
        </p:spPr>
      </p:sp>
      <p:sp>
        <p:nvSpPr>
          <p:cNvPr id="11" name="Text 9"/>
          <p:cNvSpPr/>
          <p:nvPr/>
        </p:nvSpPr>
        <p:spPr>
          <a:xfrm>
            <a:off x="812800" y="39369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1本の動画が数週間に及ぶことも：</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2022年12月13日〜2023年1月4日 ＝ 23枚</a:t>
            </a:r>
            <a:endParaRPr lang="en-US" sz="1600" dirty="0"/>
          </a:p>
        </p:txBody>
      </p:sp>
      <p:sp>
        <p:nvSpPr>
          <p:cNvPr id="12" name="Shape 10"/>
          <p:cNvSpPr/>
          <p:nvPr/>
        </p:nvSpPr>
        <p:spPr>
          <a:xfrm>
            <a:off x="812800" y="4651325"/>
            <a:ext cx="4572000" cy="0"/>
          </a:xfrm>
          <a:prstGeom prst="line">
            <a:avLst/>
          </a:prstGeom>
          <a:noFill/>
          <a:ln w="6350">
            <a:solidFill>
              <a:srgbClr val="222A35"/>
            </a:solidFill>
            <a:prstDash val="solid"/>
          </a:ln>
        </p:spPr>
      </p:sp>
      <p:sp>
        <p:nvSpPr>
          <p:cNvPr id="13" name="Text 11"/>
          <p:cNvSpPr/>
          <p:nvPr/>
        </p:nvSpPr>
        <p:spPr>
          <a:xfrm>
            <a:off x="812800" y="47561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1日を英字で分割：</a:t>
            </a:r>
            <a:r>
              <a:rPr lang="en-US" sz="1600" dirty="0">
                <a:solidFill>
                  <a:srgbClr val="FFCC00"/>
                </a:solidFill>
                <a:latin typeface="Arial" pitchFamily="34" charset="0"/>
                <a:ea typeface="Arial" pitchFamily="34" charset="-122"/>
                <a:cs typeface="Arial" pitchFamily="34" charset="-120"/>
              </a:rPr>
              <a:t>220125A、B、C</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DCRPギャラリー（英語のページ）：冒頭の説明ボックス、MON〜SUNの曜日バー、最初の週のカード。火曜日の下に220125A、B、Cが縦に並んでいる">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録音</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DTCP · 1枚のカード</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タイムカードの構成</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ヘッダー：</a:t>
            </a:r>
            <a:r>
              <a:rPr lang="en-US" sz="1600" dirty="0">
                <a:solidFill>
                  <a:srgbClr val="E6EDF3"/>
                </a:solidFill>
                <a:latin typeface="Arial" pitchFamily="34" charset="0"/>
                <a:ea typeface="Arial" pitchFamily="34" charset="-122"/>
                <a:cs typeface="Arial" pitchFamily="34" charset="-120"/>
              </a:rPr>
              <a:t>日付と、カードが扱う内容</a:t>
            </a:r>
            <a:endParaRPr lang="en-US" sz="1600" dirty="0"/>
          </a:p>
        </p:txBody>
      </p:sp>
      <p:sp>
        <p:nvSpPr>
          <p:cNvPr id="6" name="Shape 4"/>
          <p:cNvSpPr/>
          <p:nvPr/>
        </p:nvSpPr>
        <p:spPr>
          <a:xfrm>
            <a:off x="812800" y="2498675"/>
            <a:ext cx="4572000" cy="0"/>
          </a:xfrm>
          <a:prstGeom prst="line">
            <a:avLst/>
          </a:prstGeom>
          <a:noFill/>
          <a:ln w="6350">
            <a:solidFill>
              <a:srgbClr val="222A35"/>
            </a:solidFill>
            <a:prstDash val="solid"/>
          </a:ln>
        </p:spPr>
      </p:sp>
      <p:sp>
        <p:nvSpPr>
          <p:cNvPr id="7" name="Text 5"/>
          <p:cNvSpPr/>
          <p:nvPr/>
        </p:nvSpPr>
        <p:spPr>
          <a:xfrm>
            <a:off x="812800" y="26034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行：</a:t>
            </a:r>
            <a:r>
              <a:rPr lang="en-US" sz="1600" dirty="0">
                <a:solidFill>
                  <a:srgbClr val="E6EDF3"/>
                </a:solidFill>
                <a:latin typeface="Arial" pitchFamily="34" charset="0"/>
                <a:ea typeface="Arial" pitchFamily="34" charset="-122"/>
                <a:cs typeface="Arial" pitchFamily="34" charset="-120"/>
              </a:rPr>
              <a:t>UTC時刻 · コールサイン · メッセージ、</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その下にNotes欄</a:t>
            </a:r>
            <a:endParaRPr lang="en-US" sz="1600" dirty="0"/>
          </a:p>
        </p:txBody>
      </p:sp>
      <p:sp>
        <p:nvSpPr>
          <p:cNvPr id="8" name="Shape 6"/>
          <p:cNvSpPr/>
          <p:nvPr/>
        </p:nvSpPr>
        <p:spPr>
          <a:xfrm>
            <a:off x="812800" y="3317825"/>
            <a:ext cx="4572000" cy="0"/>
          </a:xfrm>
          <a:prstGeom prst="line">
            <a:avLst/>
          </a:prstGeom>
          <a:noFill/>
          <a:ln w="6350">
            <a:solidFill>
              <a:srgbClr val="222A35"/>
            </a:solidFill>
            <a:prstDash val="solid"/>
          </a:ln>
        </p:spPr>
      </p:sp>
      <p:sp>
        <p:nvSpPr>
          <p:cNvPr id="9" name="Text 7"/>
          <p:cNvSpPr/>
          <p:nvPr/>
        </p:nvSpPr>
        <p:spPr>
          <a:xfrm>
            <a:off x="812800" y="34226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左側：</a:t>
            </a:r>
            <a:r>
              <a:rPr lang="en-US" sz="1600" dirty="0">
                <a:solidFill>
                  <a:srgbClr val="E6EDF3"/>
                </a:solidFill>
                <a:latin typeface="Arial" pitchFamily="34" charset="0"/>
                <a:ea typeface="Arial" pitchFamily="34" charset="-122"/>
                <a:cs typeface="Arial" pitchFamily="34" charset="-120"/>
              </a:rPr>
              <a:t>組み合わせた音楽、</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その下に注記か、出来事の説明</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下部：</a:t>
            </a:r>
            <a:r>
              <a:rPr lang="en-US" sz="1600" dirty="0">
                <a:solidFill>
                  <a:srgbClr val="E6EDF3"/>
                </a:solidFill>
                <a:latin typeface="Arial" pitchFamily="34" charset="0"/>
                <a:ea typeface="Arial" pitchFamily="34" charset="-122"/>
                <a:cs typeface="Arial" pitchFamily="34" charset="-120"/>
              </a:rPr>
              <a:t>曜日の帯、</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長い日にはPART 5 OF 5の表示</a:t>
            </a:r>
            <a:endParaRPr lang="en-US" sz="1600" dirty="0"/>
          </a:p>
        </p:txBody>
      </p:sp>
      <p:sp>
        <p:nvSpPr>
          <p:cNvPr id="12" name="Shape 10"/>
          <p:cNvSpPr/>
          <p:nvPr/>
        </p:nvSpPr>
        <p:spPr>
          <a:xfrm>
            <a:off x="5791200" y="1981150"/>
            <a:ext cx="5588000" cy="3143250"/>
          </a:xfrm>
          <a:prstGeom prst="roundRect">
            <a:avLst>
              <a:gd name="adj" fmla="val 2424"/>
            </a:avLst>
          </a:prstGeom>
          <a:solidFill>
            <a:srgbClr val="0E141B"/>
          </a:solidFill>
          <a:ln/>
        </p:spPr>
      </p:sp>
      <p:pic>
        <p:nvPicPr>
          <p:cNvPr id="13" name="Image 0" descr="251026のタイムカード：HFGCS SKYMASTER Trafficのヘッダー、コールサインと3文字の組が並ぶ行、Notesの行、Global Thunder 26の枠がある左の写真パネル、曜日の帯、下部のPART 5 OF 5">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4" name="Shape 11"/>
          <p:cNvSpPr/>
          <p:nvPr/>
        </p:nvSpPr>
        <p:spPr>
          <a:xfrm>
            <a:off x="5794375" y="1984325"/>
            <a:ext cx="5581650" cy="3136900"/>
          </a:xfrm>
          <a:prstGeom prst="roundRect">
            <a:avLst>
              <a:gd name="adj" fmla="val 2328"/>
            </a:avLst>
          </a:prstGeom>
          <a:noFill/>
          <a:ln w="6350">
            <a:solidFill>
              <a:srgbClr val="222A35"/>
            </a:solidFill>
            <a:prstDash val="solid"/>
          </a:ln>
        </p:spPr>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出典：DTCPタイムカード 251026（最後の画面）</a:t>
            </a:r>
            <a:endParaRPr lang="en-US" sz="1200" dirty="0"/>
          </a:p>
        </p:txBody>
      </p:sp>
      <p:sp>
        <p:nvSpPr>
          <p:cNvPr id="16" name="Text 1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録音</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DTCP · 260915</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行・目印・Notes欄</a:t>
            </a:r>
            <a:endParaRPr lang="en-US" sz="3600" dirty="0"/>
          </a:p>
        </p:txBody>
      </p:sp>
      <p:sp>
        <p:nvSpPr>
          <p:cNvPr id="4" name="Shape 2"/>
          <p:cNvSpPr/>
          <p:nvPr/>
        </p:nvSpPr>
        <p:spPr>
          <a:xfrm>
            <a:off x="812800" y="2200225"/>
            <a:ext cx="762000" cy="0"/>
          </a:xfrm>
          <a:prstGeom prst="line">
            <a:avLst/>
          </a:prstGeom>
          <a:noFill/>
          <a:ln w="6350">
            <a:solidFill>
              <a:srgbClr val="7D8894"/>
            </a:solidFill>
            <a:prstDash val="solid"/>
          </a:ln>
        </p:spPr>
      </p:sp>
      <p:sp>
        <p:nvSpPr>
          <p:cNvPr id="5" name="Text 3"/>
          <p:cNvSpPr/>
          <p:nvPr/>
        </p:nvSpPr>
        <p:spPr>
          <a:xfrm>
            <a:off x="812800" y="1981150"/>
            <a:ext cx="812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UTC時刻</a:t>
            </a:r>
            <a:endParaRPr lang="en-US" sz="1200" dirty="0"/>
          </a:p>
        </p:txBody>
      </p:sp>
      <p:sp>
        <p:nvSpPr>
          <p:cNvPr id="6" name="Shape 4"/>
          <p:cNvSpPr/>
          <p:nvPr/>
        </p:nvSpPr>
        <p:spPr>
          <a:xfrm>
            <a:off x="1676400" y="2200225"/>
            <a:ext cx="1574800" cy="0"/>
          </a:xfrm>
          <a:prstGeom prst="line">
            <a:avLst/>
          </a:prstGeom>
          <a:noFill/>
          <a:ln w="6350">
            <a:solidFill>
              <a:srgbClr val="7D8894"/>
            </a:solidFill>
            <a:prstDash val="solid"/>
          </a:ln>
        </p:spPr>
      </p:sp>
      <p:sp>
        <p:nvSpPr>
          <p:cNvPr id="7" name="Text 5"/>
          <p:cNvSpPr/>
          <p:nvPr/>
        </p:nvSpPr>
        <p:spPr>
          <a:xfrm>
            <a:off x="1676400" y="1981150"/>
            <a:ext cx="1625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日替わりコールサイン</a:t>
            </a:r>
            <a:endParaRPr lang="en-US" sz="1200" dirty="0"/>
          </a:p>
        </p:txBody>
      </p:sp>
      <p:sp>
        <p:nvSpPr>
          <p:cNvPr id="8" name="Shape 6"/>
          <p:cNvSpPr/>
          <p:nvPr/>
        </p:nvSpPr>
        <p:spPr>
          <a:xfrm>
            <a:off x="3352800" y="2200225"/>
            <a:ext cx="7029450" cy="0"/>
          </a:xfrm>
          <a:prstGeom prst="line">
            <a:avLst/>
          </a:prstGeom>
          <a:noFill/>
          <a:ln w="6350">
            <a:solidFill>
              <a:srgbClr val="7D8894"/>
            </a:solidFill>
            <a:prstDash val="solid"/>
          </a:ln>
        </p:spPr>
      </p:sp>
      <p:sp>
        <p:nvSpPr>
          <p:cNvPr id="9" name="Text 7"/>
          <p:cNvSpPr/>
          <p:nvPr/>
        </p:nvSpPr>
        <p:spPr>
          <a:xfrm>
            <a:off x="3352800" y="1981150"/>
            <a:ext cx="724033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最初の30文字</a:t>
            </a:r>
            <a:endParaRPr lang="en-US" sz="1200" dirty="0"/>
          </a:p>
        </p:txBody>
      </p:sp>
      <p:sp>
        <p:nvSpPr>
          <p:cNvPr id="10" name="Text 8"/>
          <p:cNvSpPr/>
          <p:nvPr/>
        </p:nvSpPr>
        <p:spPr>
          <a:xfrm>
            <a:off x="10483850" y="1981150"/>
            <a:ext cx="946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目印</a:t>
            </a:r>
            <a:endParaRPr lang="en-US" sz="1200" dirty="0"/>
          </a:p>
        </p:txBody>
      </p:sp>
      <p:sp>
        <p:nvSpPr>
          <p:cNvPr id="11" name="Text 9"/>
          <p:cNvSpPr/>
          <p:nvPr/>
        </p:nvSpPr>
        <p:spPr>
          <a:xfrm>
            <a:off x="812800" y="2241748"/>
            <a:ext cx="8128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15:23</a:t>
            </a:r>
            <a:endParaRPr lang="en-US" sz="1600" dirty="0"/>
          </a:p>
        </p:txBody>
      </p:sp>
      <p:sp>
        <p:nvSpPr>
          <p:cNvPr id="12" name="Text 10"/>
          <p:cNvSpPr/>
          <p:nvPr/>
        </p:nvSpPr>
        <p:spPr>
          <a:xfrm>
            <a:off x="1676400" y="2241748"/>
            <a:ext cx="16256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SIXPENCE</a:t>
            </a:r>
            <a:endParaRPr lang="en-US" sz="1600" dirty="0"/>
          </a:p>
        </p:txBody>
      </p:sp>
      <p:sp>
        <p:nvSpPr>
          <p:cNvPr id="13" name="Text 11"/>
          <p:cNvSpPr/>
          <p:nvPr/>
        </p:nvSpPr>
        <p:spPr>
          <a:xfrm>
            <a:off x="33528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K</a:t>
            </a:r>
            <a:endParaRPr lang="en-US" sz="1600" dirty="0"/>
          </a:p>
        </p:txBody>
      </p:sp>
      <p:sp>
        <p:nvSpPr>
          <p:cNvPr id="14" name="Text 12"/>
          <p:cNvSpPr/>
          <p:nvPr/>
        </p:nvSpPr>
        <p:spPr>
          <a:xfrm>
            <a:off x="35877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7</a:t>
            </a:r>
            <a:endParaRPr lang="en-US" sz="1600" dirty="0"/>
          </a:p>
        </p:txBody>
      </p:sp>
      <p:sp>
        <p:nvSpPr>
          <p:cNvPr id="15" name="Text 13"/>
          <p:cNvSpPr/>
          <p:nvPr/>
        </p:nvSpPr>
        <p:spPr>
          <a:xfrm>
            <a:off x="38227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6" name="Text 14"/>
          <p:cNvSpPr/>
          <p:nvPr/>
        </p:nvSpPr>
        <p:spPr>
          <a:xfrm>
            <a:off x="40576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17" name="Text 15"/>
          <p:cNvSpPr/>
          <p:nvPr/>
        </p:nvSpPr>
        <p:spPr>
          <a:xfrm>
            <a:off x="42926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X</a:t>
            </a:r>
            <a:endParaRPr lang="en-US" sz="1600" dirty="0"/>
          </a:p>
        </p:txBody>
      </p:sp>
      <p:sp>
        <p:nvSpPr>
          <p:cNvPr id="18" name="Text 16"/>
          <p:cNvSpPr/>
          <p:nvPr/>
        </p:nvSpPr>
        <p:spPr>
          <a:xfrm>
            <a:off x="45275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T</a:t>
            </a:r>
            <a:endParaRPr lang="en-US" sz="1600" dirty="0"/>
          </a:p>
        </p:txBody>
      </p:sp>
      <p:sp>
        <p:nvSpPr>
          <p:cNvPr id="19" name="Text 17"/>
          <p:cNvSpPr/>
          <p:nvPr/>
        </p:nvSpPr>
        <p:spPr>
          <a:xfrm>
            <a:off x="47625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20" name="Text 18"/>
          <p:cNvSpPr/>
          <p:nvPr/>
        </p:nvSpPr>
        <p:spPr>
          <a:xfrm>
            <a:off x="49974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21" name="Text 19"/>
          <p:cNvSpPr/>
          <p:nvPr/>
        </p:nvSpPr>
        <p:spPr>
          <a:xfrm>
            <a:off x="52324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22" name="Text 20"/>
          <p:cNvSpPr/>
          <p:nvPr/>
        </p:nvSpPr>
        <p:spPr>
          <a:xfrm>
            <a:off x="54673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5</a:t>
            </a:r>
            <a:endParaRPr lang="en-US" sz="1600" dirty="0"/>
          </a:p>
        </p:txBody>
      </p:sp>
      <p:sp>
        <p:nvSpPr>
          <p:cNvPr id="23" name="Text 21"/>
          <p:cNvSpPr/>
          <p:nvPr/>
        </p:nvSpPr>
        <p:spPr>
          <a:xfrm>
            <a:off x="57023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24" name="Text 22"/>
          <p:cNvSpPr/>
          <p:nvPr/>
        </p:nvSpPr>
        <p:spPr>
          <a:xfrm>
            <a:off x="59372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5</a:t>
            </a:r>
            <a:endParaRPr lang="en-US" sz="1600" dirty="0"/>
          </a:p>
        </p:txBody>
      </p:sp>
      <p:sp>
        <p:nvSpPr>
          <p:cNvPr id="25" name="Text 23"/>
          <p:cNvSpPr/>
          <p:nvPr/>
        </p:nvSpPr>
        <p:spPr>
          <a:xfrm>
            <a:off x="61722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Q</a:t>
            </a:r>
            <a:endParaRPr lang="en-US" sz="1600" dirty="0"/>
          </a:p>
        </p:txBody>
      </p:sp>
      <p:sp>
        <p:nvSpPr>
          <p:cNvPr id="26" name="Text 24"/>
          <p:cNvSpPr/>
          <p:nvPr/>
        </p:nvSpPr>
        <p:spPr>
          <a:xfrm>
            <a:off x="64071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R</a:t>
            </a:r>
            <a:endParaRPr lang="en-US" sz="1600" dirty="0"/>
          </a:p>
        </p:txBody>
      </p:sp>
      <p:sp>
        <p:nvSpPr>
          <p:cNvPr id="27" name="Text 25"/>
          <p:cNvSpPr/>
          <p:nvPr/>
        </p:nvSpPr>
        <p:spPr>
          <a:xfrm>
            <a:off x="66421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N</a:t>
            </a:r>
            <a:endParaRPr lang="en-US" sz="1600" dirty="0"/>
          </a:p>
        </p:txBody>
      </p:sp>
      <p:sp>
        <p:nvSpPr>
          <p:cNvPr id="28" name="Text 26"/>
          <p:cNvSpPr/>
          <p:nvPr/>
        </p:nvSpPr>
        <p:spPr>
          <a:xfrm>
            <a:off x="68770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R</a:t>
            </a:r>
            <a:endParaRPr lang="en-US" sz="1600" dirty="0"/>
          </a:p>
        </p:txBody>
      </p:sp>
      <p:sp>
        <p:nvSpPr>
          <p:cNvPr id="29" name="Text 27"/>
          <p:cNvSpPr/>
          <p:nvPr/>
        </p:nvSpPr>
        <p:spPr>
          <a:xfrm>
            <a:off x="71120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H</a:t>
            </a:r>
            <a:endParaRPr lang="en-US" sz="1600" dirty="0"/>
          </a:p>
        </p:txBody>
      </p:sp>
      <p:sp>
        <p:nvSpPr>
          <p:cNvPr id="30" name="Text 28"/>
          <p:cNvSpPr/>
          <p:nvPr/>
        </p:nvSpPr>
        <p:spPr>
          <a:xfrm>
            <a:off x="73469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31" name="Text 29"/>
          <p:cNvSpPr/>
          <p:nvPr/>
        </p:nvSpPr>
        <p:spPr>
          <a:xfrm>
            <a:off x="75819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32" name="Text 30"/>
          <p:cNvSpPr/>
          <p:nvPr/>
        </p:nvSpPr>
        <p:spPr>
          <a:xfrm>
            <a:off x="78168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C</a:t>
            </a:r>
            <a:endParaRPr lang="en-US" sz="1600" dirty="0"/>
          </a:p>
        </p:txBody>
      </p:sp>
      <p:sp>
        <p:nvSpPr>
          <p:cNvPr id="33" name="Text 31"/>
          <p:cNvSpPr/>
          <p:nvPr/>
        </p:nvSpPr>
        <p:spPr>
          <a:xfrm>
            <a:off x="80518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3</a:t>
            </a:r>
            <a:endParaRPr lang="en-US" sz="1600" dirty="0"/>
          </a:p>
        </p:txBody>
      </p:sp>
      <p:sp>
        <p:nvSpPr>
          <p:cNvPr id="34" name="Text 32"/>
          <p:cNvSpPr/>
          <p:nvPr/>
        </p:nvSpPr>
        <p:spPr>
          <a:xfrm>
            <a:off x="82867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A</a:t>
            </a:r>
            <a:endParaRPr lang="en-US" sz="1600" dirty="0"/>
          </a:p>
        </p:txBody>
      </p:sp>
      <p:sp>
        <p:nvSpPr>
          <p:cNvPr id="35" name="Text 33"/>
          <p:cNvSpPr/>
          <p:nvPr/>
        </p:nvSpPr>
        <p:spPr>
          <a:xfrm>
            <a:off x="85217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2</a:t>
            </a:r>
            <a:endParaRPr lang="en-US" sz="1600" dirty="0"/>
          </a:p>
        </p:txBody>
      </p:sp>
      <p:sp>
        <p:nvSpPr>
          <p:cNvPr id="36" name="Text 34"/>
          <p:cNvSpPr/>
          <p:nvPr/>
        </p:nvSpPr>
        <p:spPr>
          <a:xfrm>
            <a:off x="87566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37" name="Text 35"/>
          <p:cNvSpPr/>
          <p:nvPr/>
        </p:nvSpPr>
        <p:spPr>
          <a:xfrm>
            <a:off x="89916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E</a:t>
            </a:r>
            <a:endParaRPr lang="en-US" sz="1600" dirty="0"/>
          </a:p>
        </p:txBody>
      </p:sp>
      <p:sp>
        <p:nvSpPr>
          <p:cNvPr id="38" name="Text 36"/>
          <p:cNvSpPr/>
          <p:nvPr/>
        </p:nvSpPr>
        <p:spPr>
          <a:xfrm>
            <a:off x="92265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A</a:t>
            </a:r>
            <a:endParaRPr lang="en-US" sz="1600" dirty="0"/>
          </a:p>
        </p:txBody>
      </p:sp>
      <p:sp>
        <p:nvSpPr>
          <p:cNvPr id="39" name="Text 37"/>
          <p:cNvSpPr/>
          <p:nvPr/>
        </p:nvSpPr>
        <p:spPr>
          <a:xfrm>
            <a:off x="94615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3</a:t>
            </a:r>
            <a:endParaRPr lang="en-US" sz="1600" dirty="0"/>
          </a:p>
        </p:txBody>
      </p:sp>
      <p:sp>
        <p:nvSpPr>
          <p:cNvPr id="40" name="Text 38"/>
          <p:cNvSpPr/>
          <p:nvPr/>
        </p:nvSpPr>
        <p:spPr>
          <a:xfrm>
            <a:off x="96964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U</a:t>
            </a:r>
            <a:endParaRPr lang="en-US" sz="1600" dirty="0"/>
          </a:p>
        </p:txBody>
      </p:sp>
      <p:sp>
        <p:nvSpPr>
          <p:cNvPr id="41" name="Text 39"/>
          <p:cNvSpPr/>
          <p:nvPr/>
        </p:nvSpPr>
        <p:spPr>
          <a:xfrm>
            <a:off x="993140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K</a:t>
            </a:r>
            <a:endParaRPr lang="en-US" sz="1600" dirty="0"/>
          </a:p>
        </p:txBody>
      </p:sp>
      <p:sp>
        <p:nvSpPr>
          <p:cNvPr id="42" name="Text 40"/>
          <p:cNvSpPr/>
          <p:nvPr/>
        </p:nvSpPr>
        <p:spPr>
          <a:xfrm>
            <a:off x="10166350" y="22415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L</a:t>
            </a:r>
            <a:endParaRPr lang="en-US" sz="1600" dirty="0"/>
          </a:p>
        </p:txBody>
      </p:sp>
      <p:sp>
        <p:nvSpPr>
          <p:cNvPr id="43" name="Text 41"/>
          <p:cNvSpPr/>
          <p:nvPr/>
        </p:nvSpPr>
        <p:spPr>
          <a:xfrm>
            <a:off x="10487025" y="2244675"/>
            <a:ext cx="222250" cy="260350"/>
          </a:xfrm>
          <a:prstGeom prst="rect">
            <a:avLst/>
          </a:prstGeom>
          <a:noFill/>
          <a:ln w="6350">
            <a:solidFill>
              <a:srgbClr val="7D8894"/>
            </a:solidFill>
            <a:prstDash val="solid"/>
          </a:ln>
        </p:spPr>
        <p:txBody>
          <a:bodyPr wrap="square" lIns="0" tIns="3175" rIns="0" bIns="0" rtlCol="0" anchor="t">
            <a:normAutofit/>
          </a:bodyPr>
          <a:lstStyle/>
          <a:p>
            <a:pPr algn="ctr"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a:t>
            </a:r>
            <a:endParaRPr lang="en-US" sz="1600" dirty="0"/>
          </a:p>
        </p:txBody>
      </p:sp>
      <p:sp>
        <p:nvSpPr>
          <p:cNvPr id="44" name="Text 42"/>
          <p:cNvSpPr/>
          <p:nvPr/>
        </p:nvSpPr>
        <p:spPr>
          <a:xfrm>
            <a:off x="812800" y="2546548"/>
            <a:ext cx="8128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15:39</a:t>
            </a:r>
            <a:endParaRPr lang="en-US" sz="1600" dirty="0"/>
          </a:p>
        </p:txBody>
      </p:sp>
      <p:sp>
        <p:nvSpPr>
          <p:cNvPr id="45" name="Text 43"/>
          <p:cNvSpPr/>
          <p:nvPr/>
        </p:nvSpPr>
        <p:spPr>
          <a:xfrm>
            <a:off x="1676400" y="2546548"/>
            <a:ext cx="16256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SIXPENCE</a:t>
            </a:r>
            <a:endParaRPr lang="en-US" sz="1600" dirty="0"/>
          </a:p>
        </p:txBody>
      </p:sp>
      <p:sp>
        <p:nvSpPr>
          <p:cNvPr id="46" name="Text 44"/>
          <p:cNvSpPr/>
          <p:nvPr/>
        </p:nvSpPr>
        <p:spPr>
          <a:xfrm>
            <a:off x="33528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FFCC00"/>
                </a:solidFill>
                <a:latin typeface="Courier New" pitchFamily="49" charset="0"/>
                <a:ea typeface="Courier New" pitchFamily="49" charset="-122"/>
                <a:cs typeface="Courier New" pitchFamily="49" charset="-120"/>
              </a:rPr>
              <a:t>N</a:t>
            </a:r>
            <a:endParaRPr lang="en-US" sz="1600" dirty="0"/>
          </a:p>
        </p:txBody>
      </p:sp>
      <p:sp>
        <p:nvSpPr>
          <p:cNvPr id="47" name="Text 45"/>
          <p:cNvSpPr/>
          <p:nvPr/>
        </p:nvSpPr>
        <p:spPr>
          <a:xfrm>
            <a:off x="35877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FFCC00"/>
                </a:solidFill>
                <a:latin typeface="Courier New" pitchFamily="49" charset="0"/>
                <a:ea typeface="Courier New" pitchFamily="49" charset="-122"/>
                <a:cs typeface="Courier New" pitchFamily="49" charset="-120"/>
              </a:rPr>
              <a:t>B</a:t>
            </a:r>
            <a:endParaRPr lang="en-US" sz="1600" dirty="0"/>
          </a:p>
        </p:txBody>
      </p:sp>
      <p:sp>
        <p:nvSpPr>
          <p:cNvPr id="48" name="Text 46"/>
          <p:cNvSpPr/>
          <p:nvPr/>
        </p:nvSpPr>
        <p:spPr>
          <a:xfrm>
            <a:off x="38227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49" name="Text 47"/>
          <p:cNvSpPr/>
          <p:nvPr/>
        </p:nvSpPr>
        <p:spPr>
          <a:xfrm>
            <a:off x="40576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A</a:t>
            </a:r>
            <a:endParaRPr lang="en-US" sz="1600" dirty="0"/>
          </a:p>
        </p:txBody>
      </p:sp>
      <p:sp>
        <p:nvSpPr>
          <p:cNvPr id="50" name="Text 48"/>
          <p:cNvSpPr/>
          <p:nvPr/>
        </p:nvSpPr>
        <p:spPr>
          <a:xfrm>
            <a:off x="42926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P</a:t>
            </a:r>
            <a:endParaRPr lang="en-US" sz="1600" dirty="0"/>
          </a:p>
        </p:txBody>
      </p:sp>
      <p:sp>
        <p:nvSpPr>
          <p:cNvPr id="51" name="Text 49"/>
          <p:cNvSpPr/>
          <p:nvPr/>
        </p:nvSpPr>
        <p:spPr>
          <a:xfrm>
            <a:off x="45275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3</a:t>
            </a:r>
            <a:endParaRPr lang="en-US" sz="1600" dirty="0"/>
          </a:p>
        </p:txBody>
      </p:sp>
      <p:sp>
        <p:nvSpPr>
          <p:cNvPr id="52" name="Text 50"/>
          <p:cNvSpPr/>
          <p:nvPr/>
        </p:nvSpPr>
        <p:spPr>
          <a:xfrm>
            <a:off x="47625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53" name="Text 51"/>
          <p:cNvSpPr/>
          <p:nvPr/>
        </p:nvSpPr>
        <p:spPr>
          <a:xfrm>
            <a:off x="49974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X</a:t>
            </a:r>
            <a:endParaRPr lang="en-US" sz="1600" dirty="0"/>
          </a:p>
        </p:txBody>
      </p:sp>
      <p:sp>
        <p:nvSpPr>
          <p:cNvPr id="54" name="Text 52"/>
          <p:cNvSpPr/>
          <p:nvPr/>
        </p:nvSpPr>
        <p:spPr>
          <a:xfrm>
            <a:off x="52324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A</a:t>
            </a:r>
            <a:endParaRPr lang="en-US" sz="1600" dirty="0"/>
          </a:p>
        </p:txBody>
      </p:sp>
      <p:sp>
        <p:nvSpPr>
          <p:cNvPr id="55" name="Text 53"/>
          <p:cNvSpPr/>
          <p:nvPr/>
        </p:nvSpPr>
        <p:spPr>
          <a:xfrm>
            <a:off x="54673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56" name="Text 54"/>
          <p:cNvSpPr/>
          <p:nvPr/>
        </p:nvSpPr>
        <p:spPr>
          <a:xfrm>
            <a:off x="57023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57" name="Text 55"/>
          <p:cNvSpPr/>
          <p:nvPr/>
        </p:nvSpPr>
        <p:spPr>
          <a:xfrm>
            <a:off x="59372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58" name="Text 56"/>
          <p:cNvSpPr/>
          <p:nvPr/>
        </p:nvSpPr>
        <p:spPr>
          <a:xfrm>
            <a:off x="61722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59" name="Text 57"/>
          <p:cNvSpPr/>
          <p:nvPr/>
        </p:nvSpPr>
        <p:spPr>
          <a:xfrm>
            <a:off x="64071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60" name="Text 58"/>
          <p:cNvSpPr/>
          <p:nvPr/>
        </p:nvSpPr>
        <p:spPr>
          <a:xfrm>
            <a:off x="66421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61" name="Text 59"/>
          <p:cNvSpPr/>
          <p:nvPr/>
        </p:nvSpPr>
        <p:spPr>
          <a:xfrm>
            <a:off x="68770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62" name="Text 60"/>
          <p:cNvSpPr/>
          <p:nvPr/>
        </p:nvSpPr>
        <p:spPr>
          <a:xfrm>
            <a:off x="71120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FFCC00"/>
                </a:solidFill>
                <a:latin typeface="Courier New" pitchFamily="49" charset="0"/>
                <a:ea typeface="Courier New" pitchFamily="49" charset="-122"/>
                <a:cs typeface="Courier New" pitchFamily="49" charset="-120"/>
              </a:rPr>
              <a:t>H</a:t>
            </a:r>
            <a:endParaRPr lang="en-US" sz="1600" dirty="0"/>
          </a:p>
        </p:txBody>
      </p:sp>
      <p:sp>
        <p:nvSpPr>
          <p:cNvPr id="63" name="Text 61"/>
          <p:cNvSpPr/>
          <p:nvPr/>
        </p:nvSpPr>
        <p:spPr>
          <a:xfrm>
            <a:off x="73469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FFCC00"/>
                </a:solidFill>
                <a:latin typeface="Courier New" pitchFamily="49" charset="0"/>
                <a:ea typeface="Courier New" pitchFamily="49" charset="-122"/>
                <a:cs typeface="Courier New" pitchFamily="49" charset="-120"/>
              </a:rPr>
              <a:t>N</a:t>
            </a:r>
            <a:endParaRPr lang="en-US" sz="1600" dirty="0"/>
          </a:p>
        </p:txBody>
      </p:sp>
      <p:sp>
        <p:nvSpPr>
          <p:cNvPr id="64" name="Text 62"/>
          <p:cNvSpPr/>
          <p:nvPr/>
        </p:nvSpPr>
        <p:spPr>
          <a:xfrm>
            <a:off x="75819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C</a:t>
            </a:r>
            <a:endParaRPr lang="en-US" sz="1600" dirty="0"/>
          </a:p>
        </p:txBody>
      </p:sp>
      <p:sp>
        <p:nvSpPr>
          <p:cNvPr id="65" name="Text 63"/>
          <p:cNvSpPr/>
          <p:nvPr/>
        </p:nvSpPr>
        <p:spPr>
          <a:xfrm>
            <a:off x="78168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Q</a:t>
            </a:r>
            <a:endParaRPr lang="en-US" sz="1600" dirty="0"/>
          </a:p>
        </p:txBody>
      </p:sp>
      <p:sp>
        <p:nvSpPr>
          <p:cNvPr id="66" name="Text 64"/>
          <p:cNvSpPr/>
          <p:nvPr/>
        </p:nvSpPr>
        <p:spPr>
          <a:xfrm>
            <a:off x="80518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67" name="Text 65"/>
          <p:cNvSpPr/>
          <p:nvPr/>
        </p:nvSpPr>
        <p:spPr>
          <a:xfrm>
            <a:off x="82867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FFCC00"/>
                </a:solidFill>
                <a:latin typeface="Courier New" pitchFamily="49" charset="0"/>
                <a:ea typeface="Courier New" pitchFamily="49" charset="-122"/>
                <a:cs typeface="Courier New" pitchFamily="49" charset="-120"/>
              </a:rPr>
              <a:t>H</a:t>
            </a:r>
            <a:endParaRPr lang="en-US" sz="1600" dirty="0"/>
          </a:p>
        </p:txBody>
      </p:sp>
      <p:sp>
        <p:nvSpPr>
          <p:cNvPr id="68" name="Text 66"/>
          <p:cNvSpPr/>
          <p:nvPr/>
        </p:nvSpPr>
        <p:spPr>
          <a:xfrm>
            <a:off x="85217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FFCC00"/>
                </a:solidFill>
                <a:latin typeface="Courier New" pitchFamily="49" charset="0"/>
                <a:ea typeface="Courier New" pitchFamily="49" charset="-122"/>
                <a:cs typeface="Courier New" pitchFamily="49" charset="-120"/>
              </a:rPr>
              <a:t>N</a:t>
            </a:r>
            <a:endParaRPr lang="en-US" sz="1600" dirty="0"/>
          </a:p>
        </p:txBody>
      </p:sp>
      <p:sp>
        <p:nvSpPr>
          <p:cNvPr id="69" name="Text 67"/>
          <p:cNvSpPr/>
          <p:nvPr/>
        </p:nvSpPr>
        <p:spPr>
          <a:xfrm>
            <a:off x="87566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70" name="Text 68"/>
          <p:cNvSpPr/>
          <p:nvPr/>
        </p:nvSpPr>
        <p:spPr>
          <a:xfrm>
            <a:off x="89916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71" name="Text 69"/>
          <p:cNvSpPr/>
          <p:nvPr/>
        </p:nvSpPr>
        <p:spPr>
          <a:xfrm>
            <a:off x="922655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72" name="Text 70"/>
          <p:cNvSpPr/>
          <p:nvPr/>
        </p:nvSpPr>
        <p:spPr>
          <a:xfrm>
            <a:off x="9461500" y="25463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R</a:t>
            </a:r>
            <a:endParaRPr lang="en-US" sz="1600" dirty="0"/>
          </a:p>
        </p:txBody>
      </p:sp>
      <p:sp>
        <p:nvSpPr>
          <p:cNvPr id="73" name="Shape 71"/>
          <p:cNvSpPr/>
          <p:nvPr/>
        </p:nvSpPr>
        <p:spPr>
          <a:xfrm>
            <a:off x="9699625" y="2549475"/>
            <a:ext cx="209550" cy="260350"/>
          </a:xfrm>
          <a:prstGeom prst="rect">
            <a:avLst/>
          </a:prstGeom>
          <a:noFill/>
          <a:ln w="6350">
            <a:solidFill>
              <a:srgbClr val="222A35"/>
            </a:solidFill>
            <a:prstDash val="solid"/>
          </a:ln>
        </p:spPr>
      </p:sp>
      <p:sp>
        <p:nvSpPr>
          <p:cNvPr id="74" name="Shape 72"/>
          <p:cNvSpPr/>
          <p:nvPr/>
        </p:nvSpPr>
        <p:spPr>
          <a:xfrm>
            <a:off x="9934575" y="2549475"/>
            <a:ext cx="209550" cy="260350"/>
          </a:xfrm>
          <a:prstGeom prst="rect">
            <a:avLst/>
          </a:prstGeom>
          <a:noFill/>
          <a:ln w="6350">
            <a:solidFill>
              <a:srgbClr val="222A35"/>
            </a:solidFill>
            <a:prstDash val="solid"/>
          </a:ln>
        </p:spPr>
      </p:sp>
      <p:sp>
        <p:nvSpPr>
          <p:cNvPr id="75" name="Shape 73"/>
          <p:cNvSpPr/>
          <p:nvPr/>
        </p:nvSpPr>
        <p:spPr>
          <a:xfrm>
            <a:off x="10169525" y="2549475"/>
            <a:ext cx="209550" cy="260350"/>
          </a:xfrm>
          <a:prstGeom prst="rect">
            <a:avLst/>
          </a:prstGeom>
          <a:noFill/>
          <a:ln w="6350">
            <a:solidFill>
              <a:srgbClr val="222A35"/>
            </a:solidFill>
            <a:prstDash val="solid"/>
          </a:ln>
        </p:spPr>
      </p:sp>
      <p:sp>
        <p:nvSpPr>
          <p:cNvPr id="76" name="Text 74"/>
          <p:cNvSpPr/>
          <p:nvPr/>
        </p:nvSpPr>
        <p:spPr>
          <a:xfrm>
            <a:off x="10487025" y="2549475"/>
            <a:ext cx="222250" cy="260350"/>
          </a:xfrm>
          <a:prstGeom prst="rect">
            <a:avLst/>
          </a:prstGeom>
          <a:noFill/>
          <a:ln w="6350">
            <a:solidFill>
              <a:srgbClr val="7D8894"/>
            </a:solidFill>
            <a:prstDash val="solid"/>
          </a:ln>
        </p:spPr>
        <p:txBody>
          <a:bodyPr wrap="square" lIns="0" tIns="3175" rIns="0" bIns="0" rtlCol="0" anchor="t">
            <a:normAutofit/>
          </a:bodyPr>
          <a:lstStyle/>
          <a:p>
            <a:pPr algn="ctr"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a:t>
            </a:r>
            <a:endParaRPr lang="en-US" sz="1600" dirty="0"/>
          </a:p>
        </p:txBody>
      </p:sp>
      <p:sp>
        <p:nvSpPr>
          <p:cNvPr id="77" name="Text 75"/>
          <p:cNvSpPr/>
          <p:nvPr/>
        </p:nvSpPr>
        <p:spPr>
          <a:xfrm>
            <a:off x="812800" y="2851348"/>
            <a:ext cx="8128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16:30</a:t>
            </a:r>
            <a:endParaRPr lang="en-US" sz="1600" dirty="0"/>
          </a:p>
        </p:txBody>
      </p:sp>
      <p:sp>
        <p:nvSpPr>
          <p:cNvPr id="78" name="Text 76"/>
          <p:cNvSpPr/>
          <p:nvPr/>
        </p:nvSpPr>
        <p:spPr>
          <a:xfrm>
            <a:off x="1676400" y="2851348"/>
            <a:ext cx="16256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SIXPENCE</a:t>
            </a:r>
            <a:endParaRPr lang="en-US" sz="1600" dirty="0"/>
          </a:p>
        </p:txBody>
      </p:sp>
      <p:sp>
        <p:nvSpPr>
          <p:cNvPr id="79" name="Text 77"/>
          <p:cNvSpPr/>
          <p:nvPr/>
        </p:nvSpPr>
        <p:spPr>
          <a:xfrm>
            <a:off x="3352800" y="28511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7D8894"/>
                </a:solidFill>
                <a:latin typeface="Courier New" pitchFamily="49" charset="0"/>
                <a:ea typeface="Courier New" pitchFamily="49" charset="-122"/>
                <a:cs typeface="Courier New" pitchFamily="49" charset="-120"/>
              </a:rPr>
              <a:t>K</a:t>
            </a:r>
            <a:endParaRPr lang="en-US" sz="1600" dirty="0"/>
          </a:p>
        </p:txBody>
      </p:sp>
      <p:sp>
        <p:nvSpPr>
          <p:cNvPr id="80" name="Text 78"/>
          <p:cNvSpPr/>
          <p:nvPr/>
        </p:nvSpPr>
        <p:spPr>
          <a:xfrm>
            <a:off x="3587750" y="28511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7D8894"/>
                </a:solidFill>
                <a:latin typeface="Courier New" pitchFamily="49" charset="0"/>
                <a:ea typeface="Courier New" pitchFamily="49" charset="-122"/>
                <a:cs typeface="Courier New" pitchFamily="49" charset="-120"/>
              </a:rPr>
              <a:t>7</a:t>
            </a:r>
            <a:endParaRPr lang="en-US" sz="1600" dirty="0"/>
          </a:p>
        </p:txBody>
      </p:sp>
      <p:sp>
        <p:nvSpPr>
          <p:cNvPr id="81" name="Text 79"/>
          <p:cNvSpPr/>
          <p:nvPr/>
        </p:nvSpPr>
        <p:spPr>
          <a:xfrm>
            <a:off x="3822700" y="28511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7D8894"/>
                </a:solidFill>
                <a:latin typeface="Courier New" pitchFamily="49" charset="0"/>
                <a:ea typeface="Courier New" pitchFamily="49" charset="-122"/>
                <a:cs typeface="Courier New" pitchFamily="49" charset="-120"/>
              </a:rPr>
              <a:t>O</a:t>
            </a:r>
            <a:endParaRPr lang="en-US" sz="1600" dirty="0"/>
          </a:p>
        </p:txBody>
      </p:sp>
      <p:sp>
        <p:nvSpPr>
          <p:cNvPr id="82" name="Text 80"/>
          <p:cNvSpPr/>
          <p:nvPr/>
        </p:nvSpPr>
        <p:spPr>
          <a:xfrm>
            <a:off x="4057650" y="28511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7D8894"/>
                </a:solidFill>
                <a:latin typeface="Courier New" pitchFamily="49" charset="0"/>
                <a:ea typeface="Courier New" pitchFamily="49" charset="-122"/>
                <a:cs typeface="Courier New" pitchFamily="49" charset="-120"/>
              </a:rPr>
              <a:t>E</a:t>
            </a:r>
            <a:endParaRPr lang="en-US" sz="1600" dirty="0"/>
          </a:p>
        </p:txBody>
      </p:sp>
      <p:sp>
        <p:nvSpPr>
          <p:cNvPr id="83" name="Text 81"/>
          <p:cNvSpPr/>
          <p:nvPr/>
        </p:nvSpPr>
        <p:spPr>
          <a:xfrm>
            <a:off x="4292600" y="28511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7D8894"/>
                </a:solidFill>
                <a:latin typeface="Courier New" pitchFamily="49" charset="0"/>
                <a:ea typeface="Courier New" pitchFamily="49" charset="-122"/>
                <a:cs typeface="Courier New" pitchFamily="49" charset="-120"/>
              </a:rPr>
              <a:t>E</a:t>
            </a:r>
            <a:endParaRPr lang="en-US" sz="1600" dirty="0"/>
          </a:p>
        </p:txBody>
      </p:sp>
      <p:sp>
        <p:nvSpPr>
          <p:cNvPr id="84" name="Text 82"/>
          <p:cNvSpPr/>
          <p:nvPr/>
        </p:nvSpPr>
        <p:spPr>
          <a:xfrm>
            <a:off x="4527550" y="28511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7D8894"/>
                </a:solidFill>
                <a:latin typeface="Courier New" pitchFamily="49" charset="0"/>
                <a:ea typeface="Courier New" pitchFamily="49" charset="-122"/>
                <a:cs typeface="Courier New" pitchFamily="49" charset="-120"/>
              </a:rPr>
              <a:t>I</a:t>
            </a:r>
            <a:endParaRPr lang="en-US" sz="1600" dirty="0"/>
          </a:p>
        </p:txBody>
      </p:sp>
      <p:sp>
        <p:nvSpPr>
          <p:cNvPr id="85" name="Shape 83"/>
          <p:cNvSpPr/>
          <p:nvPr/>
        </p:nvSpPr>
        <p:spPr>
          <a:xfrm>
            <a:off x="3352800" y="2978100"/>
            <a:ext cx="1390650" cy="12700"/>
          </a:xfrm>
          <a:prstGeom prst="rect">
            <a:avLst/>
          </a:prstGeom>
          <a:solidFill>
            <a:srgbClr val="A9B4BF"/>
          </a:solidFill>
          <a:ln/>
        </p:spPr>
      </p:sp>
      <p:sp>
        <p:nvSpPr>
          <p:cNvPr id="86" name="Text 84"/>
          <p:cNvSpPr/>
          <p:nvPr/>
        </p:nvSpPr>
        <p:spPr>
          <a:xfrm>
            <a:off x="10487025" y="2854275"/>
            <a:ext cx="222250" cy="260350"/>
          </a:xfrm>
          <a:prstGeom prst="rect">
            <a:avLst/>
          </a:prstGeom>
          <a:noFill/>
          <a:ln w="6350">
            <a:solidFill>
              <a:srgbClr val="7D8894"/>
            </a:solidFill>
            <a:prstDash val="solid"/>
          </a:ln>
        </p:spPr>
        <p:txBody>
          <a:bodyPr wrap="square" lIns="0" tIns="3175" rIns="0" bIns="0" rtlCol="0" anchor="t">
            <a:normAutofit/>
          </a:bodyPr>
          <a:lstStyle/>
          <a:p>
            <a:pPr algn="ctr"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a:t>
            </a:r>
            <a:endParaRPr lang="en-US" sz="1600" dirty="0"/>
          </a:p>
        </p:txBody>
      </p:sp>
      <p:sp>
        <p:nvSpPr>
          <p:cNvPr id="87" name="Text 85"/>
          <p:cNvSpPr/>
          <p:nvPr/>
        </p:nvSpPr>
        <p:spPr>
          <a:xfrm>
            <a:off x="812800" y="3156148"/>
            <a:ext cx="8128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16:32</a:t>
            </a:r>
            <a:endParaRPr lang="en-US" sz="1600" dirty="0"/>
          </a:p>
        </p:txBody>
      </p:sp>
      <p:sp>
        <p:nvSpPr>
          <p:cNvPr id="88" name="Text 86"/>
          <p:cNvSpPr/>
          <p:nvPr/>
        </p:nvSpPr>
        <p:spPr>
          <a:xfrm>
            <a:off x="1676400" y="3156148"/>
            <a:ext cx="16256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SIXPENCE</a:t>
            </a:r>
            <a:endParaRPr lang="en-US" sz="1600" dirty="0"/>
          </a:p>
        </p:txBody>
      </p:sp>
      <p:sp>
        <p:nvSpPr>
          <p:cNvPr id="89" name="Text 87"/>
          <p:cNvSpPr/>
          <p:nvPr/>
        </p:nvSpPr>
        <p:spPr>
          <a:xfrm>
            <a:off x="33528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K</a:t>
            </a:r>
            <a:endParaRPr lang="en-US" sz="1600" dirty="0"/>
          </a:p>
        </p:txBody>
      </p:sp>
      <p:sp>
        <p:nvSpPr>
          <p:cNvPr id="90" name="Text 88"/>
          <p:cNvSpPr/>
          <p:nvPr/>
        </p:nvSpPr>
        <p:spPr>
          <a:xfrm>
            <a:off x="35877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7</a:t>
            </a:r>
            <a:endParaRPr lang="en-US" sz="1600" dirty="0"/>
          </a:p>
        </p:txBody>
      </p:sp>
      <p:sp>
        <p:nvSpPr>
          <p:cNvPr id="91" name="Text 89"/>
          <p:cNvSpPr/>
          <p:nvPr/>
        </p:nvSpPr>
        <p:spPr>
          <a:xfrm>
            <a:off x="38227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92" name="Text 90"/>
          <p:cNvSpPr/>
          <p:nvPr/>
        </p:nvSpPr>
        <p:spPr>
          <a:xfrm>
            <a:off x="40576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93" name="Text 91"/>
          <p:cNvSpPr/>
          <p:nvPr/>
        </p:nvSpPr>
        <p:spPr>
          <a:xfrm>
            <a:off x="42926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94" name="Text 92"/>
          <p:cNvSpPr/>
          <p:nvPr/>
        </p:nvSpPr>
        <p:spPr>
          <a:xfrm>
            <a:off x="45275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95" name="Text 93"/>
          <p:cNvSpPr/>
          <p:nvPr/>
        </p:nvSpPr>
        <p:spPr>
          <a:xfrm>
            <a:off x="47625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Q</a:t>
            </a:r>
            <a:endParaRPr lang="en-US" sz="1600" dirty="0"/>
          </a:p>
        </p:txBody>
      </p:sp>
      <p:sp>
        <p:nvSpPr>
          <p:cNvPr id="96" name="Text 94"/>
          <p:cNvSpPr/>
          <p:nvPr/>
        </p:nvSpPr>
        <p:spPr>
          <a:xfrm>
            <a:off x="49974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C</a:t>
            </a:r>
            <a:endParaRPr lang="en-US" sz="1600" dirty="0"/>
          </a:p>
        </p:txBody>
      </p:sp>
      <p:sp>
        <p:nvSpPr>
          <p:cNvPr id="97" name="Text 95"/>
          <p:cNvSpPr/>
          <p:nvPr/>
        </p:nvSpPr>
        <p:spPr>
          <a:xfrm>
            <a:off x="52324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98" name="Text 96"/>
          <p:cNvSpPr/>
          <p:nvPr/>
        </p:nvSpPr>
        <p:spPr>
          <a:xfrm>
            <a:off x="54673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99" name="Text 97"/>
          <p:cNvSpPr/>
          <p:nvPr/>
        </p:nvSpPr>
        <p:spPr>
          <a:xfrm>
            <a:off x="57023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100" name="Text 98"/>
          <p:cNvSpPr/>
          <p:nvPr/>
        </p:nvSpPr>
        <p:spPr>
          <a:xfrm>
            <a:off x="59372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101" name="Text 99"/>
          <p:cNvSpPr/>
          <p:nvPr/>
        </p:nvSpPr>
        <p:spPr>
          <a:xfrm>
            <a:off x="61722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5</a:t>
            </a:r>
            <a:endParaRPr lang="en-US" sz="1600" dirty="0"/>
          </a:p>
        </p:txBody>
      </p:sp>
      <p:sp>
        <p:nvSpPr>
          <p:cNvPr id="102" name="Text 100"/>
          <p:cNvSpPr/>
          <p:nvPr/>
        </p:nvSpPr>
        <p:spPr>
          <a:xfrm>
            <a:off x="64071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103" name="Text 101"/>
          <p:cNvSpPr/>
          <p:nvPr/>
        </p:nvSpPr>
        <p:spPr>
          <a:xfrm>
            <a:off x="66421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104" name="Text 102"/>
          <p:cNvSpPr/>
          <p:nvPr/>
        </p:nvSpPr>
        <p:spPr>
          <a:xfrm>
            <a:off x="68770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N</a:t>
            </a:r>
            <a:endParaRPr lang="en-US" sz="1600" dirty="0"/>
          </a:p>
        </p:txBody>
      </p:sp>
      <p:sp>
        <p:nvSpPr>
          <p:cNvPr id="105" name="Text 103"/>
          <p:cNvSpPr/>
          <p:nvPr/>
        </p:nvSpPr>
        <p:spPr>
          <a:xfrm>
            <a:off x="71120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C</a:t>
            </a:r>
            <a:endParaRPr lang="en-US" sz="1600" dirty="0"/>
          </a:p>
        </p:txBody>
      </p:sp>
      <p:sp>
        <p:nvSpPr>
          <p:cNvPr id="106" name="Text 104"/>
          <p:cNvSpPr/>
          <p:nvPr/>
        </p:nvSpPr>
        <p:spPr>
          <a:xfrm>
            <a:off x="73469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07" name="Text 105"/>
          <p:cNvSpPr/>
          <p:nvPr/>
        </p:nvSpPr>
        <p:spPr>
          <a:xfrm>
            <a:off x="75819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108" name="Text 106"/>
          <p:cNvSpPr/>
          <p:nvPr/>
        </p:nvSpPr>
        <p:spPr>
          <a:xfrm>
            <a:off x="78168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L</a:t>
            </a:r>
            <a:endParaRPr lang="en-US" sz="1600" dirty="0"/>
          </a:p>
        </p:txBody>
      </p:sp>
      <p:sp>
        <p:nvSpPr>
          <p:cNvPr id="109" name="Text 107"/>
          <p:cNvSpPr/>
          <p:nvPr/>
        </p:nvSpPr>
        <p:spPr>
          <a:xfrm>
            <a:off x="80518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P</a:t>
            </a:r>
            <a:endParaRPr lang="en-US" sz="1600" dirty="0"/>
          </a:p>
        </p:txBody>
      </p:sp>
      <p:sp>
        <p:nvSpPr>
          <p:cNvPr id="110" name="Text 108"/>
          <p:cNvSpPr/>
          <p:nvPr/>
        </p:nvSpPr>
        <p:spPr>
          <a:xfrm>
            <a:off x="82867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111" name="Text 109"/>
          <p:cNvSpPr/>
          <p:nvPr/>
        </p:nvSpPr>
        <p:spPr>
          <a:xfrm>
            <a:off x="85217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12" name="Text 110"/>
          <p:cNvSpPr/>
          <p:nvPr/>
        </p:nvSpPr>
        <p:spPr>
          <a:xfrm>
            <a:off x="87566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113" name="Text 111"/>
          <p:cNvSpPr/>
          <p:nvPr/>
        </p:nvSpPr>
        <p:spPr>
          <a:xfrm>
            <a:off x="89916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14" name="Text 112"/>
          <p:cNvSpPr/>
          <p:nvPr/>
        </p:nvSpPr>
        <p:spPr>
          <a:xfrm>
            <a:off x="92265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15" name="Text 113"/>
          <p:cNvSpPr/>
          <p:nvPr/>
        </p:nvSpPr>
        <p:spPr>
          <a:xfrm>
            <a:off x="94615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116" name="Text 114"/>
          <p:cNvSpPr/>
          <p:nvPr/>
        </p:nvSpPr>
        <p:spPr>
          <a:xfrm>
            <a:off x="96964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117" name="Text 115"/>
          <p:cNvSpPr/>
          <p:nvPr/>
        </p:nvSpPr>
        <p:spPr>
          <a:xfrm>
            <a:off x="993140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118" name="Text 116"/>
          <p:cNvSpPr/>
          <p:nvPr/>
        </p:nvSpPr>
        <p:spPr>
          <a:xfrm>
            <a:off x="10166350" y="3155900"/>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119" name="Text 117"/>
          <p:cNvSpPr/>
          <p:nvPr/>
        </p:nvSpPr>
        <p:spPr>
          <a:xfrm>
            <a:off x="10487025" y="3159075"/>
            <a:ext cx="222250" cy="260350"/>
          </a:xfrm>
          <a:prstGeom prst="rect">
            <a:avLst/>
          </a:prstGeom>
          <a:noFill/>
          <a:ln w="6350">
            <a:solidFill>
              <a:srgbClr val="7D8894"/>
            </a:solidFill>
            <a:prstDash val="solid"/>
          </a:ln>
        </p:spPr>
        <p:txBody>
          <a:bodyPr wrap="square" lIns="0" tIns="3175" rIns="0" bIns="0" rtlCol="0" anchor="t">
            <a:normAutofit/>
          </a:bodyPr>
          <a:lstStyle/>
          <a:p>
            <a:pPr algn="ctr" indent="0" marL="0">
              <a:lnSpc>
                <a:spcPts val="2000"/>
              </a:lnSpc>
              <a:buNone/>
            </a:pPr>
            <a:r>
              <a:rPr lang="en-US" sz="1600" dirty="0">
                <a:solidFill>
                  <a:srgbClr val="E6EDF3"/>
                </a:solidFill>
                <a:latin typeface="Courier New" pitchFamily="49" charset="0"/>
                <a:ea typeface="Courier New" pitchFamily="49" charset="-122"/>
                <a:cs typeface="Courier New" pitchFamily="49" charset="-120"/>
              </a:rPr>
              <a:t>+</a:t>
            </a:r>
            <a:endParaRPr lang="en-US" sz="1600" dirty="0"/>
          </a:p>
        </p:txBody>
      </p:sp>
      <p:sp>
        <p:nvSpPr>
          <p:cNvPr id="120" name="Text 118"/>
          <p:cNvSpPr/>
          <p:nvPr/>
        </p:nvSpPr>
        <p:spPr>
          <a:xfrm>
            <a:off x="812800" y="3524200"/>
            <a:ext cx="921306"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E6EDF3"/>
                </a:solidFill>
                <a:latin typeface="Arial" pitchFamily="34" charset="0"/>
                <a:ea typeface="Arial" pitchFamily="34" charset="-122"/>
                <a:cs typeface="Arial" pitchFamily="34" charset="-120"/>
              </a:rPr>
              <a:t>Notes欄</a:t>
            </a:r>
            <a:endParaRPr lang="en-US" sz="1600" dirty="0"/>
          </a:p>
        </p:txBody>
      </p:sp>
      <p:sp>
        <p:nvSpPr>
          <p:cNvPr id="121" name="Shape 119"/>
          <p:cNvSpPr/>
          <p:nvPr/>
        </p:nvSpPr>
        <p:spPr>
          <a:xfrm>
            <a:off x="10458450" y="3744516"/>
            <a:ext cx="920750" cy="0"/>
          </a:xfrm>
          <a:prstGeom prst="line">
            <a:avLst/>
          </a:prstGeom>
          <a:noFill/>
          <a:ln w="6350">
            <a:solidFill>
              <a:srgbClr val="7D8894"/>
            </a:solidFill>
            <a:prstDash val="solid"/>
          </a:ln>
        </p:spPr>
      </p:sp>
      <p:sp>
        <p:nvSpPr>
          <p:cNvPr id="122" name="Text 120"/>
          <p:cNvSpPr/>
          <p:nvPr/>
        </p:nvSpPr>
        <p:spPr>
          <a:xfrm>
            <a:off x="10407650" y="3525441"/>
            <a:ext cx="97155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Arial" pitchFamily="34" charset="0"/>
                <a:ea typeface="Arial" pitchFamily="34" charset="-122"/>
                <a:cs typeface="Arial" pitchFamily="34" charset="-120"/>
              </a:rPr>
              <a:t>全長</a:t>
            </a:r>
            <a:endParaRPr lang="en-US" sz="1200" dirty="0"/>
          </a:p>
        </p:txBody>
      </p:sp>
      <p:sp>
        <p:nvSpPr>
          <p:cNvPr id="123" name="Text 121"/>
          <p:cNvSpPr/>
          <p:nvPr/>
        </p:nvSpPr>
        <p:spPr>
          <a:xfrm>
            <a:off x="812800" y="3786039"/>
            <a:ext cx="8128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15:23</a:t>
            </a:r>
            <a:endParaRPr lang="en-US" sz="1600" dirty="0"/>
          </a:p>
        </p:txBody>
      </p:sp>
      <p:sp>
        <p:nvSpPr>
          <p:cNvPr id="124" name="Text 122"/>
          <p:cNvSpPr/>
          <p:nvPr/>
        </p:nvSpPr>
        <p:spPr>
          <a:xfrm>
            <a:off x="16764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C</a:t>
            </a:r>
            <a:endParaRPr lang="en-US" sz="1600" dirty="0"/>
          </a:p>
        </p:txBody>
      </p:sp>
      <p:sp>
        <p:nvSpPr>
          <p:cNvPr id="125" name="Text 123"/>
          <p:cNvSpPr/>
          <p:nvPr/>
        </p:nvSpPr>
        <p:spPr>
          <a:xfrm>
            <a:off x="19113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V</a:t>
            </a:r>
            <a:endParaRPr lang="en-US" sz="1600" dirty="0"/>
          </a:p>
        </p:txBody>
      </p:sp>
      <p:sp>
        <p:nvSpPr>
          <p:cNvPr id="126" name="Text 124"/>
          <p:cNvSpPr/>
          <p:nvPr/>
        </p:nvSpPr>
        <p:spPr>
          <a:xfrm>
            <a:off x="21463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F</a:t>
            </a:r>
            <a:endParaRPr lang="en-US" sz="1600" dirty="0"/>
          </a:p>
        </p:txBody>
      </p:sp>
      <p:sp>
        <p:nvSpPr>
          <p:cNvPr id="127" name="Text 125"/>
          <p:cNvSpPr/>
          <p:nvPr/>
        </p:nvSpPr>
        <p:spPr>
          <a:xfrm>
            <a:off x="23812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Z</a:t>
            </a:r>
            <a:endParaRPr lang="en-US" sz="1600" dirty="0"/>
          </a:p>
        </p:txBody>
      </p:sp>
      <p:sp>
        <p:nvSpPr>
          <p:cNvPr id="128" name="Text 126"/>
          <p:cNvSpPr/>
          <p:nvPr/>
        </p:nvSpPr>
        <p:spPr>
          <a:xfrm>
            <a:off x="26162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129" name="Text 127"/>
          <p:cNvSpPr/>
          <p:nvPr/>
        </p:nvSpPr>
        <p:spPr>
          <a:xfrm>
            <a:off x="28511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R</a:t>
            </a:r>
            <a:endParaRPr lang="en-US" sz="1600" dirty="0"/>
          </a:p>
        </p:txBody>
      </p:sp>
      <p:sp>
        <p:nvSpPr>
          <p:cNvPr id="130" name="Text 128"/>
          <p:cNvSpPr/>
          <p:nvPr/>
        </p:nvSpPr>
        <p:spPr>
          <a:xfrm>
            <a:off x="30861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131" name="Text 129"/>
          <p:cNvSpPr/>
          <p:nvPr/>
        </p:nvSpPr>
        <p:spPr>
          <a:xfrm>
            <a:off x="33210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132" name="Text 130"/>
          <p:cNvSpPr/>
          <p:nvPr/>
        </p:nvSpPr>
        <p:spPr>
          <a:xfrm>
            <a:off x="35560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F</a:t>
            </a:r>
            <a:endParaRPr lang="en-US" sz="1600" dirty="0"/>
          </a:p>
        </p:txBody>
      </p:sp>
      <p:sp>
        <p:nvSpPr>
          <p:cNvPr id="133" name="Text 131"/>
          <p:cNvSpPr/>
          <p:nvPr/>
        </p:nvSpPr>
        <p:spPr>
          <a:xfrm>
            <a:off x="37909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C</a:t>
            </a:r>
            <a:endParaRPr lang="en-US" sz="1600" dirty="0"/>
          </a:p>
        </p:txBody>
      </p:sp>
      <p:sp>
        <p:nvSpPr>
          <p:cNvPr id="134" name="Text 132"/>
          <p:cNvSpPr/>
          <p:nvPr/>
        </p:nvSpPr>
        <p:spPr>
          <a:xfrm>
            <a:off x="40259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3</a:t>
            </a:r>
            <a:endParaRPr lang="en-US" sz="1600" dirty="0"/>
          </a:p>
        </p:txBody>
      </p:sp>
      <p:sp>
        <p:nvSpPr>
          <p:cNvPr id="135" name="Text 133"/>
          <p:cNvSpPr/>
          <p:nvPr/>
        </p:nvSpPr>
        <p:spPr>
          <a:xfrm>
            <a:off x="42608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A</a:t>
            </a:r>
            <a:endParaRPr lang="en-US" sz="1600" dirty="0"/>
          </a:p>
        </p:txBody>
      </p:sp>
      <p:sp>
        <p:nvSpPr>
          <p:cNvPr id="136" name="Text 134"/>
          <p:cNvSpPr/>
          <p:nvPr/>
        </p:nvSpPr>
        <p:spPr>
          <a:xfrm>
            <a:off x="44958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D7D32"/>
                </a:solidFill>
                <a:latin typeface="Courier New" pitchFamily="49" charset="0"/>
                <a:ea typeface="Courier New" pitchFamily="49" charset="-122"/>
                <a:cs typeface="Courier New" pitchFamily="49" charset="-120"/>
              </a:rPr>
              <a:t>2</a:t>
            </a:r>
            <a:endParaRPr lang="en-US" sz="1600" dirty="0"/>
          </a:p>
        </p:txBody>
      </p:sp>
      <p:sp>
        <p:nvSpPr>
          <p:cNvPr id="137" name="Text 135"/>
          <p:cNvSpPr/>
          <p:nvPr/>
        </p:nvSpPr>
        <p:spPr>
          <a:xfrm>
            <a:off x="47307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X</a:t>
            </a:r>
            <a:endParaRPr lang="en-US" sz="1600" dirty="0"/>
          </a:p>
        </p:txBody>
      </p:sp>
      <p:sp>
        <p:nvSpPr>
          <p:cNvPr id="138" name="Text 136"/>
          <p:cNvSpPr/>
          <p:nvPr/>
        </p:nvSpPr>
        <p:spPr>
          <a:xfrm>
            <a:off x="49657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139" name="Text 137"/>
          <p:cNvSpPr/>
          <p:nvPr/>
        </p:nvSpPr>
        <p:spPr>
          <a:xfrm>
            <a:off x="52006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A</a:t>
            </a:r>
            <a:endParaRPr lang="en-US" sz="1600" dirty="0"/>
          </a:p>
        </p:txBody>
      </p:sp>
      <p:sp>
        <p:nvSpPr>
          <p:cNvPr id="140" name="Text 138"/>
          <p:cNvSpPr/>
          <p:nvPr/>
        </p:nvSpPr>
        <p:spPr>
          <a:xfrm>
            <a:off x="54356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3</a:t>
            </a:r>
            <a:endParaRPr lang="en-US" sz="1600" dirty="0"/>
          </a:p>
        </p:txBody>
      </p:sp>
      <p:sp>
        <p:nvSpPr>
          <p:cNvPr id="141" name="Text 139"/>
          <p:cNvSpPr/>
          <p:nvPr/>
        </p:nvSpPr>
        <p:spPr>
          <a:xfrm>
            <a:off x="56705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142" name="Text 140"/>
          <p:cNvSpPr/>
          <p:nvPr/>
        </p:nvSpPr>
        <p:spPr>
          <a:xfrm>
            <a:off x="59055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143" name="Text 141"/>
          <p:cNvSpPr/>
          <p:nvPr/>
        </p:nvSpPr>
        <p:spPr>
          <a:xfrm>
            <a:off x="61404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L</a:t>
            </a:r>
            <a:endParaRPr lang="en-US" sz="1600" dirty="0"/>
          </a:p>
        </p:txBody>
      </p:sp>
      <p:sp>
        <p:nvSpPr>
          <p:cNvPr id="144" name="Text 142"/>
          <p:cNvSpPr/>
          <p:nvPr/>
        </p:nvSpPr>
        <p:spPr>
          <a:xfrm>
            <a:off x="63754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C</a:t>
            </a:r>
            <a:endParaRPr lang="en-US" sz="1600" dirty="0"/>
          </a:p>
        </p:txBody>
      </p:sp>
      <p:sp>
        <p:nvSpPr>
          <p:cNvPr id="145" name="Text 143"/>
          <p:cNvSpPr/>
          <p:nvPr/>
        </p:nvSpPr>
        <p:spPr>
          <a:xfrm>
            <a:off x="66103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V</a:t>
            </a:r>
            <a:endParaRPr lang="en-US" sz="1600" dirty="0"/>
          </a:p>
        </p:txBody>
      </p:sp>
      <p:sp>
        <p:nvSpPr>
          <p:cNvPr id="146" name="Text 144"/>
          <p:cNvSpPr/>
          <p:nvPr/>
        </p:nvSpPr>
        <p:spPr>
          <a:xfrm>
            <a:off x="68453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F</a:t>
            </a:r>
            <a:endParaRPr lang="en-US" sz="1600" dirty="0"/>
          </a:p>
        </p:txBody>
      </p:sp>
      <p:sp>
        <p:nvSpPr>
          <p:cNvPr id="147" name="Text 145"/>
          <p:cNvSpPr/>
          <p:nvPr/>
        </p:nvSpPr>
        <p:spPr>
          <a:xfrm>
            <a:off x="708025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148" name="Text 146"/>
          <p:cNvSpPr/>
          <p:nvPr/>
        </p:nvSpPr>
        <p:spPr>
          <a:xfrm>
            <a:off x="7315200" y="3785791"/>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149" name="Text 147"/>
          <p:cNvSpPr/>
          <p:nvPr/>
        </p:nvSpPr>
        <p:spPr>
          <a:xfrm>
            <a:off x="10433050" y="3785791"/>
            <a:ext cx="946150" cy="292100"/>
          </a:xfrm>
          <a:prstGeom prst="rect">
            <a:avLst/>
          </a:prstGeom>
          <a:noFill/>
          <a:ln/>
        </p:spPr>
        <p:txBody>
          <a:bodyPr wrap="square" lIns="0" tIns="0" rIns="0" bIns="0" rtlCol="0" anchor="t">
            <a:normAutofit/>
          </a:bodyPr>
          <a:lstStyle/>
          <a:p>
            <a:pPr algn="r" indent="0" marL="0">
              <a:lnSpc>
                <a:spcPts val="2100"/>
              </a:lnSpc>
              <a:buNone/>
            </a:pPr>
            <a:r>
              <a:rPr lang="en-US" sz="1200" dirty="0">
                <a:solidFill>
                  <a:srgbClr val="A9B4BF"/>
                </a:solidFill>
                <a:latin typeface="Courier New" pitchFamily="49" charset="0"/>
                <a:ea typeface="Courier New" pitchFamily="49" charset="-122"/>
                <a:cs typeface="Courier New" pitchFamily="49" charset="-120"/>
              </a:rPr>
              <a:t>[55 CHAR]</a:t>
            </a:r>
            <a:endParaRPr lang="en-US" sz="1200" dirty="0"/>
          </a:p>
        </p:txBody>
      </p:sp>
      <p:sp>
        <p:nvSpPr>
          <p:cNvPr id="150" name="Text 148"/>
          <p:cNvSpPr/>
          <p:nvPr/>
        </p:nvSpPr>
        <p:spPr>
          <a:xfrm>
            <a:off x="812800" y="4090591"/>
            <a:ext cx="8128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15:39</a:t>
            </a:r>
            <a:endParaRPr lang="en-US" sz="1600" dirty="0"/>
          </a:p>
        </p:txBody>
      </p:sp>
      <p:sp>
        <p:nvSpPr>
          <p:cNvPr id="151" name="Text 149"/>
          <p:cNvSpPr/>
          <p:nvPr/>
        </p:nvSpPr>
        <p:spPr>
          <a:xfrm>
            <a:off x="1676400" y="4090591"/>
            <a:ext cx="9993884"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E6EDF3"/>
                </a:solidFill>
                <a:latin typeface="Arial" pitchFamily="34" charset="0"/>
                <a:ea typeface="Arial" pitchFamily="34" charset="-122"/>
                <a:cs typeface="Arial" pitchFamily="34" charset="-120"/>
              </a:rPr>
              <a:t>27 character message</a:t>
            </a:r>
            <a:endParaRPr lang="en-US" sz="1600" dirty="0"/>
          </a:p>
        </p:txBody>
      </p:sp>
      <p:sp>
        <p:nvSpPr>
          <p:cNvPr id="152" name="Text 150"/>
          <p:cNvSpPr/>
          <p:nvPr/>
        </p:nvSpPr>
        <p:spPr>
          <a:xfrm>
            <a:off x="812800" y="4395093"/>
            <a:ext cx="812800" cy="291554"/>
          </a:xfrm>
          <a:prstGeom prst="rect">
            <a:avLst/>
          </a:prstGeom>
          <a:noFill/>
          <a:ln/>
        </p:spPr>
        <p:txBody>
          <a:bodyPr wrap="square" lIns="0" tIns="0" rIns="0" bIns="0" rtlCol="0" anchor="t">
            <a:normAutofit/>
          </a:bodyPr>
          <a:lstStyle/>
          <a:p>
            <a:pPr algn="l" indent="0" marL="0">
              <a:lnSpc>
                <a:spcPts val="2096"/>
              </a:lnSpc>
              <a:buNone/>
            </a:pPr>
            <a:r>
              <a:rPr lang="en-US" sz="1600" dirty="0">
                <a:solidFill>
                  <a:srgbClr val="A9B4BF"/>
                </a:solidFill>
                <a:latin typeface="Courier New" pitchFamily="49" charset="0"/>
                <a:ea typeface="Courier New" pitchFamily="49" charset="-122"/>
                <a:cs typeface="Courier New" pitchFamily="49" charset="-120"/>
              </a:rPr>
              <a:t>16:32</a:t>
            </a:r>
            <a:endParaRPr lang="en-US" sz="1600" dirty="0"/>
          </a:p>
        </p:txBody>
      </p:sp>
      <p:sp>
        <p:nvSpPr>
          <p:cNvPr id="153" name="Text 151"/>
          <p:cNvSpPr/>
          <p:nvPr/>
        </p:nvSpPr>
        <p:spPr>
          <a:xfrm>
            <a:off x="1676400" y="4394845"/>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154" name="Text 152"/>
          <p:cNvSpPr/>
          <p:nvPr/>
        </p:nvSpPr>
        <p:spPr>
          <a:xfrm>
            <a:off x="1911350" y="4394845"/>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L</a:t>
            </a:r>
            <a:endParaRPr lang="en-US" sz="1600" dirty="0"/>
          </a:p>
        </p:txBody>
      </p:sp>
      <p:sp>
        <p:nvSpPr>
          <p:cNvPr id="155" name="Text 153"/>
          <p:cNvSpPr/>
          <p:nvPr/>
        </p:nvSpPr>
        <p:spPr>
          <a:xfrm>
            <a:off x="2146300" y="4394845"/>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156" name="Text 154"/>
          <p:cNvSpPr/>
          <p:nvPr/>
        </p:nvSpPr>
        <p:spPr>
          <a:xfrm>
            <a:off x="2381250" y="4394845"/>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M</a:t>
            </a:r>
            <a:endParaRPr lang="en-US" sz="1600" dirty="0"/>
          </a:p>
        </p:txBody>
      </p:sp>
      <p:sp>
        <p:nvSpPr>
          <p:cNvPr id="157" name="Text 155"/>
          <p:cNvSpPr/>
          <p:nvPr/>
        </p:nvSpPr>
        <p:spPr>
          <a:xfrm>
            <a:off x="2616200" y="4394845"/>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58" name="Text 156"/>
          <p:cNvSpPr/>
          <p:nvPr/>
        </p:nvSpPr>
        <p:spPr>
          <a:xfrm>
            <a:off x="2851150" y="4394845"/>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Q</a:t>
            </a:r>
            <a:endParaRPr lang="en-US" sz="1600" dirty="0"/>
          </a:p>
        </p:txBody>
      </p:sp>
      <p:sp>
        <p:nvSpPr>
          <p:cNvPr id="159" name="Text 157"/>
          <p:cNvSpPr/>
          <p:nvPr/>
        </p:nvSpPr>
        <p:spPr>
          <a:xfrm>
            <a:off x="3086100" y="4394845"/>
            <a:ext cx="215900" cy="266700"/>
          </a:xfrm>
          <a:prstGeom prst="rect">
            <a:avLst/>
          </a:prstGeom>
          <a:solidFill>
            <a:srgbClr val="0E141B"/>
          </a:solidFill>
          <a:ln/>
        </p:spPr>
        <p:txBody>
          <a:bodyPr wrap="square" lIns="0" tIns="0" rIns="0" bIns="0" rtlCol="0" anchor="t">
            <a:normAutofit/>
          </a:bodyPr>
          <a:lstStyle/>
          <a:p>
            <a:pPr algn="ctr" indent="0" marL="0">
              <a:lnSpc>
                <a:spcPts val="2096"/>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160" name="Text 158"/>
          <p:cNvSpPr/>
          <p:nvPr/>
        </p:nvSpPr>
        <p:spPr>
          <a:xfrm>
            <a:off x="10433050" y="4394845"/>
            <a:ext cx="946150" cy="292100"/>
          </a:xfrm>
          <a:prstGeom prst="rect">
            <a:avLst/>
          </a:prstGeom>
          <a:noFill/>
          <a:ln/>
        </p:spPr>
        <p:txBody>
          <a:bodyPr wrap="square" lIns="0" tIns="0" rIns="0" bIns="0" rtlCol="0" anchor="t">
            <a:normAutofit/>
          </a:bodyPr>
          <a:lstStyle/>
          <a:p>
            <a:pPr algn="r" indent="0" marL="0">
              <a:lnSpc>
                <a:spcPts val="2100"/>
              </a:lnSpc>
              <a:buNone/>
            </a:pPr>
            <a:r>
              <a:rPr lang="en-US" sz="1200" dirty="0">
                <a:solidFill>
                  <a:srgbClr val="A9B4BF"/>
                </a:solidFill>
                <a:latin typeface="Courier New" pitchFamily="49" charset="0"/>
                <a:ea typeface="Courier New" pitchFamily="49" charset="-122"/>
                <a:cs typeface="Courier New" pitchFamily="49" charset="-120"/>
              </a:rPr>
              <a:t>[37 CHAR]</a:t>
            </a:r>
            <a:endParaRPr lang="en-US" sz="1200" dirty="0"/>
          </a:p>
        </p:txBody>
      </p:sp>
      <p:sp>
        <p:nvSpPr>
          <p:cNvPr id="161" name="Shape 159"/>
          <p:cNvSpPr/>
          <p:nvPr/>
        </p:nvSpPr>
        <p:spPr>
          <a:xfrm>
            <a:off x="812800" y="4969520"/>
            <a:ext cx="4318000" cy="0"/>
          </a:xfrm>
          <a:prstGeom prst="line">
            <a:avLst/>
          </a:prstGeom>
          <a:noFill/>
          <a:ln w="6350">
            <a:solidFill>
              <a:srgbClr val="222A35"/>
            </a:solidFill>
            <a:prstDash val="solid"/>
          </a:ln>
        </p:spPr>
      </p:sp>
      <p:sp>
        <p:nvSpPr>
          <p:cNvPr id="162" name="Text 160"/>
          <p:cNvSpPr/>
          <p:nvPr/>
        </p:nvSpPr>
        <p:spPr>
          <a:xfrm>
            <a:off x="812800" y="5074295"/>
            <a:ext cx="444754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E6EDF3"/>
                </a:solidFill>
                <a:latin typeface="Arial" pitchFamily="34" charset="0"/>
                <a:ea typeface="Arial" pitchFamily="34" charset="-122"/>
                <a:cs typeface="Arial" pitchFamily="34" charset="-120"/>
              </a:rPr>
              <a:t>+</a:t>
            </a:r>
            <a:r>
              <a:rPr lang="en-US" sz="1600" dirty="0">
                <a:solidFill>
                  <a:srgbClr val="E6EDF3"/>
                </a:solidFill>
                <a:latin typeface="Arial" pitchFamily="34" charset="0"/>
                <a:ea typeface="Arial" pitchFamily="34" charset="-122"/>
                <a:cs typeface="Arial" pitchFamily="34" charset="-120"/>
              </a:rPr>
              <a:t> 30文字でない：残りか長さをNotes欄に</a:t>
            </a:r>
            <a:endParaRPr lang="en-US" sz="1600" dirty="0"/>
          </a:p>
        </p:txBody>
      </p:sp>
      <p:sp>
        <p:nvSpPr>
          <p:cNvPr id="163" name="Shape 161"/>
          <p:cNvSpPr/>
          <p:nvPr/>
        </p:nvSpPr>
        <p:spPr>
          <a:xfrm>
            <a:off x="5232400" y="4969520"/>
            <a:ext cx="6146800" cy="0"/>
          </a:xfrm>
          <a:prstGeom prst="line">
            <a:avLst/>
          </a:prstGeom>
          <a:noFill/>
          <a:ln w="6350">
            <a:solidFill>
              <a:srgbClr val="222A35"/>
            </a:solidFill>
            <a:prstDash val="solid"/>
          </a:ln>
        </p:spPr>
      </p:sp>
      <p:sp>
        <p:nvSpPr>
          <p:cNvPr id="164" name="Text 162"/>
          <p:cNvSpPr/>
          <p:nvPr/>
        </p:nvSpPr>
        <p:spPr>
          <a:xfrm>
            <a:off x="5232400" y="5074295"/>
            <a:ext cx="633120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E6EDF3"/>
                </a:solidFill>
                <a:latin typeface="Arial" pitchFamily="34" charset="0"/>
                <a:ea typeface="Arial" pitchFamily="34" charset="-122"/>
                <a:cs typeface="Arial" pitchFamily="34" charset="-120"/>
              </a:rPr>
              <a:t>\</a:t>
            </a:r>
            <a:r>
              <a:rPr lang="en-US" sz="1600" dirty="0">
                <a:solidFill>
                  <a:srgbClr val="E6EDF3"/>
                </a:solidFill>
                <a:latin typeface="Arial" pitchFamily="34" charset="0"/>
                <a:ea typeface="Arial" pitchFamily="34" charset="-122"/>
                <a:cs typeface="Arial" pitchFamily="34" charset="-120"/>
              </a:rPr>
              <a:t> 取り消された読み上げ（取り消し線）</a:t>
            </a:r>
            <a:endParaRPr lang="en-US" sz="1600" dirty="0"/>
          </a:p>
        </p:txBody>
      </p:sp>
      <p:sp>
        <p:nvSpPr>
          <p:cNvPr id="165" name="Shape 163"/>
          <p:cNvSpPr/>
          <p:nvPr/>
        </p:nvSpPr>
        <p:spPr>
          <a:xfrm>
            <a:off x="812800" y="5443190"/>
            <a:ext cx="4318000" cy="0"/>
          </a:xfrm>
          <a:prstGeom prst="line">
            <a:avLst/>
          </a:prstGeom>
          <a:noFill/>
          <a:ln w="6350">
            <a:solidFill>
              <a:srgbClr val="222A35"/>
            </a:solidFill>
            <a:prstDash val="solid"/>
          </a:ln>
        </p:spPr>
      </p:sp>
      <p:sp>
        <p:nvSpPr>
          <p:cNvPr id="166" name="Text 164"/>
          <p:cNvSpPr/>
          <p:nvPr/>
        </p:nvSpPr>
        <p:spPr>
          <a:xfrm>
            <a:off x="812800" y="5547965"/>
            <a:ext cx="444754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E6EDF3"/>
                </a:solidFill>
                <a:latin typeface="Arial" pitchFamily="34" charset="0"/>
                <a:ea typeface="Arial" pitchFamily="34" charset="-122"/>
                <a:cs typeface="Arial" pitchFamily="34" charset="-120"/>
              </a:rPr>
              <a:t>&gt;</a:t>
            </a:r>
            <a:r>
              <a:rPr lang="en-US" sz="1600" dirty="0">
                <a:solidFill>
                  <a:srgbClr val="E6EDF3"/>
                </a:solidFill>
                <a:latin typeface="Arial" pitchFamily="34" charset="0"/>
                <a:ea typeface="Arial" pitchFamily="34" charset="-122"/>
                <a:cs typeface="Arial" pitchFamily="34" charset="-120"/>
              </a:rPr>
              <a:t> 宛先付き：注記が宛先を示す</a:t>
            </a:r>
            <a:endParaRPr lang="en-US" sz="1600" dirty="0"/>
          </a:p>
        </p:txBody>
      </p:sp>
      <p:sp>
        <p:nvSpPr>
          <p:cNvPr id="167" name="Shape 165"/>
          <p:cNvSpPr/>
          <p:nvPr/>
        </p:nvSpPr>
        <p:spPr>
          <a:xfrm>
            <a:off x="5232400" y="5443190"/>
            <a:ext cx="6146800" cy="0"/>
          </a:xfrm>
          <a:prstGeom prst="line">
            <a:avLst/>
          </a:prstGeom>
          <a:noFill/>
          <a:ln w="6350">
            <a:solidFill>
              <a:srgbClr val="222A35"/>
            </a:solidFill>
            <a:prstDash val="solid"/>
          </a:ln>
        </p:spPr>
      </p:sp>
      <p:sp>
        <p:nvSpPr>
          <p:cNvPr id="168" name="Text 166"/>
          <p:cNvSpPr/>
          <p:nvPr/>
        </p:nvSpPr>
        <p:spPr>
          <a:xfrm>
            <a:off x="5232400" y="5547965"/>
            <a:ext cx="633120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6EDF3"/>
                </a:solidFill>
                <a:latin typeface="Arial" pitchFamily="34" charset="0"/>
                <a:ea typeface="Arial" pitchFamily="34" charset="-122"/>
                <a:cs typeface="Arial" pitchFamily="34" charset="-120"/>
              </a:rPr>
              <a:t>新しいカードの接頭辞：</a:t>
            </a:r>
            <a:r>
              <a:rPr lang="en-US" sz="1600" dirty="0">
                <a:solidFill>
                  <a:srgbClr val="ED7D32"/>
                </a:solidFill>
                <a:latin typeface="Arial" pitchFamily="34" charset="0"/>
                <a:ea typeface="Arial" pitchFamily="34" charset="-122"/>
                <a:cs typeface="Arial" pitchFamily="34" charset="-120"/>
              </a:rPr>
              <a:t>第2群オレンジ</a:t>
            </a:r>
            <a:r>
              <a:rPr lang="en-US" sz="1600" dirty="0">
                <a:solidFill>
                  <a:srgbClr val="E6EDF3"/>
                </a:solidFill>
                <a:latin typeface="Arial" pitchFamily="34" charset="0"/>
                <a:ea typeface="Arial" pitchFamily="34" charset="-122"/>
                <a:cs typeface="Arial" pitchFamily="34" charset="-120"/>
              </a:rPr>
              <a:t>、</a:t>
            </a:r>
            <a:r>
              <a:rPr lang="en-US" sz="1600" dirty="0">
                <a:solidFill>
                  <a:srgbClr val="FFCC00"/>
                </a:solidFill>
                <a:latin typeface="Arial" pitchFamily="34" charset="0"/>
                <a:ea typeface="Arial" pitchFamily="34" charset="-122"/>
                <a:cs typeface="Arial" pitchFamily="34" charset="-120"/>
              </a:rPr>
              <a:t>第3群黄色</a:t>
            </a:r>
            <a:r>
              <a:rPr lang="en-US" sz="1600" dirty="0">
                <a:solidFill>
                  <a:srgbClr val="E6EDF3"/>
                </a:solidFill>
                <a:latin typeface="Arial" pitchFamily="34" charset="0"/>
                <a:ea typeface="Arial" pitchFamily="34" charset="-122"/>
                <a:cs typeface="Arial" pitchFamily="34" charset="-120"/>
              </a:rPr>
              <a:t>、第1群白</a:t>
            </a:r>
            <a:endParaRPr lang="en-US" sz="1600" dirty="0"/>
          </a:p>
        </p:txBody>
      </p:sp>
      <p:sp>
        <p:nvSpPr>
          <p:cNvPr id="169" name="Text 16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出典：DTCPタイムカード 260915、55文字のヒートマップ</a:t>
            </a:r>
            <a:endParaRPr lang="en-US" sz="1200" dirty="0"/>
          </a:p>
        </p:txBody>
      </p:sp>
      <p:sp>
        <p:nvSpPr>
          <p:cNvPr id="170" name="Text 168"/>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録音</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DTCPギャラリー</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第1部とその後</a:t>
            </a:r>
            <a:endParaRPr lang="en-US" sz="3600" dirty="0"/>
          </a:p>
        </p:txBody>
      </p:sp>
      <p:sp>
        <p:nvSpPr>
          <p:cNvPr id="4" name="Shape 2"/>
          <p:cNvSpPr/>
          <p:nvPr/>
        </p:nvSpPr>
        <p:spPr>
          <a:xfrm>
            <a:off x="812800" y="1984325"/>
            <a:ext cx="5207000" cy="0"/>
          </a:xfrm>
          <a:prstGeom prst="line">
            <a:avLst/>
          </a:prstGeom>
          <a:noFill/>
          <a:ln w="6350">
            <a:solidFill>
              <a:srgbClr val="222A35"/>
            </a:solidFill>
            <a:prstDash val="solid"/>
          </a:ln>
        </p:spPr>
      </p:sp>
      <p:sp>
        <p:nvSpPr>
          <p:cNvPr id="5" name="Text 3"/>
          <p:cNvSpPr/>
          <p:nvPr/>
        </p:nvSpPr>
        <p:spPr>
          <a:xfrm>
            <a:off x="812800" y="2089100"/>
            <a:ext cx="536321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第1部：</a:t>
            </a:r>
            <a:r>
              <a:rPr lang="en-US" sz="1600" dirty="0">
                <a:solidFill>
                  <a:srgbClr val="E6EDF3"/>
                </a:solidFill>
                <a:latin typeface="Arial" pitchFamily="34" charset="0"/>
                <a:ea typeface="Arial" pitchFamily="34" charset="-122"/>
                <a:cs typeface="Arial" pitchFamily="34" charset="-120"/>
              </a:rPr>
              <a:t>230623–240201の224日すべて、動画200本</a:t>
            </a:r>
            <a:endParaRPr lang="en-US" sz="1600" dirty="0"/>
          </a:p>
        </p:txBody>
      </p:sp>
      <p:sp>
        <p:nvSpPr>
          <p:cNvPr id="6" name="Shape 4"/>
          <p:cNvSpPr/>
          <p:nvPr/>
        </p:nvSpPr>
        <p:spPr>
          <a:xfrm>
            <a:off x="6172200" y="1984325"/>
            <a:ext cx="5207000" cy="0"/>
          </a:xfrm>
          <a:prstGeom prst="line">
            <a:avLst/>
          </a:prstGeom>
          <a:noFill/>
          <a:ln w="6350">
            <a:solidFill>
              <a:srgbClr val="222A35"/>
            </a:solidFill>
            <a:prstDash val="solid"/>
          </a:ln>
        </p:spPr>
      </p:sp>
      <p:sp>
        <p:nvSpPr>
          <p:cNvPr id="7" name="Text 5"/>
          <p:cNvSpPr/>
          <p:nvPr/>
        </p:nvSpPr>
        <p:spPr>
          <a:xfrm>
            <a:off x="6172200" y="2089100"/>
            <a:ext cx="536321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その後：</a:t>
            </a:r>
            <a:r>
              <a:rPr lang="en-US" sz="1600" dirty="0">
                <a:solidFill>
                  <a:srgbClr val="E6EDF3"/>
                </a:solidFill>
                <a:latin typeface="Arial" pitchFamily="34" charset="0"/>
                <a:ea typeface="Arial" pitchFamily="34" charset="-122"/>
                <a:cs typeface="Arial" pitchFamily="34" charset="-120"/>
              </a:rPr>
              <a:t>さらに417日、飛び飛びの46期間</a:t>
            </a:r>
            <a:endParaRPr lang="en-US" sz="1600" dirty="0"/>
          </a:p>
        </p:txBody>
      </p:sp>
      <p:sp>
        <p:nvSpPr>
          <p:cNvPr id="8" name="Shape 6"/>
          <p:cNvSpPr/>
          <p:nvPr/>
        </p:nvSpPr>
        <p:spPr>
          <a:xfrm>
            <a:off x="812800" y="2549475"/>
            <a:ext cx="5207000" cy="0"/>
          </a:xfrm>
          <a:prstGeom prst="line">
            <a:avLst/>
          </a:prstGeom>
          <a:noFill/>
          <a:ln w="6350">
            <a:solidFill>
              <a:srgbClr val="222A35"/>
            </a:solidFill>
            <a:prstDash val="solid"/>
          </a:ln>
        </p:spPr>
      </p:sp>
      <p:sp>
        <p:nvSpPr>
          <p:cNvPr id="9" name="Text 7"/>
          <p:cNvSpPr/>
          <p:nvPr/>
        </p:nvSpPr>
        <p:spPr>
          <a:xfrm>
            <a:off x="812800" y="2654250"/>
            <a:ext cx="536321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その後の最長の連なり：69日、49日、42日</a:t>
            </a:r>
            <a:endParaRPr lang="en-US" sz="1600" dirty="0"/>
          </a:p>
        </p:txBody>
      </p:sp>
      <p:sp>
        <p:nvSpPr>
          <p:cNvPr id="10" name="Shape 8"/>
          <p:cNvSpPr/>
          <p:nvPr/>
        </p:nvSpPr>
        <p:spPr>
          <a:xfrm>
            <a:off x="6172200" y="2549475"/>
            <a:ext cx="5207000" cy="0"/>
          </a:xfrm>
          <a:prstGeom prst="line">
            <a:avLst/>
          </a:prstGeom>
          <a:noFill/>
          <a:ln w="6350">
            <a:solidFill>
              <a:srgbClr val="222A35"/>
            </a:solidFill>
            <a:prstDash val="solid"/>
          </a:ln>
        </p:spPr>
      </p:sp>
      <p:sp>
        <p:nvSpPr>
          <p:cNvPr id="11" name="Text 9"/>
          <p:cNvSpPr/>
          <p:nvPr/>
        </p:nvSpPr>
        <p:spPr>
          <a:xfrm>
            <a:off x="6172200" y="2654250"/>
            <a:ext cx="536321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全カードにInternet Archiveの複製（616ファイル）</a:t>
            </a:r>
            <a:endParaRPr lang="en-US" sz="1600" dirty="0"/>
          </a:p>
        </p:txBody>
      </p:sp>
      <p:sp>
        <p:nvSpPr>
          <p:cNvPr id="12" name="Text 10"/>
          <p:cNvSpPr/>
          <p:nvPr/>
        </p:nvSpPr>
        <p:spPr>
          <a:xfrm>
            <a:off x="8159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8</a:t>
            </a:r>
            <a:endParaRPr lang="en-US" sz="1200" dirty="0"/>
          </a:p>
        </p:txBody>
      </p:sp>
      <p:sp>
        <p:nvSpPr>
          <p:cNvPr id="13" name="Text 11"/>
          <p:cNvSpPr/>
          <p:nvPr/>
        </p:nvSpPr>
        <p:spPr>
          <a:xfrm>
            <a:off x="10699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31</a:t>
            </a:r>
            <a:endParaRPr lang="en-US" sz="1200" dirty="0"/>
          </a:p>
        </p:txBody>
      </p:sp>
      <p:sp>
        <p:nvSpPr>
          <p:cNvPr id="14" name="Text 12"/>
          <p:cNvSpPr/>
          <p:nvPr/>
        </p:nvSpPr>
        <p:spPr>
          <a:xfrm>
            <a:off x="13239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31</a:t>
            </a:r>
            <a:endParaRPr lang="en-US" sz="1200" dirty="0"/>
          </a:p>
        </p:txBody>
      </p:sp>
      <p:sp>
        <p:nvSpPr>
          <p:cNvPr id="15" name="Text 13"/>
          <p:cNvSpPr/>
          <p:nvPr/>
        </p:nvSpPr>
        <p:spPr>
          <a:xfrm>
            <a:off x="15779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30</a:t>
            </a:r>
            <a:endParaRPr lang="en-US" sz="1200" dirty="0"/>
          </a:p>
        </p:txBody>
      </p:sp>
      <p:sp>
        <p:nvSpPr>
          <p:cNvPr id="16" name="Text 14"/>
          <p:cNvSpPr/>
          <p:nvPr/>
        </p:nvSpPr>
        <p:spPr>
          <a:xfrm>
            <a:off x="18319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31</a:t>
            </a:r>
            <a:endParaRPr lang="en-US" sz="1200" dirty="0"/>
          </a:p>
        </p:txBody>
      </p:sp>
      <p:sp>
        <p:nvSpPr>
          <p:cNvPr id="17" name="Text 15"/>
          <p:cNvSpPr/>
          <p:nvPr/>
        </p:nvSpPr>
        <p:spPr>
          <a:xfrm>
            <a:off x="20859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30</a:t>
            </a:r>
            <a:endParaRPr lang="en-US" sz="1200" dirty="0"/>
          </a:p>
        </p:txBody>
      </p:sp>
      <p:sp>
        <p:nvSpPr>
          <p:cNvPr id="18" name="Text 16"/>
          <p:cNvSpPr/>
          <p:nvPr/>
        </p:nvSpPr>
        <p:spPr>
          <a:xfrm>
            <a:off x="23399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31</a:t>
            </a:r>
            <a:endParaRPr lang="en-US" sz="1200" dirty="0"/>
          </a:p>
        </p:txBody>
      </p:sp>
      <p:sp>
        <p:nvSpPr>
          <p:cNvPr id="19" name="Text 17"/>
          <p:cNvSpPr/>
          <p:nvPr/>
        </p:nvSpPr>
        <p:spPr>
          <a:xfrm>
            <a:off x="26447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31</a:t>
            </a:r>
            <a:endParaRPr lang="en-US" sz="1200" dirty="0"/>
          </a:p>
        </p:txBody>
      </p:sp>
      <p:sp>
        <p:nvSpPr>
          <p:cNvPr id="20" name="Text 18"/>
          <p:cNvSpPr/>
          <p:nvPr/>
        </p:nvSpPr>
        <p:spPr>
          <a:xfrm>
            <a:off x="2898775" y="3267025"/>
            <a:ext cx="222250" cy="501650"/>
          </a:xfrm>
          <a:prstGeom prst="rect">
            <a:avLst/>
          </a:prstGeom>
          <a:solidFill>
            <a:srgbClr val="E6EDF3">
              <a:alpha val="14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4</a:t>
            </a:r>
            <a:endParaRPr lang="en-US" sz="1200" dirty="0"/>
          </a:p>
        </p:txBody>
      </p:sp>
      <p:sp>
        <p:nvSpPr>
          <p:cNvPr id="21" name="Text 19"/>
          <p:cNvSpPr/>
          <p:nvPr/>
        </p:nvSpPr>
        <p:spPr>
          <a:xfrm>
            <a:off x="3152775" y="3267025"/>
            <a:ext cx="222250" cy="501650"/>
          </a:xfrm>
          <a:prstGeom prst="rect">
            <a:avLst/>
          </a:prstGeom>
          <a:solidFill>
            <a:srgbClr val="E6EDF3">
              <a:alpha val="6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2</a:t>
            </a:r>
            <a:endParaRPr lang="en-US" sz="1200" dirty="0"/>
          </a:p>
        </p:txBody>
      </p:sp>
      <p:sp>
        <p:nvSpPr>
          <p:cNvPr id="22" name="Text 20"/>
          <p:cNvSpPr/>
          <p:nvPr/>
        </p:nvSpPr>
        <p:spPr>
          <a:xfrm>
            <a:off x="3406775" y="3267025"/>
            <a:ext cx="222250" cy="501650"/>
          </a:xfrm>
          <a:prstGeom prst="rect">
            <a:avLst/>
          </a:prstGeom>
          <a:solidFill>
            <a:srgbClr val="E6EDF3">
              <a:alpha val="67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20</a:t>
            </a:r>
            <a:endParaRPr lang="en-US" sz="1200" dirty="0"/>
          </a:p>
        </p:txBody>
      </p:sp>
      <p:sp>
        <p:nvSpPr>
          <p:cNvPr id="23" name="Text 21"/>
          <p:cNvSpPr/>
          <p:nvPr/>
        </p:nvSpPr>
        <p:spPr>
          <a:xfrm>
            <a:off x="3660775" y="3267025"/>
            <a:ext cx="222250" cy="501650"/>
          </a:xfrm>
          <a:prstGeom prst="rect">
            <a:avLst/>
          </a:prstGeom>
          <a:solidFill>
            <a:srgbClr val="E6EDF3">
              <a:alpha val="23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7</a:t>
            </a:r>
            <a:endParaRPr lang="en-US" sz="1200" dirty="0"/>
          </a:p>
        </p:txBody>
      </p:sp>
      <p:sp>
        <p:nvSpPr>
          <p:cNvPr id="24" name="Text 22"/>
          <p:cNvSpPr/>
          <p:nvPr/>
        </p:nvSpPr>
        <p:spPr>
          <a:xfrm>
            <a:off x="39147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30</a:t>
            </a:r>
            <a:endParaRPr lang="en-US" sz="1200" dirty="0"/>
          </a:p>
        </p:txBody>
      </p:sp>
      <p:sp>
        <p:nvSpPr>
          <p:cNvPr id="25" name="Shape 23"/>
          <p:cNvSpPr/>
          <p:nvPr/>
        </p:nvSpPr>
        <p:spPr>
          <a:xfrm>
            <a:off x="4168775" y="3267025"/>
            <a:ext cx="222250" cy="501650"/>
          </a:xfrm>
          <a:prstGeom prst="rect">
            <a:avLst/>
          </a:prstGeom>
          <a:noFill/>
          <a:ln w="6350">
            <a:solidFill>
              <a:srgbClr val="222A35"/>
            </a:solidFill>
            <a:prstDash val="solid"/>
          </a:ln>
        </p:spPr>
      </p:sp>
      <p:sp>
        <p:nvSpPr>
          <p:cNvPr id="26" name="Text 24"/>
          <p:cNvSpPr/>
          <p:nvPr/>
        </p:nvSpPr>
        <p:spPr>
          <a:xfrm>
            <a:off x="4422775" y="3267025"/>
            <a:ext cx="222250" cy="501650"/>
          </a:xfrm>
          <a:prstGeom prst="rect">
            <a:avLst/>
          </a:prstGeom>
          <a:solidFill>
            <a:srgbClr val="E6EDF3">
              <a:alpha val="3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1</a:t>
            </a:r>
            <a:endParaRPr lang="en-US" sz="1200" dirty="0"/>
          </a:p>
        </p:txBody>
      </p:sp>
      <p:sp>
        <p:nvSpPr>
          <p:cNvPr id="27" name="Text 25"/>
          <p:cNvSpPr/>
          <p:nvPr/>
        </p:nvSpPr>
        <p:spPr>
          <a:xfrm>
            <a:off x="4676775" y="3267025"/>
            <a:ext cx="222250" cy="501650"/>
          </a:xfrm>
          <a:prstGeom prst="rect">
            <a:avLst/>
          </a:prstGeom>
          <a:solidFill>
            <a:srgbClr val="E6EDF3">
              <a:alpha val="83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25</a:t>
            </a:r>
            <a:endParaRPr lang="en-US" sz="1200" dirty="0"/>
          </a:p>
        </p:txBody>
      </p:sp>
      <p:sp>
        <p:nvSpPr>
          <p:cNvPr id="28" name="Text 26"/>
          <p:cNvSpPr/>
          <p:nvPr/>
        </p:nvSpPr>
        <p:spPr>
          <a:xfrm>
            <a:off x="49307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31</a:t>
            </a:r>
            <a:endParaRPr lang="en-US" sz="1200" dirty="0"/>
          </a:p>
        </p:txBody>
      </p:sp>
      <p:sp>
        <p:nvSpPr>
          <p:cNvPr id="29" name="Text 27"/>
          <p:cNvSpPr/>
          <p:nvPr/>
        </p:nvSpPr>
        <p:spPr>
          <a:xfrm>
            <a:off x="51847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30</a:t>
            </a:r>
            <a:endParaRPr lang="en-US" sz="1200" dirty="0"/>
          </a:p>
        </p:txBody>
      </p:sp>
      <p:sp>
        <p:nvSpPr>
          <p:cNvPr id="30" name="Text 28"/>
          <p:cNvSpPr/>
          <p:nvPr/>
        </p:nvSpPr>
        <p:spPr>
          <a:xfrm>
            <a:off x="5438775" y="3267025"/>
            <a:ext cx="222250" cy="501650"/>
          </a:xfrm>
          <a:prstGeom prst="rect">
            <a:avLst/>
          </a:prstGeom>
          <a:solidFill>
            <a:srgbClr val="E6EDF3">
              <a:alpha val="45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14</a:t>
            </a:r>
            <a:endParaRPr lang="en-US" sz="1200" dirty="0"/>
          </a:p>
        </p:txBody>
      </p:sp>
      <p:sp>
        <p:nvSpPr>
          <p:cNvPr id="31" name="Text 29"/>
          <p:cNvSpPr/>
          <p:nvPr/>
        </p:nvSpPr>
        <p:spPr>
          <a:xfrm>
            <a:off x="5743575" y="3267025"/>
            <a:ext cx="222250" cy="501650"/>
          </a:xfrm>
          <a:prstGeom prst="rect">
            <a:avLst/>
          </a:prstGeom>
          <a:solidFill>
            <a:srgbClr val="E6EDF3">
              <a:alpha val="55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17</a:t>
            </a:r>
            <a:endParaRPr lang="en-US" sz="1200" dirty="0"/>
          </a:p>
        </p:txBody>
      </p:sp>
      <p:sp>
        <p:nvSpPr>
          <p:cNvPr id="32" name="Text 30"/>
          <p:cNvSpPr/>
          <p:nvPr/>
        </p:nvSpPr>
        <p:spPr>
          <a:xfrm>
            <a:off x="5997575" y="3267025"/>
            <a:ext cx="222250" cy="501650"/>
          </a:xfrm>
          <a:prstGeom prst="rect">
            <a:avLst/>
          </a:prstGeom>
          <a:solidFill>
            <a:srgbClr val="E6EDF3">
              <a:alpha val="7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2</a:t>
            </a:r>
            <a:endParaRPr lang="en-US" sz="1200" dirty="0"/>
          </a:p>
        </p:txBody>
      </p:sp>
      <p:sp>
        <p:nvSpPr>
          <p:cNvPr id="33" name="Shape 31"/>
          <p:cNvSpPr/>
          <p:nvPr/>
        </p:nvSpPr>
        <p:spPr>
          <a:xfrm>
            <a:off x="6251575" y="3267025"/>
            <a:ext cx="222250" cy="501650"/>
          </a:xfrm>
          <a:prstGeom prst="rect">
            <a:avLst/>
          </a:prstGeom>
          <a:noFill/>
          <a:ln w="6350">
            <a:solidFill>
              <a:srgbClr val="222A35"/>
            </a:solidFill>
            <a:prstDash val="solid"/>
          </a:ln>
        </p:spPr>
      </p:sp>
      <p:sp>
        <p:nvSpPr>
          <p:cNvPr id="34" name="Text 32"/>
          <p:cNvSpPr/>
          <p:nvPr/>
        </p:nvSpPr>
        <p:spPr>
          <a:xfrm>
            <a:off x="6505575" y="3267025"/>
            <a:ext cx="222250" cy="501650"/>
          </a:xfrm>
          <a:prstGeom prst="rect">
            <a:avLst/>
          </a:prstGeom>
          <a:solidFill>
            <a:srgbClr val="E6EDF3">
              <a:alpha val="40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12</a:t>
            </a:r>
            <a:endParaRPr lang="en-US" sz="1200" dirty="0"/>
          </a:p>
        </p:txBody>
      </p:sp>
      <p:sp>
        <p:nvSpPr>
          <p:cNvPr id="35" name="Text 33"/>
          <p:cNvSpPr/>
          <p:nvPr/>
        </p:nvSpPr>
        <p:spPr>
          <a:xfrm>
            <a:off x="6759575" y="3267025"/>
            <a:ext cx="222250" cy="501650"/>
          </a:xfrm>
          <a:prstGeom prst="rect">
            <a:avLst/>
          </a:prstGeom>
          <a:solidFill>
            <a:srgbClr val="E6EDF3">
              <a:alpha val="3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1</a:t>
            </a:r>
            <a:endParaRPr lang="en-US" sz="1200" dirty="0"/>
          </a:p>
        </p:txBody>
      </p:sp>
      <p:sp>
        <p:nvSpPr>
          <p:cNvPr id="36" name="Text 34"/>
          <p:cNvSpPr/>
          <p:nvPr/>
        </p:nvSpPr>
        <p:spPr>
          <a:xfrm>
            <a:off x="7013575" y="3267025"/>
            <a:ext cx="222250" cy="501650"/>
          </a:xfrm>
          <a:prstGeom prst="rect">
            <a:avLst/>
          </a:prstGeom>
          <a:solidFill>
            <a:srgbClr val="E6EDF3">
              <a:alpha val="40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12</a:t>
            </a:r>
            <a:endParaRPr lang="en-US" sz="1200" dirty="0"/>
          </a:p>
        </p:txBody>
      </p:sp>
      <p:sp>
        <p:nvSpPr>
          <p:cNvPr id="37" name="Text 35"/>
          <p:cNvSpPr/>
          <p:nvPr/>
        </p:nvSpPr>
        <p:spPr>
          <a:xfrm>
            <a:off x="72675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31</a:t>
            </a:r>
            <a:endParaRPr lang="en-US" sz="1200" dirty="0"/>
          </a:p>
        </p:txBody>
      </p:sp>
      <p:sp>
        <p:nvSpPr>
          <p:cNvPr id="38" name="Text 36"/>
          <p:cNvSpPr/>
          <p:nvPr/>
        </p:nvSpPr>
        <p:spPr>
          <a:xfrm>
            <a:off x="7521575" y="3267025"/>
            <a:ext cx="222250" cy="501650"/>
          </a:xfrm>
          <a:prstGeom prst="rect">
            <a:avLst/>
          </a:prstGeom>
          <a:solidFill>
            <a:srgbClr val="E6EDF3">
              <a:alpha val="52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16</a:t>
            </a:r>
            <a:endParaRPr lang="en-US" sz="1200" dirty="0"/>
          </a:p>
        </p:txBody>
      </p:sp>
      <p:sp>
        <p:nvSpPr>
          <p:cNvPr id="39" name="Text 37"/>
          <p:cNvSpPr/>
          <p:nvPr/>
        </p:nvSpPr>
        <p:spPr>
          <a:xfrm>
            <a:off x="7775575" y="3267025"/>
            <a:ext cx="222250" cy="501650"/>
          </a:xfrm>
          <a:prstGeom prst="rect">
            <a:avLst/>
          </a:prstGeom>
          <a:solidFill>
            <a:srgbClr val="E6EDF3">
              <a:alpha val="67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20</a:t>
            </a:r>
            <a:endParaRPr lang="en-US" sz="1200" dirty="0"/>
          </a:p>
        </p:txBody>
      </p:sp>
      <p:sp>
        <p:nvSpPr>
          <p:cNvPr id="40" name="Text 38"/>
          <p:cNvSpPr/>
          <p:nvPr/>
        </p:nvSpPr>
        <p:spPr>
          <a:xfrm>
            <a:off x="8029575" y="3267025"/>
            <a:ext cx="222250" cy="501650"/>
          </a:xfrm>
          <a:prstGeom prst="rect">
            <a:avLst/>
          </a:prstGeom>
          <a:solidFill>
            <a:srgbClr val="E6EDF3">
              <a:alpha val="42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13</a:t>
            </a:r>
            <a:endParaRPr lang="en-US" sz="1200" dirty="0"/>
          </a:p>
        </p:txBody>
      </p:sp>
      <p:sp>
        <p:nvSpPr>
          <p:cNvPr id="41" name="Shape 39"/>
          <p:cNvSpPr/>
          <p:nvPr/>
        </p:nvSpPr>
        <p:spPr>
          <a:xfrm>
            <a:off x="8283575" y="3267025"/>
            <a:ext cx="222250" cy="501650"/>
          </a:xfrm>
          <a:prstGeom prst="rect">
            <a:avLst/>
          </a:prstGeom>
          <a:noFill/>
          <a:ln w="6350">
            <a:solidFill>
              <a:srgbClr val="222A35"/>
            </a:solidFill>
            <a:prstDash val="solid"/>
          </a:ln>
        </p:spPr>
      </p:sp>
      <p:sp>
        <p:nvSpPr>
          <p:cNvPr id="42" name="Shape 40"/>
          <p:cNvSpPr/>
          <p:nvPr/>
        </p:nvSpPr>
        <p:spPr>
          <a:xfrm>
            <a:off x="8537575" y="3267025"/>
            <a:ext cx="222250" cy="501650"/>
          </a:xfrm>
          <a:prstGeom prst="rect">
            <a:avLst/>
          </a:prstGeom>
          <a:noFill/>
          <a:ln w="6350">
            <a:solidFill>
              <a:srgbClr val="222A35"/>
            </a:solidFill>
            <a:prstDash val="solid"/>
          </a:ln>
        </p:spPr>
      </p:sp>
      <p:sp>
        <p:nvSpPr>
          <p:cNvPr id="43" name="Text 41"/>
          <p:cNvSpPr/>
          <p:nvPr/>
        </p:nvSpPr>
        <p:spPr>
          <a:xfrm>
            <a:off x="8842375" y="3267025"/>
            <a:ext cx="222250" cy="501650"/>
          </a:xfrm>
          <a:prstGeom prst="rect">
            <a:avLst/>
          </a:prstGeom>
          <a:solidFill>
            <a:srgbClr val="E6EDF3">
              <a:alpha val="42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13</a:t>
            </a:r>
            <a:endParaRPr lang="en-US" sz="1200" dirty="0"/>
          </a:p>
        </p:txBody>
      </p:sp>
      <p:sp>
        <p:nvSpPr>
          <p:cNvPr id="44" name="Shape 42"/>
          <p:cNvSpPr/>
          <p:nvPr/>
        </p:nvSpPr>
        <p:spPr>
          <a:xfrm>
            <a:off x="9096375" y="3267025"/>
            <a:ext cx="222250" cy="501650"/>
          </a:xfrm>
          <a:prstGeom prst="rect">
            <a:avLst/>
          </a:prstGeom>
          <a:noFill/>
          <a:ln w="6350">
            <a:solidFill>
              <a:srgbClr val="222A35"/>
            </a:solidFill>
            <a:prstDash val="solid"/>
          </a:ln>
        </p:spPr>
      </p:sp>
      <p:sp>
        <p:nvSpPr>
          <p:cNvPr id="45" name="Shape 43"/>
          <p:cNvSpPr/>
          <p:nvPr/>
        </p:nvSpPr>
        <p:spPr>
          <a:xfrm>
            <a:off x="9350375" y="3267025"/>
            <a:ext cx="222250" cy="501650"/>
          </a:xfrm>
          <a:prstGeom prst="rect">
            <a:avLst/>
          </a:prstGeom>
          <a:noFill/>
          <a:ln w="6350">
            <a:solidFill>
              <a:srgbClr val="222A35"/>
            </a:solidFill>
            <a:prstDash val="solid"/>
          </a:ln>
        </p:spPr>
      </p:sp>
      <p:sp>
        <p:nvSpPr>
          <p:cNvPr id="46" name="Shape 44"/>
          <p:cNvSpPr/>
          <p:nvPr/>
        </p:nvSpPr>
        <p:spPr>
          <a:xfrm>
            <a:off x="9604375" y="3267025"/>
            <a:ext cx="222250" cy="501650"/>
          </a:xfrm>
          <a:prstGeom prst="rect">
            <a:avLst/>
          </a:prstGeom>
          <a:noFill/>
          <a:ln w="6350">
            <a:solidFill>
              <a:srgbClr val="222A35"/>
            </a:solidFill>
            <a:prstDash val="solid"/>
          </a:ln>
        </p:spPr>
      </p:sp>
      <p:sp>
        <p:nvSpPr>
          <p:cNvPr id="47" name="Text 45"/>
          <p:cNvSpPr/>
          <p:nvPr/>
        </p:nvSpPr>
        <p:spPr>
          <a:xfrm>
            <a:off x="9858375" y="3267025"/>
            <a:ext cx="222250" cy="501650"/>
          </a:xfrm>
          <a:prstGeom prst="rect">
            <a:avLst/>
          </a:prstGeom>
          <a:solidFill>
            <a:srgbClr val="E6EDF3">
              <a:alpha val="26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8</a:t>
            </a:r>
            <a:endParaRPr lang="en-US" sz="1200" dirty="0"/>
          </a:p>
        </p:txBody>
      </p:sp>
      <p:sp>
        <p:nvSpPr>
          <p:cNvPr id="48" name="Text 46"/>
          <p:cNvSpPr/>
          <p:nvPr/>
        </p:nvSpPr>
        <p:spPr>
          <a:xfrm>
            <a:off x="101123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30</a:t>
            </a:r>
            <a:endParaRPr lang="en-US" sz="1200" dirty="0"/>
          </a:p>
        </p:txBody>
      </p:sp>
      <p:sp>
        <p:nvSpPr>
          <p:cNvPr id="49" name="Text 47"/>
          <p:cNvSpPr/>
          <p:nvPr/>
        </p:nvSpPr>
        <p:spPr>
          <a:xfrm>
            <a:off x="10366375" y="3267025"/>
            <a:ext cx="222250" cy="501650"/>
          </a:xfrm>
          <a:prstGeom prst="rect">
            <a:avLst/>
          </a:prstGeom>
          <a:solidFill>
            <a:srgbClr val="E6EDF3">
              <a:alpha val="45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E6EDF3"/>
                </a:solidFill>
                <a:latin typeface="Courier New" pitchFamily="49" charset="0"/>
                <a:ea typeface="Courier New" pitchFamily="49" charset="-122"/>
                <a:cs typeface="Courier New" pitchFamily="49" charset="-120"/>
              </a:rPr>
              <a:t>14</a:t>
            </a:r>
            <a:endParaRPr lang="en-US" sz="1200" dirty="0"/>
          </a:p>
        </p:txBody>
      </p:sp>
      <p:sp>
        <p:nvSpPr>
          <p:cNvPr id="50" name="Text 48"/>
          <p:cNvSpPr/>
          <p:nvPr/>
        </p:nvSpPr>
        <p:spPr>
          <a:xfrm>
            <a:off x="10620375" y="3267025"/>
            <a:ext cx="222250" cy="501650"/>
          </a:xfrm>
          <a:prstGeom prst="rect">
            <a:avLst/>
          </a:prstGeom>
          <a:solidFill>
            <a:srgbClr val="E6EDF3">
              <a:alpha val="71000"/>
            </a:srgbClr>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22</a:t>
            </a:r>
            <a:endParaRPr lang="en-US" sz="1200" dirty="0"/>
          </a:p>
        </p:txBody>
      </p:sp>
      <p:sp>
        <p:nvSpPr>
          <p:cNvPr id="51" name="Text 49"/>
          <p:cNvSpPr/>
          <p:nvPr/>
        </p:nvSpPr>
        <p:spPr>
          <a:xfrm>
            <a:off x="108743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30</a:t>
            </a:r>
            <a:endParaRPr lang="en-US" sz="1200" dirty="0"/>
          </a:p>
        </p:txBody>
      </p:sp>
      <p:sp>
        <p:nvSpPr>
          <p:cNvPr id="52" name="Text 50"/>
          <p:cNvSpPr/>
          <p:nvPr/>
        </p:nvSpPr>
        <p:spPr>
          <a:xfrm>
            <a:off x="11128375" y="3267025"/>
            <a:ext cx="222250" cy="501650"/>
          </a:xfrm>
          <a:prstGeom prst="rect">
            <a:avLst/>
          </a:prstGeom>
          <a:solidFill>
            <a:srgbClr val="E6EDF3"/>
          </a:solidFill>
          <a:ln w="6350">
            <a:solidFill>
              <a:srgbClr val="222A35"/>
            </a:solidFill>
            <a:prstDash val="solid"/>
          </a:ln>
        </p:spPr>
        <p:txBody>
          <a:bodyPr wrap="square" lIns="0" tIns="3175" rIns="0" bIns="0" rtlCol="0" anchor="t">
            <a:normAutofit/>
          </a:bodyPr>
          <a:lstStyle/>
          <a:p>
            <a:pPr algn="ctr" indent="0" marL="0">
              <a:lnSpc>
                <a:spcPts val="3900"/>
              </a:lnSpc>
              <a:buNone/>
            </a:pPr>
            <a:r>
              <a:rPr lang="en-US" sz="1200" dirty="0">
                <a:solidFill>
                  <a:srgbClr val="05090E"/>
                </a:solidFill>
                <a:latin typeface="Courier New" pitchFamily="49" charset="0"/>
                <a:ea typeface="Courier New" pitchFamily="49" charset="-122"/>
                <a:cs typeface="Courier New" pitchFamily="49" charset="-120"/>
              </a:rPr>
              <a:t>13</a:t>
            </a:r>
            <a:endParaRPr lang="en-US" sz="1200" dirty="0"/>
          </a:p>
        </p:txBody>
      </p:sp>
      <p:sp>
        <p:nvSpPr>
          <p:cNvPr id="53" name="Text 51"/>
          <p:cNvSpPr/>
          <p:nvPr/>
        </p:nvSpPr>
        <p:spPr>
          <a:xfrm>
            <a:off x="7874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6</a:t>
            </a:r>
            <a:endParaRPr lang="en-US" sz="1200" dirty="0"/>
          </a:p>
        </p:txBody>
      </p:sp>
      <p:sp>
        <p:nvSpPr>
          <p:cNvPr id="54" name="Text 52"/>
          <p:cNvSpPr/>
          <p:nvPr/>
        </p:nvSpPr>
        <p:spPr>
          <a:xfrm>
            <a:off x="10414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7</a:t>
            </a:r>
            <a:endParaRPr lang="en-US" sz="1200" dirty="0"/>
          </a:p>
        </p:txBody>
      </p:sp>
      <p:sp>
        <p:nvSpPr>
          <p:cNvPr id="55" name="Text 53"/>
          <p:cNvSpPr/>
          <p:nvPr/>
        </p:nvSpPr>
        <p:spPr>
          <a:xfrm>
            <a:off x="12954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8</a:t>
            </a:r>
            <a:endParaRPr lang="en-US" sz="1200" dirty="0"/>
          </a:p>
        </p:txBody>
      </p:sp>
      <p:sp>
        <p:nvSpPr>
          <p:cNvPr id="56" name="Text 54"/>
          <p:cNvSpPr/>
          <p:nvPr/>
        </p:nvSpPr>
        <p:spPr>
          <a:xfrm>
            <a:off x="15494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57" name="Text 55"/>
          <p:cNvSpPr/>
          <p:nvPr/>
        </p:nvSpPr>
        <p:spPr>
          <a:xfrm>
            <a:off x="18034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58" name="Text 56"/>
          <p:cNvSpPr/>
          <p:nvPr/>
        </p:nvSpPr>
        <p:spPr>
          <a:xfrm>
            <a:off x="20574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59" name="Text 57"/>
          <p:cNvSpPr/>
          <p:nvPr/>
        </p:nvSpPr>
        <p:spPr>
          <a:xfrm>
            <a:off x="23114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60" name="Text 58"/>
          <p:cNvSpPr/>
          <p:nvPr/>
        </p:nvSpPr>
        <p:spPr>
          <a:xfrm>
            <a:off x="2616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61" name="Text 59"/>
          <p:cNvSpPr/>
          <p:nvPr/>
        </p:nvSpPr>
        <p:spPr>
          <a:xfrm>
            <a:off x="2870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62" name="Text 60"/>
          <p:cNvSpPr/>
          <p:nvPr/>
        </p:nvSpPr>
        <p:spPr>
          <a:xfrm>
            <a:off x="3124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63" name="Text 61"/>
          <p:cNvSpPr/>
          <p:nvPr/>
        </p:nvSpPr>
        <p:spPr>
          <a:xfrm>
            <a:off x="3378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64" name="Text 62"/>
          <p:cNvSpPr/>
          <p:nvPr/>
        </p:nvSpPr>
        <p:spPr>
          <a:xfrm>
            <a:off x="3632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65" name="Text 63"/>
          <p:cNvSpPr/>
          <p:nvPr/>
        </p:nvSpPr>
        <p:spPr>
          <a:xfrm>
            <a:off x="3886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6</a:t>
            </a:r>
            <a:endParaRPr lang="en-US" sz="1200" dirty="0"/>
          </a:p>
        </p:txBody>
      </p:sp>
      <p:sp>
        <p:nvSpPr>
          <p:cNvPr id="66" name="Text 64"/>
          <p:cNvSpPr/>
          <p:nvPr/>
        </p:nvSpPr>
        <p:spPr>
          <a:xfrm>
            <a:off x="4140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7</a:t>
            </a:r>
            <a:endParaRPr lang="en-US" sz="1200" dirty="0"/>
          </a:p>
        </p:txBody>
      </p:sp>
      <p:sp>
        <p:nvSpPr>
          <p:cNvPr id="67" name="Text 65"/>
          <p:cNvSpPr/>
          <p:nvPr/>
        </p:nvSpPr>
        <p:spPr>
          <a:xfrm>
            <a:off x="4394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8</a:t>
            </a:r>
            <a:endParaRPr lang="en-US" sz="1200" dirty="0"/>
          </a:p>
        </p:txBody>
      </p:sp>
      <p:sp>
        <p:nvSpPr>
          <p:cNvPr id="68" name="Text 66"/>
          <p:cNvSpPr/>
          <p:nvPr/>
        </p:nvSpPr>
        <p:spPr>
          <a:xfrm>
            <a:off x="4648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69" name="Text 67"/>
          <p:cNvSpPr/>
          <p:nvPr/>
        </p:nvSpPr>
        <p:spPr>
          <a:xfrm>
            <a:off x="4902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70" name="Text 68"/>
          <p:cNvSpPr/>
          <p:nvPr/>
        </p:nvSpPr>
        <p:spPr>
          <a:xfrm>
            <a:off x="5156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71" name="Text 69"/>
          <p:cNvSpPr/>
          <p:nvPr/>
        </p:nvSpPr>
        <p:spPr>
          <a:xfrm>
            <a:off x="54102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72" name="Text 70"/>
          <p:cNvSpPr/>
          <p:nvPr/>
        </p:nvSpPr>
        <p:spPr>
          <a:xfrm>
            <a:off x="5715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73" name="Text 71"/>
          <p:cNvSpPr/>
          <p:nvPr/>
        </p:nvSpPr>
        <p:spPr>
          <a:xfrm>
            <a:off x="5969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74" name="Text 72"/>
          <p:cNvSpPr/>
          <p:nvPr/>
        </p:nvSpPr>
        <p:spPr>
          <a:xfrm>
            <a:off x="6223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75" name="Text 73"/>
          <p:cNvSpPr/>
          <p:nvPr/>
        </p:nvSpPr>
        <p:spPr>
          <a:xfrm>
            <a:off x="6477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76" name="Text 74"/>
          <p:cNvSpPr/>
          <p:nvPr/>
        </p:nvSpPr>
        <p:spPr>
          <a:xfrm>
            <a:off x="6731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77" name="Text 75"/>
          <p:cNvSpPr/>
          <p:nvPr/>
        </p:nvSpPr>
        <p:spPr>
          <a:xfrm>
            <a:off x="6985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6</a:t>
            </a:r>
            <a:endParaRPr lang="en-US" sz="1200" dirty="0"/>
          </a:p>
        </p:txBody>
      </p:sp>
      <p:sp>
        <p:nvSpPr>
          <p:cNvPr id="78" name="Text 76"/>
          <p:cNvSpPr/>
          <p:nvPr/>
        </p:nvSpPr>
        <p:spPr>
          <a:xfrm>
            <a:off x="7239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7</a:t>
            </a:r>
            <a:endParaRPr lang="en-US" sz="1200" dirty="0"/>
          </a:p>
        </p:txBody>
      </p:sp>
      <p:sp>
        <p:nvSpPr>
          <p:cNvPr id="79" name="Text 77"/>
          <p:cNvSpPr/>
          <p:nvPr/>
        </p:nvSpPr>
        <p:spPr>
          <a:xfrm>
            <a:off x="7493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8</a:t>
            </a:r>
            <a:endParaRPr lang="en-US" sz="1200" dirty="0"/>
          </a:p>
        </p:txBody>
      </p:sp>
      <p:sp>
        <p:nvSpPr>
          <p:cNvPr id="80" name="Text 78"/>
          <p:cNvSpPr/>
          <p:nvPr/>
        </p:nvSpPr>
        <p:spPr>
          <a:xfrm>
            <a:off x="7747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81" name="Text 79"/>
          <p:cNvSpPr/>
          <p:nvPr/>
        </p:nvSpPr>
        <p:spPr>
          <a:xfrm>
            <a:off x="8001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82" name="Text 80"/>
          <p:cNvSpPr/>
          <p:nvPr/>
        </p:nvSpPr>
        <p:spPr>
          <a:xfrm>
            <a:off x="8255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83" name="Text 81"/>
          <p:cNvSpPr/>
          <p:nvPr/>
        </p:nvSpPr>
        <p:spPr>
          <a:xfrm>
            <a:off x="85090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84" name="Text 82"/>
          <p:cNvSpPr/>
          <p:nvPr/>
        </p:nvSpPr>
        <p:spPr>
          <a:xfrm>
            <a:off x="8813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85" name="Text 83"/>
          <p:cNvSpPr/>
          <p:nvPr/>
        </p:nvSpPr>
        <p:spPr>
          <a:xfrm>
            <a:off x="9067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86" name="Text 84"/>
          <p:cNvSpPr/>
          <p:nvPr/>
        </p:nvSpPr>
        <p:spPr>
          <a:xfrm>
            <a:off x="9321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87" name="Text 85"/>
          <p:cNvSpPr/>
          <p:nvPr/>
        </p:nvSpPr>
        <p:spPr>
          <a:xfrm>
            <a:off x="9575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88" name="Text 86"/>
          <p:cNvSpPr/>
          <p:nvPr/>
        </p:nvSpPr>
        <p:spPr>
          <a:xfrm>
            <a:off x="9829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89" name="Text 87"/>
          <p:cNvSpPr/>
          <p:nvPr/>
        </p:nvSpPr>
        <p:spPr>
          <a:xfrm>
            <a:off x="10083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6</a:t>
            </a:r>
            <a:endParaRPr lang="en-US" sz="1200" dirty="0"/>
          </a:p>
        </p:txBody>
      </p:sp>
      <p:sp>
        <p:nvSpPr>
          <p:cNvPr id="90" name="Text 88"/>
          <p:cNvSpPr/>
          <p:nvPr/>
        </p:nvSpPr>
        <p:spPr>
          <a:xfrm>
            <a:off x="10337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7</a:t>
            </a:r>
            <a:endParaRPr lang="en-US" sz="1200" dirty="0"/>
          </a:p>
        </p:txBody>
      </p:sp>
      <p:sp>
        <p:nvSpPr>
          <p:cNvPr id="91" name="Text 89"/>
          <p:cNvSpPr/>
          <p:nvPr/>
        </p:nvSpPr>
        <p:spPr>
          <a:xfrm>
            <a:off x="10591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8</a:t>
            </a:r>
            <a:endParaRPr lang="en-US" sz="1200" dirty="0"/>
          </a:p>
        </p:txBody>
      </p:sp>
      <p:sp>
        <p:nvSpPr>
          <p:cNvPr id="92" name="Text 90"/>
          <p:cNvSpPr/>
          <p:nvPr/>
        </p:nvSpPr>
        <p:spPr>
          <a:xfrm>
            <a:off x="10845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93" name="Text 91"/>
          <p:cNvSpPr/>
          <p:nvPr/>
        </p:nvSpPr>
        <p:spPr>
          <a:xfrm>
            <a:off x="11099800" y="3822650"/>
            <a:ext cx="279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94" name="Text 92"/>
          <p:cNvSpPr/>
          <p:nvPr/>
        </p:nvSpPr>
        <p:spPr>
          <a:xfrm>
            <a:off x="812800" y="4076105"/>
            <a:ext cx="1805178"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2023</a:t>
            </a:r>
            <a:endParaRPr lang="en-US" sz="1200" dirty="0"/>
          </a:p>
        </p:txBody>
      </p:sp>
      <p:sp>
        <p:nvSpPr>
          <p:cNvPr id="95" name="Text 93"/>
          <p:cNvSpPr/>
          <p:nvPr/>
        </p:nvSpPr>
        <p:spPr>
          <a:xfrm>
            <a:off x="2641600" y="4076105"/>
            <a:ext cx="3113278"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2024</a:t>
            </a:r>
            <a:endParaRPr lang="en-US" sz="1200" dirty="0"/>
          </a:p>
        </p:txBody>
      </p:sp>
      <p:sp>
        <p:nvSpPr>
          <p:cNvPr id="96" name="Text 94"/>
          <p:cNvSpPr/>
          <p:nvPr/>
        </p:nvSpPr>
        <p:spPr>
          <a:xfrm>
            <a:off x="5740400" y="4076105"/>
            <a:ext cx="3113278"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2025</a:t>
            </a:r>
            <a:endParaRPr lang="en-US" sz="1200" dirty="0"/>
          </a:p>
        </p:txBody>
      </p:sp>
      <p:sp>
        <p:nvSpPr>
          <p:cNvPr id="97" name="Text 95"/>
          <p:cNvSpPr/>
          <p:nvPr/>
        </p:nvSpPr>
        <p:spPr>
          <a:xfrm>
            <a:off x="8839200" y="4076105"/>
            <a:ext cx="2590038"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2026</a:t>
            </a:r>
            <a:endParaRPr lang="en-US" sz="1200" dirty="0"/>
          </a:p>
        </p:txBody>
      </p:sp>
      <p:sp>
        <p:nvSpPr>
          <p:cNvPr id="98" name="Text 96"/>
          <p:cNvSpPr/>
          <p:nvPr/>
        </p:nvSpPr>
        <p:spPr>
          <a:xfrm>
            <a:off x="812800" y="3263850"/>
            <a:ext cx="3924300"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FFCC00"/>
                </a:solidFill>
                <a:latin typeface="Arial" pitchFamily="34" charset="0"/>
                <a:ea typeface="Arial" pitchFamily="34" charset="-122"/>
                <a:cs typeface="Arial" pitchFamily="34" charset="-120"/>
              </a:rPr>
              <a:t>第1部 · 224日中224日 · 動画200本</a:t>
            </a:r>
            <a:endParaRPr lang="en-US" sz="1200" dirty="0"/>
          </a:p>
        </p:txBody>
      </p:sp>
      <p:sp>
        <p:nvSpPr>
          <p:cNvPr id="99" name="Shape 97"/>
          <p:cNvSpPr/>
          <p:nvPr/>
        </p:nvSpPr>
        <p:spPr>
          <a:xfrm>
            <a:off x="812800" y="3511500"/>
            <a:ext cx="2311400" cy="0"/>
          </a:xfrm>
          <a:prstGeom prst="line">
            <a:avLst/>
          </a:prstGeom>
          <a:noFill/>
          <a:ln w="12700">
            <a:solidFill>
              <a:srgbClr val="FFCC00"/>
            </a:solidFill>
            <a:prstDash val="solid"/>
          </a:ln>
        </p:spPr>
      </p:sp>
      <p:sp>
        <p:nvSpPr>
          <p:cNvPr id="100" name="Shape 98"/>
          <p:cNvSpPr/>
          <p:nvPr/>
        </p:nvSpPr>
        <p:spPr>
          <a:xfrm>
            <a:off x="3117850" y="3505150"/>
            <a:ext cx="0" cy="88900"/>
          </a:xfrm>
          <a:prstGeom prst="line">
            <a:avLst/>
          </a:prstGeom>
          <a:noFill/>
          <a:ln w="12700">
            <a:solidFill>
              <a:srgbClr val="FFCC00"/>
            </a:solidFill>
            <a:prstDash val="solid"/>
          </a:ln>
        </p:spPr>
      </p:sp>
      <p:sp>
        <p:nvSpPr>
          <p:cNvPr id="101" name="Shape 99"/>
          <p:cNvSpPr/>
          <p:nvPr/>
        </p:nvSpPr>
        <p:spPr>
          <a:xfrm>
            <a:off x="819150" y="3505150"/>
            <a:ext cx="0" cy="88900"/>
          </a:xfrm>
          <a:prstGeom prst="line">
            <a:avLst/>
          </a:prstGeom>
          <a:noFill/>
          <a:ln w="12700">
            <a:solidFill>
              <a:srgbClr val="FFCC00"/>
            </a:solidFill>
            <a:prstDash val="solid"/>
          </a:ln>
        </p:spPr>
      </p:sp>
      <p:sp>
        <p:nvSpPr>
          <p:cNvPr id="102" name="Shape 100"/>
          <p:cNvSpPr/>
          <p:nvPr/>
        </p:nvSpPr>
        <p:spPr>
          <a:xfrm>
            <a:off x="5657850" y="4724350"/>
            <a:ext cx="0" cy="88900"/>
          </a:xfrm>
          <a:prstGeom prst="line">
            <a:avLst/>
          </a:prstGeom>
          <a:noFill/>
          <a:ln w="12700">
            <a:solidFill>
              <a:srgbClr val="A9B4BF"/>
            </a:solidFill>
            <a:prstDash val="solid"/>
          </a:ln>
        </p:spPr>
      </p:sp>
      <p:sp>
        <p:nvSpPr>
          <p:cNvPr id="103" name="Shape 101"/>
          <p:cNvSpPr/>
          <p:nvPr/>
        </p:nvSpPr>
        <p:spPr>
          <a:xfrm>
            <a:off x="4673600" y="4806900"/>
            <a:ext cx="990600" cy="0"/>
          </a:xfrm>
          <a:prstGeom prst="line">
            <a:avLst/>
          </a:prstGeom>
          <a:noFill/>
          <a:ln w="12700">
            <a:solidFill>
              <a:srgbClr val="A9B4BF"/>
            </a:solidFill>
            <a:prstDash val="solid"/>
          </a:ln>
        </p:spPr>
      </p:sp>
      <p:sp>
        <p:nvSpPr>
          <p:cNvPr id="104" name="Shape 102"/>
          <p:cNvSpPr/>
          <p:nvPr/>
        </p:nvSpPr>
        <p:spPr>
          <a:xfrm>
            <a:off x="4679950" y="4724350"/>
            <a:ext cx="0" cy="88900"/>
          </a:xfrm>
          <a:prstGeom prst="line">
            <a:avLst/>
          </a:prstGeom>
          <a:noFill/>
          <a:ln w="12700">
            <a:solidFill>
              <a:srgbClr val="A9B4BF"/>
            </a:solidFill>
            <a:prstDash val="solid"/>
          </a:ln>
        </p:spPr>
      </p:sp>
      <p:sp>
        <p:nvSpPr>
          <p:cNvPr id="105" name="Text 103"/>
          <p:cNvSpPr/>
          <p:nvPr/>
        </p:nvSpPr>
        <p:spPr>
          <a:xfrm>
            <a:off x="4673600" y="4851350"/>
            <a:ext cx="2223770"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Arial" pitchFamily="34" charset="0"/>
                <a:ea typeface="Arial" pitchFamily="34" charset="-122"/>
                <a:cs typeface="Arial" pitchFamily="34" charset="-120"/>
              </a:rPr>
              <a:t>69日 · 240924–241201</a:t>
            </a:r>
            <a:endParaRPr lang="en-US" sz="1200" dirty="0"/>
          </a:p>
        </p:txBody>
      </p:sp>
      <p:sp>
        <p:nvSpPr>
          <p:cNvPr id="106" name="Shape 104"/>
          <p:cNvSpPr/>
          <p:nvPr/>
        </p:nvSpPr>
        <p:spPr>
          <a:xfrm>
            <a:off x="7740650" y="4724350"/>
            <a:ext cx="0" cy="88900"/>
          </a:xfrm>
          <a:prstGeom prst="line">
            <a:avLst/>
          </a:prstGeom>
          <a:noFill/>
          <a:ln w="12700">
            <a:solidFill>
              <a:srgbClr val="A9B4BF"/>
            </a:solidFill>
            <a:prstDash val="solid"/>
          </a:ln>
        </p:spPr>
      </p:sp>
      <p:sp>
        <p:nvSpPr>
          <p:cNvPr id="107" name="Shape 105"/>
          <p:cNvSpPr/>
          <p:nvPr/>
        </p:nvSpPr>
        <p:spPr>
          <a:xfrm>
            <a:off x="7010400" y="4806900"/>
            <a:ext cx="736600" cy="0"/>
          </a:xfrm>
          <a:prstGeom prst="line">
            <a:avLst/>
          </a:prstGeom>
          <a:noFill/>
          <a:ln w="12700">
            <a:solidFill>
              <a:srgbClr val="A9B4BF"/>
            </a:solidFill>
            <a:prstDash val="solid"/>
          </a:ln>
        </p:spPr>
      </p:sp>
      <p:sp>
        <p:nvSpPr>
          <p:cNvPr id="108" name="Shape 106"/>
          <p:cNvSpPr/>
          <p:nvPr/>
        </p:nvSpPr>
        <p:spPr>
          <a:xfrm>
            <a:off x="7016750" y="4724350"/>
            <a:ext cx="0" cy="88900"/>
          </a:xfrm>
          <a:prstGeom prst="line">
            <a:avLst/>
          </a:prstGeom>
          <a:noFill/>
          <a:ln w="12700">
            <a:solidFill>
              <a:srgbClr val="A9B4BF"/>
            </a:solidFill>
            <a:prstDash val="solid"/>
          </a:ln>
        </p:spPr>
      </p:sp>
      <p:sp>
        <p:nvSpPr>
          <p:cNvPr id="109" name="Text 107"/>
          <p:cNvSpPr/>
          <p:nvPr/>
        </p:nvSpPr>
        <p:spPr>
          <a:xfrm>
            <a:off x="7010400" y="4851350"/>
            <a:ext cx="2223770"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A9B4BF"/>
                </a:solidFill>
                <a:latin typeface="Arial" pitchFamily="34" charset="0"/>
                <a:ea typeface="Arial" pitchFamily="34" charset="-122"/>
                <a:cs typeface="Arial" pitchFamily="34" charset="-120"/>
              </a:rPr>
              <a:t>42日 · 250628–250808</a:t>
            </a:r>
            <a:endParaRPr lang="en-US" sz="1200" dirty="0"/>
          </a:p>
        </p:txBody>
      </p:sp>
      <p:sp>
        <p:nvSpPr>
          <p:cNvPr id="110" name="Shape 108"/>
          <p:cNvSpPr/>
          <p:nvPr/>
        </p:nvSpPr>
        <p:spPr>
          <a:xfrm>
            <a:off x="11347450" y="4724350"/>
            <a:ext cx="0" cy="88900"/>
          </a:xfrm>
          <a:prstGeom prst="line">
            <a:avLst/>
          </a:prstGeom>
          <a:noFill/>
          <a:ln w="12700">
            <a:solidFill>
              <a:srgbClr val="A9B4BF"/>
            </a:solidFill>
            <a:prstDash val="solid"/>
          </a:ln>
        </p:spPr>
      </p:sp>
      <p:sp>
        <p:nvSpPr>
          <p:cNvPr id="111" name="Shape 109"/>
          <p:cNvSpPr/>
          <p:nvPr/>
        </p:nvSpPr>
        <p:spPr>
          <a:xfrm>
            <a:off x="10617200" y="4806900"/>
            <a:ext cx="736600" cy="0"/>
          </a:xfrm>
          <a:prstGeom prst="line">
            <a:avLst/>
          </a:prstGeom>
          <a:noFill/>
          <a:ln w="12700">
            <a:solidFill>
              <a:srgbClr val="A9B4BF"/>
            </a:solidFill>
            <a:prstDash val="solid"/>
          </a:ln>
        </p:spPr>
      </p:sp>
      <p:sp>
        <p:nvSpPr>
          <p:cNvPr id="112" name="Shape 110"/>
          <p:cNvSpPr/>
          <p:nvPr/>
        </p:nvSpPr>
        <p:spPr>
          <a:xfrm>
            <a:off x="10623550" y="4724350"/>
            <a:ext cx="0" cy="88900"/>
          </a:xfrm>
          <a:prstGeom prst="line">
            <a:avLst/>
          </a:prstGeom>
          <a:noFill/>
          <a:ln w="12700">
            <a:solidFill>
              <a:srgbClr val="A9B4BF"/>
            </a:solidFill>
            <a:prstDash val="solid"/>
          </a:ln>
        </p:spPr>
      </p:sp>
      <p:sp>
        <p:nvSpPr>
          <p:cNvPr id="113" name="Text 111"/>
          <p:cNvSpPr/>
          <p:nvPr/>
        </p:nvSpPr>
        <p:spPr>
          <a:xfrm>
            <a:off x="9130030" y="4851350"/>
            <a:ext cx="222377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A9B4BF"/>
                </a:solidFill>
                <a:latin typeface="Arial" pitchFamily="34" charset="0"/>
                <a:ea typeface="Arial" pitchFamily="34" charset="-122"/>
                <a:cs typeface="Arial" pitchFamily="34" charset="-120"/>
              </a:rPr>
              <a:t>49日 · 260826–261013</a:t>
            </a:r>
            <a:endParaRPr lang="en-US" sz="1200" dirty="0"/>
          </a:p>
        </p:txBody>
      </p:sp>
      <p:sp>
        <p:nvSpPr>
          <p:cNvPr id="114" name="Text 112"/>
          <p:cNvSpPr/>
          <p:nvPr/>
        </p:nvSpPr>
        <p:spPr>
          <a:xfrm>
            <a:off x="812800" y="4380359"/>
            <a:ext cx="1088339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カードのある日数（月別）。濃さはその月の日数に占める割合。2023年6月は23日から、2026年10月は13日まで。</a:t>
            </a:r>
            <a:endParaRPr lang="en-US" sz="1200" dirty="0"/>
          </a:p>
        </p:txBody>
      </p:sp>
      <p:sp>
        <p:nvSpPr>
          <p:cNvPr id="115" name="Text 1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16" name="Text 114"/>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録音</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ライブ配信ギャラリー</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ライブ配信のA/B録画</a:t>
            </a:r>
            <a:endParaRPr lang="en-US" sz="3600" dirty="0"/>
          </a:p>
        </p:txBody>
      </p:sp>
      <p:sp>
        <p:nvSpPr>
          <p:cNvPr id="4" name="Shape 2"/>
          <p:cNvSpPr/>
          <p:nvPr/>
        </p:nvSpPr>
        <p:spPr>
          <a:xfrm>
            <a:off x="812800" y="1984325"/>
            <a:ext cx="5715000" cy="0"/>
          </a:xfrm>
          <a:prstGeom prst="line">
            <a:avLst/>
          </a:prstGeom>
          <a:noFill/>
          <a:ln w="6350">
            <a:solidFill>
              <a:srgbClr val="222A35"/>
            </a:solidFill>
            <a:prstDash val="solid"/>
          </a:ln>
        </p:spPr>
      </p:sp>
      <p:sp>
        <p:nvSpPr>
          <p:cNvPr id="5" name="Text 3"/>
          <p:cNvSpPr/>
          <p:nvPr/>
        </p:nvSpPr>
        <p:spPr>
          <a:xfrm>
            <a:off x="812800" y="2089100"/>
            <a:ext cx="58864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UTCの1日に1欄：</a:t>
            </a:r>
            <a:r>
              <a:rPr lang="en-US" sz="1600" dirty="0">
                <a:solidFill>
                  <a:srgbClr val="FFCC00"/>
                </a:solidFill>
                <a:latin typeface="Arial" pitchFamily="34" charset="0"/>
                <a:ea typeface="Arial" pitchFamily="34" charset="-122"/>
                <a:cs typeface="Arial" pitchFamily="34" charset="-120"/>
              </a:rPr>
              <a:t>A</a:t>
            </a:r>
            <a:r>
              <a:rPr lang="en-US" sz="1600" dirty="0">
                <a:solidFill>
                  <a:srgbClr val="E6EDF3"/>
                </a:solidFill>
                <a:latin typeface="Arial" pitchFamily="34" charset="0"/>
                <a:ea typeface="Arial" pitchFamily="34" charset="-122"/>
                <a:cs typeface="Arial" pitchFamily="34" charset="-120"/>
              </a:rPr>
              <a:t>＝前半、</a:t>
            </a:r>
            <a:r>
              <a:rPr lang="en-US" sz="1600" dirty="0">
                <a:solidFill>
                  <a:srgbClr val="FFCC00"/>
                </a:solidFill>
                <a:latin typeface="Arial" pitchFamily="34" charset="0"/>
                <a:ea typeface="Arial" pitchFamily="34" charset="-122"/>
                <a:cs typeface="Arial" pitchFamily="34" charset="-120"/>
              </a:rPr>
              <a:t>B</a:t>
            </a:r>
            <a:r>
              <a:rPr lang="en-US" sz="1600" dirty="0">
                <a:solidFill>
                  <a:srgbClr val="E6EDF3"/>
                </a:solidFill>
                <a:latin typeface="Arial" pitchFamily="34" charset="0"/>
                <a:ea typeface="Arial" pitchFamily="34" charset="-122"/>
                <a:cs typeface="Arial" pitchFamily="34" charset="-120"/>
              </a:rPr>
              <a:t>＝後半</a:t>
            </a:r>
            <a:endParaRPr lang="en-US" sz="1600" dirty="0"/>
          </a:p>
        </p:txBody>
      </p:sp>
      <p:sp>
        <p:nvSpPr>
          <p:cNvPr id="6" name="Shape 4"/>
          <p:cNvSpPr/>
          <p:nvPr/>
        </p:nvSpPr>
        <p:spPr>
          <a:xfrm>
            <a:off x="6629400" y="1984325"/>
            <a:ext cx="4699000" cy="0"/>
          </a:xfrm>
          <a:prstGeom prst="line">
            <a:avLst/>
          </a:prstGeom>
          <a:noFill/>
          <a:ln w="6350">
            <a:solidFill>
              <a:srgbClr val="222A35"/>
            </a:solidFill>
            <a:prstDash val="solid"/>
          </a:ln>
        </p:spPr>
      </p:sp>
      <p:sp>
        <p:nvSpPr>
          <p:cNvPr id="7" name="Text 5"/>
          <p:cNvSpPr/>
          <p:nvPr/>
        </p:nvSpPr>
        <p:spPr>
          <a:xfrm>
            <a:off x="6629400" y="2089100"/>
            <a:ext cx="483997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録画809日：確認済み474日、残り335日</a:t>
            </a:r>
            <a:endParaRPr lang="en-US" sz="1600" dirty="0"/>
          </a:p>
        </p:txBody>
      </p:sp>
      <p:sp>
        <p:nvSpPr>
          <p:cNvPr id="8" name="Shape 6"/>
          <p:cNvSpPr/>
          <p:nvPr/>
        </p:nvSpPr>
        <p:spPr>
          <a:xfrm>
            <a:off x="812800" y="2498675"/>
            <a:ext cx="5715000" cy="0"/>
          </a:xfrm>
          <a:prstGeom prst="line">
            <a:avLst/>
          </a:prstGeom>
          <a:noFill/>
          <a:ln w="6350">
            <a:solidFill>
              <a:srgbClr val="222A35"/>
            </a:solidFill>
            <a:prstDash val="solid"/>
          </a:ln>
        </p:spPr>
      </p:sp>
      <p:sp>
        <p:nvSpPr>
          <p:cNvPr id="9" name="Text 7"/>
          <p:cNvSpPr/>
          <p:nvPr/>
        </p:nvSpPr>
        <p:spPr>
          <a:xfrm>
            <a:off x="812800" y="2603450"/>
            <a:ext cx="58864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2025年8月まで：</a:t>
            </a:r>
            <a:r>
              <a:rPr lang="en-US" sz="1600" dirty="0">
                <a:solidFill>
                  <a:srgbClr val="E6EDF3"/>
                </a:solidFill>
                <a:latin typeface="Arial" pitchFamily="34" charset="0"/>
                <a:ea typeface="Arial" pitchFamily="34" charset="-122"/>
                <a:cs typeface="Arial" pitchFamily="34" charset="-120"/>
              </a:rPr>
              <a:t>米国東部時間の午前0時と正午で区切り</a:t>
            </a:r>
            <a:endParaRPr lang="en-US" sz="1600" dirty="0"/>
          </a:p>
        </p:txBody>
      </p:sp>
      <p:sp>
        <p:nvSpPr>
          <p:cNvPr id="10" name="Shape 8"/>
          <p:cNvSpPr/>
          <p:nvPr/>
        </p:nvSpPr>
        <p:spPr>
          <a:xfrm>
            <a:off x="6629400" y="2498675"/>
            <a:ext cx="4699000" cy="0"/>
          </a:xfrm>
          <a:prstGeom prst="line">
            <a:avLst/>
          </a:prstGeom>
          <a:noFill/>
          <a:ln w="6350">
            <a:solidFill>
              <a:srgbClr val="222A35"/>
            </a:solidFill>
            <a:prstDash val="solid"/>
          </a:ln>
        </p:spPr>
      </p:sp>
      <p:sp>
        <p:nvSpPr>
          <p:cNvPr id="11" name="Text 9"/>
          <p:cNvSpPr/>
          <p:nvPr/>
        </p:nvSpPr>
        <p:spPr>
          <a:xfrm>
            <a:off x="6629400" y="2603450"/>
            <a:ext cx="483997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2025年9月から：</a:t>
            </a:r>
            <a:r>
              <a:rPr lang="en-US" sz="1600" dirty="0">
                <a:solidFill>
                  <a:srgbClr val="E6EDF3"/>
                </a:solidFill>
                <a:latin typeface="Arial" pitchFamily="34" charset="0"/>
                <a:ea typeface="Arial" pitchFamily="34" charset="-122"/>
                <a:cs typeface="Arial" pitchFamily="34" charset="-120"/>
              </a:rPr>
              <a:t>00:00と12:00 UTCで区切り</a:t>
            </a:r>
            <a:endParaRPr lang="en-US" sz="1600" dirty="0"/>
          </a:p>
        </p:txBody>
      </p:sp>
      <p:sp>
        <p:nvSpPr>
          <p:cNvPr id="12" name="Shape 10"/>
          <p:cNvSpPr/>
          <p:nvPr/>
        </p:nvSpPr>
        <p:spPr>
          <a:xfrm>
            <a:off x="812800" y="3013025"/>
            <a:ext cx="5715000" cy="0"/>
          </a:xfrm>
          <a:prstGeom prst="line">
            <a:avLst/>
          </a:prstGeom>
          <a:noFill/>
          <a:ln w="6350">
            <a:solidFill>
              <a:srgbClr val="222A35"/>
            </a:solidFill>
            <a:prstDash val="solid"/>
          </a:ln>
        </p:spPr>
      </p:sp>
      <p:sp>
        <p:nvSpPr>
          <p:cNvPr id="13" name="Text 11"/>
          <p:cNvSpPr/>
          <p:nvPr/>
        </p:nvSpPr>
        <p:spPr>
          <a:xfrm>
            <a:off x="812800" y="3117800"/>
            <a:ext cx="58864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無地＝確認済み · 斜線＝タイムカードなし（棒は下限）</a:t>
            </a:r>
            <a:endParaRPr lang="en-US" sz="1600" dirty="0"/>
          </a:p>
        </p:txBody>
      </p:sp>
      <p:sp>
        <p:nvSpPr>
          <p:cNvPr id="14" name="Text 12"/>
          <p:cNvSpPr/>
          <p:nvPr/>
        </p:nvSpPr>
        <p:spPr>
          <a:xfrm>
            <a:off x="812800" y="3727400"/>
            <a:ext cx="546100"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00:00</a:t>
            </a:r>
            <a:endParaRPr lang="en-US" sz="1200" dirty="0"/>
          </a:p>
        </p:txBody>
      </p:sp>
      <p:sp>
        <p:nvSpPr>
          <p:cNvPr id="15" name="Text 13"/>
          <p:cNvSpPr/>
          <p:nvPr/>
        </p:nvSpPr>
        <p:spPr>
          <a:xfrm>
            <a:off x="1282700" y="3727400"/>
            <a:ext cx="1041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03:00</a:t>
            </a:r>
            <a:endParaRPr lang="en-US" sz="1200" dirty="0"/>
          </a:p>
        </p:txBody>
      </p:sp>
      <p:sp>
        <p:nvSpPr>
          <p:cNvPr id="16" name="Text 14"/>
          <p:cNvSpPr/>
          <p:nvPr/>
        </p:nvSpPr>
        <p:spPr>
          <a:xfrm>
            <a:off x="2273300" y="3727400"/>
            <a:ext cx="1041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06:00</a:t>
            </a:r>
            <a:endParaRPr lang="en-US" sz="1200" dirty="0"/>
          </a:p>
        </p:txBody>
      </p:sp>
      <p:sp>
        <p:nvSpPr>
          <p:cNvPr id="17" name="Text 15"/>
          <p:cNvSpPr/>
          <p:nvPr/>
        </p:nvSpPr>
        <p:spPr>
          <a:xfrm>
            <a:off x="3263900" y="3727400"/>
            <a:ext cx="1041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09:00</a:t>
            </a:r>
            <a:endParaRPr lang="en-US" sz="1200" dirty="0"/>
          </a:p>
        </p:txBody>
      </p:sp>
      <p:sp>
        <p:nvSpPr>
          <p:cNvPr id="18" name="Text 16"/>
          <p:cNvSpPr/>
          <p:nvPr/>
        </p:nvSpPr>
        <p:spPr>
          <a:xfrm>
            <a:off x="4254500" y="3727400"/>
            <a:ext cx="1041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12:00</a:t>
            </a:r>
            <a:endParaRPr lang="en-US" sz="1200" dirty="0"/>
          </a:p>
        </p:txBody>
      </p:sp>
      <p:sp>
        <p:nvSpPr>
          <p:cNvPr id="19" name="Text 17"/>
          <p:cNvSpPr/>
          <p:nvPr/>
        </p:nvSpPr>
        <p:spPr>
          <a:xfrm>
            <a:off x="5245100" y="3727400"/>
            <a:ext cx="1041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15:00</a:t>
            </a:r>
            <a:endParaRPr lang="en-US" sz="1200" dirty="0"/>
          </a:p>
        </p:txBody>
      </p:sp>
      <p:sp>
        <p:nvSpPr>
          <p:cNvPr id="20" name="Text 18"/>
          <p:cNvSpPr/>
          <p:nvPr/>
        </p:nvSpPr>
        <p:spPr>
          <a:xfrm>
            <a:off x="6235700" y="3727400"/>
            <a:ext cx="1041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18:00</a:t>
            </a:r>
            <a:endParaRPr lang="en-US" sz="1200" dirty="0"/>
          </a:p>
        </p:txBody>
      </p:sp>
      <p:sp>
        <p:nvSpPr>
          <p:cNvPr id="21" name="Text 19"/>
          <p:cNvSpPr/>
          <p:nvPr/>
        </p:nvSpPr>
        <p:spPr>
          <a:xfrm>
            <a:off x="7226300" y="3727400"/>
            <a:ext cx="1041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21:00</a:t>
            </a:r>
            <a:endParaRPr lang="en-US" sz="1200" dirty="0"/>
          </a:p>
        </p:txBody>
      </p:sp>
      <p:sp>
        <p:nvSpPr>
          <p:cNvPr id="22" name="Text 20"/>
          <p:cNvSpPr/>
          <p:nvPr/>
        </p:nvSpPr>
        <p:spPr>
          <a:xfrm>
            <a:off x="8191500" y="3727400"/>
            <a:ext cx="5461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24:00</a:t>
            </a:r>
            <a:endParaRPr lang="en-US" sz="1200" dirty="0"/>
          </a:p>
        </p:txBody>
      </p:sp>
      <p:sp>
        <p:nvSpPr>
          <p:cNvPr id="23" name="Text 21"/>
          <p:cNvSpPr/>
          <p:nvPr/>
        </p:nvSpPr>
        <p:spPr>
          <a:xfrm>
            <a:off x="812800" y="4025305"/>
            <a:ext cx="256387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6EDF3"/>
                </a:solidFill>
                <a:latin typeface="Arial" pitchFamily="34" charset="0"/>
                <a:ea typeface="Arial" pitchFamily="34" charset="-122"/>
                <a:cs typeface="Arial" pitchFamily="34" charset="-120"/>
              </a:rPr>
              <a:t>241216（月）</a:t>
            </a:r>
            <a:r>
              <a:rPr lang="en-US" sz="1200" dirty="0">
                <a:solidFill>
                  <a:srgbClr val="A9B4BF"/>
                </a:solidFill>
                <a:latin typeface="Arial" pitchFamily="34" charset="0"/>
                <a:ea typeface="Arial" pitchFamily="34" charset="-122"/>
                <a:cs typeface="Arial" pitchFamily="34" charset="-120"/>
              </a:rPr>
              <a:t> · 東部時間、冬</a:t>
            </a:r>
            <a:endParaRPr lang="en-US" sz="1200" dirty="0"/>
          </a:p>
        </p:txBody>
      </p:sp>
      <p:sp>
        <p:nvSpPr>
          <p:cNvPr id="24" name="Shape 22"/>
          <p:cNvSpPr/>
          <p:nvPr/>
        </p:nvSpPr>
        <p:spPr>
          <a:xfrm>
            <a:off x="3454400" y="3993555"/>
            <a:ext cx="7924800" cy="254000"/>
          </a:xfrm>
          <a:prstGeom prst="rect">
            <a:avLst/>
          </a:prstGeom>
          <a:solidFill>
            <a:srgbClr val="0E141B"/>
          </a:solidFill>
          <a:ln/>
        </p:spPr>
      </p:sp>
      <p:sp>
        <p:nvSpPr>
          <p:cNvPr id="25" name="Text 23"/>
          <p:cNvSpPr/>
          <p:nvPr/>
        </p:nvSpPr>
        <p:spPr>
          <a:xfrm>
            <a:off x="3457575" y="3996730"/>
            <a:ext cx="1644650" cy="247650"/>
          </a:xfrm>
          <a:prstGeom prst="rect">
            <a:avLst/>
          </a:prstGeom>
          <a:noFill/>
          <a:ln w="6350">
            <a:solidFill>
              <a:srgbClr val="7AA2FF">
                <a:alpha val="45000"/>
              </a:srgbClr>
            </a:solidFill>
            <a:prstDash val="dash"/>
          </a:ln>
        </p:spPr>
        <p:txBody>
          <a:bodyPr wrap="square" lIns="0" tIns="3175" rIns="0" bIns="0" rtlCol="0" anchor="t">
            <a:normAutofit/>
          </a:bodyPr>
          <a:lstStyle/>
          <a:p>
            <a:pPr algn="ctr" indent="0" marL="0">
              <a:lnSpc>
                <a:spcPts val="1896"/>
              </a:lnSpc>
              <a:buNone/>
            </a:pPr>
            <a:r>
              <a:rPr lang="en-US" sz="1200" dirty="0">
                <a:solidFill>
                  <a:srgbClr val="A9B4BF"/>
                </a:solidFill>
                <a:latin typeface="Arial" pitchFamily="34" charset="0"/>
                <a:ea typeface="Arial" pitchFamily="34" charset="-122"/>
                <a:cs typeface="Arial" pitchFamily="34" charset="-120"/>
              </a:rPr>
              <a:t>前日の後半（B）</a:t>
            </a:r>
            <a:endParaRPr lang="en-US" sz="1200" dirty="0"/>
          </a:p>
        </p:txBody>
      </p:sp>
      <p:sp>
        <p:nvSpPr>
          <p:cNvPr id="26" name="Text 24"/>
          <p:cNvSpPr/>
          <p:nvPr/>
        </p:nvSpPr>
        <p:spPr>
          <a:xfrm>
            <a:off x="5105400" y="3993555"/>
            <a:ext cx="3937000" cy="254000"/>
          </a:xfrm>
          <a:prstGeom prst="rect">
            <a:avLst/>
          </a:prstGeom>
          <a:solidFill>
            <a:srgbClr val="7AA2FF">
              <a:alpha val="85000"/>
            </a:srgbClr>
          </a:solidFill>
          <a:ln/>
        </p:spPr>
        <p:txBody>
          <a:bodyPr wrap="square" lIns="0" tIns="0" rIns="0" bIns="0" rtlCol="0" anchor="t">
            <a:normAutofit/>
          </a:bodyPr>
          <a:lstStyle/>
          <a:p>
            <a:pPr algn="ctr" indent="0" marL="0">
              <a:lnSpc>
                <a:spcPts val="2004"/>
              </a:lnSpc>
              <a:buNone/>
            </a:pPr>
            <a:r>
              <a:rPr lang="en-US" sz="1200" dirty="0">
                <a:solidFill>
                  <a:srgbClr val="05090E"/>
                </a:solidFill>
                <a:latin typeface="Arial" pitchFamily="34" charset="0"/>
                <a:ea typeface="Arial" pitchFamily="34" charset="-122"/>
                <a:cs typeface="Arial" pitchFamily="34" charset="-120"/>
              </a:rPr>
              <a:t>A</a:t>
            </a:r>
            <a:endParaRPr lang="en-US" sz="1200" dirty="0"/>
          </a:p>
        </p:txBody>
      </p:sp>
      <p:sp>
        <p:nvSpPr>
          <p:cNvPr id="27" name="Text 25"/>
          <p:cNvSpPr/>
          <p:nvPr/>
        </p:nvSpPr>
        <p:spPr>
          <a:xfrm>
            <a:off x="9042400" y="3993555"/>
            <a:ext cx="2311400" cy="254000"/>
          </a:xfrm>
          <a:prstGeom prst="rect">
            <a:avLst/>
          </a:prstGeom>
          <a:solidFill>
            <a:srgbClr val="7AA2FF">
              <a:alpha val="45000"/>
            </a:srgbClr>
          </a:solidFill>
          <a:ln/>
        </p:spPr>
        <p:txBody>
          <a:bodyPr wrap="square" lIns="0" tIns="0" rIns="0" bIns="0" rtlCol="0" anchor="t">
            <a:normAutofit/>
          </a:bodyPr>
          <a:lstStyle/>
          <a:p>
            <a:pPr algn="ctr" indent="0" marL="0">
              <a:lnSpc>
                <a:spcPts val="2004"/>
              </a:lnSpc>
              <a:buNone/>
            </a:pPr>
            <a:r>
              <a:rPr lang="en-US" sz="1200" dirty="0">
                <a:solidFill>
                  <a:srgbClr val="E6EDF3"/>
                </a:solidFill>
                <a:latin typeface="Arial" pitchFamily="34" charset="0"/>
                <a:ea typeface="Arial" pitchFamily="34" charset="-122"/>
                <a:cs typeface="Arial" pitchFamily="34" charset="-120"/>
              </a:rPr>
              <a:t>B → 00:00を過ぎる</a:t>
            </a:r>
            <a:endParaRPr lang="en-US" sz="1200" dirty="0"/>
          </a:p>
        </p:txBody>
      </p:sp>
      <p:sp>
        <p:nvSpPr>
          <p:cNvPr id="28" name="Text 26"/>
          <p:cNvSpPr/>
          <p:nvPr/>
        </p:nvSpPr>
        <p:spPr>
          <a:xfrm>
            <a:off x="812800" y="4342805"/>
            <a:ext cx="256387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6EDF3"/>
                </a:solidFill>
                <a:latin typeface="Arial" pitchFamily="34" charset="0"/>
                <a:ea typeface="Arial" pitchFamily="34" charset="-122"/>
                <a:cs typeface="Arial" pitchFamily="34" charset="-120"/>
              </a:rPr>
              <a:t>250808（金）</a:t>
            </a:r>
            <a:r>
              <a:rPr lang="en-US" sz="1200" dirty="0">
                <a:solidFill>
                  <a:srgbClr val="A9B4BF"/>
                </a:solidFill>
                <a:latin typeface="Arial" pitchFamily="34" charset="0"/>
                <a:ea typeface="Arial" pitchFamily="34" charset="-122"/>
                <a:cs typeface="Arial" pitchFamily="34" charset="-120"/>
              </a:rPr>
              <a:t> · 東部時間、夏</a:t>
            </a:r>
            <a:endParaRPr lang="en-US" sz="1200" dirty="0"/>
          </a:p>
        </p:txBody>
      </p:sp>
      <p:sp>
        <p:nvSpPr>
          <p:cNvPr id="29" name="Shape 27"/>
          <p:cNvSpPr/>
          <p:nvPr/>
        </p:nvSpPr>
        <p:spPr>
          <a:xfrm>
            <a:off x="3454400" y="4311055"/>
            <a:ext cx="7924800" cy="254000"/>
          </a:xfrm>
          <a:prstGeom prst="rect">
            <a:avLst/>
          </a:prstGeom>
          <a:solidFill>
            <a:srgbClr val="0E141B"/>
          </a:solidFill>
          <a:ln/>
        </p:spPr>
      </p:sp>
      <p:sp>
        <p:nvSpPr>
          <p:cNvPr id="30" name="Text 28"/>
          <p:cNvSpPr/>
          <p:nvPr/>
        </p:nvSpPr>
        <p:spPr>
          <a:xfrm>
            <a:off x="3457575" y="4314230"/>
            <a:ext cx="1314450" cy="247650"/>
          </a:xfrm>
          <a:prstGeom prst="rect">
            <a:avLst/>
          </a:prstGeom>
          <a:noFill/>
          <a:ln w="6350">
            <a:solidFill>
              <a:srgbClr val="7AA2FF">
                <a:alpha val="45000"/>
              </a:srgbClr>
            </a:solidFill>
            <a:prstDash val="dash"/>
          </a:ln>
        </p:spPr>
        <p:txBody>
          <a:bodyPr wrap="square" lIns="0" tIns="3175" rIns="0" bIns="0" rtlCol="0" anchor="t">
            <a:normAutofit/>
          </a:bodyPr>
          <a:lstStyle/>
          <a:p>
            <a:pPr algn="ctr" indent="0" marL="0">
              <a:lnSpc>
                <a:spcPts val="1896"/>
              </a:lnSpc>
              <a:buNone/>
            </a:pPr>
            <a:r>
              <a:rPr lang="en-US" sz="1200" dirty="0">
                <a:solidFill>
                  <a:srgbClr val="A9B4BF"/>
                </a:solidFill>
                <a:latin typeface="Arial" pitchFamily="34" charset="0"/>
                <a:ea typeface="Arial" pitchFamily="34" charset="-122"/>
                <a:cs typeface="Arial" pitchFamily="34" charset="-120"/>
              </a:rPr>
              <a:t>前日の後半（B）</a:t>
            </a:r>
            <a:endParaRPr lang="en-US" sz="1200" dirty="0"/>
          </a:p>
        </p:txBody>
      </p:sp>
      <p:sp>
        <p:nvSpPr>
          <p:cNvPr id="31" name="Text 29"/>
          <p:cNvSpPr/>
          <p:nvPr/>
        </p:nvSpPr>
        <p:spPr>
          <a:xfrm>
            <a:off x="4775200" y="4311055"/>
            <a:ext cx="3937000" cy="254000"/>
          </a:xfrm>
          <a:prstGeom prst="rect">
            <a:avLst/>
          </a:prstGeom>
          <a:solidFill>
            <a:srgbClr val="7AA2FF">
              <a:alpha val="85000"/>
            </a:srgbClr>
          </a:solidFill>
          <a:ln/>
        </p:spPr>
        <p:txBody>
          <a:bodyPr wrap="square" lIns="0" tIns="0" rIns="0" bIns="0" rtlCol="0" anchor="t">
            <a:normAutofit/>
          </a:bodyPr>
          <a:lstStyle/>
          <a:p>
            <a:pPr algn="ctr" indent="0" marL="0">
              <a:lnSpc>
                <a:spcPts val="2004"/>
              </a:lnSpc>
              <a:buNone/>
            </a:pPr>
            <a:r>
              <a:rPr lang="en-US" sz="1200" dirty="0">
                <a:solidFill>
                  <a:srgbClr val="05090E"/>
                </a:solidFill>
                <a:latin typeface="Arial" pitchFamily="34" charset="0"/>
                <a:ea typeface="Arial" pitchFamily="34" charset="-122"/>
                <a:cs typeface="Arial" pitchFamily="34" charset="-120"/>
              </a:rPr>
              <a:t>A</a:t>
            </a:r>
            <a:endParaRPr lang="en-US" sz="1200" dirty="0"/>
          </a:p>
        </p:txBody>
      </p:sp>
      <p:sp>
        <p:nvSpPr>
          <p:cNvPr id="32" name="Text 30"/>
          <p:cNvSpPr/>
          <p:nvPr/>
        </p:nvSpPr>
        <p:spPr>
          <a:xfrm>
            <a:off x="8712200" y="4311055"/>
            <a:ext cx="2641600" cy="254000"/>
          </a:xfrm>
          <a:prstGeom prst="rect">
            <a:avLst/>
          </a:prstGeom>
          <a:solidFill>
            <a:srgbClr val="7AA2FF">
              <a:alpha val="45000"/>
            </a:srgbClr>
          </a:solidFill>
          <a:ln/>
        </p:spPr>
        <p:txBody>
          <a:bodyPr wrap="square" lIns="0" tIns="0" rIns="0" bIns="0" rtlCol="0" anchor="t">
            <a:normAutofit/>
          </a:bodyPr>
          <a:lstStyle/>
          <a:p>
            <a:pPr algn="ctr" indent="0" marL="0">
              <a:lnSpc>
                <a:spcPts val="2004"/>
              </a:lnSpc>
              <a:buNone/>
            </a:pPr>
            <a:r>
              <a:rPr lang="en-US" sz="1200" dirty="0">
                <a:solidFill>
                  <a:srgbClr val="E6EDF3"/>
                </a:solidFill>
                <a:latin typeface="Arial" pitchFamily="34" charset="0"/>
                <a:ea typeface="Arial" pitchFamily="34" charset="-122"/>
                <a:cs typeface="Arial" pitchFamily="34" charset="-120"/>
              </a:rPr>
              <a:t>B →</a:t>
            </a:r>
            <a:endParaRPr lang="en-US" sz="1200" dirty="0"/>
          </a:p>
        </p:txBody>
      </p:sp>
      <p:sp>
        <p:nvSpPr>
          <p:cNvPr id="33" name="Text 31"/>
          <p:cNvSpPr/>
          <p:nvPr/>
        </p:nvSpPr>
        <p:spPr>
          <a:xfrm>
            <a:off x="812800" y="4660305"/>
            <a:ext cx="256387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6EDF3"/>
                </a:solidFill>
                <a:latin typeface="Arial" pitchFamily="34" charset="0"/>
                <a:ea typeface="Arial" pitchFamily="34" charset="-122"/>
                <a:cs typeface="Arial" pitchFamily="34" charset="-120"/>
              </a:rPr>
              <a:t>250831（日）</a:t>
            </a:r>
            <a:r>
              <a:rPr lang="en-US" sz="1200" dirty="0">
                <a:solidFill>
                  <a:srgbClr val="A9B4BF"/>
                </a:solidFill>
                <a:latin typeface="Arial" pitchFamily="34" charset="0"/>
                <a:ea typeface="Arial" pitchFamily="34" charset="-122"/>
                <a:cs typeface="Arial" pitchFamily="34" charset="-120"/>
              </a:rPr>
              <a:t> · UTC区切りの初日</a:t>
            </a:r>
            <a:endParaRPr lang="en-US" sz="1200" dirty="0"/>
          </a:p>
        </p:txBody>
      </p:sp>
      <p:sp>
        <p:nvSpPr>
          <p:cNvPr id="34" name="Shape 32"/>
          <p:cNvSpPr/>
          <p:nvPr/>
        </p:nvSpPr>
        <p:spPr>
          <a:xfrm>
            <a:off x="3454400" y="4628555"/>
            <a:ext cx="7924800" cy="254000"/>
          </a:xfrm>
          <a:prstGeom prst="rect">
            <a:avLst/>
          </a:prstGeom>
          <a:solidFill>
            <a:srgbClr val="0E141B"/>
          </a:solidFill>
          <a:ln/>
        </p:spPr>
      </p:sp>
      <p:sp>
        <p:nvSpPr>
          <p:cNvPr id="35" name="Text 33"/>
          <p:cNvSpPr/>
          <p:nvPr/>
        </p:nvSpPr>
        <p:spPr>
          <a:xfrm>
            <a:off x="3454400" y="4628555"/>
            <a:ext cx="3835400" cy="254000"/>
          </a:xfrm>
          <a:prstGeom prst="rect">
            <a:avLst/>
          </a:prstGeom>
          <a:solidFill>
            <a:srgbClr val="C9A6FF">
              <a:alpha val="70000"/>
            </a:srgbClr>
          </a:solidFill>
          <a:ln/>
        </p:spPr>
        <p:txBody>
          <a:bodyPr wrap="square" lIns="0" tIns="0" rIns="0" bIns="0" rtlCol="0" anchor="t">
            <a:normAutofit/>
          </a:bodyPr>
          <a:lstStyle/>
          <a:p>
            <a:pPr algn="ctr" indent="0" marL="0">
              <a:lnSpc>
                <a:spcPts val="2004"/>
              </a:lnSpc>
              <a:buNone/>
            </a:pPr>
            <a:r>
              <a:rPr lang="en-US" sz="1200" dirty="0">
                <a:solidFill>
                  <a:srgbClr val="05090E"/>
                </a:solidFill>
                <a:latin typeface="Arial" pitchFamily="34" charset="0"/>
                <a:ea typeface="Arial" pitchFamily="34" charset="-122"/>
                <a:cs typeface="Arial" pitchFamily="34" charset="-120"/>
              </a:rPr>
              <a:t>TA</a:t>
            </a:r>
            <a:endParaRPr lang="en-US" sz="1200" dirty="0"/>
          </a:p>
        </p:txBody>
      </p:sp>
      <p:sp>
        <p:nvSpPr>
          <p:cNvPr id="36" name="Text 34"/>
          <p:cNvSpPr/>
          <p:nvPr/>
        </p:nvSpPr>
        <p:spPr>
          <a:xfrm>
            <a:off x="7289800" y="4628555"/>
            <a:ext cx="3930650" cy="254000"/>
          </a:xfrm>
          <a:prstGeom prst="rect">
            <a:avLst/>
          </a:prstGeom>
          <a:solidFill>
            <a:srgbClr val="C9A6FF">
              <a:alpha val="70000"/>
            </a:srgbClr>
          </a:solidFill>
          <a:ln/>
        </p:spPr>
        <p:txBody>
          <a:bodyPr wrap="square" lIns="0" tIns="0" rIns="0" bIns="0" rtlCol="0" anchor="t">
            <a:normAutofit/>
          </a:bodyPr>
          <a:lstStyle/>
          <a:p>
            <a:pPr algn="ctr" indent="0" marL="0">
              <a:lnSpc>
                <a:spcPts val="2004"/>
              </a:lnSpc>
              <a:buNone/>
            </a:pPr>
            <a:r>
              <a:rPr lang="en-US" sz="1200" dirty="0">
                <a:solidFill>
                  <a:srgbClr val="05090E"/>
                </a:solidFill>
                <a:latin typeface="Arial" pitchFamily="34" charset="0"/>
                <a:ea typeface="Arial" pitchFamily="34" charset="-122"/>
                <a:cs typeface="Arial" pitchFamily="34" charset="-120"/>
              </a:rPr>
              <a:t>TB</a:t>
            </a:r>
            <a:endParaRPr lang="en-US" sz="1200" dirty="0"/>
          </a:p>
        </p:txBody>
      </p:sp>
      <p:sp>
        <p:nvSpPr>
          <p:cNvPr id="37" name="Text 35"/>
          <p:cNvSpPr/>
          <p:nvPr/>
        </p:nvSpPr>
        <p:spPr>
          <a:xfrm>
            <a:off x="812800" y="4977805"/>
            <a:ext cx="256387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6EDF3"/>
                </a:solidFill>
                <a:latin typeface="Arial" pitchFamily="34" charset="0"/>
                <a:ea typeface="Arial" pitchFamily="34" charset="-122"/>
                <a:cs typeface="Arial" pitchFamily="34" charset="-120"/>
              </a:rPr>
              <a:t>251026（日）</a:t>
            </a:r>
            <a:r>
              <a:rPr lang="en-US" sz="1200" dirty="0">
                <a:solidFill>
                  <a:srgbClr val="A9B4BF"/>
                </a:solidFill>
                <a:latin typeface="Arial" pitchFamily="34" charset="0"/>
                <a:ea typeface="Arial" pitchFamily="34" charset="-122"/>
                <a:cs typeface="Arial" pitchFamily="34" charset="-120"/>
              </a:rPr>
              <a:t> · UTC区切り</a:t>
            </a:r>
            <a:endParaRPr lang="en-US" sz="1200" dirty="0"/>
          </a:p>
        </p:txBody>
      </p:sp>
      <p:sp>
        <p:nvSpPr>
          <p:cNvPr id="38" name="Shape 36"/>
          <p:cNvSpPr/>
          <p:nvPr/>
        </p:nvSpPr>
        <p:spPr>
          <a:xfrm>
            <a:off x="3454400" y="4946055"/>
            <a:ext cx="7924800" cy="254000"/>
          </a:xfrm>
          <a:prstGeom prst="rect">
            <a:avLst/>
          </a:prstGeom>
          <a:solidFill>
            <a:srgbClr val="0E141B"/>
          </a:solidFill>
          <a:ln/>
        </p:spPr>
      </p:sp>
      <p:sp>
        <p:nvSpPr>
          <p:cNvPr id="39" name="Text 37"/>
          <p:cNvSpPr/>
          <p:nvPr/>
        </p:nvSpPr>
        <p:spPr>
          <a:xfrm>
            <a:off x="3454400" y="4946055"/>
            <a:ext cx="3937000" cy="254000"/>
          </a:xfrm>
          <a:prstGeom prst="rect">
            <a:avLst/>
          </a:prstGeom>
          <a:solidFill>
            <a:srgbClr val="7AA2FF">
              <a:alpha val="85000"/>
            </a:srgbClr>
          </a:solidFill>
          <a:ln/>
        </p:spPr>
        <p:txBody>
          <a:bodyPr wrap="square" lIns="0" tIns="0" rIns="0" bIns="0" rtlCol="0" anchor="t">
            <a:normAutofit/>
          </a:bodyPr>
          <a:lstStyle/>
          <a:p>
            <a:pPr algn="ctr" indent="0" marL="0">
              <a:lnSpc>
                <a:spcPts val="2004"/>
              </a:lnSpc>
              <a:buNone/>
            </a:pPr>
            <a:r>
              <a:rPr lang="en-US" sz="1200" dirty="0">
                <a:solidFill>
                  <a:srgbClr val="05090E"/>
                </a:solidFill>
                <a:latin typeface="Arial" pitchFamily="34" charset="0"/>
                <a:ea typeface="Arial" pitchFamily="34" charset="-122"/>
                <a:cs typeface="Arial" pitchFamily="34" charset="-120"/>
              </a:rPr>
              <a:t>A</a:t>
            </a:r>
            <a:endParaRPr lang="en-US" sz="1200" dirty="0"/>
          </a:p>
        </p:txBody>
      </p:sp>
      <p:sp>
        <p:nvSpPr>
          <p:cNvPr id="40" name="Text 38"/>
          <p:cNvSpPr/>
          <p:nvPr/>
        </p:nvSpPr>
        <p:spPr>
          <a:xfrm>
            <a:off x="7391400" y="4946055"/>
            <a:ext cx="3937000" cy="254000"/>
          </a:xfrm>
          <a:prstGeom prst="rect">
            <a:avLst/>
          </a:prstGeom>
          <a:solidFill>
            <a:srgbClr val="7AA2FF">
              <a:alpha val="45000"/>
            </a:srgbClr>
          </a:solidFill>
          <a:ln/>
        </p:spPr>
        <p:txBody>
          <a:bodyPr wrap="square" lIns="0" tIns="0" rIns="0" bIns="0" rtlCol="0" anchor="t">
            <a:normAutofit/>
          </a:bodyPr>
          <a:lstStyle/>
          <a:p>
            <a:pPr algn="ctr" indent="0" marL="0">
              <a:lnSpc>
                <a:spcPts val="2004"/>
              </a:lnSpc>
              <a:buNone/>
            </a:pPr>
            <a:r>
              <a:rPr lang="en-US" sz="1200" dirty="0">
                <a:solidFill>
                  <a:srgbClr val="E6EDF3"/>
                </a:solidFill>
                <a:latin typeface="Arial" pitchFamily="34" charset="0"/>
                <a:ea typeface="Arial" pitchFamily="34" charset="-122"/>
                <a:cs typeface="Arial" pitchFamily="34" charset="-120"/>
              </a:rPr>
              <a:t>B</a:t>
            </a:r>
            <a:endParaRPr lang="en-US" sz="1200" dirty="0"/>
          </a:p>
        </p:txBody>
      </p:sp>
      <p:sp>
        <p:nvSpPr>
          <p:cNvPr id="41" name="Text 39"/>
          <p:cNvSpPr/>
          <p:nvPr/>
        </p:nvSpPr>
        <p:spPr>
          <a:xfrm>
            <a:off x="812800" y="5301655"/>
            <a:ext cx="1088339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塗りつぶし＝ギャラリーの時間軸：各録画の配信開始時刻と長さ（24:00で打ち切り）。</a:t>
            </a:r>
            <a:endParaRPr lang="en-US" sz="1200" dirty="0"/>
          </a:p>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破線＝東部時間区切りでの前日の後半（B）。時間軸には描かれない部分。</a:t>
            </a:r>
            <a:endParaRPr lang="en-US" sz="1200" dirty="0"/>
          </a:p>
        </p:txBody>
      </p:sp>
      <p:sp>
        <p:nvSpPr>
          <p:cNvPr id="42" name="Text 4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43" name="Text 41"/>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録音</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41B"/>
        </a:solidFill>
      </p:bgPr>
    </p:bg>
    <p:spTree>
      <p:nvGrpSpPr>
        <p:cNvPr id="1" name=""/>
        <p:cNvGrpSpPr/>
        <p:nvPr/>
      </p:nvGrpSpPr>
      <p:grpSpPr>
        <a:xfrm>
          <a:off x="0" y="0"/>
          <a:ext cx="0" cy="0"/>
          <a:chOff x="0" y="0"/>
          <a:chExt cx="0" cy="0"/>
        </a:xfrm>
      </p:grpSpPr>
      <p:sp>
        <p:nvSpPr>
          <p:cNvPr id="2" name="Text 0"/>
          <p:cNvSpPr/>
          <p:nvPr/>
        </p:nvSpPr>
        <p:spPr>
          <a:xfrm>
            <a:off x="812800" y="224472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第4部</a:t>
            </a:r>
            <a:endParaRPr lang="en-US" sz="1200" dirty="0"/>
          </a:p>
        </p:txBody>
      </p:sp>
      <p:sp>
        <p:nvSpPr>
          <p:cNvPr id="3" name="Text 1"/>
          <p:cNvSpPr/>
          <p:nvPr>
            <p:ph type="title"/>
          </p:nvPr>
        </p:nvSpPr>
        <p:spPr>
          <a:xfrm>
            <a:off x="812800" y="2559645"/>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ギャラリー</a:t>
            </a:r>
            <a:endParaRPr lang="en-US" sz="3600" dirty="0"/>
          </a:p>
        </p:txBody>
      </p:sp>
      <p:sp>
        <p:nvSpPr>
          <p:cNvPr id="4" name="Shape 2"/>
          <p:cNvSpPr/>
          <p:nvPr/>
        </p:nvSpPr>
        <p:spPr>
          <a:xfrm>
            <a:off x="812800" y="3416250"/>
            <a:ext cx="10566400" cy="0"/>
          </a:xfrm>
          <a:prstGeom prst="line">
            <a:avLst/>
          </a:prstGeom>
          <a:noFill/>
          <a:ln w="6350">
            <a:solidFill>
              <a:srgbClr val="2A3340"/>
            </a:solidFill>
            <a:prstDash val="solid"/>
          </a:ln>
        </p:spPr>
      </p:sp>
      <p:sp>
        <p:nvSpPr>
          <p:cNvPr id="5" name="Text 3"/>
          <p:cNvSpPr/>
          <p:nvPr/>
        </p:nvSpPr>
        <p:spPr>
          <a:xfrm>
            <a:off x="812800" y="3571825"/>
            <a:ext cx="10883392" cy="8636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研究の道具としてのDTCPギャラリー：</a:t>
            </a:r>
            <a:endParaRPr lang="en-US" sz="2200" dirty="0"/>
          </a:p>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日ごとの記録・検索・モチーフ・プレーヤー・比較</a:t>
            </a:r>
            <a:endParaRPr lang="en-US" sz="22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7"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DTCPギャラリー</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放送ごとに1件の記録</a:t>
            </a:r>
            <a:endParaRPr lang="en-US" sz="3600" dirty="0"/>
          </a:p>
        </p:txBody>
      </p:sp>
      <p:sp>
        <p:nvSpPr>
          <p:cNvPr id="4" name="Shape 2"/>
          <p:cNvSpPr/>
          <p:nvPr/>
        </p:nvSpPr>
        <p:spPr>
          <a:xfrm>
            <a:off x="812800" y="1984325"/>
            <a:ext cx="10566400" cy="0"/>
          </a:xfrm>
          <a:prstGeom prst="line">
            <a:avLst/>
          </a:prstGeom>
          <a:noFill/>
          <a:ln w="6350">
            <a:solidFill>
              <a:srgbClr val="222A35"/>
            </a:solidFill>
            <a:prstDash val="solid"/>
          </a:ln>
        </p:spPr>
      </p:sp>
      <p:sp>
        <p:nvSpPr>
          <p:cNvPr id="5" name="Text 3"/>
          <p:cNvSpPr/>
          <p:nvPr/>
        </p:nvSpPr>
        <p:spPr>
          <a:xfrm>
            <a:off x="812800" y="208910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表にカード</a:t>
            </a:r>
            <a:r>
              <a:rPr lang="en-US" sz="1600" dirty="0">
                <a:solidFill>
                  <a:srgbClr val="FFCC00"/>
                </a:solidFill>
                <a:latin typeface="Arial" pitchFamily="34" charset="0"/>
                <a:ea typeface="Arial" pitchFamily="34" charset="-122"/>
                <a:cs typeface="Arial" pitchFamily="34" charset="-120"/>
              </a:rPr>
              <a:t>641</a:t>
            </a:r>
            <a:r>
              <a:rPr lang="en-US" sz="1600" dirty="0">
                <a:solidFill>
                  <a:srgbClr val="E6EDF3"/>
                </a:solidFill>
                <a:latin typeface="Arial" pitchFamily="34" charset="0"/>
                <a:ea typeface="Arial" pitchFamily="34" charset="-122"/>
                <a:cs typeface="Arial" pitchFamily="34" charset="-120"/>
              </a:rPr>
              <a:t>枚 · その下の日ごとのデータに放送</a:t>
            </a:r>
            <a:r>
              <a:rPr lang="en-US" sz="1600" dirty="0">
                <a:solidFill>
                  <a:srgbClr val="FFCC00"/>
                </a:solidFill>
                <a:latin typeface="Arial" pitchFamily="34" charset="0"/>
                <a:ea typeface="Arial" pitchFamily="34" charset="-122"/>
                <a:cs typeface="Arial" pitchFamily="34" charset="-120"/>
              </a:rPr>
              <a:t>15,358</a:t>
            </a:r>
            <a:r>
              <a:rPr lang="en-US" sz="1600" dirty="0">
                <a:solidFill>
                  <a:srgbClr val="E6EDF3"/>
                </a:solidFill>
                <a:latin typeface="Arial" pitchFamily="34" charset="0"/>
                <a:ea typeface="Arial" pitchFamily="34" charset="-122"/>
                <a:cs typeface="Arial" pitchFamily="34" charset="-120"/>
              </a:rPr>
              <a:t>件</a:t>
            </a:r>
            <a:endParaRPr lang="en-US" sz="1600" dirty="0"/>
          </a:p>
        </p:txBody>
      </p:sp>
      <p:sp>
        <p:nvSpPr>
          <p:cNvPr id="6" name="Shape 4"/>
          <p:cNvSpPr/>
          <p:nvPr/>
        </p:nvSpPr>
        <p:spPr>
          <a:xfrm>
            <a:off x="812800" y="2473275"/>
            <a:ext cx="10566400" cy="0"/>
          </a:xfrm>
          <a:prstGeom prst="line">
            <a:avLst/>
          </a:prstGeom>
          <a:noFill/>
          <a:ln w="6350">
            <a:solidFill>
              <a:srgbClr val="222A35"/>
            </a:solidFill>
            <a:prstDash val="solid"/>
          </a:ln>
        </p:spPr>
      </p:sp>
      <p:sp>
        <p:nvSpPr>
          <p:cNvPr id="7" name="Text 5"/>
          <p:cNvSpPr/>
          <p:nvPr/>
        </p:nvSpPr>
        <p:spPr>
          <a:xfrm>
            <a:off x="812800" y="25780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記録のある</a:t>
            </a:r>
            <a:r>
              <a:rPr lang="en-US" sz="1600" dirty="0">
                <a:solidFill>
                  <a:srgbClr val="FFCC00"/>
                </a:solidFill>
                <a:latin typeface="Arial" pitchFamily="34" charset="0"/>
                <a:ea typeface="Arial" pitchFamily="34" charset="-122"/>
                <a:cs typeface="Arial" pitchFamily="34" charset="-120"/>
              </a:rPr>
              <a:t>1,091</a:t>
            </a:r>
            <a:r>
              <a:rPr lang="en-US" sz="1600" dirty="0">
                <a:solidFill>
                  <a:srgbClr val="E6EDF3"/>
                </a:solidFill>
                <a:latin typeface="Arial" pitchFamily="34" charset="0"/>
                <a:ea typeface="Arial" pitchFamily="34" charset="-122"/>
                <a:cs typeface="Arial" pitchFamily="34" charset="-120"/>
              </a:rPr>
              <a:t>日 · 2022年1月25日〜2026年10月15日</a:t>
            </a:r>
            <a:endParaRPr lang="en-US" sz="1600" dirty="0"/>
          </a:p>
        </p:txBody>
      </p:sp>
      <p:sp>
        <p:nvSpPr>
          <p:cNvPr id="8" name="Shape 6"/>
          <p:cNvSpPr/>
          <p:nvPr/>
        </p:nvSpPr>
        <p:spPr>
          <a:xfrm>
            <a:off x="812800" y="2962225"/>
            <a:ext cx="10566400" cy="0"/>
          </a:xfrm>
          <a:prstGeom prst="line">
            <a:avLst/>
          </a:prstGeom>
          <a:noFill/>
          <a:ln w="6350">
            <a:solidFill>
              <a:srgbClr val="222A35"/>
            </a:solidFill>
            <a:prstDash val="solid"/>
          </a:ln>
        </p:spPr>
      </p:sp>
      <p:sp>
        <p:nvSpPr>
          <p:cNvPr id="9" name="Text 7"/>
          <p:cNvSpPr/>
          <p:nvPr/>
        </p:nvSpPr>
        <p:spPr>
          <a:xfrm>
            <a:off x="812800" y="306700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各放送：分 · 群 · 長さ · 接頭辞 · フラグ · FOR · ブロック · モチーフ</a:t>
            </a:r>
            <a:endParaRPr lang="en-US" sz="1600" dirty="0"/>
          </a:p>
        </p:txBody>
      </p:sp>
      <p:sp>
        <p:nvSpPr>
          <p:cNvPr id="10" name="Shape 8"/>
          <p:cNvSpPr/>
          <p:nvPr/>
        </p:nvSpPr>
        <p:spPr>
          <a:xfrm>
            <a:off x="812800" y="3451175"/>
            <a:ext cx="10566400" cy="0"/>
          </a:xfrm>
          <a:prstGeom prst="line">
            <a:avLst/>
          </a:prstGeom>
          <a:noFill/>
          <a:ln w="6350">
            <a:solidFill>
              <a:srgbClr val="222A35"/>
            </a:solidFill>
            <a:prstDash val="solid"/>
          </a:ln>
        </p:spPr>
      </p:sp>
      <p:sp>
        <p:nvSpPr>
          <p:cNvPr id="11" name="Text 9"/>
          <p:cNvSpPr/>
          <p:nvPr/>
        </p:nvSpPr>
        <p:spPr>
          <a:xfrm>
            <a:off x="812800" y="35559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検索が返すのはカードのある日、比較は記録のある日ならどれでも</a:t>
            </a:r>
            <a:endParaRPr lang="en-US" sz="1600" dirty="0"/>
          </a:p>
        </p:txBody>
      </p:sp>
      <p:sp>
        <p:nvSpPr>
          <p:cNvPr id="12" name="Text 10"/>
          <p:cNvSpPr/>
          <p:nvPr/>
        </p:nvSpPr>
        <p:spPr>
          <a:xfrm>
            <a:off x="812800" y="4165550"/>
            <a:ext cx="1511300"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E6EDF3"/>
                </a:solidFill>
                <a:latin typeface="Arial" pitchFamily="34" charset="0"/>
                <a:ea typeface="Arial" pitchFamily="34" charset="-122"/>
                <a:cs typeface="Arial" pitchFamily="34" charset="-120"/>
              </a:rPr>
              <a:t>250923（火）</a:t>
            </a:r>
            <a:endParaRPr lang="en-US" sz="1600" dirty="0"/>
          </a:p>
        </p:txBody>
      </p:sp>
      <p:sp>
        <p:nvSpPr>
          <p:cNvPr id="13" name="Text 11"/>
          <p:cNvSpPr/>
          <p:nvPr/>
        </p:nvSpPr>
        <p:spPr>
          <a:xfrm>
            <a:off x="2403475" y="4168725"/>
            <a:ext cx="9080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945</a:t>
            </a:r>
            <a:endParaRPr lang="en-US" sz="1545" dirty="0"/>
          </a:p>
        </p:txBody>
      </p:sp>
      <p:sp>
        <p:nvSpPr>
          <p:cNvPr id="14" name="Text 12"/>
          <p:cNvSpPr/>
          <p:nvPr/>
        </p:nvSpPr>
        <p:spPr>
          <a:xfrm>
            <a:off x="2374900" y="4546550"/>
            <a:ext cx="965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15:45 UTC</a:t>
            </a:r>
            <a:endParaRPr lang="en-US" sz="1200" dirty="0"/>
          </a:p>
        </p:txBody>
      </p:sp>
      <p:sp>
        <p:nvSpPr>
          <p:cNvPr id="15" name="Text 13"/>
          <p:cNvSpPr/>
          <p:nvPr/>
        </p:nvSpPr>
        <p:spPr>
          <a:xfrm>
            <a:off x="3444875" y="4168725"/>
            <a:ext cx="704850" cy="323850"/>
          </a:xfrm>
          <a:prstGeom prst="rect">
            <a:avLst/>
          </a:prstGeom>
          <a:solidFill>
            <a:srgbClr val="ED7D32"/>
          </a:solidFill>
          <a:ln w="6350">
            <a:solidFill>
              <a:srgbClr val="ED7D32"/>
            </a:solidFill>
            <a:prstDash val="solid"/>
          </a:ln>
        </p:spPr>
        <p:txBody>
          <a:bodyPr wrap="square" lIns="0" tIns="3175" rIns="0" bIns="0" rtlCol="0" anchor="t">
            <a:normAutofit/>
          </a:bodyPr>
          <a:lstStyle/>
          <a:p>
            <a:pPr algn="ctr" indent="0" marL="0">
              <a:lnSpc>
                <a:spcPts val="2518"/>
              </a:lnSpc>
              <a:buNone/>
            </a:pPr>
            <a:r>
              <a:rPr lang="en-US" sz="1545" dirty="0">
                <a:solidFill>
                  <a:srgbClr val="14110A"/>
                </a:solidFill>
                <a:latin typeface="Courier New" pitchFamily="49" charset="0"/>
                <a:ea typeface="Courier New" pitchFamily="49" charset="-122"/>
                <a:cs typeface="Courier New" pitchFamily="49" charset="-120"/>
              </a:rPr>
              <a:t>2</a:t>
            </a:r>
            <a:endParaRPr lang="en-US" sz="1545" dirty="0"/>
          </a:p>
        </p:txBody>
      </p:sp>
      <p:sp>
        <p:nvSpPr>
          <p:cNvPr id="16" name="Text 14"/>
          <p:cNvSpPr/>
          <p:nvPr/>
        </p:nvSpPr>
        <p:spPr>
          <a:xfrm>
            <a:off x="3416300" y="4546550"/>
            <a:ext cx="762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第2群</a:t>
            </a:r>
            <a:endParaRPr lang="en-US" sz="1200" dirty="0"/>
          </a:p>
        </p:txBody>
      </p:sp>
      <p:sp>
        <p:nvSpPr>
          <p:cNvPr id="17" name="Text 15"/>
          <p:cNvSpPr/>
          <p:nvPr/>
        </p:nvSpPr>
        <p:spPr>
          <a:xfrm>
            <a:off x="4283075" y="4168725"/>
            <a:ext cx="7810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75</a:t>
            </a:r>
            <a:endParaRPr lang="en-US" sz="1545" dirty="0"/>
          </a:p>
        </p:txBody>
      </p:sp>
      <p:sp>
        <p:nvSpPr>
          <p:cNvPr id="18" name="Text 16"/>
          <p:cNvSpPr/>
          <p:nvPr/>
        </p:nvSpPr>
        <p:spPr>
          <a:xfrm>
            <a:off x="4254500" y="4546550"/>
            <a:ext cx="838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75文字</a:t>
            </a:r>
            <a:endParaRPr lang="en-US" sz="1200" dirty="0"/>
          </a:p>
        </p:txBody>
      </p:sp>
      <p:sp>
        <p:nvSpPr>
          <p:cNvPr id="19" name="Text 17"/>
          <p:cNvSpPr/>
          <p:nvPr/>
        </p:nvSpPr>
        <p:spPr>
          <a:xfrm>
            <a:off x="5197475" y="4168725"/>
            <a:ext cx="7048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“27”</a:t>
            </a:r>
            <a:endParaRPr lang="en-US" sz="1545" dirty="0"/>
          </a:p>
        </p:txBody>
      </p:sp>
      <p:sp>
        <p:nvSpPr>
          <p:cNvPr id="20" name="Text 18"/>
          <p:cNvSpPr/>
          <p:nvPr/>
        </p:nvSpPr>
        <p:spPr>
          <a:xfrm>
            <a:off x="5168900" y="4546550"/>
            <a:ext cx="762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接頭辞</a:t>
            </a:r>
            <a:endParaRPr lang="en-US" sz="1200" dirty="0"/>
          </a:p>
        </p:txBody>
      </p:sp>
      <p:sp>
        <p:nvSpPr>
          <p:cNvPr id="21" name="Text 19"/>
          <p:cNvSpPr/>
          <p:nvPr/>
        </p:nvSpPr>
        <p:spPr>
          <a:xfrm>
            <a:off x="6035675" y="4168725"/>
            <a:ext cx="11366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a:t>
            </a:r>
            <a:endParaRPr lang="en-US" sz="1545" dirty="0"/>
          </a:p>
        </p:txBody>
      </p:sp>
      <p:sp>
        <p:nvSpPr>
          <p:cNvPr id="22" name="Text 20"/>
          <p:cNvSpPr/>
          <p:nvPr/>
        </p:nvSpPr>
        <p:spPr>
          <a:xfrm>
            <a:off x="6007100" y="454655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フラグなし</a:t>
            </a:r>
            <a:endParaRPr lang="en-US" sz="1200" dirty="0"/>
          </a:p>
        </p:txBody>
      </p:sp>
      <p:sp>
        <p:nvSpPr>
          <p:cNvPr id="23" name="Text 21"/>
          <p:cNvSpPr/>
          <p:nvPr/>
        </p:nvSpPr>
        <p:spPr>
          <a:xfrm>
            <a:off x="7305675" y="4168725"/>
            <a:ext cx="9080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a:t>
            </a:r>
            <a:endParaRPr lang="en-US" sz="1545" dirty="0"/>
          </a:p>
        </p:txBody>
      </p:sp>
      <p:sp>
        <p:nvSpPr>
          <p:cNvPr id="24" name="Text 22"/>
          <p:cNvSpPr/>
          <p:nvPr/>
        </p:nvSpPr>
        <p:spPr>
          <a:xfrm>
            <a:off x="7277100" y="4546550"/>
            <a:ext cx="965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FORなし</a:t>
            </a:r>
            <a:endParaRPr lang="en-US" sz="1200" dirty="0"/>
          </a:p>
        </p:txBody>
      </p:sp>
      <p:sp>
        <p:nvSpPr>
          <p:cNvPr id="25" name="Text 23"/>
          <p:cNvSpPr/>
          <p:nvPr/>
        </p:nvSpPr>
        <p:spPr>
          <a:xfrm>
            <a:off x="8347075" y="4168725"/>
            <a:ext cx="11366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“5,15”</a:t>
            </a:r>
            <a:endParaRPr lang="en-US" sz="1545" dirty="0"/>
          </a:p>
        </p:txBody>
      </p:sp>
      <p:sp>
        <p:nvSpPr>
          <p:cNvPr id="26" name="Text 24"/>
          <p:cNvSpPr/>
          <p:nvPr/>
        </p:nvSpPr>
        <p:spPr>
          <a:xfrm>
            <a:off x="8318500" y="454655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ブロック5・15</a:t>
            </a:r>
            <a:endParaRPr lang="en-US" sz="1200" dirty="0"/>
          </a:p>
        </p:txBody>
      </p:sp>
      <p:sp>
        <p:nvSpPr>
          <p:cNvPr id="27" name="Text 25"/>
          <p:cNvSpPr/>
          <p:nvPr/>
        </p:nvSpPr>
        <p:spPr>
          <a:xfrm>
            <a:off x="9617075" y="4168725"/>
            <a:ext cx="16446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“m4032”</a:t>
            </a:r>
            <a:endParaRPr lang="en-US" sz="1545" dirty="0"/>
          </a:p>
        </p:txBody>
      </p:sp>
      <p:sp>
        <p:nvSpPr>
          <p:cNvPr id="28" name="Text 26"/>
          <p:cNvSpPr/>
          <p:nvPr/>
        </p:nvSpPr>
        <p:spPr>
          <a:xfrm>
            <a:off x="9588500" y="4546550"/>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40+/32ブロック対</a:t>
            </a:r>
            <a:endParaRPr lang="en-US" sz="1200" dirty="0"/>
          </a:p>
        </p:txBody>
      </p:sp>
      <p:sp>
        <p:nvSpPr>
          <p:cNvPr id="29" name="Text 27"/>
          <p:cNvSpPr/>
          <p:nvPr/>
        </p:nvSpPr>
        <p:spPr>
          <a:xfrm>
            <a:off x="812800" y="4886871"/>
            <a:ext cx="1511300"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E6EDF3"/>
                </a:solidFill>
                <a:latin typeface="Arial" pitchFamily="34" charset="0"/>
                <a:ea typeface="Arial" pitchFamily="34" charset="-122"/>
                <a:cs typeface="Arial" pitchFamily="34" charset="-120"/>
              </a:rPr>
              <a:t>241020（日）</a:t>
            </a:r>
            <a:endParaRPr lang="en-US" sz="1600" dirty="0"/>
          </a:p>
        </p:txBody>
      </p:sp>
      <p:sp>
        <p:nvSpPr>
          <p:cNvPr id="30" name="Text 28"/>
          <p:cNvSpPr/>
          <p:nvPr/>
        </p:nvSpPr>
        <p:spPr>
          <a:xfrm>
            <a:off x="2403475" y="4890046"/>
            <a:ext cx="9080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908</a:t>
            </a:r>
            <a:endParaRPr lang="en-US" sz="1545" dirty="0"/>
          </a:p>
        </p:txBody>
      </p:sp>
      <p:sp>
        <p:nvSpPr>
          <p:cNvPr id="31" name="Text 29"/>
          <p:cNvSpPr/>
          <p:nvPr/>
        </p:nvSpPr>
        <p:spPr>
          <a:xfrm>
            <a:off x="2374900" y="5267871"/>
            <a:ext cx="965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15:08 UTC</a:t>
            </a:r>
            <a:endParaRPr lang="en-US" sz="1200" dirty="0"/>
          </a:p>
        </p:txBody>
      </p:sp>
      <p:sp>
        <p:nvSpPr>
          <p:cNvPr id="32" name="Text 30"/>
          <p:cNvSpPr/>
          <p:nvPr/>
        </p:nvSpPr>
        <p:spPr>
          <a:xfrm>
            <a:off x="3444875" y="4890046"/>
            <a:ext cx="704850" cy="323850"/>
          </a:xfrm>
          <a:prstGeom prst="rect">
            <a:avLst/>
          </a:prstGeom>
          <a:solidFill>
            <a:srgbClr val="ED7D32"/>
          </a:solidFill>
          <a:ln w="6350">
            <a:solidFill>
              <a:srgbClr val="ED7D32"/>
            </a:solidFill>
            <a:prstDash val="solid"/>
          </a:ln>
        </p:spPr>
        <p:txBody>
          <a:bodyPr wrap="square" lIns="0" tIns="3175" rIns="0" bIns="0" rtlCol="0" anchor="t">
            <a:normAutofit/>
          </a:bodyPr>
          <a:lstStyle/>
          <a:p>
            <a:pPr algn="ctr" indent="0" marL="0">
              <a:lnSpc>
                <a:spcPts val="2518"/>
              </a:lnSpc>
              <a:buNone/>
            </a:pPr>
            <a:r>
              <a:rPr lang="en-US" sz="1545" dirty="0">
                <a:solidFill>
                  <a:srgbClr val="14110A"/>
                </a:solidFill>
                <a:latin typeface="Courier New" pitchFamily="49" charset="0"/>
                <a:ea typeface="Courier New" pitchFamily="49" charset="-122"/>
                <a:cs typeface="Courier New" pitchFamily="49" charset="-120"/>
              </a:rPr>
              <a:t>2</a:t>
            </a:r>
            <a:endParaRPr lang="en-US" sz="1545" dirty="0"/>
          </a:p>
        </p:txBody>
      </p:sp>
      <p:sp>
        <p:nvSpPr>
          <p:cNvPr id="33" name="Text 31"/>
          <p:cNvSpPr/>
          <p:nvPr/>
        </p:nvSpPr>
        <p:spPr>
          <a:xfrm>
            <a:off x="3416300" y="5267871"/>
            <a:ext cx="762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第2群</a:t>
            </a:r>
            <a:endParaRPr lang="en-US" sz="1200" dirty="0"/>
          </a:p>
        </p:txBody>
      </p:sp>
      <p:sp>
        <p:nvSpPr>
          <p:cNvPr id="34" name="Text 32"/>
          <p:cNvSpPr/>
          <p:nvPr/>
        </p:nvSpPr>
        <p:spPr>
          <a:xfrm>
            <a:off x="4283075" y="4890046"/>
            <a:ext cx="7810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30</a:t>
            </a:r>
            <a:endParaRPr lang="en-US" sz="1545" dirty="0"/>
          </a:p>
        </p:txBody>
      </p:sp>
      <p:sp>
        <p:nvSpPr>
          <p:cNvPr id="35" name="Text 33"/>
          <p:cNvSpPr/>
          <p:nvPr/>
        </p:nvSpPr>
        <p:spPr>
          <a:xfrm>
            <a:off x="4254500" y="5267871"/>
            <a:ext cx="838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30文字</a:t>
            </a:r>
            <a:endParaRPr lang="en-US" sz="1200" dirty="0"/>
          </a:p>
        </p:txBody>
      </p:sp>
      <p:sp>
        <p:nvSpPr>
          <p:cNvPr id="36" name="Text 34"/>
          <p:cNvSpPr/>
          <p:nvPr/>
        </p:nvSpPr>
        <p:spPr>
          <a:xfrm>
            <a:off x="5197475" y="4890046"/>
            <a:ext cx="7048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“P5”</a:t>
            </a:r>
            <a:endParaRPr lang="en-US" sz="1545" dirty="0"/>
          </a:p>
        </p:txBody>
      </p:sp>
      <p:sp>
        <p:nvSpPr>
          <p:cNvPr id="37" name="Text 35"/>
          <p:cNvSpPr/>
          <p:nvPr/>
        </p:nvSpPr>
        <p:spPr>
          <a:xfrm>
            <a:off x="5168900" y="5267871"/>
            <a:ext cx="762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接頭辞</a:t>
            </a:r>
            <a:endParaRPr lang="en-US" sz="1200" dirty="0"/>
          </a:p>
        </p:txBody>
      </p:sp>
      <p:sp>
        <p:nvSpPr>
          <p:cNvPr id="38" name="Text 36"/>
          <p:cNvSpPr/>
          <p:nvPr/>
        </p:nvSpPr>
        <p:spPr>
          <a:xfrm>
            <a:off x="6035675" y="4890046"/>
            <a:ext cx="11366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“d”</a:t>
            </a:r>
            <a:endParaRPr lang="en-US" sz="1545" dirty="0"/>
          </a:p>
        </p:txBody>
      </p:sp>
      <p:sp>
        <p:nvSpPr>
          <p:cNvPr id="39" name="Text 37"/>
          <p:cNvSpPr/>
          <p:nvPr/>
        </p:nvSpPr>
        <p:spPr>
          <a:xfrm>
            <a:off x="6007100" y="5267871"/>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d = 宛先付き</a:t>
            </a:r>
            <a:endParaRPr lang="en-US" sz="1200" dirty="0"/>
          </a:p>
        </p:txBody>
      </p:sp>
      <p:sp>
        <p:nvSpPr>
          <p:cNvPr id="40" name="Text 38"/>
          <p:cNvSpPr/>
          <p:nvPr/>
        </p:nvSpPr>
        <p:spPr>
          <a:xfrm>
            <a:off x="7305675" y="4890046"/>
            <a:ext cx="3498850" cy="323850"/>
          </a:xfrm>
          <a:prstGeom prst="rect">
            <a:avLst/>
          </a:prstGeom>
          <a:solidFill>
            <a:srgbClr val="0E141B"/>
          </a:solidFill>
          <a:ln w="6350">
            <a:solidFill>
              <a:srgbClr val="222A35"/>
            </a:solidFill>
            <a:prstDash val="solid"/>
          </a:ln>
        </p:spPr>
        <p:txBody>
          <a:bodyPr wrap="square" lIns="0" tIns="3175" rIns="0" bIns="0" rtlCol="0" anchor="t">
            <a:normAutofit/>
          </a:bodyPr>
          <a:lstStyle/>
          <a:p>
            <a:pPr algn="ctr" indent="0" marL="0">
              <a:lnSpc>
                <a:spcPts val="2518"/>
              </a:lnSpc>
              <a:buNone/>
            </a:pPr>
            <a:r>
              <a:rPr lang="en-US" sz="1545" dirty="0">
                <a:solidFill>
                  <a:srgbClr val="E6EDF3"/>
                </a:solidFill>
                <a:latin typeface="Courier New" pitchFamily="49" charset="0"/>
                <a:ea typeface="Courier New" pitchFamily="49" charset="-122"/>
                <a:cs typeface="Courier New" pitchFamily="49" charset="-120"/>
              </a:rPr>
              <a:t>“ALPHA FORCE+CHARLIE FORCE”</a:t>
            </a:r>
            <a:endParaRPr lang="en-US" sz="1545" dirty="0"/>
          </a:p>
        </p:txBody>
      </p:sp>
      <p:sp>
        <p:nvSpPr>
          <p:cNvPr id="41" name="Text 39"/>
          <p:cNvSpPr/>
          <p:nvPr/>
        </p:nvSpPr>
        <p:spPr>
          <a:xfrm>
            <a:off x="7249922" y="5267871"/>
            <a:ext cx="361035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FOR ALPHA FORCE, CHARLIE FORCE</a:t>
            </a:r>
            <a:endParaRPr lang="en-US" sz="1200" dirty="0"/>
          </a:p>
        </p:txBody>
      </p:sp>
      <p:sp>
        <p:nvSpPr>
          <p:cNvPr id="42" name="Text 40"/>
          <p:cNvSpPr/>
          <p:nvPr/>
        </p:nvSpPr>
        <p:spPr>
          <a:xfrm>
            <a:off x="812800" y="560819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フラグ：r 再放送 · d 宛先付き · e E6B · t MORE TO FOLLOW · c カルーセル · u 早朝の集中送信 · k E6Bのみ</a:t>
            </a:r>
            <a:endParaRPr lang="en-US" sz="1200" dirty="0"/>
          </a:p>
        </p:txBody>
      </p:sp>
      <p:sp>
        <p:nvSpPr>
          <p:cNvPr id="43" name="Text 4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データ：公開中のDTCPギャラリーに埋め込まれた日ごとのデータ</a:t>
            </a:r>
            <a:endParaRPr lang="en-US" sz="1200" dirty="0"/>
          </a:p>
        </p:txBody>
      </p:sp>
      <p:sp>
        <p:nvSpPr>
          <p:cNvPr id="44" name="Text 42"/>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ギャラリーの検索</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日を選ぶ検索語</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3514725"/>
        </p:xfrm>
        <a:graphic>
          <a:graphicData uri="http://schemas.openxmlformats.org/drawingml/2006/table">
            <a:tbl>
              <a:tblPr/>
              <a:tblGrid>
                <a:gridCol w="2321814"/>
                <a:gridCol w="6121146"/>
                <a:gridCol w="2110740"/>
              </a:tblGrid>
              <a:tr h="43934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検索語</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見つかるもの</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カードのある日</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2501</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日付の一部、位置を問わず一致：2025年1月</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23 · 23--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部分一致か先頭固定か（「-」は任意の数字）：2023年</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207 · 192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--06 · ----01</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毎年の6月 · 毎月1日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80 · 23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tue</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曜日（mon … sun）</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93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c32,27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挙げた長さがすべてある日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g12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両方の群がある日 · その2群だけの日が最も明るい</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497 (236)</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sky · fake · zero</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スカイマスター · 偽物マスター · メッセージなし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17 · 6 · 13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件数は2026年10月15日に公開中のページで再集計</a:t>
            </a:r>
            <a:endParaRPr lang="en-US" sz="1200" dirty="0"/>
          </a:p>
        </p:txBody>
      </p:sp>
      <p:sp>
        <p:nvSpPr>
          <p:cNvPr id="6" name="Text 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ギャラリーの検索</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メッセージの検索語</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3514725"/>
        </p:xfrm>
        <a:graphic>
          <a:graphicData uri="http://schemas.openxmlformats.org/drawingml/2006/table">
            <a:tbl>
              <a:tblPr/>
              <a:tblGrid>
                <a:gridCol w="2532888"/>
                <a:gridCol w="6121146"/>
                <a:gridCol w="1899666"/>
              </a:tblGrid>
              <a:tr h="43934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検索語</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1件のメッセージが…</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カードのある日</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g2c43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第2群・43文字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g2c43@0909</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…09:09 UTCの±10分以内（@09、~30、@0900-0930）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g2car · g4car</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カルーセル：奇数の長さ・約30分ごと・4回以上</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23 · 17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dir · e6 · e6only</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宛先付き · E6Bが放送 · E6Bのみ（地上の放送なし）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355 · 353 · 19</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mtf · g1mtf</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MORE TO FOLLOWの組：第1群以外 · 第1群</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28 · 264</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g2b15 · g3b14 · g3b23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15・14・23文字のブロックでできている</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47 · 17 · 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charlieforce</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名前のあるFORCE宛て（読み上げどおりに表記）</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件数は2026年10月15日に公開中のページで再集計</a:t>
            </a:r>
            <a:endParaRPr lang="en-US" sz="1200" dirty="0"/>
          </a:p>
        </p:txBody>
      </p:sp>
      <p:sp>
        <p:nvSpPr>
          <p:cNvPr id="6" name="Text 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ギャラリーの検索</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検索語の組み合わせ</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&amp;</a:t>
            </a:r>
            <a:r>
              <a:rPr lang="en-US" sz="1600" dirty="0">
                <a:solidFill>
                  <a:srgbClr val="E6EDF3"/>
                </a:solidFill>
                <a:latin typeface="Arial" pitchFamily="34" charset="0"/>
                <a:ea typeface="Arial" pitchFamily="34" charset="-122"/>
                <a:cs typeface="Arial" pitchFamily="34" charset="-120"/>
              </a:rPr>
              <a:t> かつ · </a:t>
            </a:r>
            <a:r>
              <a:rPr lang="en-US" sz="1600" dirty="0">
                <a:solidFill>
                  <a:srgbClr val="FFCC00"/>
                </a:solidFill>
                <a:latin typeface="Arial" pitchFamily="34" charset="0"/>
                <a:ea typeface="Arial" pitchFamily="34" charset="-122"/>
                <a:cs typeface="Arial" pitchFamily="34" charset="-120"/>
              </a:rPr>
              <a:t>/</a:t>
            </a:r>
            <a:r>
              <a:rPr lang="en-US" sz="1600" dirty="0">
                <a:solidFill>
                  <a:srgbClr val="E6EDF3"/>
                </a:solidFill>
                <a:latin typeface="Arial" pitchFamily="34" charset="0"/>
                <a:ea typeface="Arial" pitchFamily="34" charset="-122"/>
                <a:cs typeface="Arial" pitchFamily="34" charset="-120"/>
              </a:rPr>
              <a:t> または · </a:t>
            </a:r>
            <a:r>
              <a:rPr lang="en-US" sz="1600" dirty="0">
                <a:solidFill>
                  <a:srgbClr val="FFCC00"/>
                </a:solidFill>
                <a:latin typeface="Arial" pitchFamily="34" charset="0"/>
                <a:ea typeface="Arial" pitchFamily="34" charset="-122"/>
                <a:cs typeface="Arial" pitchFamily="34" charset="-120"/>
              </a:rPr>
              <a:t>!</a:t>
            </a:r>
            <a:r>
              <a:rPr lang="en-US" sz="1600" dirty="0">
                <a:solidFill>
                  <a:srgbClr val="E6EDF3"/>
                </a:solidFill>
                <a:latin typeface="Arial" pitchFamily="34" charset="0"/>
                <a:ea typeface="Arial" pitchFamily="34" charset="-122"/>
                <a:cs typeface="Arial" pitchFamily="34" charset="-120"/>
              </a:rPr>
              <a:t> 否定：</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2609&amp;!g1</a:t>
            </a:r>
            <a:r>
              <a:rPr lang="en-US" sz="1600" dirty="0">
                <a:solidFill>
                  <a:srgbClr val="E6EDF3"/>
                </a:solidFill>
                <a:latin typeface="Arial" pitchFamily="34" charset="0"/>
                <a:ea typeface="Arial" pitchFamily="34" charset="-122"/>
                <a:cs typeface="Arial" pitchFamily="34" charset="-120"/>
              </a:rPr>
              <a:t> → 1日（260927）</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a:t>
            </a:r>
            <a:r>
              <a:rPr lang="en-US" sz="1600" dirty="0">
                <a:solidFill>
                  <a:srgbClr val="E6EDF3"/>
                </a:solidFill>
                <a:latin typeface="Arial" pitchFamily="34" charset="0"/>
                <a:ea typeface="Arial" pitchFamily="34" charset="-122"/>
                <a:cs typeface="Arial" pitchFamily="34" charset="-120"/>
              </a:rPr>
              <a:t> いずれか：</a:t>
            </a:r>
            <a:r>
              <a:rPr lang="en-US" sz="1600" dirty="0">
                <a:solidFill>
                  <a:srgbClr val="FFCC00"/>
                </a:solidFill>
                <a:latin typeface="Arial" pitchFamily="34" charset="0"/>
                <a:ea typeface="Arial" pitchFamily="34" charset="-122"/>
                <a:cs typeface="Arial" pitchFamily="34" charset="-120"/>
              </a:rPr>
              <a:t>m3537,m43</a:t>
            </a:r>
            <a:r>
              <a:rPr lang="en-US" sz="1600" dirty="0">
                <a:solidFill>
                  <a:srgbClr val="E6EDF3"/>
                </a:solidFill>
                <a:latin typeface="Arial" pitchFamily="34" charset="0"/>
                <a:ea typeface="Arial" pitchFamily="34" charset="-122"/>
                <a:cs typeface="Arial" pitchFamily="34" charset="-120"/>
              </a:rPr>
              <a:t> → 10日</a:t>
            </a:r>
            <a:endParaRPr lang="en-US" sz="1600" dirty="0"/>
          </a:p>
        </p:txBody>
      </p:sp>
      <p:sp>
        <p:nvSpPr>
          <p:cNvPr id="8" name="Shape 6"/>
          <p:cNvSpPr/>
          <p:nvPr/>
        </p:nvSpPr>
        <p:spPr>
          <a:xfrm>
            <a:off x="812800" y="3317825"/>
            <a:ext cx="4572000" cy="0"/>
          </a:xfrm>
          <a:prstGeom prst="line">
            <a:avLst/>
          </a:prstGeom>
          <a:noFill/>
          <a:ln w="6350">
            <a:solidFill>
              <a:srgbClr val="222A35"/>
            </a:solidFill>
            <a:prstDash val="solid"/>
          </a:ln>
        </p:spPr>
      </p:sp>
      <p:sp>
        <p:nvSpPr>
          <p:cNvPr id="9" name="Text 7"/>
          <p:cNvSpPr/>
          <p:nvPr/>
        </p:nvSpPr>
        <p:spPr>
          <a:xfrm>
            <a:off x="812800" y="34226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a&gt;b</a:t>
            </a:r>
            <a:r>
              <a:rPr lang="en-US" sz="1600" dirty="0">
                <a:solidFill>
                  <a:srgbClr val="E6EDF3"/>
                </a:solidFill>
                <a:latin typeface="Arial" pitchFamily="34" charset="0"/>
                <a:ea typeface="Arial" pitchFamily="34" charset="-122"/>
                <a:cs typeface="Arial" pitchFamily="34" charset="-120"/>
              </a:rPr>
              <a:t>：aのあと15分以内にb ·</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a~b</a:t>
            </a:r>
            <a:r>
              <a:rPr lang="en-US" sz="1600" dirty="0">
                <a:solidFill>
                  <a:srgbClr val="E6EDF3"/>
                </a:solidFill>
                <a:latin typeface="Arial" pitchFamily="34" charset="0"/>
                <a:ea typeface="Arial" pitchFamily="34" charset="-122"/>
                <a:cs typeface="Arial" pitchFamily="34" charset="-120"/>
              </a:rPr>
              <a:t>：順序は問わない · </a:t>
            </a:r>
            <a:r>
              <a:rPr lang="en-US" sz="1600" dirty="0">
                <a:solidFill>
                  <a:srgbClr val="FFCC00"/>
                </a:solidFill>
                <a:latin typeface="Arial" pitchFamily="34" charset="0"/>
                <a:ea typeface="Arial" pitchFamily="34" charset="-122"/>
                <a:cs typeface="Arial" pitchFamily="34" charset="-120"/>
              </a:rPr>
              <a:t>~N</a:t>
            </a:r>
            <a:r>
              <a:rPr lang="en-US" sz="1600" dirty="0">
                <a:solidFill>
                  <a:srgbClr val="E6EDF3"/>
                </a:solidFill>
                <a:latin typeface="Arial" pitchFamily="34" charset="0"/>
                <a:ea typeface="Arial" pitchFamily="34" charset="-122"/>
                <a:cs typeface="Arial" pitchFamily="34" charset="-120"/>
              </a:rPr>
              <a:t>：時間幅</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g3c22&gt;g3c31</a:t>
            </a:r>
            <a:r>
              <a:rPr lang="en-US" sz="1600" dirty="0">
                <a:solidFill>
                  <a:srgbClr val="E6EDF3"/>
                </a:solidFill>
                <a:latin typeface="Arial" pitchFamily="34" charset="0"/>
                <a:ea typeface="Arial" pitchFamily="34" charset="-122"/>
                <a:cs typeface="Arial" pitchFamily="34" charset="-120"/>
              </a:rPr>
              <a:t> → 260915、261013 ·</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~5</a:t>
            </a:r>
            <a:r>
              <a:rPr lang="en-US" sz="1600" dirty="0">
                <a:solidFill>
                  <a:srgbClr val="E6EDF3"/>
                </a:solidFill>
                <a:latin typeface="Arial" pitchFamily="34" charset="0"/>
                <a:ea typeface="Arial" pitchFamily="34" charset="-122"/>
                <a:cs typeface="Arial" pitchFamily="34" charset="-120"/>
              </a:rPr>
              <a:t>では → 261013のみ</a:t>
            </a:r>
            <a:endParaRPr lang="en-US" sz="1600" dirty="0"/>
          </a:p>
        </p:txBody>
      </p:sp>
      <p:sp>
        <p:nvSpPr>
          <p:cNvPr id="12" name="Shape 10"/>
          <p:cNvSpPr/>
          <p:nvPr/>
        </p:nvSpPr>
        <p:spPr>
          <a:xfrm>
            <a:off x="812800" y="4956125"/>
            <a:ext cx="4572000" cy="0"/>
          </a:xfrm>
          <a:prstGeom prst="line">
            <a:avLst/>
          </a:prstGeom>
          <a:noFill/>
          <a:ln w="6350">
            <a:solidFill>
              <a:srgbClr val="222A35"/>
            </a:solidFill>
            <a:prstDash val="solid"/>
          </a:ln>
        </p:spPr>
      </p:sp>
      <p:sp>
        <p:nvSpPr>
          <p:cNvPr id="13" name="Text 11"/>
          <p:cNvSpPr/>
          <p:nvPr/>
        </p:nvSpPr>
        <p:spPr>
          <a:xfrm>
            <a:off x="812800" y="50609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末尾の</a:t>
            </a:r>
            <a:r>
              <a:rPr lang="en-US" sz="1600" dirty="0">
                <a:solidFill>
                  <a:srgbClr val="FFCC00"/>
                </a:solidFill>
                <a:latin typeface="Arial" pitchFamily="34" charset="0"/>
                <a:ea typeface="Arial" pitchFamily="34" charset="-122"/>
                <a:cs typeface="Arial" pitchFamily="34" charset="-120"/>
              </a:rPr>
              <a:t>x</a:t>
            </a:r>
            <a:r>
              <a:rPr lang="en-US" sz="1600" dirty="0">
                <a:solidFill>
                  <a:srgbClr val="E6EDF3"/>
                </a:solidFill>
                <a:latin typeface="Arial" pitchFamily="34" charset="0"/>
                <a:ea typeface="Arial" pitchFamily="34" charset="-122"/>
                <a:cs typeface="Arial" pitchFamily="34" charset="-120"/>
              </a:rPr>
              <a:t>でヒットのない週を折りたたむ：</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charlieforcex</a:t>
            </a:r>
            <a:r>
              <a:rPr lang="en-US" sz="1600" dirty="0">
                <a:solidFill>
                  <a:srgbClr val="E6EDF3"/>
                </a:solidFill>
                <a:latin typeface="Arial" pitchFamily="34" charset="0"/>
                <a:ea typeface="Arial" pitchFamily="34" charset="-122"/>
                <a:cs typeface="Arial" pitchFamily="34" charset="-120"/>
              </a:rPr>
              <a:t> → 12日</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charlieforcexで検索したギャラリー（英語のページ）：2024年10月と2025年10月に点灯した12日があり、そのあいだの週は「69 weeks」「51 weeks」「50 weeks」と書かれた破線に折りたたまれている">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neetintel.github.io/dtcp_gallery.html?charlieforcex</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ギャラリーの検索</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1週間違いの二つの火曜日</a:t>
            </a:r>
            <a:endParaRPr lang="en-US" sz="3600" dirty="0"/>
          </a:p>
        </p:txBody>
      </p:sp>
      <p:sp>
        <p:nvSpPr>
          <p:cNvPr id="4" name="Shape 2"/>
          <p:cNvSpPr/>
          <p:nvPr/>
        </p:nvSpPr>
        <p:spPr>
          <a:xfrm>
            <a:off x="812800" y="1984325"/>
            <a:ext cx="3200400" cy="0"/>
          </a:xfrm>
          <a:prstGeom prst="line">
            <a:avLst/>
          </a:prstGeom>
          <a:noFill/>
          <a:ln w="6350">
            <a:solidFill>
              <a:srgbClr val="222A35"/>
            </a:solidFill>
            <a:prstDash val="solid"/>
          </a:ln>
        </p:spPr>
      </p:sp>
      <p:sp>
        <p:nvSpPr>
          <p:cNvPr id="5" name="Text 3"/>
          <p:cNvSpPr/>
          <p:nvPr/>
        </p:nvSpPr>
        <p:spPr>
          <a:xfrm>
            <a:off x="812800" y="2089100"/>
            <a:ext cx="3296412"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g2c75</a:t>
            </a:r>
            <a:r>
              <a:rPr lang="en-US" sz="1600" dirty="0">
                <a:solidFill>
                  <a:srgbClr val="E6EDF3"/>
                </a:solidFill>
                <a:latin typeface="Arial" pitchFamily="34" charset="0"/>
                <a:ea typeface="Arial" pitchFamily="34" charset="-122"/>
                <a:cs typeface="Arial" pitchFamily="34" charset="-120"/>
              </a:rPr>
              <a:t> → 13日</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tue&amp;g2c75</a:t>
            </a:r>
            <a:r>
              <a:rPr lang="en-US" sz="1600" dirty="0">
                <a:solidFill>
                  <a:srgbClr val="E6EDF3"/>
                </a:solidFill>
                <a:latin typeface="Arial" pitchFamily="34" charset="0"/>
                <a:ea typeface="Arial" pitchFamily="34" charset="-122"/>
                <a:cs typeface="Arial" pitchFamily="34" charset="-120"/>
              </a:rPr>
              <a:t> → 4日</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tue&amp;g2c75@15</a:t>
            </a:r>
            <a:r>
              <a:rPr lang="en-US" sz="1600" dirty="0">
                <a:solidFill>
                  <a:srgbClr val="E6EDF3"/>
                </a:solidFill>
                <a:latin typeface="Arial" pitchFamily="34" charset="0"/>
                <a:ea typeface="Arial" pitchFamily="34" charset="-122"/>
                <a:cs typeface="Arial" pitchFamily="34" charset="-120"/>
              </a:rPr>
              <a:t> → 2日</a:t>
            </a:r>
            <a:endParaRPr lang="en-US" sz="1600" dirty="0"/>
          </a:p>
        </p:txBody>
      </p:sp>
      <p:sp>
        <p:nvSpPr>
          <p:cNvPr id="6" name="Shape 4"/>
          <p:cNvSpPr/>
          <p:nvPr/>
        </p:nvSpPr>
        <p:spPr>
          <a:xfrm>
            <a:off x="812800" y="3108275"/>
            <a:ext cx="3200400" cy="0"/>
          </a:xfrm>
          <a:prstGeom prst="line">
            <a:avLst/>
          </a:prstGeom>
          <a:noFill/>
          <a:ln w="6350">
            <a:solidFill>
              <a:srgbClr val="222A35"/>
            </a:solidFill>
            <a:prstDash val="solid"/>
          </a:ln>
        </p:spPr>
      </p:sp>
      <p:sp>
        <p:nvSpPr>
          <p:cNvPr id="7" name="Text 5"/>
          <p:cNvSpPr/>
          <p:nvPr/>
        </p:nvSpPr>
        <p:spPr>
          <a:xfrm>
            <a:off x="812800" y="3213050"/>
            <a:ext cx="329641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g3c25&gt;g2c43~10</a:t>
            </a:r>
            <a:r>
              <a:rPr lang="en-US" sz="1600" dirty="0">
                <a:solidFill>
                  <a:srgbClr val="E6EDF3"/>
                </a:solidFill>
                <a:latin typeface="Arial" pitchFamily="34" charset="0"/>
                <a:ea typeface="Arial" pitchFamily="34" charset="-122"/>
                <a:cs typeface="Arial" pitchFamily="34" charset="-120"/>
              </a:rPr>
              <a:t> → 同じ2日：</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250916、250923</a:t>
            </a:r>
            <a:endParaRPr lang="en-US" sz="1600" dirty="0"/>
          </a:p>
        </p:txBody>
      </p:sp>
      <p:sp>
        <p:nvSpPr>
          <p:cNvPr id="8" name="Shape 6"/>
          <p:cNvSpPr/>
          <p:nvPr/>
        </p:nvSpPr>
        <p:spPr>
          <a:xfrm>
            <a:off x="812800" y="3927425"/>
            <a:ext cx="3200400" cy="0"/>
          </a:xfrm>
          <a:prstGeom prst="line">
            <a:avLst/>
          </a:prstGeom>
          <a:noFill/>
          <a:ln w="6350">
            <a:solidFill>
              <a:srgbClr val="222A35"/>
            </a:solidFill>
            <a:prstDash val="solid"/>
          </a:ln>
        </p:spPr>
      </p:sp>
      <p:sp>
        <p:nvSpPr>
          <p:cNvPr id="9" name="Text 7"/>
          <p:cNvSpPr/>
          <p:nvPr/>
        </p:nvSpPr>
        <p:spPr>
          <a:xfrm>
            <a:off x="812800" y="4032200"/>
            <a:ext cx="3296412"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G2の3枠がそろう ·</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G2の接頭辞 WM → 27 ·</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G3の接頭辞は両週とも7Z</a:t>
            </a:r>
            <a:endParaRPr lang="en-US" sz="1600" dirty="0"/>
          </a:p>
        </p:txBody>
      </p:sp>
      <p:sp>
        <p:nvSpPr>
          <p:cNvPr id="10" name="Shape 8"/>
          <p:cNvSpPr/>
          <p:nvPr/>
        </p:nvSpPr>
        <p:spPr>
          <a:xfrm>
            <a:off x="812800" y="5051375"/>
            <a:ext cx="3200400" cy="0"/>
          </a:xfrm>
          <a:prstGeom prst="line">
            <a:avLst/>
          </a:prstGeom>
          <a:noFill/>
          <a:ln w="6350">
            <a:solidFill>
              <a:srgbClr val="222A35"/>
            </a:solidFill>
            <a:prstDash val="solid"/>
          </a:ln>
        </p:spPr>
      </p:sp>
      <p:sp>
        <p:nvSpPr>
          <p:cNvPr id="11" name="Text 9"/>
          <p:cNvSpPr/>
          <p:nvPr/>
        </p:nvSpPr>
        <p:spPr>
          <a:xfrm>
            <a:off x="812800" y="5156150"/>
            <a:ext cx="329641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?v250916,250923</a:t>
            </a:r>
            <a:r>
              <a:rPr lang="en-US" sz="1600" dirty="0">
                <a:solidFill>
                  <a:srgbClr val="E6EDF3"/>
                </a:solidFill>
                <a:latin typeface="Arial" pitchFamily="34" charset="0"/>
                <a:ea typeface="Arial" pitchFamily="34" charset="-122"/>
                <a:cs typeface="Arial" pitchFamily="34" charset="-120"/>
              </a:rPr>
              <a:t> → リンク3件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14:53 · 15:50/15:45 · 16:07</a:t>
            </a:r>
            <a:endParaRPr lang="en-US" sz="1600" dirty="0"/>
          </a:p>
        </p:txBody>
      </p:sp>
      <p:sp>
        <p:nvSpPr>
          <p:cNvPr id="12" name="Text 10"/>
          <p:cNvSpPr/>
          <p:nvPr/>
        </p:nvSpPr>
        <p:spPr>
          <a:xfrm>
            <a:off x="5358745" y="1981150"/>
            <a:ext cx="1296055"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E6EDF3"/>
                </a:solidFill>
                <a:latin typeface="Arial" pitchFamily="34" charset="0"/>
                <a:ea typeface="Arial" pitchFamily="34" charset="-122"/>
                <a:cs typeface="Arial" pitchFamily="34" charset="-120"/>
              </a:rPr>
              <a:t>250916（火）</a:t>
            </a:r>
            <a:endParaRPr lang="en-US" sz="1200" dirty="0"/>
          </a:p>
        </p:txBody>
      </p:sp>
      <p:sp>
        <p:nvSpPr>
          <p:cNvPr id="13" name="Text 11"/>
          <p:cNvSpPr/>
          <p:nvPr/>
        </p:nvSpPr>
        <p:spPr>
          <a:xfrm>
            <a:off x="6654800" y="1981150"/>
            <a:ext cx="25638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6EDF3"/>
                </a:solidFill>
                <a:latin typeface="Arial" pitchFamily="34" charset="0"/>
                <a:ea typeface="Arial" pitchFamily="34" charset="-122"/>
                <a:cs typeface="Arial" pitchFamily="34" charset="-120"/>
              </a:rPr>
              <a:t>250923（火）</a:t>
            </a:r>
            <a:endParaRPr lang="en-US" sz="1200" dirty="0"/>
          </a:p>
        </p:txBody>
      </p:sp>
      <p:sp>
        <p:nvSpPr>
          <p:cNvPr id="14" name="Text 12"/>
          <p:cNvSpPr/>
          <p:nvPr/>
        </p:nvSpPr>
        <p:spPr>
          <a:xfrm>
            <a:off x="5499100" y="2257971"/>
            <a:ext cx="1155700" cy="254000"/>
          </a:xfrm>
          <a:prstGeom prst="rect">
            <a:avLst/>
          </a:prstGeom>
          <a:solidFill>
            <a:srgbClr val="ED7D32">
              <a:alpha val="40000"/>
            </a:srgbClr>
          </a:solidFill>
          <a:ln/>
        </p:spPr>
        <p:txBody>
          <a:bodyPr wrap="square" lIns="0" tIns="0" rIns="0" bIns="0" rtlCol="0" anchor="t">
            <a:normAutofit/>
          </a:bodyPr>
          <a:lstStyle/>
          <a:p>
            <a:pPr algn="ctr" indent="0" marL="0">
              <a:lnSpc>
                <a:spcPts val="2004"/>
              </a:lnSpc>
              <a:buNone/>
            </a:pPr>
            <a:r>
              <a:rPr lang="en-US" sz="1200" dirty="0">
                <a:solidFill>
                  <a:srgbClr val="14110A">
                    <a:alpha val="40000"/>
                  </a:srgbClr>
                </a:solidFill>
                <a:latin typeface="Courier New" pitchFamily="49" charset="0"/>
                <a:ea typeface="Courier New" pitchFamily="49" charset="-122"/>
                <a:cs typeface="Courier New" pitchFamily="49" charset="-120"/>
              </a:rPr>
              <a:t>09:09 G2-43</a:t>
            </a:r>
            <a:endParaRPr lang="en-US" sz="1200" dirty="0"/>
          </a:p>
        </p:txBody>
      </p:sp>
      <p:sp>
        <p:nvSpPr>
          <p:cNvPr id="15" name="Text 13"/>
          <p:cNvSpPr/>
          <p:nvPr/>
        </p:nvSpPr>
        <p:spPr>
          <a:xfrm>
            <a:off x="5499100" y="2575471"/>
            <a:ext cx="1155700" cy="254000"/>
          </a:xfrm>
          <a:prstGeom prst="rect">
            <a:avLst/>
          </a:prstGeom>
          <a:solidFill>
            <a:srgbClr val="ED7D32">
              <a:alpha val="40000"/>
            </a:srgbClr>
          </a:solidFill>
          <a:ln/>
        </p:spPr>
        <p:txBody>
          <a:bodyPr wrap="square" lIns="0" tIns="0" rIns="0" bIns="0" rtlCol="0" anchor="t">
            <a:normAutofit/>
          </a:bodyPr>
          <a:lstStyle/>
          <a:p>
            <a:pPr algn="ctr" indent="0" marL="0">
              <a:lnSpc>
                <a:spcPts val="2004"/>
              </a:lnSpc>
              <a:buNone/>
            </a:pPr>
            <a:r>
              <a:rPr lang="en-US" sz="1200" dirty="0">
                <a:solidFill>
                  <a:srgbClr val="14110A">
                    <a:alpha val="40000"/>
                  </a:srgbClr>
                </a:solidFill>
                <a:latin typeface="Courier New" pitchFamily="49" charset="0"/>
                <a:ea typeface="Courier New" pitchFamily="49" charset="-122"/>
                <a:cs typeface="Courier New" pitchFamily="49" charset="-120"/>
              </a:rPr>
              <a:t>14:53 G2-30</a:t>
            </a:r>
            <a:endParaRPr lang="en-US" sz="1200" dirty="0"/>
          </a:p>
        </p:txBody>
      </p:sp>
      <p:sp>
        <p:nvSpPr>
          <p:cNvPr id="16" name="Shape 14"/>
          <p:cNvSpPr/>
          <p:nvPr/>
        </p:nvSpPr>
        <p:spPr>
          <a:xfrm>
            <a:off x="6654800" y="2702471"/>
            <a:ext cx="711200" cy="0"/>
          </a:xfrm>
          <a:prstGeom prst="line">
            <a:avLst/>
          </a:prstGeom>
          <a:noFill/>
          <a:ln w="12700">
            <a:solidFill>
              <a:srgbClr val="CFD3E6"/>
            </a:solidFill>
            <a:prstDash val="dash"/>
          </a:ln>
        </p:spPr>
      </p:sp>
      <p:sp>
        <p:nvSpPr>
          <p:cNvPr id="17" name="Text 15"/>
          <p:cNvSpPr/>
          <p:nvPr/>
        </p:nvSpPr>
        <p:spPr>
          <a:xfrm>
            <a:off x="7366000" y="2575471"/>
            <a:ext cx="1155700" cy="254000"/>
          </a:xfrm>
          <a:prstGeom prst="rect">
            <a:avLst/>
          </a:prstGeom>
          <a:solidFill>
            <a:srgbClr val="ED7D32">
              <a:alpha val="40000"/>
            </a:srgbClr>
          </a:solidFill>
          <a:ln/>
        </p:spPr>
        <p:txBody>
          <a:bodyPr wrap="square" lIns="0" tIns="0" rIns="0" bIns="0" rtlCol="0" anchor="t">
            <a:normAutofit/>
          </a:bodyPr>
          <a:lstStyle/>
          <a:p>
            <a:pPr algn="ctr" indent="0" marL="0">
              <a:lnSpc>
                <a:spcPts val="2004"/>
              </a:lnSpc>
              <a:buNone/>
            </a:pPr>
            <a:r>
              <a:rPr lang="en-US" sz="1200" dirty="0">
                <a:solidFill>
                  <a:srgbClr val="14110A">
                    <a:alpha val="40000"/>
                  </a:srgbClr>
                </a:solidFill>
                <a:latin typeface="Courier New" pitchFamily="49" charset="0"/>
                <a:ea typeface="Courier New" pitchFamily="49" charset="-122"/>
                <a:cs typeface="Courier New" pitchFamily="49" charset="-120"/>
              </a:rPr>
              <a:t>14:53 G2-30</a:t>
            </a:r>
            <a:endParaRPr lang="en-US" sz="1200" dirty="0"/>
          </a:p>
        </p:txBody>
      </p:sp>
      <p:sp>
        <p:nvSpPr>
          <p:cNvPr id="18" name="Text 16"/>
          <p:cNvSpPr/>
          <p:nvPr/>
        </p:nvSpPr>
        <p:spPr>
          <a:xfrm>
            <a:off x="4165600" y="2892971"/>
            <a:ext cx="1155700" cy="254000"/>
          </a:xfrm>
          <a:prstGeom prst="rect">
            <a:avLst/>
          </a:prstGeom>
          <a:solidFill>
            <a:srgbClr val="ED7D32">
              <a:alpha val="40000"/>
            </a:srgbClr>
          </a:solidFill>
          <a:ln/>
        </p:spPr>
        <p:txBody>
          <a:bodyPr wrap="square" lIns="0" tIns="0" rIns="0" bIns="0" rtlCol="0" anchor="t">
            <a:normAutofit/>
          </a:bodyPr>
          <a:lstStyle/>
          <a:p>
            <a:pPr algn="ctr" indent="0" marL="0">
              <a:lnSpc>
                <a:spcPts val="2004"/>
              </a:lnSpc>
              <a:buNone/>
            </a:pPr>
            <a:r>
              <a:rPr lang="en-US" sz="1200" dirty="0">
                <a:solidFill>
                  <a:srgbClr val="14110A">
                    <a:alpha val="40000"/>
                  </a:srgbClr>
                </a:solidFill>
                <a:latin typeface="Courier New" pitchFamily="49" charset="0"/>
                <a:ea typeface="Courier New" pitchFamily="49" charset="-122"/>
                <a:cs typeface="Courier New" pitchFamily="49" charset="-120"/>
              </a:rPr>
              <a:t>15:09 G2-30</a:t>
            </a:r>
            <a:endParaRPr lang="en-US" sz="1200" dirty="0"/>
          </a:p>
        </p:txBody>
      </p:sp>
      <p:sp>
        <p:nvSpPr>
          <p:cNvPr id="19" name="Text 17"/>
          <p:cNvSpPr/>
          <p:nvPr/>
        </p:nvSpPr>
        <p:spPr>
          <a:xfrm>
            <a:off x="5505450" y="3216821"/>
            <a:ext cx="1143000" cy="241300"/>
          </a:xfrm>
          <a:prstGeom prst="rect">
            <a:avLst/>
          </a:prstGeom>
          <a:solidFill>
            <a:srgbClr val="ED7D32"/>
          </a:solidFill>
          <a:ln w="12700">
            <a:solidFill>
              <a:srgbClr val="E6EDF3"/>
            </a:solidFill>
            <a:prstDash val="solid"/>
          </a:ln>
        </p:spPr>
        <p:txBody>
          <a:bodyPr wrap="square" lIns="0" tIns="6350" rIns="0" bIns="0" rtlCol="0" anchor="t">
            <a:normAutofit/>
          </a:bodyPr>
          <a:lstStyle/>
          <a:p>
            <a:pPr algn="ctr" indent="0" marL="0">
              <a:lnSpc>
                <a:spcPts val="1800"/>
              </a:lnSpc>
              <a:buNone/>
            </a:pPr>
            <a:r>
              <a:rPr lang="en-US" sz="1200" dirty="0">
                <a:solidFill>
                  <a:srgbClr val="14110A"/>
                </a:solidFill>
                <a:latin typeface="Courier New" pitchFamily="49" charset="0"/>
                <a:ea typeface="Courier New" pitchFamily="49" charset="-122"/>
                <a:cs typeface="Courier New" pitchFamily="49" charset="-120"/>
              </a:rPr>
              <a:t>15:50 G2-75</a:t>
            </a:r>
            <a:endParaRPr lang="en-US" sz="1200" dirty="0"/>
          </a:p>
        </p:txBody>
      </p:sp>
      <p:sp>
        <p:nvSpPr>
          <p:cNvPr id="20" name="Shape 18"/>
          <p:cNvSpPr/>
          <p:nvPr/>
        </p:nvSpPr>
        <p:spPr>
          <a:xfrm>
            <a:off x="6654800" y="3337471"/>
            <a:ext cx="711200" cy="0"/>
          </a:xfrm>
          <a:prstGeom prst="line">
            <a:avLst/>
          </a:prstGeom>
          <a:noFill/>
          <a:ln w="12700">
            <a:solidFill>
              <a:srgbClr val="CFD3E6"/>
            </a:solidFill>
            <a:prstDash val="dash"/>
          </a:ln>
        </p:spPr>
      </p:sp>
      <p:sp>
        <p:nvSpPr>
          <p:cNvPr id="21" name="Text 19"/>
          <p:cNvSpPr/>
          <p:nvPr/>
        </p:nvSpPr>
        <p:spPr>
          <a:xfrm>
            <a:off x="7372350" y="3216821"/>
            <a:ext cx="1143000" cy="241300"/>
          </a:xfrm>
          <a:prstGeom prst="rect">
            <a:avLst/>
          </a:prstGeom>
          <a:solidFill>
            <a:srgbClr val="ED7D32"/>
          </a:solidFill>
          <a:ln w="12700">
            <a:solidFill>
              <a:srgbClr val="E6EDF3"/>
            </a:solidFill>
            <a:prstDash val="solid"/>
          </a:ln>
        </p:spPr>
        <p:txBody>
          <a:bodyPr wrap="square" lIns="0" tIns="6350" rIns="0" bIns="0" rtlCol="0" anchor="t">
            <a:normAutofit/>
          </a:bodyPr>
          <a:lstStyle/>
          <a:p>
            <a:pPr algn="ctr" indent="0" marL="0">
              <a:lnSpc>
                <a:spcPts val="1800"/>
              </a:lnSpc>
              <a:buNone/>
            </a:pPr>
            <a:r>
              <a:rPr lang="en-US" sz="1200" dirty="0">
                <a:solidFill>
                  <a:srgbClr val="14110A"/>
                </a:solidFill>
                <a:latin typeface="Courier New" pitchFamily="49" charset="0"/>
                <a:ea typeface="Courier New" pitchFamily="49" charset="-122"/>
                <a:cs typeface="Courier New" pitchFamily="49" charset="-120"/>
              </a:rPr>
              <a:t>15:45 G2-75</a:t>
            </a:r>
            <a:endParaRPr lang="en-US" sz="1200" dirty="0"/>
          </a:p>
        </p:txBody>
      </p:sp>
      <p:sp>
        <p:nvSpPr>
          <p:cNvPr id="22" name="Text 20"/>
          <p:cNvSpPr/>
          <p:nvPr/>
        </p:nvSpPr>
        <p:spPr>
          <a:xfrm>
            <a:off x="8674100" y="3230811"/>
            <a:ext cx="1231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CC00"/>
                </a:solidFill>
                <a:latin typeface="Courier New" pitchFamily="49" charset="0"/>
                <a:ea typeface="Courier New" pitchFamily="49" charset="-122"/>
                <a:cs typeface="Courier New" pitchFamily="49" charset="-120"/>
              </a:rPr>
              <a:t>tue&amp;g2c75@15</a:t>
            </a:r>
            <a:endParaRPr lang="en-US" sz="1200" dirty="0"/>
          </a:p>
        </p:txBody>
      </p:sp>
      <p:sp>
        <p:nvSpPr>
          <p:cNvPr id="23" name="Text 21"/>
          <p:cNvSpPr/>
          <p:nvPr/>
        </p:nvSpPr>
        <p:spPr>
          <a:xfrm>
            <a:off x="4165600" y="3527971"/>
            <a:ext cx="1155700" cy="254000"/>
          </a:xfrm>
          <a:prstGeom prst="rect">
            <a:avLst/>
          </a:prstGeom>
          <a:solidFill>
            <a:srgbClr val="FFCC00">
              <a:alpha val="40000"/>
            </a:srgbClr>
          </a:solidFill>
          <a:ln/>
        </p:spPr>
        <p:txBody>
          <a:bodyPr wrap="square" lIns="0" tIns="0" rIns="0" bIns="0" rtlCol="0" anchor="t">
            <a:normAutofit/>
          </a:bodyPr>
          <a:lstStyle/>
          <a:p>
            <a:pPr algn="ctr" indent="0" marL="0">
              <a:lnSpc>
                <a:spcPts val="2004"/>
              </a:lnSpc>
              <a:buNone/>
            </a:pPr>
            <a:r>
              <a:rPr lang="en-US" sz="1200" dirty="0">
                <a:solidFill>
                  <a:srgbClr val="14110A">
                    <a:alpha val="40000"/>
                  </a:srgbClr>
                </a:solidFill>
                <a:latin typeface="Courier New" pitchFamily="49" charset="0"/>
                <a:ea typeface="Courier New" pitchFamily="49" charset="-122"/>
                <a:cs typeface="Courier New" pitchFamily="49" charset="-120"/>
              </a:rPr>
              <a:t>15:51 G3-32</a:t>
            </a:r>
            <a:endParaRPr lang="en-US" sz="1200" dirty="0"/>
          </a:p>
        </p:txBody>
      </p:sp>
      <p:sp>
        <p:nvSpPr>
          <p:cNvPr id="24" name="Text 22"/>
          <p:cNvSpPr/>
          <p:nvPr/>
        </p:nvSpPr>
        <p:spPr>
          <a:xfrm>
            <a:off x="5499100" y="3845471"/>
            <a:ext cx="1155700" cy="254000"/>
          </a:xfrm>
          <a:prstGeom prst="rect">
            <a:avLst/>
          </a:prstGeom>
          <a:solidFill>
            <a:srgbClr val="ED7D32">
              <a:alpha val="40000"/>
            </a:srgbClr>
          </a:solidFill>
          <a:ln/>
        </p:spPr>
        <p:txBody>
          <a:bodyPr wrap="square" lIns="0" tIns="0" rIns="0" bIns="0" rtlCol="0" anchor="t">
            <a:normAutofit/>
          </a:bodyPr>
          <a:lstStyle/>
          <a:p>
            <a:pPr algn="ctr" indent="0" marL="0">
              <a:lnSpc>
                <a:spcPts val="2004"/>
              </a:lnSpc>
              <a:buNone/>
            </a:pPr>
            <a:r>
              <a:rPr lang="en-US" sz="1200" dirty="0">
                <a:solidFill>
                  <a:srgbClr val="14110A">
                    <a:alpha val="40000"/>
                  </a:srgbClr>
                </a:solidFill>
                <a:latin typeface="Courier New" pitchFamily="49" charset="0"/>
                <a:ea typeface="Courier New" pitchFamily="49" charset="-122"/>
                <a:cs typeface="Courier New" pitchFamily="49" charset="-120"/>
              </a:rPr>
              <a:t>16:07 G2-30</a:t>
            </a:r>
            <a:endParaRPr lang="en-US" sz="1200" dirty="0"/>
          </a:p>
        </p:txBody>
      </p:sp>
      <p:sp>
        <p:nvSpPr>
          <p:cNvPr id="25" name="Shape 23"/>
          <p:cNvSpPr/>
          <p:nvPr/>
        </p:nvSpPr>
        <p:spPr>
          <a:xfrm>
            <a:off x="6654800" y="3972471"/>
            <a:ext cx="711200" cy="0"/>
          </a:xfrm>
          <a:prstGeom prst="line">
            <a:avLst/>
          </a:prstGeom>
          <a:noFill/>
          <a:ln w="12700">
            <a:solidFill>
              <a:srgbClr val="CFD3E6"/>
            </a:solidFill>
            <a:prstDash val="dash"/>
          </a:ln>
        </p:spPr>
      </p:sp>
      <p:sp>
        <p:nvSpPr>
          <p:cNvPr id="26" name="Text 24"/>
          <p:cNvSpPr/>
          <p:nvPr/>
        </p:nvSpPr>
        <p:spPr>
          <a:xfrm>
            <a:off x="7366000" y="3845471"/>
            <a:ext cx="1155700" cy="254000"/>
          </a:xfrm>
          <a:prstGeom prst="rect">
            <a:avLst/>
          </a:prstGeom>
          <a:solidFill>
            <a:srgbClr val="ED7D32">
              <a:alpha val="40000"/>
            </a:srgbClr>
          </a:solidFill>
          <a:ln/>
        </p:spPr>
        <p:txBody>
          <a:bodyPr wrap="square" lIns="0" tIns="0" rIns="0" bIns="0" rtlCol="0" anchor="t">
            <a:normAutofit/>
          </a:bodyPr>
          <a:lstStyle/>
          <a:p>
            <a:pPr algn="ctr" indent="0" marL="0">
              <a:lnSpc>
                <a:spcPts val="2004"/>
              </a:lnSpc>
              <a:buNone/>
            </a:pPr>
            <a:r>
              <a:rPr lang="en-US" sz="1200" dirty="0">
                <a:solidFill>
                  <a:srgbClr val="14110A">
                    <a:alpha val="40000"/>
                  </a:srgbClr>
                </a:solidFill>
                <a:latin typeface="Courier New" pitchFamily="49" charset="0"/>
                <a:ea typeface="Courier New" pitchFamily="49" charset="-122"/>
                <a:cs typeface="Courier New" pitchFamily="49" charset="-120"/>
              </a:rPr>
              <a:t>16:07 G2-30</a:t>
            </a:r>
            <a:endParaRPr lang="en-US" sz="1200" dirty="0"/>
          </a:p>
        </p:txBody>
      </p:sp>
      <p:sp>
        <p:nvSpPr>
          <p:cNvPr id="27" name="Text 25"/>
          <p:cNvSpPr/>
          <p:nvPr/>
        </p:nvSpPr>
        <p:spPr>
          <a:xfrm>
            <a:off x="5499100" y="4162971"/>
            <a:ext cx="1155700" cy="254000"/>
          </a:xfrm>
          <a:prstGeom prst="rect">
            <a:avLst/>
          </a:prstGeom>
          <a:solidFill>
            <a:srgbClr val="ED7D32">
              <a:alpha val="40000"/>
            </a:srgbClr>
          </a:solidFill>
          <a:ln/>
        </p:spPr>
        <p:txBody>
          <a:bodyPr wrap="square" lIns="0" tIns="0" rIns="0" bIns="0" rtlCol="0" anchor="t">
            <a:normAutofit/>
          </a:bodyPr>
          <a:lstStyle/>
          <a:p>
            <a:pPr algn="ctr" indent="0" marL="0">
              <a:lnSpc>
                <a:spcPts val="2004"/>
              </a:lnSpc>
              <a:buNone/>
            </a:pPr>
            <a:r>
              <a:rPr lang="en-US" sz="1200" dirty="0">
                <a:solidFill>
                  <a:srgbClr val="14110A">
                    <a:alpha val="40000"/>
                  </a:srgbClr>
                </a:solidFill>
                <a:latin typeface="Courier New" pitchFamily="49" charset="0"/>
                <a:ea typeface="Courier New" pitchFamily="49" charset="-122"/>
                <a:cs typeface="Courier New" pitchFamily="49" charset="-120"/>
              </a:rPr>
              <a:t>16:28 G2-30</a:t>
            </a:r>
            <a:endParaRPr lang="en-US" sz="1200" dirty="0"/>
          </a:p>
        </p:txBody>
      </p:sp>
      <p:sp>
        <p:nvSpPr>
          <p:cNvPr id="28" name="Text 26"/>
          <p:cNvSpPr/>
          <p:nvPr/>
        </p:nvSpPr>
        <p:spPr>
          <a:xfrm>
            <a:off x="4171950" y="4487069"/>
            <a:ext cx="1143000" cy="241300"/>
          </a:xfrm>
          <a:prstGeom prst="rect">
            <a:avLst/>
          </a:prstGeom>
          <a:solidFill>
            <a:srgbClr val="FFCC00"/>
          </a:solidFill>
          <a:ln w="12700">
            <a:solidFill>
              <a:srgbClr val="E6EDF3"/>
            </a:solidFill>
            <a:prstDash val="solid"/>
          </a:ln>
        </p:spPr>
        <p:txBody>
          <a:bodyPr wrap="square" lIns="0" tIns="6350" rIns="0" bIns="0" rtlCol="0" anchor="t">
            <a:normAutofit/>
          </a:bodyPr>
          <a:lstStyle/>
          <a:p>
            <a:pPr algn="ctr" indent="0" marL="0">
              <a:lnSpc>
                <a:spcPts val="1800"/>
              </a:lnSpc>
              <a:buNone/>
            </a:pPr>
            <a:r>
              <a:rPr lang="en-US" sz="1200" dirty="0">
                <a:solidFill>
                  <a:srgbClr val="14110A"/>
                </a:solidFill>
                <a:latin typeface="Courier New" pitchFamily="49" charset="0"/>
                <a:ea typeface="Courier New" pitchFamily="49" charset="-122"/>
                <a:cs typeface="Courier New" pitchFamily="49" charset="-120"/>
              </a:rPr>
              <a:t>21:17 G3-25</a:t>
            </a:r>
            <a:endParaRPr lang="en-US" sz="1200" dirty="0"/>
          </a:p>
        </p:txBody>
      </p:sp>
      <p:sp>
        <p:nvSpPr>
          <p:cNvPr id="29" name="Text 27"/>
          <p:cNvSpPr/>
          <p:nvPr/>
        </p:nvSpPr>
        <p:spPr>
          <a:xfrm>
            <a:off x="5295900" y="4480471"/>
            <a:ext cx="228600" cy="279896"/>
          </a:xfrm>
          <a:prstGeom prst="rect">
            <a:avLst/>
          </a:prstGeom>
          <a:noFill/>
          <a:ln/>
        </p:spPr>
        <p:txBody>
          <a:bodyPr wrap="square" lIns="0" tIns="0" rIns="0" bIns="0" rtlCol="0" anchor="t">
            <a:normAutofit/>
          </a:bodyPr>
          <a:lstStyle/>
          <a:p>
            <a:pPr algn="ctr" indent="0" marL="0">
              <a:lnSpc>
                <a:spcPts val="2004"/>
              </a:lnSpc>
              <a:buNone/>
            </a:pPr>
            <a:r>
              <a:rPr lang="en-US" sz="1200" dirty="0">
                <a:solidFill>
                  <a:srgbClr val="E6EDF3"/>
                </a:solidFill>
                <a:latin typeface="Courier New" pitchFamily="49" charset="0"/>
                <a:ea typeface="Courier New" pitchFamily="49" charset="-122"/>
                <a:cs typeface="Courier New" pitchFamily="49" charset="-120"/>
              </a:rPr>
              <a:t>→</a:t>
            </a:r>
            <a:endParaRPr lang="en-US" sz="1200" dirty="0"/>
          </a:p>
        </p:txBody>
      </p:sp>
      <p:sp>
        <p:nvSpPr>
          <p:cNvPr id="30" name="Text 28"/>
          <p:cNvSpPr/>
          <p:nvPr/>
        </p:nvSpPr>
        <p:spPr>
          <a:xfrm>
            <a:off x="5505450" y="4487069"/>
            <a:ext cx="1143000" cy="241300"/>
          </a:xfrm>
          <a:prstGeom prst="rect">
            <a:avLst/>
          </a:prstGeom>
          <a:solidFill>
            <a:srgbClr val="ED7D32"/>
          </a:solidFill>
          <a:ln w="12700">
            <a:solidFill>
              <a:srgbClr val="E6EDF3"/>
            </a:solidFill>
            <a:prstDash val="solid"/>
          </a:ln>
        </p:spPr>
        <p:txBody>
          <a:bodyPr wrap="square" lIns="0" tIns="6350" rIns="0" bIns="0" rtlCol="0" anchor="t">
            <a:normAutofit/>
          </a:bodyPr>
          <a:lstStyle/>
          <a:p>
            <a:pPr algn="ctr" indent="0" marL="0">
              <a:lnSpc>
                <a:spcPts val="1800"/>
              </a:lnSpc>
              <a:buNone/>
            </a:pPr>
            <a:r>
              <a:rPr lang="en-US" sz="1200" dirty="0">
                <a:solidFill>
                  <a:srgbClr val="14110A"/>
                </a:solidFill>
                <a:latin typeface="Courier New" pitchFamily="49" charset="0"/>
                <a:ea typeface="Courier New" pitchFamily="49" charset="-122"/>
                <a:cs typeface="Courier New" pitchFamily="49" charset="-120"/>
              </a:rPr>
              <a:t>21:24 G2-43</a:t>
            </a:r>
            <a:endParaRPr lang="en-US" sz="1200" dirty="0"/>
          </a:p>
        </p:txBody>
      </p:sp>
      <p:sp>
        <p:nvSpPr>
          <p:cNvPr id="31" name="Text 29"/>
          <p:cNvSpPr/>
          <p:nvPr/>
        </p:nvSpPr>
        <p:spPr>
          <a:xfrm>
            <a:off x="6661150" y="4487069"/>
            <a:ext cx="1143000" cy="241300"/>
          </a:xfrm>
          <a:prstGeom prst="rect">
            <a:avLst/>
          </a:prstGeom>
          <a:solidFill>
            <a:srgbClr val="FFCC00"/>
          </a:solidFill>
          <a:ln w="12700">
            <a:solidFill>
              <a:srgbClr val="E6EDF3"/>
            </a:solidFill>
            <a:prstDash val="solid"/>
          </a:ln>
        </p:spPr>
        <p:txBody>
          <a:bodyPr wrap="square" lIns="0" tIns="6350" rIns="0" bIns="0" rtlCol="0" anchor="t">
            <a:normAutofit/>
          </a:bodyPr>
          <a:lstStyle/>
          <a:p>
            <a:pPr algn="ctr" indent="0" marL="0">
              <a:lnSpc>
                <a:spcPts val="1800"/>
              </a:lnSpc>
              <a:buNone/>
            </a:pPr>
            <a:r>
              <a:rPr lang="en-US" sz="1200" dirty="0">
                <a:solidFill>
                  <a:srgbClr val="14110A"/>
                </a:solidFill>
                <a:latin typeface="Courier New" pitchFamily="49" charset="0"/>
                <a:ea typeface="Courier New" pitchFamily="49" charset="-122"/>
                <a:cs typeface="Courier New" pitchFamily="49" charset="-120"/>
              </a:rPr>
              <a:t>21:38 G3-25</a:t>
            </a:r>
            <a:endParaRPr lang="en-US" sz="1200" dirty="0"/>
          </a:p>
        </p:txBody>
      </p:sp>
      <p:sp>
        <p:nvSpPr>
          <p:cNvPr id="32" name="Text 30"/>
          <p:cNvSpPr/>
          <p:nvPr/>
        </p:nvSpPr>
        <p:spPr>
          <a:xfrm>
            <a:off x="7785100" y="4480471"/>
            <a:ext cx="228600" cy="279896"/>
          </a:xfrm>
          <a:prstGeom prst="rect">
            <a:avLst/>
          </a:prstGeom>
          <a:noFill/>
          <a:ln/>
        </p:spPr>
        <p:txBody>
          <a:bodyPr wrap="square" lIns="0" tIns="0" rIns="0" bIns="0" rtlCol="0" anchor="t">
            <a:normAutofit/>
          </a:bodyPr>
          <a:lstStyle/>
          <a:p>
            <a:pPr algn="ctr" indent="0" marL="0">
              <a:lnSpc>
                <a:spcPts val="2004"/>
              </a:lnSpc>
              <a:buNone/>
            </a:pPr>
            <a:r>
              <a:rPr lang="en-US" sz="1200" dirty="0">
                <a:solidFill>
                  <a:srgbClr val="E6EDF3"/>
                </a:solidFill>
                <a:latin typeface="Courier New" pitchFamily="49" charset="0"/>
                <a:ea typeface="Courier New" pitchFamily="49" charset="-122"/>
                <a:cs typeface="Courier New" pitchFamily="49" charset="-120"/>
              </a:rPr>
              <a:t>→</a:t>
            </a:r>
            <a:endParaRPr lang="en-US" sz="1200" dirty="0"/>
          </a:p>
        </p:txBody>
      </p:sp>
      <p:sp>
        <p:nvSpPr>
          <p:cNvPr id="33" name="Text 31"/>
          <p:cNvSpPr/>
          <p:nvPr/>
        </p:nvSpPr>
        <p:spPr>
          <a:xfrm>
            <a:off x="7994650" y="4487069"/>
            <a:ext cx="1143000" cy="241300"/>
          </a:xfrm>
          <a:prstGeom prst="rect">
            <a:avLst/>
          </a:prstGeom>
          <a:solidFill>
            <a:srgbClr val="ED7D32"/>
          </a:solidFill>
          <a:ln w="12700">
            <a:solidFill>
              <a:srgbClr val="E6EDF3"/>
            </a:solidFill>
            <a:prstDash val="solid"/>
          </a:ln>
        </p:spPr>
        <p:txBody>
          <a:bodyPr wrap="square" lIns="0" tIns="6350" rIns="0" bIns="0" rtlCol="0" anchor="t">
            <a:normAutofit/>
          </a:bodyPr>
          <a:lstStyle/>
          <a:p>
            <a:pPr algn="ctr" indent="0" marL="0">
              <a:lnSpc>
                <a:spcPts val="1800"/>
              </a:lnSpc>
              <a:buNone/>
            </a:pPr>
            <a:r>
              <a:rPr lang="en-US" sz="1200" dirty="0">
                <a:solidFill>
                  <a:srgbClr val="14110A"/>
                </a:solidFill>
                <a:latin typeface="Courier New" pitchFamily="49" charset="0"/>
                <a:ea typeface="Courier New" pitchFamily="49" charset="-122"/>
                <a:cs typeface="Courier New" pitchFamily="49" charset="-120"/>
              </a:rPr>
              <a:t>21:43 G2-43</a:t>
            </a:r>
            <a:endParaRPr lang="en-US" sz="1200" dirty="0"/>
          </a:p>
        </p:txBody>
      </p:sp>
      <p:sp>
        <p:nvSpPr>
          <p:cNvPr id="34" name="Text 32"/>
          <p:cNvSpPr/>
          <p:nvPr/>
        </p:nvSpPr>
        <p:spPr>
          <a:xfrm>
            <a:off x="9144000" y="4501059"/>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CC00"/>
                </a:solidFill>
                <a:latin typeface="Courier New" pitchFamily="49" charset="0"/>
                <a:ea typeface="Courier New" pitchFamily="49" charset="-122"/>
                <a:cs typeface="Courier New" pitchFamily="49" charset="-120"/>
              </a:rPr>
              <a:t>g3c25&gt;g2c43~10</a:t>
            </a:r>
            <a:endParaRPr lang="en-US" sz="1200" dirty="0"/>
          </a:p>
        </p:txBody>
      </p:sp>
      <p:sp>
        <p:nvSpPr>
          <p:cNvPr id="35" name="Text 33"/>
          <p:cNvSpPr/>
          <p:nvPr/>
        </p:nvSpPr>
        <p:spPr>
          <a:xfrm>
            <a:off x="4368800" y="4798467"/>
            <a:ext cx="2286000" cy="254000"/>
          </a:xfrm>
          <a:prstGeom prst="rect">
            <a:avLst/>
          </a:prstGeom>
          <a:solidFill>
            <a:srgbClr val="ED7D32">
              <a:alpha val="40000"/>
            </a:srgbClr>
          </a:solidFill>
          <a:ln/>
        </p:spPr>
        <p:txBody>
          <a:bodyPr wrap="square" lIns="0" tIns="0" rIns="0" bIns="0" rtlCol="0" anchor="t">
            <a:normAutofit/>
          </a:bodyPr>
          <a:lstStyle/>
          <a:p>
            <a:pPr algn="ctr" indent="0" marL="0">
              <a:lnSpc>
                <a:spcPts val="2004"/>
              </a:lnSpc>
              <a:buNone/>
            </a:pPr>
            <a:r>
              <a:rPr lang="en-US" sz="1200" dirty="0">
                <a:solidFill>
                  <a:srgbClr val="14110A">
                    <a:alpha val="40000"/>
                  </a:srgbClr>
                </a:solidFill>
                <a:latin typeface="Arial" pitchFamily="34" charset="0"/>
                <a:ea typeface="Arial" pitchFamily="34" charset="-122"/>
                <a:cs typeface="Arial" pitchFamily="34" charset="-120"/>
              </a:rPr>
              <a:t>23:18 G2-30（接頭辞27）</a:t>
            </a:r>
            <a:endParaRPr lang="en-US" sz="1200" dirty="0"/>
          </a:p>
        </p:txBody>
      </p:sp>
      <p:sp>
        <p:nvSpPr>
          <p:cNvPr id="36" name="Shape 34"/>
          <p:cNvSpPr/>
          <p:nvPr/>
        </p:nvSpPr>
        <p:spPr>
          <a:xfrm>
            <a:off x="4165600" y="5262017"/>
            <a:ext cx="355600" cy="0"/>
          </a:xfrm>
          <a:prstGeom prst="line">
            <a:avLst/>
          </a:prstGeom>
          <a:noFill/>
          <a:ln w="12700">
            <a:solidFill>
              <a:srgbClr val="CFD3E6"/>
            </a:solidFill>
            <a:prstDash val="dash"/>
          </a:ln>
        </p:spPr>
      </p:sp>
      <p:sp>
        <p:nvSpPr>
          <p:cNvPr id="37" name="Text 35"/>
          <p:cNvSpPr/>
          <p:nvPr/>
        </p:nvSpPr>
        <p:spPr>
          <a:xfrm>
            <a:off x="4597400" y="5154067"/>
            <a:ext cx="69852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リンク · 時刻はUTC · G2の接頭辞はWM、250916の23:18から27 ·</a:t>
            </a:r>
            <a:endParaRPr lang="en-US" sz="1200" dirty="0"/>
          </a:p>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G3の接頭辞は7Z · 第1群の30文字と再放送は省略</a:t>
            </a:r>
            <a:endParaRPr lang="en-US" sz="1200" dirty="0"/>
          </a:p>
        </p:txBody>
      </p:sp>
      <p:sp>
        <p:nvSpPr>
          <p:cNvPr id="38" name="Text 3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データ：公開中のDTCPギャラリーの日ごとのデータ、2026年10月15日</a:t>
            </a:r>
            <a:endParaRPr lang="en-US" sz="1200" dirty="0"/>
          </a:p>
        </p:txBody>
      </p:sp>
      <p:sp>
        <p:nvSpPr>
          <p:cNvPr id="39" name="Text 37"/>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ギャラリーのモチーフ</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12のモチーフ</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3763764"/>
        </p:xfrm>
        <a:graphic>
          <a:graphicData uri="http://schemas.openxmlformats.org/drawingml/2006/table">
            <a:tbl>
              <a:tblPr/>
              <a:tblGrid>
                <a:gridCol w="1055370"/>
                <a:gridCol w="8654034"/>
                <a:gridCol w="844296"/>
              </a:tblGrid>
              <a:tr h="289520">
                <a:tc>
                  <a:txBody>
                    <a:bodyPr/>
                    <a:lstStyle/>
                    <a:p>
                      <a:pPr indent="0" marL="0">
                        <a:lnSpc>
                          <a:spcPts val="1680"/>
                        </a:lnSpc>
                        <a:buNone/>
                      </a:pPr>
                      <a:r>
                        <a:rPr lang="en-US" sz="1200" b="1" dirty="0">
                          <a:solidFill>
                            <a:srgbClr val="E6EDF3"/>
                          </a:solidFill>
                          <a:latin typeface="Arial" pitchFamily="34" charset="0"/>
                          <a:ea typeface="Arial" pitchFamily="34" charset="-122"/>
                          <a:cs typeface="Arial" pitchFamily="34" charset="-120"/>
                        </a:rPr>
                        <a:t>検索語</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1680"/>
                        </a:lnSpc>
                        <a:buNone/>
                      </a:pPr>
                      <a:r>
                        <a:rPr lang="en-US" sz="1200" b="1" dirty="0">
                          <a:solidFill>
                            <a:srgbClr val="E6EDF3"/>
                          </a:solidFill>
                          <a:latin typeface="Arial" pitchFamily="34" charset="0"/>
                          <a:ea typeface="Arial" pitchFamily="34" charset="-122"/>
                          <a:cs typeface="Arial" pitchFamily="34" charset="-120"/>
                        </a:rPr>
                        <a:t>規則（ホバー時の説明を短縮）</a:t>
                      </a:r>
                      <a:endParaRPr lang="en-US" sz="1200" dirty="0">
                        <a:latin typeface="Arial" charset="0"/>
                        <a:ea typeface="Arial" charset="0"/>
                        <a:cs typeface="Arial" charset="0"/>
                      </a:endParaRPr>
                    </a:p>
                  </a:txBody>
                  <a:tcPr marL="101600" marR="101600" marT="31750" marB="3175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1680"/>
                        </a:lnSpc>
                        <a:buNone/>
                      </a:pPr>
                      <a:r>
                        <a:rPr lang="en-US" sz="1200" b="1" dirty="0">
                          <a:solidFill>
                            <a:srgbClr val="E6EDF3"/>
                          </a:solidFill>
                          <a:latin typeface="Arial" pitchFamily="34" charset="0"/>
                          <a:ea typeface="Arial" pitchFamily="34" charset="-122"/>
                          <a:cs typeface="Arial" pitchFamily="34" charset="-120"/>
                        </a:rPr>
                        <a:t>日数</a:t>
                      </a:r>
                      <a:endParaRPr lang="en-US" sz="1200" dirty="0">
                        <a:latin typeface="Arial" charset="0"/>
                        <a:ea typeface="Arial" charset="0"/>
                        <a:cs typeface="Arial" charset="0"/>
                      </a:endParaRPr>
                    </a:p>
                  </a:txBody>
                  <a:tcPr marL="101600" marR="101600" marT="31750" marB="3175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m43</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09:00〜09:15 UTCのG2-43</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m09</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米国中部時間の04:00台に、1つの宛先への宛先付きEAMが3件以上</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mpair</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同じ長さ（20〜29）のG2またはG4メッセージが2件</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mopen</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G3-22か-25のすぐあとに、より長いG3</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m2740</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15分以内のG2-40とG3-27、順序は問わない</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m3227</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G3-32のあとにG3-27</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m3537</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G2-35のあと30分以内にG2-37</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m4032</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14分以内のG2の40文字以上とG3の32文字、5文字ブロック3つが繰り返す</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m55</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同じ日にG2-55が2件</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m5243</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G2-52、15分以内にG2-43、続いてG3-30とG3-34</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mburst</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G1の接頭辞が変わる日に、15分以内に新しいG1-30が4件以上</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89520">
                <a:tc>
                  <a:txBody>
                    <a:bodyPr/>
                    <a:lstStyle/>
                    <a:p>
                      <a:pPr indent="0" marL="0">
                        <a:lnSpc>
                          <a:spcPts val="1680"/>
                        </a:lnSpc>
                        <a:buNone/>
                      </a:pPr>
                      <a:r>
                        <a:rPr lang="en-US" sz="1200" dirty="0">
                          <a:solidFill>
                            <a:srgbClr val="FFCC00"/>
                          </a:solidFill>
                          <a:latin typeface="Arial" pitchFamily="34" charset="0"/>
                          <a:ea typeface="Arial" pitchFamily="34" charset="-122"/>
                          <a:cs typeface="Arial" pitchFamily="34" charset="-120"/>
                        </a:rPr>
                        <a:t>mburst1</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同上、またはその前日か翌日（試案）</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101600" marR="101600" marT="31750" marB="317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件数は2026年10月15日に公開中のページで再集計</a:t>
            </a:r>
            <a:endParaRPr lang="en-US" sz="1200" dirty="0"/>
          </a:p>
        </p:txBody>
      </p:sp>
      <p:sp>
        <p:nvSpPr>
          <p:cNvPr id="6" name="Text 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ギャラリーのプレーヤー</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プレーヤーとチップ</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カードをクリックするか</a:t>
            </a:r>
            <a:r>
              <a:rPr lang="en-US" sz="1600" dirty="0">
                <a:solidFill>
                  <a:srgbClr val="FFCC00"/>
                </a:solidFill>
                <a:latin typeface="Arial" pitchFamily="34" charset="0"/>
                <a:ea typeface="Arial" pitchFamily="34" charset="-122"/>
                <a:cs typeface="Arial" pitchFamily="34" charset="-120"/>
              </a:rPr>
              <a:t>Enter</a:t>
            </a:r>
            <a:r>
              <a:rPr lang="en-US" sz="1600" dirty="0">
                <a:solidFill>
                  <a:srgbClr val="E6EDF3"/>
                </a:solidFill>
                <a:latin typeface="Arial" pitchFamily="34" charset="0"/>
                <a:ea typeface="Arial" pitchFamily="34" charset="-122"/>
                <a:cs typeface="Arial" pitchFamily="34" charset="-120"/>
              </a:rPr>
              <a:t> ·</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Space</a:t>
            </a:r>
            <a:r>
              <a:rPr lang="en-US" sz="1600" dirty="0">
                <a:solidFill>
                  <a:srgbClr val="E6EDF3"/>
                </a:solidFill>
                <a:latin typeface="Arial" pitchFamily="34" charset="0"/>
                <a:ea typeface="Arial" pitchFamily="34" charset="-122"/>
                <a:cs typeface="Arial" pitchFamily="34" charset="-120"/>
              </a:rPr>
              <a:t>で動画を再生</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 →</a:t>
            </a:r>
            <a:r>
              <a:rPr lang="en-US" sz="1600" dirty="0">
                <a:solidFill>
                  <a:srgbClr val="E6EDF3"/>
                </a:solidFill>
                <a:latin typeface="Arial" pitchFamily="34" charset="0"/>
                <a:ea typeface="Arial" pitchFamily="34" charset="-122"/>
                <a:cs typeface="Arial" pitchFamily="34" charset="-120"/>
              </a:rPr>
              <a:t> 前・次のカードの日 ·</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 ↓</a:t>
            </a:r>
            <a:r>
              <a:rPr lang="en-US" sz="1600" dirty="0">
                <a:solidFill>
                  <a:srgbClr val="E6EDF3"/>
                </a:solidFill>
                <a:latin typeface="Arial" pitchFamily="34" charset="0"/>
                <a:ea typeface="Arial" pitchFamily="34" charset="-122"/>
                <a:cs typeface="Arial" pitchFamily="34" charset="-120"/>
              </a:rPr>
              <a:t> 同じ曜日 · </a:t>
            </a:r>
            <a:r>
              <a:rPr lang="en-US" sz="1600" dirty="0">
                <a:solidFill>
                  <a:srgbClr val="FFCC00"/>
                </a:solidFill>
                <a:latin typeface="Arial" pitchFamily="34" charset="0"/>
                <a:ea typeface="Arial" pitchFamily="34" charset="-122"/>
                <a:cs typeface="Arial" pitchFamily="34" charset="-120"/>
              </a:rPr>
              <a:t>a</a:t>
            </a:r>
            <a:r>
              <a:rPr lang="en-US" sz="1600" dirty="0">
                <a:solidFill>
                  <a:srgbClr val="E6EDF3"/>
                </a:solidFill>
                <a:latin typeface="Arial" pitchFamily="34" charset="0"/>
                <a:ea typeface="Arial" pitchFamily="34" charset="-122"/>
                <a:cs typeface="Arial" pitchFamily="34" charset="-120"/>
              </a:rPr>
              <a:t> = Archiveの複製</a:t>
            </a:r>
            <a:endParaRPr lang="en-US" sz="1600" dirty="0"/>
          </a:p>
        </p:txBody>
      </p:sp>
      <p:sp>
        <p:nvSpPr>
          <p:cNvPr id="8" name="Shape 6"/>
          <p:cNvSpPr/>
          <p:nvPr/>
        </p:nvSpPr>
        <p:spPr>
          <a:xfrm>
            <a:off x="812800" y="3622625"/>
            <a:ext cx="4572000" cy="0"/>
          </a:xfrm>
          <a:prstGeom prst="line">
            <a:avLst/>
          </a:prstGeom>
          <a:noFill/>
          <a:ln w="6350">
            <a:solidFill>
              <a:srgbClr val="222A35"/>
            </a:solidFill>
            <a:prstDash val="solid"/>
          </a:ln>
        </p:spPr>
      </p:sp>
      <p:sp>
        <p:nvSpPr>
          <p:cNvPr id="9" name="Text 7"/>
          <p:cNvSpPr/>
          <p:nvPr/>
        </p:nvSpPr>
        <p:spPr>
          <a:xfrm>
            <a:off x="812800" y="3727400"/>
            <a:ext cx="4709160"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251026：SKYMASTER · ALPHA FORCE ·</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CHARLIE FORCE · REGION CHARLIE ·</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G2 carousel · G2 15-block · 4 non-G1 MTF</a:t>
            </a:r>
            <a:endParaRPr lang="en-US" sz="1600" dirty="0"/>
          </a:p>
        </p:txBody>
      </p:sp>
      <p:sp>
        <p:nvSpPr>
          <p:cNvPr id="10" name="Shape 8"/>
          <p:cNvSpPr/>
          <p:nvPr/>
        </p:nvSpPr>
        <p:spPr>
          <a:xfrm>
            <a:off x="812800" y="4746575"/>
            <a:ext cx="4572000" cy="0"/>
          </a:xfrm>
          <a:prstGeom prst="line">
            <a:avLst/>
          </a:prstGeom>
          <a:noFill/>
          <a:ln w="6350">
            <a:solidFill>
              <a:srgbClr val="222A35"/>
            </a:solidFill>
            <a:prstDash val="solid"/>
          </a:ln>
        </p:spPr>
      </p:sp>
      <p:sp>
        <p:nvSpPr>
          <p:cNvPr id="11" name="Text 9"/>
          <p:cNvSpPr/>
          <p:nvPr/>
        </p:nvSpPr>
        <p:spPr>
          <a:xfrm>
            <a:off x="812800" y="48513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チップはどれも検索：</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G2 15-block → </a:t>
            </a:r>
            <a:r>
              <a:rPr lang="en-US" sz="1600" dirty="0">
                <a:solidFill>
                  <a:srgbClr val="FFCC00"/>
                </a:solidFill>
                <a:latin typeface="Arial" pitchFamily="34" charset="0"/>
                <a:ea typeface="Arial" pitchFamily="34" charset="-122"/>
                <a:cs typeface="Arial" pitchFamily="34" charset="-120"/>
              </a:rPr>
              <a:t>g2b15x</a:t>
            </a:r>
            <a:r>
              <a:rPr lang="en-US" sz="1600" dirty="0">
                <a:solidFill>
                  <a:srgbClr val="E6EDF3"/>
                </a:solidFill>
                <a:latin typeface="Arial" pitchFamily="34" charset="0"/>
                <a:ea typeface="Arial" pitchFamily="34" charset="-122"/>
                <a:cs typeface="Arial" pitchFamily="34" charset="-120"/>
              </a:rPr>
              <a:t> → 47日</a:t>
            </a:r>
            <a:endParaRPr lang="en-US" sz="1600" dirty="0"/>
          </a:p>
        </p:txBody>
      </p:sp>
      <p:sp>
        <p:nvSpPr>
          <p:cNvPr id="12" name="Shape 10"/>
          <p:cNvSpPr/>
          <p:nvPr/>
        </p:nvSpPr>
        <p:spPr>
          <a:xfrm>
            <a:off x="5791200" y="1981150"/>
            <a:ext cx="5588000" cy="3143250"/>
          </a:xfrm>
          <a:prstGeom prst="roundRect">
            <a:avLst>
              <a:gd name="adj" fmla="val 2424"/>
            </a:avLst>
          </a:prstGeom>
          <a:solidFill>
            <a:srgbClr val="0E141B"/>
          </a:solidFill>
          <a:ln/>
        </p:spPr>
      </p:sp>
      <p:pic>
        <p:nvPicPr>
          <p:cNvPr id="13" name="Image 0" descr="251026を開いたギャラリーのプレーヤー（英語のページ）：スカイマスターのタイムカード、日ごとの帯、SKYMASTERと三つの宛先のチップからG2 carouselと途中で切れたG2 15-blockのチップまで並ぶ列、その先にcompareとrecordingsのボタン">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4" name="Shape 11"/>
          <p:cNvSpPr/>
          <p:nvPr/>
        </p:nvSpPr>
        <p:spPr>
          <a:xfrm>
            <a:off x="5794375" y="1984325"/>
            <a:ext cx="5581650" cy="3136900"/>
          </a:xfrm>
          <a:prstGeom prst="roundRect">
            <a:avLst>
              <a:gd name="adj" fmla="val 2328"/>
            </a:avLst>
          </a:prstGeom>
          <a:noFill/>
          <a:ln w="6350">
            <a:solidFill>
              <a:srgbClr val="222A35"/>
            </a:solidFill>
            <a:prstDash val="solid"/>
          </a:ln>
        </p:spPr>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neetintel.github.io/dtcp_gallery.html?251026</a:t>
            </a:r>
            <a:endParaRPr lang="en-US" sz="1200" dirty="0"/>
          </a:p>
        </p:txBody>
      </p:sp>
      <p:sp>
        <p:nvSpPr>
          <p:cNvPr id="16" name="Text 1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比較ビュー</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比較ビューの読み方</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1日1行、00:00〜24:00 UTCの軸 ·</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棒は群の色</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高い＝宛先付き · 線の下＝E6B ·</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淡い＝再放送 · 点＝第1群以外のMTF</a:t>
            </a:r>
            <a:endParaRPr lang="en-US" sz="1600" dirty="0"/>
          </a:p>
        </p:txBody>
      </p:sp>
      <p:sp>
        <p:nvSpPr>
          <p:cNvPr id="8" name="Shape 6"/>
          <p:cNvSpPr/>
          <p:nvPr/>
        </p:nvSpPr>
        <p:spPr>
          <a:xfrm>
            <a:off x="812800" y="3622625"/>
            <a:ext cx="4572000" cy="0"/>
          </a:xfrm>
          <a:prstGeom prst="line">
            <a:avLst/>
          </a:prstGeom>
          <a:noFill/>
          <a:ln w="6350">
            <a:solidFill>
              <a:srgbClr val="222A35"/>
            </a:solidFill>
            <a:prstDash val="solid"/>
          </a:ln>
        </p:spPr>
      </p:sp>
      <p:sp>
        <p:nvSpPr>
          <p:cNvPr id="9" name="Text 7"/>
          <p:cNvSpPr/>
          <p:nvPr/>
        </p:nvSpPr>
        <p:spPr>
          <a:xfrm>
            <a:off x="812800" y="37274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リンク＝5分以内の同じ群・長さ、隣の行のみ</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棒をクリック → そのメッセージの検索：</a:t>
            </a:r>
            <a:endParaRPr lang="en-US" sz="1600" dirty="0"/>
          </a:p>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g2c30@1302x</a:t>
            </a:r>
            <a:r>
              <a:rPr lang="en-US" sz="1600" dirty="0">
                <a:solidFill>
                  <a:srgbClr val="E6EDF3"/>
                </a:solidFill>
                <a:latin typeface="Arial" pitchFamily="34" charset="0"/>
                <a:ea typeface="Arial" pitchFamily="34" charset="-122"/>
                <a:cs typeface="Arial" pitchFamily="34" charset="-120"/>
              </a:rPr>
              <a:t> → 60日</a:t>
            </a:r>
            <a:endParaRPr lang="en-US" sz="1600" dirty="0"/>
          </a:p>
        </p:txBody>
      </p:sp>
      <p:sp>
        <p:nvSpPr>
          <p:cNvPr id="12" name="Shape 10"/>
          <p:cNvSpPr/>
          <p:nvPr/>
        </p:nvSpPr>
        <p:spPr>
          <a:xfrm>
            <a:off x="812800" y="4956125"/>
            <a:ext cx="4572000" cy="0"/>
          </a:xfrm>
          <a:prstGeom prst="line">
            <a:avLst/>
          </a:prstGeom>
          <a:noFill/>
          <a:ln w="6350">
            <a:solidFill>
              <a:srgbClr val="222A35"/>
            </a:solidFill>
            <a:prstDash val="solid"/>
          </a:ln>
        </p:spPr>
      </p:sp>
      <p:sp>
        <p:nvSpPr>
          <p:cNvPr id="13" name="Text 11"/>
          <p:cNvSpPr/>
          <p:nvPr/>
        </p:nvSpPr>
        <p:spPr>
          <a:xfrm>
            <a:off x="812800" y="50609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?v250916,250923</a:t>
            </a:r>
            <a:r>
              <a:rPr lang="en-US" sz="1600" dirty="0">
                <a:solidFill>
                  <a:srgbClr val="E6EDF3"/>
                </a:solidFill>
                <a:latin typeface="Arial" pitchFamily="34" charset="0"/>
                <a:ea typeface="Arial" pitchFamily="34" charset="-122"/>
                <a:cs typeface="Arial" pitchFamily="34" charset="-120"/>
              </a:rPr>
              <a:t>で比較が開く ·</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記録のある日ならどの日でも可</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ギャラリーの比較ビュー（英語のページ）：251026の下に241020、240911、241120を00〜24 UTCの一つの軸に並べ、隣り合う行のあいだに共有のリンクが8本、3本、2本">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neetintel.github.io/dtcp_gallery.html?v251026,241020,240911,241120</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比較ビュー</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251026と241020</a:t>
            </a:r>
            <a:endParaRPr lang="en-US" sz="3600" dirty="0"/>
          </a:p>
        </p:txBody>
      </p:sp>
      <p:sp>
        <p:nvSpPr>
          <p:cNvPr id="4" name="Shape 2"/>
          <p:cNvSpPr/>
          <p:nvPr/>
        </p:nvSpPr>
        <p:spPr>
          <a:xfrm>
            <a:off x="812800" y="1984325"/>
            <a:ext cx="5207000" cy="0"/>
          </a:xfrm>
          <a:prstGeom prst="line">
            <a:avLst/>
          </a:prstGeom>
          <a:noFill/>
          <a:ln w="6350">
            <a:solidFill>
              <a:srgbClr val="222A35"/>
            </a:solidFill>
            <a:prstDash val="solid"/>
          </a:ln>
        </p:spPr>
      </p:sp>
      <p:sp>
        <p:nvSpPr>
          <p:cNvPr id="5" name="Text 3"/>
          <p:cNvSpPr/>
          <p:nvPr/>
        </p:nvSpPr>
        <p:spPr>
          <a:xfrm>
            <a:off x="812800" y="2089100"/>
            <a:ext cx="536321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251026に最も近い日：</a:t>
            </a:r>
            <a:r>
              <a:rPr lang="en-US" sz="1600" dirty="0">
                <a:solidFill>
                  <a:srgbClr val="FFCC00"/>
                </a:solidFill>
                <a:latin typeface="Arial" pitchFamily="34" charset="0"/>
                <a:ea typeface="Arial" pitchFamily="34" charset="-122"/>
                <a:cs typeface="Arial" pitchFamily="34" charset="-120"/>
              </a:rPr>
              <a:t>241020</a:t>
            </a:r>
            <a:r>
              <a:rPr lang="en-US" sz="1600" dirty="0">
                <a:solidFill>
                  <a:srgbClr val="E6EDF3"/>
                </a:solidFill>
                <a:latin typeface="Arial" pitchFamily="34" charset="0"/>
                <a:ea typeface="Arial" pitchFamily="34" charset="-122"/>
                <a:cs typeface="Arial" pitchFamily="34" charset="-120"/>
              </a:rPr>
              <a:t> · 240911 · 241120</a:t>
            </a:r>
            <a:endParaRPr lang="en-US" sz="1600" dirty="0"/>
          </a:p>
        </p:txBody>
      </p:sp>
      <p:sp>
        <p:nvSpPr>
          <p:cNvPr id="6" name="Shape 4"/>
          <p:cNvSpPr/>
          <p:nvPr/>
        </p:nvSpPr>
        <p:spPr>
          <a:xfrm>
            <a:off x="6172200" y="1984325"/>
            <a:ext cx="5207000" cy="0"/>
          </a:xfrm>
          <a:prstGeom prst="line">
            <a:avLst/>
          </a:prstGeom>
          <a:noFill/>
          <a:ln w="6350">
            <a:solidFill>
              <a:srgbClr val="222A35"/>
            </a:solidFill>
            <a:prstDash val="solid"/>
          </a:ln>
        </p:spPr>
      </p:sp>
      <p:sp>
        <p:nvSpPr>
          <p:cNvPr id="7" name="Text 5"/>
          <p:cNvSpPr/>
          <p:nvPr/>
        </p:nvSpPr>
        <p:spPr>
          <a:xfrm>
            <a:off x="6172200" y="2089100"/>
            <a:ext cx="536321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241020：第2群30文字の8枠がリンク、7枠は同時刻</a:t>
            </a:r>
            <a:endParaRPr lang="en-US" sz="1600" dirty="0"/>
          </a:p>
        </p:txBody>
      </p:sp>
      <p:sp>
        <p:nvSpPr>
          <p:cNvPr id="8" name="Shape 6"/>
          <p:cNvSpPr/>
          <p:nvPr/>
        </p:nvSpPr>
        <p:spPr>
          <a:xfrm>
            <a:off x="812800" y="2549475"/>
            <a:ext cx="5207000" cy="0"/>
          </a:xfrm>
          <a:prstGeom prst="line">
            <a:avLst/>
          </a:prstGeom>
          <a:noFill/>
          <a:ln w="6350">
            <a:solidFill>
              <a:srgbClr val="222A35"/>
            </a:solidFill>
            <a:prstDash val="solid"/>
          </a:ln>
        </p:spPr>
      </p:sp>
      <p:sp>
        <p:nvSpPr>
          <p:cNvPr id="9" name="Text 7"/>
          <p:cNvSpPr/>
          <p:nvPr/>
        </p:nvSpPr>
        <p:spPr>
          <a:xfrm>
            <a:off x="812800" y="2654250"/>
            <a:ext cx="536321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16件すべて宛先付きでALPHA FORCE宛て、</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単独またはCHARLIE FORCEと連名</a:t>
            </a:r>
            <a:endParaRPr lang="en-US" sz="1600" dirty="0"/>
          </a:p>
        </p:txBody>
      </p:sp>
      <p:sp>
        <p:nvSpPr>
          <p:cNvPr id="10" name="Shape 8"/>
          <p:cNvSpPr/>
          <p:nvPr/>
        </p:nvSpPr>
        <p:spPr>
          <a:xfrm>
            <a:off x="6172200" y="2549475"/>
            <a:ext cx="5207000" cy="0"/>
          </a:xfrm>
          <a:prstGeom prst="line">
            <a:avLst/>
          </a:prstGeom>
          <a:noFill/>
          <a:ln w="6350">
            <a:solidFill>
              <a:srgbClr val="222A35"/>
            </a:solidFill>
            <a:prstDash val="solid"/>
          </a:ln>
        </p:spPr>
      </p:sp>
      <p:sp>
        <p:nvSpPr>
          <p:cNvPr id="11" name="Text 9"/>
          <p:cNvSpPr/>
          <p:nvPr/>
        </p:nvSpPr>
        <p:spPr>
          <a:xfrm>
            <a:off x="6172200" y="2654250"/>
            <a:ext cx="536321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接頭辞は別（7R、P5）、時刻は同じ</a:t>
            </a:r>
            <a:endParaRPr lang="en-US" sz="1600" dirty="0"/>
          </a:p>
        </p:txBody>
      </p:sp>
      <p:sp>
        <p:nvSpPr>
          <p:cNvPr id="12" name="Text 10"/>
          <p:cNvSpPr/>
          <p:nvPr/>
        </p:nvSpPr>
        <p:spPr>
          <a:xfrm>
            <a:off x="815975" y="3622377"/>
            <a:ext cx="1013619" cy="184646"/>
          </a:xfrm>
          <a:custGeom>
            <a:avLst/>
            <a:gdLst/>
            <a:ahLst/>
            <a:cxnLst/>
            <a:rect l="l" t="t" r="r" b="b"/>
            <a:pathLst>
              <a:path w="1013619" h="184646">
                <a:moveTo>
                  <a:pt x="34925" y="0"/>
                </a:moveTo>
                <a:lnTo>
                  <a:pt x="978694" y="0"/>
                </a:lnTo>
                <a:arcTo hR="34925" wR="34925" stAng="16200000" swAng="5400000"/>
                <a:lnTo>
                  <a:pt x="1013619" y="149721"/>
                </a:lnTo>
                <a:arcTo hR="34925" wR="34925" stAng="0" swAng="5400000"/>
                <a:lnTo>
                  <a:pt x="34925" y="184646"/>
                </a:lnTo>
                <a:arcTo hR="34925" wR="34925" stAng="5400000" swAng="5400000"/>
                <a:lnTo>
                  <a:pt x="0" y="34925"/>
                </a:lnTo>
                <a:arcTo hR="34925" wR="34925" stAng="10800000" swAng="5400000"/>
                <a:close/>
              </a:path>
            </a:pathLst>
          </a:custGeom>
          <a:noFill/>
          <a:ln w="6350">
            <a:solidFill>
              <a:srgbClr val="FF0467"/>
            </a:solidFill>
            <a:prstDash val="solid"/>
          </a:ln>
        </p:spPr>
        <p:txBody>
          <a:bodyPr wrap="none" lIns="0" tIns="0" rIns="0" bIns="0" rtlCol="0" anchor="ctr">
            <a:normAutofit/>
          </a:bodyPr>
          <a:lstStyle/>
          <a:p>
            <a:pPr algn="ctr" indent="0" marL="0">
              <a:lnSpc>
                <a:spcPts val="1404"/>
              </a:lnSpc>
              <a:buNone/>
            </a:pPr>
            <a:r>
              <a:rPr lang="en-US" sz="1200" spc="50" kern="0" dirty="0">
                <a:solidFill>
                  <a:srgbClr val="FF0467"/>
                </a:solidFill>
                <a:latin typeface="Courier New" pitchFamily="49" charset="0"/>
                <a:ea typeface="Courier New" pitchFamily="49" charset="-122"/>
                <a:cs typeface="Courier New" pitchFamily="49" charset="-120"/>
              </a:rPr>
              <a:t>SKYMASTER</a:t>
            </a:r>
            <a:endParaRPr lang="en-US" sz="1200" dirty="0"/>
          </a:p>
        </p:txBody>
      </p:sp>
      <p:sp>
        <p:nvSpPr>
          <p:cNvPr id="13" name="Text 11"/>
          <p:cNvSpPr/>
          <p:nvPr/>
        </p:nvSpPr>
        <p:spPr>
          <a:xfrm>
            <a:off x="812800" y="3822650"/>
            <a:ext cx="1962150" cy="355600"/>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E6EDF3"/>
                </a:solidFill>
                <a:latin typeface="Arial" pitchFamily="34" charset="0"/>
                <a:ea typeface="Arial" pitchFamily="34" charset="-122"/>
                <a:cs typeface="Arial" pitchFamily="34" charset="-120"/>
              </a:rPr>
              <a:t>251026（日）· 7R</a:t>
            </a:r>
            <a:endParaRPr lang="en-US" sz="1600" dirty="0"/>
          </a:p>
        </p:txBody>
      </p:sp>
      <p:sp>
        <p:nvSpPr>
          <p:cNvPr id="14" name="Text 12"/>
          <p:cNvSpPr/>
          <p:nvPr/>
        </p:nvSpPr>
        <p:spPr>
          <a:xfrm>
            <a:off x="812800" y="4152850"/>
            <a:ext cx="1962150" cy="279400"/>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CFD3E6"/>
                </a:solidFill>
                <a:latin typeface="Arial" pitchFamily="34" charset="0"/>
                <a:ea typeface="Arial" pitchFamily="34" charset="-122"/>
                <a:cs typeface="Arial" pitchFamily="34" charset="-120"/>
              </a:rPr>
              <a:t>リンク8本</a:t>
            </a:r>
            <a:endParaRPr lang="en-US" sz="1200" dirty="0"/>
          </a:p>
        </p:txBody>
      </p:sp>
      <p:sp>
        <p:nvSpPr>
          <p:cNvPr id="15" name="Text 13"/>
          <p:cNvSpPr/>
          <p:nvPr/>
        </p:nvSpPr>
        <p:spPr>
          <a:xfrm>
            <a:off x="812800" y="4406850"/>
            <a:ext cx="1962150" cy="355600"/>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E6EDF3"/>
                </a:solidFill>
                <a:latin typeface="Arial" pitchFamily="34" charset="0"/>
                <a:ea typeface="Arial" pitchFamily="34" charset="-122"/>
                <a:cs typeface="Arial" pitchFamily="34" charset="-120"/>
              </a:rPr>
              <a:t>241020（日）· P5</a:t>
            </a:r>
            <a:endParaRPr lang="en-US" sz="1600" dirty="0"/>
          </a:p>
        </p:txBody>
      </p:sp>
      <p:sp>
        <p:nvSpPr>
          <p:cNvPr id="16" name="Text 14"/>
          <p:cNvSpPr/>
          <p:nvPr/>
        </p:nvSpPr>
        <p:spPr>
          <a:xfrm>
            <a:off x="2832100" y="36067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17" name="Text 15"/>
          <p:cNvSpPr/>
          <p:nvPr/>
        </p:nvSpPr>
        <p:spPr>
          <a:xfrm>
            <a:off x="2857500" y="38226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13:02</a:t>
            </a:r>
            <a:endParaRPr lang="en-US" sz="1600" dirty="0"/>
          </a:p>
        </p:txBody>
      </p:sp>
      <p:sp>
        <p:nvSpPr>
          <p:cNvPr id="18" name="Shape 16"/>
          <p:cNvSpPr/>
          <p:nvPr/>
        </p:nvSpPr>
        <p:spPr>
          <a:xfrm>
            <a:off x="3263900" y="4152850"/>
            <a:ext cx="0" cy="254000"/>
          </a:xfrm>
          <a:prstGeom prst="line">
            <a:avLst/>
          </a:prstGeom>
          <a:noFill/>
          <a:ln w="12700">
            <a:solidFill>
              <a:srgbClr val="CFD3E6"/>
            </a:solidFill>
            <a:prstDash val="dash"/>
          </a:ln>
        </p:spPr>
      </p:sp>
      <p:sp>
        <p:nvSpPr>
          <p:cNvPr id="19" name="Text 17"/>
          <p:cNvSpPr/>
          <p:nvPr/>
        </p:nvSpPr>
        <p:spPr>
          <a:xfrm>
            <a:off x="2857500" y="44068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13:02</a:t>
            </a:r>
            <a:endParaRPr lang="en-US" sz="1600" dirty="0"/>
          </a:p>
        </p:txBody>
      </p:sp>
      <p:sp>
        <p:nvSpPr>
          <p:cNvPr id="20" name="Text 18"/>
          <p:cNvSpPr/>
          <p:nvPr/>
        </p:nvSpPr>
        <p:spPr>
          <a:xfrm>
            <a:off x="2832100" y="47370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a:t>
            </a:r>
            <a:endParaRPr lang="en-US" sz="1200" dirty="0"/>
          </a:p>
        </p:txBody>
      </p:sp>
      <p:sp>
        <p:nvSpPr>
          <p:cNvPr id="21" name="Text 19"/>
          <p:cNvSpPr/>
          <p:nvPr/>
        </p:nvSpPr>
        <p:spPr>
          <a:xfrm>
            <a:off x="3822700" y="36067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22" name="Text 20"/>
          <p:cNvSpPr/>
          <p:nvPr/>
        </p:nvSpPr>
        <p:spPr>
          <a:xfrm>
            <a:off x="3848100" y="38226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13:18</a:t>
            </a:r>
            <a:endParaRPr lang="en-US" sz="1600" dirty="0"/>
          </a:p>
        </p:txBody>
      </p:sp>
      <p:sp>
        <p:nvSpPr>
          <p:cNvPr id="23" name="Shape 21"/>
          <p:cNvSpPr/>
          <p:nvPr/>
        </p:nvSpPr>
        <p:spPr>
          <a:xfrm>
            <a:off x="4254500" y="4152850"/>
            <a:ext cx="0" cy="254000"/>
          </a:xfrm>
          <a:prstGeom prst="line">
            <a:avLst/>
          </a:prstGeom>
          <a:noFill/>
          <a:ln w="12700">
            <a:solidFill>
              <a:srgbClr val="CFD3E6"/>
            </a:solidFill>
            <a:prstDash val="dash"/>
          </a:ln>
        </p:spPr>
      </p:sp>
      <p:sp>
        <p:nvSpPr>
          <p:cNvPr id="24" name="Text 22"/>
          <p:cNvSpPr/>
          <p:nvPr/>
        </p:nvSpPr>
        <p:spPr>
          <a:xfrm>
            <a:off x="3848100" y="44068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13:18</a:t>
            </a:r>
            <a:endParaRPr lang="en-US" sz="1600" dirty="0"/>
          </a:p>
        </p:txBody>
      </p:sp>
      <p:sp>
        <p:nvSpPr>
          <p:cNvPr id="25" name="Text 23"/>
          <p:cNvSpPr/>
          <p:nvPr/>
        </p:nvSpPr>
        <p:spPr>
          <a:xfrm>
            <a:off x="3822700" y="47370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a:t>
            </a:r>
            <a:endParaRPr lang="en-US" sz="1200" dirty="0"/>
          </a:p>
        </p:txBody>
      </p:sp>
      <p:sp>
        <p:nvSpPr>
          <p:cNvPr id="26" name="Shape 24"/>
          <p:cNvSpPr/>
          <p:nvPr/>
        </p:nvSpPr>
        <p:spPr>
          <a:xfrm>
            <a:off x="4806950" y="3575000"/>
            <a:ext cx="876300" cy="1409700"/>
          </a:xfrm>
          <a:prstGeom prst="roundRect">
            <a:avLst>
              <a:gd name="adj" fmla="val 5072"/>
            </a:avLst>
          </a:prstGeom>
          <a:noFill/>
          <a:ln w="12700">
            <a:solidFill>
              <a:srgbClr val="FFCC00"/>
            </a:solidFill>
            <a:prstDash val="solid"/>
          </a:ln>
        </p:spPr>
      </p:sp>
      <p:sp>
        <p:nvSpPr>
          <p:cNvPr id="27" name="Text 25"/>
          <p:cNvSpPr/>
          <p:nvPr/>
        </p:nvSpPr>
        <p:spPr>
          <a:xfrm>
            <a:off x="4813300" y="36067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28" name="Text 26"/>
          <p:cNvSpPr/>
          <p:nvPr/>
        </p:nvSpPr>
        <p:spPr>
          <a:xfrm>
            <a:off x="4838700" y="38226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15:09</a:t>
            </a:r>
            <a:endParaRPr lang="en-US" sz="1600" dirty="0"/>
          </a:p>
        </p:txBody>
      </p:sp>
      <p:sp>
        <p:nvSpPr>
          <p:cNvPr id="29" name="Shape 27"/>
          <p:cNvSpPr/>
          <p:nvPr/>
        </p:nvSpPr>
        <p:spPr>
          <a:xfrm>
            <a:off x="5245100" y="4152850"/>
            <a:ext cx="0" cy="254000"/>
          </a:xfrm>
          <a:prstGeom prst="line">
            <a:avLst/>
          </a:prstGeom>
          <a:noFill/>
          <a:ln w="12700">
            <a:solidFill>
              <a:srgbClr val="CFD3E6"/>
            </a:solidFill>
            <a:prstDash val="dash"/>
          </a:ln>
        </p:spPr>
      </p:sp>
      <p:sp>
        <p:nvSpPr>
          <p:cNvPr id="30" name="Text 28"/>
          <p:cNvSpPr/>
          <p:nvPr/>
        </p:nvSpPr>
        <p:spPr>
          <a:xfrm>
            <a:off x="4838700" y="44068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15:08</a:t>
            </a:r>
            <a:endParaRPr lang="en-US" sz="1600" dirty="0"/>
          </a:p>
        </p:txBody>
      </p:sp>
      <p:sp>
        <p:nvSpPr>
          <p:cNvPr id="31" name="Text 29"/>
          <p:cNvSpPr/>
          <p:nvPr/>
        </p:nvSpPr>
        <p:spPr>
          <a:xfrm>
            <a:off x="4813300" y="47370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32" name="Text 30"/>
          <p:cNvSpPr/>
          <p:nvPr/>
        </p:nvSpPr>
        <p:spPr>
          <a:xfrm>
            <a:off x="5803900" y="36067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33" name="Text 31"/>
          <p:cNvSpPr/>
          <p:nvPr/>
        </p:nvSpPr>
        <p:spPr>
          <a:xfrm>
            <a:off x="5829300" y="38226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15:24</a:t>
            </a:r>
            <a:endParaRPr lang="en-US" sz="1600" dirty="0"/>
          </a:p>
        </p:txBody>
      </p:sp>
      <p:sp>
        <p:nvSpPr>
          <p:cNvPr id="34" name="Shape 32"/>
          <p:cNvSpPr/>
          <p:nvPr/>
        </p:nvSpPr>
        <p:spPr>
          <a:xfrm>
            <a:off x="6235700" y="4152850"/>
            <a:ext cx="0" cy="254000"/>
          </a:xfrm>
          <a:prstGeom prst="line">
            <a:avLst/>
          </a:prstGeom>
          <a:noFill/>
          <a:ln w="12700">
            <a:solidFill>
              <a:srgbClr val="CFD3E6"/>
            </a:solidFill>
            <a:prstDash val="dash"/>
          </a:ln>
        </p:spPr>
      </p:sp>
      <p:sp>
        <p:nvSpPr>
          <p:cNvPr id="35" name="Text 33"/>
          <p:cNvSpPr/>
          <p:nvPr/>
        </p:nvSpPr>
        <p:spPr>
          <a:xfrm>
            <a:off x="5829300" y="44068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15:24</a:t>
            </a:r>
            <a:endParaRPr lang="en-US" sz="1600" dirty="0"/>
          </a:p>
        </p:txBody>
      </p:sp>
      <p:sp>
        <p:nvSpPr>
          <p:cNvPr id="36" name="Text 34"/>
          <p:cNvSpPr/>
          <p:nvPr/>
        </p:nvSpPr>
        <p:spPr>
          <a:xfrm>
            <a:off x="5803900" y="47370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37" name="Text 35"/>
          <p:cNvSpPr/>
          <p:nvPr/>
        </p:nvSpPr>
        <p:spPr>
          <a:xfrm>
            <a:off x="6794500" y="36067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38" name="Text 36"/>
          <p:cNvSpPr/>
          <p:nvPr/>
        </p:nvSpPr>
        <p:spPr>
          <a:xfrm>
            <a:off x="6819900" y="38226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16:22</a:t>
            </a:r>
            <a:endParaRPr lang="en-US" sz="1600" dirty="0"/>
          </a:p>
        </p:txBody>
      </p:sp>
      <p:sp>
        <p:nvSpPr>
          <p:cNvPr id="39" name="Shape 37"/>
          <p:cNvSpPr/>
          <p:nvPr/>
        </p:nvSpPr>
        <p:spPr>
          <a:xfrm>
            <a:off x="7226300" y="4152850"/>
            <a:ext cx="0" cy="254000"/>
          </a:xfrm>
          <a:prstGeom prst="line">
            <a:avLst/>
          </a:prstGeom>
          <a:noFill/>
          <a:ln w="12700">
            <a:solidFill>
              <a:srgbClr val="CFD3E6"/>
            </a:solidFill>
            <a:prstDash val="dash"/>
          </a:ln>
        </p:spPr>
      </p:sp>
      <p:sp>
        <p:nvSpPr>
          <p:cNvPr id="40" name="Text 38"/>
          <p:cNvSpPr/>
          <p:nvPr/>
        </p:nvSpPr>
        <p:spPr>
          <a:xfrm>
            <a:off x="6819900" y="44068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16:22</a:t>
            </a:r>
            <a:endParaRPr lang="en-US" sz="1600" dirty="0"/>
          </a:p>
        </p:txBody>
      </p:sp>
      <p:sp>
        <p:nvSpPr>
          <p:cNvPr id="41" name="Text 39"/>
          <p:cNvSpPr/>
          <p:nvPr/>
        </p:nvSpPr>
        <p:spPr>
          <a:xfrm>
            <a:off x="6794500" y="47370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a:t>
            </a:r>
            <a:endParaRPr lang="en-US" sz="1200" dirty="0"/>
          </a:p>
        </p:txBody>
      </p:sp>
      <p:sp>
        <p:nvSpPr>
          <p:cNvPr id="42" name="Text 40"/>
          <p:cNvSpPr/>
          <p:nvPr/>
        </p:nvSpPr>
        <p:spPr>
          <a:xfrm>
            <a:off x="7785100" y="36067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43" name="Text 41"/>
          <p:cNvSpPr/>
          <p:nvPr/>
        </p:nvSpPr>
        <p:spPr>
          <a:xfrm>
            <a:off x="7810500" y="38226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16:48</a:t>
            </a:r>
            <a:endParaRPr lang="en-US" sz="1600" dirty="0"/>
          </a:p>
        </p:txBody>
      </p:sp>
      <p:sp>
        <p:nvSpPr>
          <p:cNvPr id="44" name="Shape 42"/>
          <p:cNvSpPr/>
          <p:nvPr/>
        </p:nvSpPr>
        <p:spPr>
          <a:xfrm>
            <a:off x="8216900" y="4152850"/>
            <a:ext cx="0" cy="254000"/>
          </a:xfrm>
          <a:prstGeom prst="line">
            <a:avLst/>
          </a:prstGeom>
          <a:noFill/>
          <a:ln w="12700">
            <a:solidFill>
              <a:srgbClr val="CFD3E6"/>
            </a:solidFill>
            <a:prstDash val="dash"/>
          </a:ln>
        </p:spPr>
      </p:sp>
      <p:sp>
        <p:nvSpPr>
          <p:cNvPr id="45" name="Text 43"/>
          <p:cNvSpPr/>
          <p:nvPr/>
        </p:nvSpPr>
        <p:spPr>
          <a:xfrm>
            <a:off x="7810500" y="44068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16:48</a:t>
            </a:r>
            <a:endParaRPr lang="en-US" sz="1600" dirty="0"/>
          </a:p>
        </p:txBody>
      </p:sp>
      <p:sp>
        <p:nvSpPr>
          <p:cNvPr id="46" name="Text 44"/>
          <p:cNvSpPr/>
          <p:nvPr/>
        </p:nvSpPr>
        <p:spPr>
          <a:xfrm>
            <a:off x="7785100" y="47370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47" name="Text 45"/>
          <p:cNvSpPr/>
          <p:nvPr/>
        </p:nvSpPr>
        <p:spPr>
          <a:xfrm>
            <a:off x="8775700" y="36067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48" name="Text 46"/>
          <p:cNvSpPr/>
          <p:nvPr/>
        </p:nvSpPr>
        <p:spPr>
          <a:xfrm>
            <a:off x="8801100" y="38226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19:32</a:t>
            </a:r>
            <a:endParaRPr lang="en-US" sz="1600" dirty="0"/>
          </a:p>
        </p:txBody>
      </p:sp>
      <p:sp>
        <p:nvSpPr>
          <p:cNvPr id="49" name="Shape 47"/>
          <p:cNvSpPr/>
          <p:nvPr/>
        </p:nvSpPr>
        <p:spPr>
          <a:xfrm>
            <a:off x="9207500" y="4152850"/>
            <a:ext cx="0" cy="254000"/>
          </a:xfrm>
          <a:prstGeom prst="line">
            <a:avLst/>
          </a:prstGeom>
          <a:noFill/>
          <a:ln w="12700">
            <a:solidFill>
              <a:srgbClr val="CFD3E6"/>
            </a:solidFill>
            <a:prstDash val="dash"/>
          </a:ln>
        </p:spPr>
      </p:sp>
      <p:sp>
        <p:nvSpPr>
          <p:cNvPr id="50" name="Text 48"/>
          <p:cNvSpPr/>
          <p:nvPr/>
        </p:nvSpPr>
        <p:spPr>
          <a:xfrm>
            <a:off x="8801100" y="44068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19:32</a:t>
            </a:r>
            <a:endParaRPr lang="en-US" sz="1600" dirty="0"/>
          </a:p>
        </p:txBody>
      </p:sp>
      <p:sp>
        <p:nvSpPr>
          <p:cNvPr id="51" name="Text 49"/>
          <p:cNvSpPr/>
          <p:nvPr/>
        </p:nvSpPr>
        <p:spPr>
          <a:xfrm>
            <a:off x="8775700" y="47370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52" name="Text 50"/>
          <p:cNvSpPr/>
          <p:nvPr/>
        </p:nvSpPr>
        <p:spPr>
          <a:xfrm>
            <a:off x="9766300" y="36067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53" name="Text 51"/>
          <p:cNvSpPr/>
          <p:nvPr/>
        </p:nvSpPr>
        <p:spPr>
          <a:xfrm>
            <a:off x="9791700" y="38226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19:56</a:t>
            </a:r>
            <a:endParaRPr lang="en-US" sz="1600" dirty="0"/>
          </a:p>
        </p:txBody>
      </p:sp>
      <p:sp>
        <p:nvSpPr>
          <p:cNvPr id="54" name="Shape 52"/>
          <p:cNvSpPr/>
          <p:nvPr/>
        </p:nvSpPr>
        <p:spPr>
          <a:xfrm>
            <a:off x="10198100" y="4152850"/>
            <a:ext cx="0" cy="254000"/>
          </a:xfrm>
          <a:prstGeom prst="line">
            <a:avLst/>
          </a:prstGeom>
          <a:noFill/>
          <a:ln w="12700">
            <a:solidFill>
              <a:srgbClr val="CFD3E6"/>
            </a:solidFill>
            <a:prstDash val="dash"/>
          </a:ln>
        </p:spPr>
      </p:sp>
      <p:sp>
        <p:nvSpPr>
          <p:cNvPr id="55" name="Text 53"/>
          <p:cNvSpPr/>
          <p:nvPr/>
        </p:nvSpPr>
        <p:spPr>
          <a:xfrm>
            <a:off x="9791700" y="4406850"/>
            <a:ext cx="812800" cy="330200"/>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19:56</a:t>
            </a:r>
            <a:endParaRPr lang="en-US" sz="1600" dirty="0"/>
          </a:p>
        </p:txBody>
      </p:sp>
      <p:sp>
        <p:nvSpPr>
          <p:cNvPr id="56" name="Text 54"/>
          <p:cNvSpPr/>
          <p:nvPr/>
        </p:nvSpPr>
        <p:spPr>
          <a:xfrm>
            <a:off x="9766300" y="4737050"/>
            <a:ext cx="8636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A9B4BF"/>
                </a:solidFill>
                <a:latin typeface="Courier New" pitchFamily="49" charset="0"/>
                <a:ea typeface="Courier New" pitchFamily="49" charset="-122"/>
                <a:cs typeface="Courier New" pitchFamily="49" charset="-120"/>
              </a:rPr>
              <a:t>A+C</a:t>
            </a:r>
            <a:endParaRPr lang="en-US" sz="1200" dirty="0"/>
          </a:p>
        </p:txBody>
      </p:sp>
      <p:sp>
        <p:nvSpPr>
          <p:cNvPr id="57" name="Text 55"/>
          <p:cNvSpPr/>
          <p:nvPr/>
        </p:nvSpPr>
        <p:spPr>
          <a:xfrm>
            <a:off x="787400" y="506725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CC00"/>
                </a:solidFill>
                <a:latin typeface="Arial" pitchFamily="34" charset="0"/>
                <a:ea typeface="Arial" pitchFamily="34" charset="-122"/>
                <a:cs typeface="Arial" pitchFamily="34" charset="-120"/>
              </a:rPr>
              <a:t>1分差</a:t>
            </a:r>
            <a:endParaRPr lang="en-US" sz="1200" dirty="0"/>
          </a:p>
        </p:txBody>
      </p:sp>
      <p:sp>
        <p:nvSpPr>
          <p:cNvPr id="58" name="Text 56"/>
          <p:cNvSpPr/>
          <p:nvPr/>
        </p:nvSpPr>
        <p:spPr>
          <a:xfrm>
            <a:off x="812800" y="535677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時刻はUTC · A = ALPHA FORCE · C = CHARLIE FORCE · すべて宛先付き · 近さの得点 0.14</a:t>
            </a:r>
            <a:endParaRPr lang="en-US" sz="1200" dirty="0"/>
          </a:p>
        </p:txBody>
      </p:sp>
      <p:sp>
        <p:nvSpPr>
          <p:cNvPr id="59" name="Text 5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データ：公開中のDTCPギャラリーの日ごとのデータ、2026年10月15日</a:t>
            </a:r>
            <a:endParaRPr lang="en-US" sz="1200" dirty="0"/>
          </a:p>
        </p:txBody>
      </p:sp>
      <p:sp>
        <p:nvSpPr>
          <p:cNvPr id="60" name="Text 58"/>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ギャラリー</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41B"/>
        </a:solidFill>
      </p:bgPr>
    </p:bg>
    <p:spTree>
      <p:nvGrpSpPr>
        <p:cNvPr id="1" name=""/>
        <p:cNvGrpSpPr/>
        <p:nvPr/>
      </p:nvGrpSpPr>
      <p:grpSpPr>
        <a:xfrm>
          <a:off x="0" y="0"/>
          <a:ext cx="0" cy="0"/>
          <a:chOff x="0" y="0"/>
          <a:chExt cx="0" cy="0"/>
        </a:xfrm>
      </p:grpSpPr>
      <p:sp>
        <p:nvSpPr>
          <p:cNvPr id="2" name="Text 0"/>
          <p:cNvSpPr/>
          <p:nvPr/>
        </p:nvSpPr>
        <p:spPr>
          <a:xfrm>
            <a:off x="812800" y="245427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第5部</a:t>
            </a:r>
            <a:endParaRPr lang="en-US" sz="1200" dirty="0"/>
          </a:p>
        </p:txBody>
      </p:sp>
      <p:sp>
        <p:nvSpPr>
          <p:cNvPr id="3" name="Text 1"/>
          <p:cNvSpPr/>
          <p:nvPr>
            <p:ph type="title"/>
          </p:nvPr>
        </p:nvSpPr>
        <p:spPr>
          <a:xfrm>
            <a:off x="812800" y="2769195"/>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時系列</a:t>
            </a:r>
            <a:endParaRPr lang="en-US" sz="3600" dirty="0"/>
          </a:p>
        </p:txBody>
      </p:sp>
      <p:sp>
        <p:nvSpPr>
          <p:cNvPr id="4" name="Shape 2"/>
          <p:cNvSpPr/>
          <p:nvPr/>
        </p:nvSpPr>
        <p:spPr>
          <a:xfrm>
            <a:off x="812800" y="3625800"/>
            <a:ext cx="10566400" cy="0"/>
          </a:xfrm>
          <a:prstGeom prst="line">
            <a:avLst/>
          </a:prstGeom>
          <a:noFill/>
          <a:ln w="6350">
            <a:solidFill>
              <a:srgbClr val="2A3340"/>
            </a:solidFill>
            <a:prstDash val="solid"/>
          </a:ln>
        </p:spPr>
      </p:sp>
      <p:sp>
        <p:nvSpPr>
          <p:cNvPr id="5" name="Text 3"/>
          <p:cNvSpPr/>
          <p:nvPr/>
        </p:nvSpPr>
        <p:spPr>
          <a:xfrm>
            <a:off x="812800" y="3781375"/>
            <a:ext cx="10883392"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メッセージカレンダーの読み方と、再放送を日単位から分単位まで拡大して見る</a:t>
            </a:r>
            <a:endParaRPr lang="en-US" sz="22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7"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時系列</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2022年から日ごとに</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メッセージカレンダー</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1日に1セル、1年に1タブ。</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データは2022年1月25日〜2026年10月9日</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完全に書き取れたメッセージ</a:t>
            </a:r>
            <a:r>
              <a:rPr lang="en-US" sz="1600" dirty="0">
                <a:solidFill>
                  <a:srgbClr val="FFCC00"/>
                </a:solidFill>
                <a:latin typeface="Arial" pitchFamily="34" charset="0"/>
                <a:ea typeface="Arial" pitchFamily="34" charset="-122"/>
                <a:cs typeface="Arial" pitchFamily="34" charset="-120"/>
              </a:rPr>
              <a:t>15,277件</a:t>
            </a:r>
            <a:r>
              <a:rPr lang="en-US" sz="1600" dirty="0">
                <a:solidFill>
                  <a:srgbClr val="E6EDF3"/>
                </a:solidFill>
                <a:latin typeface="Arial" pitchFamily="34" charset="0"/>
                <a:ea typeface="Arial" pitchFamily="34" charset="-122"/>
                <a:cs typeface="Arial" pitchFamily="34" charset="-120"/>
              </a:rPr>
              <a:t>、</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1,072日分（再放送を含む）</a:t>
            </a:r>
            <a:endParaRPr lang="en-US" sz="1600" dirty="0"/>
          </a:p>
        </p:txBody>
      </p:sp>
      <p:sp>
        <p:nvSpPr>
          <p:cNvPr id="8" name="Shape 6"/>
          <p:cNvSpPr/>
          <p:nvPr/>
        </p:nvSpPr>
        <p:spPr>
          <a:xfrm>
            <a:off x="812800" y="3622625"/>
            <a:ext cx="4572000" cy="0"/>
          </a:xfrm>
          <a:prstGeom prst="line">
            <a:avLst/>
          </a:prstGeom>
          <a:noFill/>
          <a:ln w="6350">
            <a:solidFill>
              <a:srgbClr val="222A35"/>
            </a:solidFill>
            <a:prstDash val="solid"/>
          </a:ln>
        </p:spPr>
      </p:sp>
      <p:sp>
        <p:nvSpPr>
          <p:cNvPr id="9" name="Text 7"/>
          <p:cNvSpPr/>
          <p:nvPr/>
        </p:nvSpPr>
        <p:spPr>
          <a:xfrm>
            <a:off x="812800" y="37274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棒はその日に放送された群を固定の位置で示し、件数は示さない</a:t>
            </a:r>
            <a:endParaRPr lang="en-US" sz="1600" dirty="0"/>
          </a:p>
        </p:txBody>
      </p:sp>
      <p:sp>
        <p:nvSpPr>
          <p:cNvPr id="10" name="Shape 8"/>
          <p:cNvSpPr/>
          <p:nvPr/>
        </p:nvSpPr>
        <p:spPr>
          <a:xfrm>
            <a:off x="812800" y="4441775"/>
            <a:ext cx="4572000" cy="0"/>
          </a:xfrm>
          <a:prstGeom prst="line">
            <a:avLst/>
          </a:prstGeom>
          <a:noFill/>
          <a:ln w="6350">
            <a:solidFill>
              <a:srgbClr val="222A35"/>
            </a:solidFill>
            <a:prstDash val="solid"/>
          </a:ln>
        </p:spPr>
      </p:sp>
      <p:sp>
        <p:nvSpPr>
          <p:cNvPr id="11" name="Text 9"/>
          <p:cNvSpPr/>
          <p:nvPr/>
        </p:nvSpPr>
        <p:spPr>
          <a:xfrm>
            <a:off x="812800" y="45465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録音のある日をクリックすると、</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DTCPかDCRPの動画が開く</a:t>
            </a:r>
            <a:endParaRPr lang="en-US" sz="1600" dirty="0"/>
          </a:p>
        </p:txBody>
      </p:sp>
      <p:sp>
        <p:nvSpPr>
          <p:cNvPr id="12" name="Shape 10"/>
          <p:cNvSpPr/>
          <p:nvPr/>
        </p:nvSpPr>
        <p:spPr>
          <a:xfrm>
            <a:off x="812800" y="5260925"/>
            <a:ext cx="4572000" cy="0"/>
          </a:xfrm>
          <a:prstGeom prst="line">
            <a:avLst/>
          </a:prstGeom>
          <a:noFill/>
          <a:ln w="6350">
            <a:solidFill>
              <a:srgbClr val="222A35"/>
            </a:solidFill>
            <a:prstDash val="solid"/>
          </a:ln>
        </p:spPr>
      </p:sp>
      <p:sp>
        <p:nvSpPr>
          <p:cNvPr id="13" name="Text 11"/>
          <p:cNvSpPr/>
          <p:nvPr/>
        </p:nvSpPr>
        <p:spPr>
          <a:xfrm>
            <a:off x="812800" y="53657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?2023</a:t>
            </a:r>
            <a:r>
              <a:rPr lang="en-US" sz="1600" dirty="0">
                <a:solidFill>
                  <a:srgbClr val="E6EDF3"/>
                </a:solidFill>
                <a:latin typeface="Arial" pitchFamily="34" charset="0"/>
                <a:ea typeface="Arial" pitchFamily="34" charset="-122"/>
                <a:cs typeface="Arial" pitchFamily="34" charset="-120"/>
              </a:rPr>
              <a:t>で年を開く・← →で年を移動</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日本語表示のメッセージカレンダーの2023年タブ：日ごとのセルに群の棒が入った12か月分の表、赤とオレンジで示したスカイマスター事象と偽物マスター事象の日、左側の絞り込みのサイドバー">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時系列</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EAMカレンダー・監視範囲</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監視範囲の3段階</a:t>
            </a:r>
            <a:endParaRPr lang="en-US" sz="3600" dirty="0"/>
          </a:p>
        </p:txBody>
      </p:sp>
      <p:sp>
        <p:nvSpPr>
          <p:cNvPr id="4" name="Shape 2"/>
          <p:cNvSpPr/>
          <p:nvPr/>
        </p:nvSpPr>
        <p:spPr>
          <a:xfrm>
            <a:off x="812800" y="1981150"/>
            <a:ext cx="10566400" cy="365720"/>
          </a:xfrm>
          <a:prstGeom prst="rect">
            <a:avLst/>
          </a:prstGeom>
          <a:solidFill>
            <a:srgbClr val="0E141B"/>
          </a:solidFill>
          <a:ln/>
        </p:spPr>
      </p:sp>
      <p:sp>
        <p:nvSpPr>
          <p:cNvPr id="5" name="Text 3"/>
          <p:cNvSpPr/>
          <p:nvPr/>
        </p:nvSpPr>
        <p:spPr>
          <a:xfrm>
            <a:off x="965200" y="2057350"/>
            <a:ext cx="13208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セル</a:t>
            </a:r>
            <a:endParaRPr lang="en-US" sz="1200" dirty="0"/>
          </a:p>
        </p:txBody>
      </p:sp>
      <p:sp>
        <p:nvSpPr>
          <p:cNvPr id="6" name="Text 4"/>
          <p:cNvSpPr/>
          <p:nvPr/>
        </p:nvSpPr>
        <p:spPr>
          <a:xfrm>
            <a:off x="2387600" y="2057350"/>
            <a:ext cx="23545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凡例</a:t>
            </a:r>
            <a:endParaRPr lang="en-US" sz="1200" dirty="0"/>
          </a:p>
        </p:txBody>
      </p:sp>
      <p:sp>
        <p:nvSpPr>
          <p:cNvPr id="7" name="Text 5"/>
          <p:cNvSpPr/>
          <p:nvPr/>
        </p:nvSpPr>
        <p:spPr>
          <a:xfrm>
            <a:off x="4826000" y="2057350"/>
            <a:ext cx="56509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条件</a:t>
            </a:r>
            <a:endParaRPr lang="en-US" sz="1200" dirty="0"/>
          </a:p>
        </p:txBody>
      </p:sp>
      <p:sp>
        <p:nvSpPr>
          <p:cNvPr id="8" name="Text 6"/>
          <p:cNvSpPr/>
          <p:nvPr/>
        </p:nvSpPr>
        <p:spPr>
          <a:xfrm>
            <a:off x="10414000" y="2057350"/>
            <a:ext cx="81280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日数</a:t>
            </a:r>
            <a:endParaRPr lang="en-US" sz="1200" dirty="0"/>
          </a:p>
        </p:txBody>
      </p:sp>
      <p:sp>
        <p:nvSpPr>
          <p:cNvPr id="9" name="Shape 7"/>
          <p:cNvSpPr/>
          <p:nvPr/>
        </p:nvSpPr>
        <p:spPr>
          <a:xfrm>
            <a:off x="812800" y="2807246"/>
            <a:ext cx="10566400" cy="0"/>
          </a:xfrm>
          <a:prstGeom prst="line">
            <a:avLst/>
          </a:prstGeom>
          <a:noFill/>
          <a:ln w="6350">
            <a:solidFill>
              <a:srgbClr val="222A35"/>
            </a:solidFill>
            <a:prstDash val="solid"/>
          </a:ln>
        </p:spPr>
      </p:sp>
      <p:sp>
        <p:nvSpPr>
          <p:cNvPr id="10" name="Text 8"/>
          <p:cNvSpPr/>
          <p:nvPr/>
        </p:nvSpPr>
        <p:spPr>
          <a:xfrm>
            <a:off x="971550" y="2442121"/>
            <a:ext cx="393700" cy="266700"/>
          </a:xfrm>
          <a:prstGeom prst="rect">
            <a:avLst/>
          </a:prstGeom>
          <a:noFill/>
          <a:ln w="12700">
            <a:solidFill>
              <a:srgbClr val="A9B4BF"/>
            </a:solidFill>
            <a:prstDash val="solid"/>
          </a:ln>
        </p:spPr>
        <p:txBody>
          <a:bodyPr wrap="square" lIns="0" tIns="6350" rIns="0" bIns="0" rtlCol="0" anchor="t">
            <a:normAutofit/>
          </a:bodyPr>
          <a:lstStyle/>
          <a:p>
            <a:pPr algn="ctr" indent="0" marL="0">
              <a:lnSpc>
                <a:spcPts val="2004"/>
              </a:lnSpc>
              <a:buNone/>
            </a:pPr>
            <a:r>
              <a:rPr lang="en-US" sz="1200" dirty="0">
                <a:solidFill>
                  <a:srgbClr val="E6EDF3"/>
                </a:solidFill>
                <a:latin typeface="Courier New" pitchFamily="49" charset="0"/>
                <a:ea typeface="Courier New" pitchFamily="49" charset="-122"/>
                <a:cs typeface="Courier New" pitchFamily="49" charset="-120"/>
              </a:rPr>
              <a:t>14</a:t>
            </a:r>
            <a:endParaRPr lang="en-US" sz="1200" dirty="0"/>
          </a:p>
        </p:txBody>
      </p:sp>
      <p:sp>
        <p:nvSpPr>
          <p:cNvPr id="11" name="Text 9"/>
          <p:cNvSpPr/>
          <p:nvPr/>
        </p:nvSpPr>
        <p:spPr>
          <a:xfrm>
            <a:off x="1473200" y="2423071"/>
            <a:ext cx="48768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実線</a:t>
            </a:r>
            <a:endParaRPr lang="en-US" sz="1600" dirty="0"/>
          </a:p>
        </p:txBody>
      </p:sp>
      <p:sp>
        <p:nvSpPr>
          <p:cNvPr id="12" name="Text 10"/>
          <p:cNvSpPr/>
          <p:nvPr/>
        </p:nvSpPr>
        <p:spPr>
          <a:xfrm>
            <a:off x="2387600" y="2423071"/>
            <a:ext cx="235458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網羅的監視</a:t>
            </a:r>
            <a:endParaRPr lang="en-US" sz="1600" dirty="0"/>
          </a:p>
        </p:txBody>
      </p:sp>
      <p:sp>
        <p:nvSpPr>
          <p:cNvPr id="13" name="Text 11"/>
          <p:cNvSpPr/>
          <p:nvPr/>
        </p:nvSpPr>
        <p:spPr>
          <a:xfrm>
            <a:off x="4826000" y="2423071"/>
            <a:ext cx="56509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DTCP/DCRPの録音あり、または0件と記録</a:t>
            </a:r>
            <a:endParaRPr lang="en-US" sz="1600" dirty="0"/>
          </a:p>
        </p:txBody>
      </p:sp>
      <p:sp>
        <p:nvSpPr>
          <p:cNvPr id="14" name="Text 12"/>
          <p:cNvSpPr/>
          <p:nvPr/>
        </p:nvSpPr>
        <p:spPr>
          <a:xfrm>
            <a:off x="10414000" y="2423071"/>
            <a:ext cx="812800" cy="330200"/>
          </a:xfrm>
          <a:prstGeom prst="rect">
            <a:avLst/>
          </a:prstGeom>
          <a:noFill/>
          <a:ln/>
        </p:spPr>
        <p:txBody>
          <a:bodyPr wrap="square" lIns="0" tIns="0" rIns="0" bIns="0" rtlCol="0" anchor="t">
            <a:normAutofit/>
          </a:bodyPr>
          <a:lstStyle/>
          <a:p>
            <a:pPr algn="r" indent="0" marL="0">
              <a:lnSpc>
                <a:spcPts val="2400"/>
              </a:lnSpc>
              <a:buNone/>
            </a:pPr>
            <a:r>
              <a:rPr lang="en-US" sz="1600" b="1" dirty="0">
                <a:solidFill>
                  <a:srgbClr val="FFCC00"/>
                </a:solidFill>
                <a:latin typeface="Arial" pitchFamily="34" charset="0"/>
                <a:ea typeface="Arial" pitchFamily="34" charset="-122"/>
                <a:cs typeface="Arial" pitchFamily="34" charset="-120"/>
              </a:rPr>
              <a:t>789</a:t>
            </a:r>
            <a:endParaRPr lang="en-US" sz="1600" dirty="0"/>
          </a:p>
        </p:txBody>
      </p:sp>
      <p:sp>
        <p:nvSpPr>
          <p:cNvPr id="15" name="Shape 13"/>
          <p:cNvSpPr/>
          <p:nvPr/>
        </p:nvSpPr>
        <p:spPr>
          <a:xfrm>
            <a:off x="812800" y="3270796"/>
            <a:ext cx="10566400" cy="0"/>
          </a:xfrm>
          <a:prstGeom prst="line">
            <a:avLst/>
          </a:prstGeom>
          <a:noFill/>
          <a:ln w="6350">
            <a:solidFill>
              <a:srgbClr val="222A35"/>
            </a:solidFill>
            <a:prstDash val="solid"/>
          </a:ln>
        </p:spPr>
      </p:sp>
      <p:sp>
        <p:nvSpPr>
          <p:cNvPr id="16" name="Text 14"/>
          <p:cNvSpPr/>
          <p:nvPr/>
        </p:nvSpPr>
        <p:spPr>
          <a:xfrm>
            <a:off x="971550" y="2905671"/>
            <a:ext cx="393700" cy="266700"/>
          </a:xfrm>
          <a:prstGeom prst="rect">
            <a:avLst/>
          </a:prstGeom>
          <a:noFill/>
          <a:ln w="12700">
            <a:solidFill>
              <a:srgbClr val="A9B4BF"/>
            </a:solidFill>
            <a:prstDash val="dash"/>
          </a:ln>
        </p:spPr>
        <p:txBody>
          <a:bodyPr wrap="square" lIns="0" tIns="6350" rIns="0" bIns="0" rtlCol="0" anchor="t">
            <a:normAutofit/>
          </a:bodyPr>
          <a:lstStyle/>
          <a:p>
            <a:pPr algn="ctr" indent="0" marL="0">
              <a:lnSpc>
                <a:spcPts val="2004"/>
              </a:lnSpc>
              <a:buNone/>
            </a:pPr>
            <a:r>
              <a:rPr lang="en-US" sz="1200" dirty="0">
                <a:solidFill>
                  <a:srgbClr val="A9B4BF"/>
                </a:solidFill>
                <a:latin typeface="Courier New" pitchFamily="49" charset="0"/>
                <a:ea typeface="Courier New" pitchFamily="49" charset="-122"/>
                <a:cs typeface="Courier New" pitchFamily="49" charset="-120"/>
              </a:rPr>
              <a:t>14</a:t>
            </a:r>
            <a:endParaRPr lang="en-US" sz="1200" dirty="0"/>
          </a:p>
        </p:txBody>
      </p:sp>
      <p:sp>
        <p:nvSpPr>
          <p:cNvPr id="17" name="Text 15"/>
          <p:cNvSpPr/>
          <p:nvPr/>
        </p:nvSpPr>
        <p:spPr>
          <a:xfrm>
            <a:off x="1473200" y="2886621"/>
            <a:ext cx="48768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破線</a:t>
            </a:r>
            <a:endParaRPr lang="en-US" sz="1600" dirty="0"/>
          </a:p>
        </p:txBody>
      </p:sp>
      <p:sp>
        <p:nvSpPr>
          <p:cNvPr id="18" name="Text 16"/>
          <p:cNvSpPr/>
          <p:nvPr/>
        </p:nvSpPr>
        <p:spPr>
          <a:xfrm>
            <a:off x="2387600" y="2886621"/>
            <a:ext cx="235458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非網羅的な監視</a:t>
            </a:r>
            <a:endParaRPr lang="en-US" sz="1600" dirty="0"/>
          </a:p>
        </p:txBody>
      </p:sp>
      <p:sp>
        <p:nvSpPr>
          <p:cNvPr id="19" name="Text 17"/>
          <p:cNvSpPr/>
          <p:nvPr/>
        </p:nvSpPr>
        <p:spPr>
          <a:xfrm>
            <a:off x="4826000" y="2886621"/>
            <a:ext cx="56509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録音なし、メッセージの記録あり</a:t>
            </a:r>
            <a:endParaRPr lang="en-US" sz="1600" dirty="0"/>
          </a:p>
        </p:txBody>
      </p:sp>
      <p:sp>
        <p:nvSpPr>
          <p:cNvPr id="20" name="Text 18"/>
          <p:cNvSpPr/>
          <p:nvPr/>
        </p:nvSpPr>
        <p:spPr>
          <a:xfrm>
            <a:off x="10414000" y="2886621"/>
            <a:ext cx="812800" cy="330200"/>
          </a:xfrm>
          <a:prstGeom prst="rect">
            <a:avLst/>
          </a:prstGeom>
          <a:noFill/>
          <a:ln/>
        </p:spPr>
        <p:txBody>
          <a:bodyPr wrap="square" lIns="0" tIns="0" rIns="0" bIns="0" rtlCol="0" anchor="t">
            <a:normAutofit/>
          </a:bodyPr>
          <a:lstStyle/>
          <a:p>
            <a:pPr algn="r" indent="0" marL="0">
              <a:lnSpc>
                <a:spcPts val="2400"/>
              </a:lnSpc>
              <a:buNone/>
            </a:pPr>
            <a:r>
              <a:rPr lang="en-US" sz="1600" b="1" dirty="0">
                <a:solidFill>
                  <a:srgbClr val="E6EDF3"/>
                </a:solidFill>
                <a:latin typeface="Arial" pitchFamily="34" charset="0"/>
                <a:ea typeface="Arial" pitchFamily="34" charset="-122"/>
                <a:cs typeface="Arial" pitchFamily="34" charset="-120"/>
              </a:rPr>
              <a:t>305</a:t>
            </a:r>
            <a:endParaRPr lang="en-US" sz="1600" dirty="0"/>
          </a:p>
        </p:txBody>
      </p:sp>
      <p:sp>
        <p:nvSpPr>
          <p:cNvPr id="21" name="Shape 19"/>
          <p:cNvSpPr/>
          <p:nvPr/>
        </p:nvSpPr>
        <p:spPr>
          <a:xfrm>
            <a:off x="812800" y="3734346"/>
            <a:ext cx="10566400" cy="0"/>
          </a:xfrm>
          <a:prstGeom prst="line">
            <a:avLst/>
          </a:prstGeom>
          <a:noFill/>
          <a:ln w="6350">
            <a:solidFill>
              <a:srgbClr val="222A35"/>
            </a:solidFill>
            <a:prstDash val="solid"/>
          </a:ln>
        </p:spPr>
      </p:sp>
      <p:sp>
        <p:nvSpPr>
          <p:cNvPr id="22" name="Text 20"/>
          <p:cNvSpPr/>
          <p:nvPr/>
        </p:nvSpPr>
        <p:spPr>
          <a:xfrm>
            <a:off x="939800" y="3362871"/>
            <a:ext cx="457200" cy="304800"/>
          </a:xfrm>
          <a:prstGeom prst="rect">
            <a:avLst/>
          </a:prstGeom>
          <a:noFill/>
          <a:ln/>
        </p:spPr>
        <p:txBody>
          <a:bodyPr wrap="square" lIns="0" tIns="0" rIns="0" bIns="0" rtlCol="0" anchor="t">
            <a:normAutofit/>
          </a:bodyPr>
          <a:lstStyle/>
          <a:p>
            <a:pPr algn="ctr" indent="0" marL="0">
              <a:lnSpc>
                <a:spcPts val="2196"/>
              </a:lnSpc>
              <a:buNone/>
            </a:pPr>
            <a:r>
              <a:rPr lang="en-US" sz="1200" dirty="0">
                <a:solidFill>
                  <a:srgbClr val="7D8894"/>
                </a:solidFill>
                <a:latin typeface="Courier New" pitchFamily="49" charset="0"/>
                <a:ea typeface="Courier New" pitchFamily="49" charset="-122"/>
                <a:cs typeface="Courier New" pitchFamily="49" charset="-120"/>
              </a:rPr>
              <a:t>14</a:t>
            </a:r>
            <a:endParaRPr lang="en-US" sz="1200" dirty="0"/>
          </a:p>
        </p:txBody>
      </p:sp>
      <p:sp>
        <p:nvSpPr>
          <p:cNvPr id="23" name="Text 21"/>
          <p:cNvSpPr/>
          <p:nvPr/>
        </p:nvSpPr>
        <p:spPr>
          <a:xfrm>
            <a:off x="1473200" y="3350171"/>
            <a:ext cx="73152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枠なし</a:t>
            </a:r>
            <a:endParaRPr lang="en-US" sz="1600" dirty="0"/>
          </a:p>
        </p:txBody>
      </p:sp>
      <p:sp>
        <p:nvSpPr>
          <p:cNvPr id="24" name="Text 22"/>
          <p:cNvSpPr/>
          <p:nvPr/>
        </p:nvSpPr>
        <p:spPr>
          <a:xfrm>
            <a:off x="2387600" y="3350171"/>
            <a:ext cx="235458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監視なし</a:t>
            </a:r>
            <a:endParaRPr lang="en-US" sz="1600" dirty="0"/>
          </a:p>
        </p:txBody>
      </p:sp>
      <p:sp>
        <p:nvSpPr>
          <p:cNvPr id="25" name="Text 23"/>
          <p:cNvSpPr/>
          <p:nvPr/>
        </p:nvSpPr>
        <p:spPr>
          <a:xfrm>
            <a:off x="4826000" y="3350171"/>
            <a:ext cx="56509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録音なし、記録もなし</a:t>
            </a:r>
            <a:endParaRPr lang="en-US" sz="1600" dirty="0"/>
          </a:p>
        </p:txBody>
      </p:sp>
      <p:sp>
        <p:nvSpPr>
          <p:cNvPr id="26" name="Text 24"/>
          <p:cNvSpPr/>
          <p:nvPr/>
        </p:nvSpPr>
        <p:spPr>
          <a:xfrm>
            <a:off x="10414000" y="3350171"/>
            <a:ext cx="812800" cy="330200"/>
          </a:xfrm>
          <a:prstGeom prst="rect">
            <a:avLst/>
          </a:prstGeom>
          <a:noFill/>
          <a:ln/>
        </p:spPr>
        <p:txBody>
          <a:bodyPr wrap="square" lIns="0" tIns="0" rIns="0" bIns="0" rtlCol="0" anchor="t">
            <a:normAutofit/>
          </a:bodyPr>
          <a:lstStyle/>
          <a:p>
            <a:pPr algn="r" indent="0" marL="0">
              <a:lnSpc>
                <a:spcPts val="2400"/>
              </a:lnSpc>
              <a:buNone/>
            </a:pPr>
            <a:r>
              <a:rPr lang="en-US" sz="1600" b="1" dirty="0">
                <a:solidFill>
                  <a:srgbClr val="E6EDF3"/>
                </a:solidFill>
                <a:latin typeface="Arial" pitchFamily="34" charset="0"/>
                <a:ea typeface="Arial" pitchFamily="34" charset="-122"/>
                <a:cs typeface="Arial" pitchFamily="34" charset="-120"/>
              </a:rPr>
              <a:t>625</a:t>
            </a:r>
            <a:endParaRPr lang="en-US" sz="1600" dirty="0"/>
          </a:p>
        </p:txBody>
      </p:sp>
      <p:sp>
        <p:nvSpPr>
          <p:cNvPr id="27" name="Text 25"/>
          <p:cNvSpPr/>
          <p:nvPr/>
        </p:nvSpPr>
        <p:spPr>
          <a:xfrm>
            <a:off x="812800" y="3940721"/>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2022年1月25日〜2026年10月9日：1,719日、</a:t>
            </a:r>
            <a:r>
              <a:rPr lang="en-US" sz="1600" dirty="0">
                <a:solidFill>
                  <a:srgbClr val="FFCC00"/>
                </a:solidFill>
                <a:latin typeface="Arial" pitchFamily="34" charset="0"/>
                <a:ea typeface="Arial" pitchFamily="34" charset="-122"/>
                <a:cs typeface="Arial" pitchFamily="34" charset="-120"/>
              </a:rPr>
              <a:t>46%が実線</a:t>
            </a:r>
            <a:r>
              <a:rPr lang="en-US" sz="1600" dirty="0">
                <a:solidFill>
                  <a:srgbClr val="E6EDF3"/>
                </a:solidFill>
                <a:latin typeface="Arial" pitchFamily="34" charset="0"/>
                <a:ea typeface="Arial" pitchFamily="34" charset="-122"/>
                <a:cs typeface="Arial" pitchFamily="34" charset="-120"/>
              </a:rPr>
              <a:t> </a:t>
            </a:r>
            <a:r>
              <a:rPr lang="en-US" sz="1600" dirty="0">
                <a:solidFill>
                  <a:srgbClr val="7D8894"/>
                </a:solidFill>
                <a:latin typeface="Arial" pitchFamily="34" charset="0"/>
                <a:ea typeface="Arial" pitchFamily="34" charset="-122"/>
                <a:cs typeface="Arial" pitchFamily="34" charset="-120"/>
              </a:rPr>
              <a:t>・年ごと：実線／破線／枠なし</a:t>
            </a:r>
            <a:endParaRPr lang="en-US" sz="1600" dirty="0"/>
          </a:p>
        </p:txBody>
      </p:sp>
      <p:sp>
        <p:nvSpPr>
          <p:cNvPr id="28" name="Text 26"/>
          <p:cNvSpPr/>
          <p:nvPr/>
        </p:nvSpPr>
        <p:spPr>
          <a:xfrm>
            <a:off x="812800" y="4347121"/>
            <a:ext cx="205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2022・1月25日から</a:t>
            </a:r>
            <a:endParaRPr lang="en-US" sz="1200" dirty="0"/>
          </a:p>
        </p:txBody>
      </p:sp>
      <p:sp>
        <p:nvSpPr>
          <p:cNvPr id="29" name="Shape 27"/>
          <p:cNvSpPr/>
          <p:nvPr/>
        </p:nvSpPr>
        <p:spPr>
          <a:xfrm>
            <a:off x="812800" y="4611241"/>
            <a:ext cx="520700" cy="177800"/>
          </a:xfrm>
          <a:prstGeom prst="rect">
            <a:avLst/>
          </a:prstGeom>
          <a:solidFill>
            <a:srgbClr val="A9B4BF"/>
          </a:solidFill>
          <a:ln/>
        </p:spPr>
      </p:sp>
      <p:sp>
        <p:nvSpPr>
          <p:cNvPr id="30" name="Shape 28"/>
          <p:cNvSpPr/>
          <p:nvPr/>
        </p:nvSpPr>
        <p:spPr>
          <a:xfrm>
            <a:off x="1352550" y="4617591"/>
            <a:ext cx="12700" cy="165100"/>
          </a:xfrm>
          <a:prstGeom prst="rect">
            <a:avLst/>
          </a:prstGeom>
          <a:noFill/>
          <a:ln w="12700">
            <a:solidFill>
              <a:srgbClr val="A9B4BF"/>
            </a:solidFill>
            <a:prstDash val="dash"/>
          </a:ln>
        </p:spPr>
      </p:sp>
      <p:sp>
        <p:nvSpPr>
          <p:cNvPr id="31" name="Shape 29"/>
          <p:cNvSpPr/>
          <p:nvPr/>
        </p:nvSpPr>
        <p:spPr>
          <a:xfrm>
            <a:off x="1384300" y="4611241"/>
            <a:ext cx="1276350" cy="177800"/>
          </a:xfrm>
          <a:prstGeom prst="rect">
            <a:avLst/>
          </a:prstGeom>
          <a:solidFill>
            <a:srgbClr val="222A35"/>
          </a:solidFill>
          <a:ln/>
        </p:spPr>
      </p:sp>
      <p:sp>
        <p:nvSpPr>
          <p:cNvPr id="32" name="Text 30"/>
          <p:cNvSpPr/>
          <p:nvPr/>
        </p:nvSpPr>
        <p:spPr>
          <a:xfrm>
            <a:off x="812800" y="4839841"/>
            <a:ext cx="205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98 / 4 / 239</a:t>
            </a:r>
            <a:endParaRPr lang="en-US" sz="1200" dirty="0"/>
          </a:p>
        </p:txBody>
      </p:sp>
      <p:sp>
        <p:nvSpPr>
          <p:cNvPr id="33" name="Text 31"/>
          <p:cNvSpPr/>
          <p:nvPr/>
        </p:nvSpPr>
        <p:spPr>
          <a:xfrm>
            <a:off x="2956520" y="434712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2023</a:t>
            </a:r>
            <a:endParaRPr lang="en-US" sz="1200" dirty="0"/>
          </a:p>
        </p:txBody>
      </p:sp>
      <p:sp>
        <p:nvSpPr>
          <p:cNvPr id="34" name="Shape 32"/>
          <p:cNvSpPr/>
          <p:nvPr/>
        </p:nvSpPr>
        <p:spPr>
          <a:xfrm>
            <a:off x="2956520" y="4611241"/>
            <a:ext cx="1289050" cy="177800"/>
          </a:xfrm>
          <a:prstGeom prst="rect">
            <a:avLst/>
          </a:prstGeom>
          <a:solidFill>
            <a:srgbClr val="A9B4BF"/>
          </a:solidFill>
          <a:ln/>
        </p:spPr>
      </p:sp>
      <p:sp>
        <p:nvSpPr>
          <p:cNvPr id="35" name="Shape 33"/>
          <p:cNvSpPr/>
          <p:nvPr/>
        </p:nvSpPr>
        <p:spPr>
          <a:xfrm>
            <a:off x="4264620" y="4617591"/>
            <a:ext cx="260350" cy="165100"/>
          </a:xfrm>
          <a:prstGeom prst="rect">
            <a:avLst/>
          </a:prstGeom>
          <a:noFill/>
          <a:ln w="12700">
            <a:solidFill>
              <a:srgbClr val="A9B4BF"/>
            </a:solidFill>
            <a:prstDash val="dash"/>
          </a:ln>
        </p:spPr>
      </p:sp>
      <p:sp>
        <p:nvSpPr>
          <p:cNvPr id="36" name="Shape 34"/>
          <p:cNvSpPr/>
          <p:nvPr/>
        </p:nvSpPr>
        <p:spPr>
          <a:xfrm>
            <a:off x="4544020" y="4611241"/>
            <a:ext cx="381000" cy="177800"/>
          </a:xfrm>
          <a:prstGeom prst="rect">
            <a:avLst/>
          </a:prstGeom>
          <a:solidFill>
            <a:srgbClr val="222A35"/>
          </a:solidFill>
          <a:ln/>
        </p:spPr>
      </p:sp>
      <p:sp>
        <p:nvSpPr>
          <p:cNvPr id="37" name="Text 35"/>
          <p:cNvSpPr/>
          <p:nvPr/>
        </p:nvSpPr>
        <p:spPr>
          <a:xfrm>
            <a:off x="2956520" y="483984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242 / 51 / 72</a:t>
            </a:r>
            <a:endParaRPr lang="en-US" sz="1200" dirty="0"/>
          </a:p>
        </p:txBody>
      </p:sp>
      <p:sp>
        <p:nvSpPr>
          <p:cNvPr id="38" name="Text 36"/>
          <p:cNvSpPr/>
          <p:nvPr/>
        </p:nvSpPr>
        <p:spPr>
          <a:xfrm>
            <a:off x="5100290" y="434712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2024</a:t>
            </a:r>
            <a:endParaRPr lang="en-US" sz="1200" dirty="0"/>
          </a:p>
        </p:txBody>
      </p:sp>
      <p:sp>
        <p:nvSpPr>
          <p:cNvPr id="39" name="Shape 37"/>
          <p:cNvSpPr/>
          <p:nvPr/>
        </p:nvSpPr>
        <p:spPr>
          <a:xfrm>
            <a:off x="5100290" y="4611241"/>
            <a:ext cx="1054100" cy="177800"/>
          </a:xfrm>
          <a:prstGeom prst="rect">
            <a:avLst/>
          </a:prstGeom>
          <a:solidFill>
            <a:srgbClr val="A9B4BF"/>
          </a:solidFill>
          <a:ln/>
        </p:spPr>
      </p:sp>
      <p:sp>
        <p:nvSpPr>
          <p:cNvPr id="40" name="Shape 38"/>
          <p:cNvSpPr/>
          <p:nvPr/>
        </p:nvSpPr>
        <p:spPr>
          <a:xfrm>
            <a:off x="6173440" y="4617591"/>
            <a:ext cx="539750" cy="165100"/>
          </a:xfrm>
          <a:prstGeom prst="rect">
            <a:avLst/>
          </a:prstGeom>
          <a:noFill/>
          <a:ln w="12700">
            <a:solidFill>
              <a:srgbClr val="A9B4BF"/>
            </a:solidFill>
            <a:prstDash val="dash"/>
          </a:ln>
        </p:spPr>
      </p:sp>
      <p:sp>
        <p:nvSpPr>
          <p:cNvPr id="41" name="Shape 39"/>
          <p:cNvSpPr/>
          <p:nvPr/>
        </p:nvSpPr>
        <p:spPr>
          <a:xfrm>
            <a:off x="6732240" y="4611241"/>
            <a:ext cx="349250" cy="177800"/>
          </a:xfrm>
          <a:prstGeom prst="rect">
            <a:avLst/>
          </a:prstGeom>
          <a:solidFill>
            <a:srgbClr val="222A35"/>
          </a:solidFill>
          <a:ln/>
        </p:spPr>
      </p:sp>
      <p:sp>
        <p:nvSpPr>
          <p:cNvPr id="42" name="Text 40"/>
          <p:cNvSpPr/>
          <p:nvPr/>
        </p:nvSpPr>
        <p:spPr>
          <a:xfrm>
            <a:off x="5100290" y="483984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198 / 103 / 65</a:t>
            </a:r>
            <a:endParaRPr lang="en-US" sz="1200" dirty="0"/>
          </a:p>
        </p:txBody>
      </p:sp>
      <p:sp>
        <p:nvSpPr>
          <p:cNvPr id="43" name="Text 41"/>
          <p:cNvSpPr/>
          <p:nvPr/>
        </p:nvSpPr>
        <p:spPr>
          <a:xfrm>
            <a:off x="7244060" y="434712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2025</a:t>
            </a:r>
            <a:endParaRPr lang="en-US" sz="1200" dirty="0"/>
          </a:p>
        </p:txBody>
      </p:sp>
      <p:sp>
        <p:nvSpPr>
          <p:cNvPr id="44" name="Shape 42"/>
          <p:cNvSpPr/>
          <p:nvPr/>
        </p:nvSpPr>
        <p:spPr>
          <a:xfrm>
            <a:off x="7244060" y="4611241"/>
            <a:ext cx="660400" cy="177800"/>
          </a:xfrm>
          <a:prstGeom prst="rect">
            <a:avLst/>
          </a:prstGeom>
          <a:solidFill>
            <a:srgbClr val="A9B4BF"/>
          </a:solidFill>
          <a:ln/>
        </p:spPr>
      </p:sp>
      <p:sp>
        <p:nvSpPr>
          <p:cNvPr id="45" name="Shape 43"/>
          <p:cNvSpPr/>
          <p:nvPr/>
        </p:nvSpPr>
        <p:spPr>
          <a:xfrm>
            <a:off x="7923510" y="4617591"/>
            <a:ext cx="361950" cy="165100"/>
          </a:xfrm>
          <a:prstGeom prst="rect">
            <a:avLst/>
          </a:prstGeom>
          <a:noFill/>
          <a:ln w="12700">
            <a:solidFill>
              <a:srgbClr val="A9B4BF"/>
            </a:solidFill>
            <a:prstDash val="dash"/>
          </a:ln>
        </p:spPr>
      </p:sp>
      <p:sp>
        <p:nvSpPr>
          <p:cNvPr id="46" name="Shape 44"/>
          <p:cNvSpPr/>
          <p:nvPr/>
        </p:nvSpPr>
        <p:spPr>
          <a:xfrm>
            <a:off x="8304510" y="4611241"/>
            <a:ext cx="914400" cy="177800"/>
          </a:xfrm>
          <a:prstGeom prst="rect">
            <a:avLst/>
          </a:prstGeom>
          <a:solidFill>
            <a:srgbClr val="222A35"/>
          </a:solidFill>
          <a:ln/>
        </p:spPr>
      </p:sp>
      <p:sp>
        <p:nvSpPr>
          <p:cNvPr id="47" name="Text 45"/>
          <p:cNvSpPr/>
          <p:nvPr/>
        </p:nvSpPr>
        <p:spPr>
          <a:xfrm>
            <a:off x="7244060" y="483984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124 / 70 / 171</a:t>
            </a:r>
            <a:endParaRPr lang="en-US" sz="1200" dirty="0"/>
          </a:p>
        </p:txBody>
      </p:sp>
      <p:sp>
        <p:nvSpPr>
          <p:cNvPr id="48" name="Text 46"/>
          <p:cNvSpPr/>
          <p:nvPr/>
        </p:nvSpPr>
        <p:spPr>
          <a:xfrm>
            <a:off x="9387830" y="434712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2026・10月9日まで</a:t>
            </a:r>
            <a:endParaRPr lang="en-US" sz="1200" dirty="0"/>
          </a:p>
        </p:txBody>
      </p:sp>
      <p:sp>
        <p:nvSpPr>
          <p:cNvPr id="49" name="Shape 47"/>
          <p:cNvSpPr/>
          <p:nvPr/>
        </p:nvSpPr>
        <p:spPr>
          <a:xfrm>
            <a:off x="9387830" y="4611241"/>
            <a:ext cx="679450" cy="177800"/>
          </a:xfrm>
          <a:prstGeom prst="rect">
            <a:avLst/>
          </a:prstGeom>
          <a:solidFill>
            <a:srgbClr val="A9B4BF"/>
          </a:solidFill>
          <a:ln/>
        </p:spPr>
      </p:sp>
      <p:sp>
        <p:nvSpPr>
          <p:cNvPr id="50" name="Shape 48"/>
          <p:cNvSpPr/>
          <p:nvPr/>
        </p:nvSpPr>
        <p:spPr>
          <a:xfrm>
            <a:off x="10086330" y="4617591"/>
            <a:ext cx="400050" cy="165100"/>
          </a:xfrm>
          <a:prstGeom prst="rect">
            <a:avLst/>
          </a:prstGeom>
          <a:noFill/>
          <a:ln w="12700">
            <a:solidFill>
              <a:srgbClr val="A9B4BF"/>
            </a:solidFill>
            <a:prstDash val="dash"/>
          </a:ln>
        </p:spPr>
      </p:sp>
      <p:sp>
        <p:nvSpPr>
          <p:cNvPr id="51" name="Shape 49"/>
          <p:cNvSpPr/>
          <p:nvPr/>
        </p:nvSpPr>
        <p:spPr>
          <a:xfrm>
            <a:off x="10505430" y="4611241"/>
            <a:ext cx="419100" cy="177800"/>
          </a:xfrm>
          <a:prstGeom prst="rect">
            <a:avLst/>
          </a:prstGeom>
          <a:solidFill>
            <a:srgbClr val="222A35"/>
          </a:solidFill>
          <a:ln/>
        </p:spPr>
      </p:sp>
      <p:sp>
        <p:nvSpPr>
          <p:cNvPr id="52" name="Text 50"/>
          <p:cNvSpPr/>
          <p:nvPr/>
        </p:nvSpPr>
        <p:spPr>
          <a:xfrm>
            <a:off x="9387830" y="483984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127 / 77 / 78</a:t>
            </a:r>
            <a:endParaRPr lang="en-US" sz="1200" dirty="0"/>
          </a:p>
        </p:txBody>
      </p:sp>
      <p:sp>
        <p:nvSpPr>
          <p:cNvPr id="53" name="Shape 51"/>
          <p:cNvSpPr/>
          <p:nvPr/>
        </p:nvSpPr>
        <p:spPr>
          <a:xfrm>
            <a:off x="812800" y="5259536"/>
            <a:ext cx="10566400" cy="0"/>
          </a:xfrm>
          <a:prstGeom prst="line">
            <a:avLst/>
          </a:prstGeom>
          <a:noFill/>
          <a:ln w="6350">
            <a:solidFill>
              <a:srgbClr val="222A35"/>
            </a:solidFill>
            <a:prstDash val="solid"/>
          </a:ln>
        </p:spPr>
      </p:sp>
      <p:sp>
        <p:nvSpPr>
          <p:cNvPr id="54" name="Text 52"/>
          <p:cNvSpPr/>
          <p:nvPr/>
        </p:nvSpPr>
        <p:spPr>
          <a:xfrm>
            <a:off x="812800" y="5364311"/>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2023年12月24〜26日（日〜火）：実線の3日間、いずれも</a:t>
            </a:r>
            <a:r>
              <a:rPr lang="en-US" sz="1600" dirty="0">
                <a:solidFill>
                  <a:srgbClr val="FFCC00"/>
                </a:solidFill>
                <a:latin typeface="Arial" pitchFamily="34" charset="0"/>
                <a:ea typeface="Arial" pitchFamily="34" charset="-122"/>
                <a:cs typeface="Arial" pitchFamily="34" charset="-120"/>
              </a:rPr>
              <a:t>「電文合計: 0」</a:t>
            </a:r>
            <a:endParaRPr lang="en-US" sz="1600" dirty="0"/>
          </a:p>
        </p:txBody>
      </p:sp>
      <p:sp>
        <p:nvSpPr>
          <p:cNvPr id="55" name="Text 5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出典：公開中のメッセージカレンダー（生成日 261009）</a:t>
            </a:r>
            <a:endParaRPr lang="en-US" sz="1200" dirty="0"/>
          </a:p>
        </p:txBody>
      </p:sp>
      <p:sp>
        <p:nvSpPr>
          <p:cNvPr id="56" name="Text 54"/>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時系列</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EAMカレンダー・事象の目印</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スカイマスターと偽物マスターの目印</a:t>
            </a:r>
            <a:endParaRPr lang="en-US" sz="3600" dirty="0"/>
          </a:p>
        </p:txBody>
      </p:sp>
      <p:sp>
        <p:nvSpPr>
          <p:cNvPr id="4" name="Shape 2"/>
          <p:cNvSpPr/>
          <p:nvPr/>
        </p:nvSpPr>
        <p:spPr>
          <a:xfrm>
            <a:off x="819150" y="1987500"/>
            <a:ext cx="1384300" cy="635000"/>
          </a:xfrm>
          <a:prstGeom prst="rect">
            <a:avLst/>
          </a:prstGeom>
          <a:solidFill>
            <a:srgbClr val="411515"/>
          </a:solidFill>
          <a:ln w="12700">
            <a:solidFill>
              <a:srgbClr val="D93232"/>
            </a:solidFill>
            <a:prstDash val="solid"/>
          </a:ln>
        </p:spPr>
      </p:sp>
      <p:sp>
        <p:nvSpPr>
          <p:cNvPr id="5" name="Text 3"/>
          <p:cNvSpPr/>
          <p:nvPr/>
        </p:nvSpPr>
        <p:spPr>
          <a:xfrm>
            <a:off x="863600" y="2044650"/>
            <a:ext cx="1295400" cy="457200"/>
          </a:xfrm>
          <a:prstGeom prst="rect">
            <a:avLst/>
          </a:prstGeom>
          <a:noFill/>
          <a:ln/>
        </p:spPr>
        <p:txBody>
          <a:bodyPr wrap="square" lIns="0" tIns="0" rIns="0" bIns="0" rtlCol="0" anchor="t">
            <a:normAutofit/>
          </a:bodyPr>
          <a:lstStyle/>
          <a:p>
            <a:pPr algn="ctr" indent="0" marL="0">
              <a:lnSpc>
                <a:spcPts val="3408"/>
              </a:lnSpc>
              <a:buNone/>
            </a:pPr>
            <a:r>
              <a:rPr lang="en-US" sz="1600" b="1" dirty="0">
                <a:solidFill>
                  <a:srgbClr val="CCCCCC"/>
                </a:solidFill>
                <a:latin typeface="Courier New" pitchFamily="49" charset="0"/>
                <a:ea typeface="Courier New" pitchFamily="49" charset="-122"/>
                <a:cs typeface="Courier New" pitchFamily="49" charset="-120"/>
              </a:rPr>
              <a:t>30</a:t>
            </a:r>
            <a:endParaRPr lang="en-US" sz="1600" dirty="0"/>
          </a:p>
        </p:txBody>
      </p:sp>
      <p:sp>
        <p:nvSpPr>
          <p:cNvPr id="6" name="Shape 4"/>
          <p:cNvSpPr/>
          <p:nvPr/>
        </p:nvSpPr>
        <p:spPr>
          <a:xfrm>
            <a:off x="889000" y="2527250"/>
            <a:ext cx="292100" cy="38100"/>
          </a:xfrm>
          <a:prstGeom prst="rect">
            <a:avLst/>
          </a:prstGeom>
          <a:solidFill>
            <a:srgbClr val="2ECC71"/>
          </a:solidFill>
          <a:ln/>
        </p:spPr>
      </p:sp>
      <p:sp>
        <p:nvSpPr>
          <p:cNvPr id="7" name="Shape 5"/>
          <p:cNvSpPr/>
          <p:nvPr/>
        </p:nvSpPr>
        <p:spPr>
          <a:xfrm>
            <a:off x="1206500" y="2527250"/>
            <a:ext cx="292100" cy="38100"/>
          </a:xfrm>
          <a:prstGeom prst="rect">
            <a:avLst/>
          </a:prstGeom>
          <a:solidFill>
            <a:srgbClr val="FFA500"/>
          </a:solidFill>
          <a:ln/>
        </p:spPr>
      </p:sp>
      <p:sp>
        <p:nvSpPr>
          <p:cNvPr id="8" name="Text 6"/>
          <p:cNvSpPr/>
          <p:nvPr/>
        </p:nvSpPr>
        <p:spPr>
          <a:xfrm>
            <a:off x="2362200" y="2205930"/>
            <a:ext cx="180927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894"/>
                </a:solidFill>
                <a:latin typeface="Arial" pitchFamily="34" charset="0"/>
                <a:ea typeface="Arial" pitchFamily="34" charset="-122"/>
                <a:cs typeface="Arial" pitchFamily="34" charset="-120"/>
              </a:rPr>
              <a:t>2023年8月30日（水）</a:t>
            </a:r>
            <a:endParaRPr lang="en-US" sz="1200" dirty="0"/>
          </a:p>
        </p:txBody>
      </p:sp>
      <p:sp>
        <p:nvSpPr>
          <p:cNvPr id="9" name="Shape 7"/>
          <p:cNvSpPr/>
          <p:nvPr/>
        </p:nvSpPr>
        <p:spPr>
          <a:xfrm>
            <a:off x="812800" y="2784425"/>
            <a:ext cx="4165600" cy="0"/>
          </a:xfrm>
          <a:prstGeom prst="line">
            <a:avLst/>
          </a:prstGeom>
          <a:noFill/>
          <a:ln w="6350">
            <a:solidFill>
              <a:srgbClr val="222A35"/>
            </a:solidFill>
            <a:prstDash val="solid"/>
          </a:ln>
        </p:spPr>
      </p:sp>
      <p:sp>
        <p:nvSpPr>
          <p:cNvPr id="10" name="Text 8"/>
          <p:cNvSpPr/>
          <p:nvPr/>
        </p:nvSpPr>
        <p:spPr>
          <a:xfrm>
            <a:off x="812800" y="2889200"/>
            <a:ext cx="429056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凡例を1回クリックすると両方オン：</a:t>
            </a:r>
            <a:endParaRPr lang="en-US" sz="1600" dirty="0"/>
          </a:p>
          <a:p>
            <a:pPr algn="l" indent="0" marL="0">
              <a:lnSpc>
                <a:spcPts val="2400"/>
              </a:lnSpc>
              <a:buNone/>
            </a:pPr>
            <a:r>
              <a:rPr lang="en-US" sz="1600" dirty="0">
                <a:solidFill>
                  <a:srgbClr val="FF6060"/>
                </a:solidFill>
                <a:latin typeface="Arial" pitchFamily="34" charset="0"/>
                <a:ea typeface="Arial" pitchFamily="34" charset="-122"/>
                <a:cs typeface="Arial" pitchFamily="34" charset="-120"/>
              </a:rPr>
              <a:t>赤31日</a:t>
            </a:r>
            <a:r>
              <a:rPr lang="en-US" sz="1600" dirty="0">
                <a:solidFill>
                  <a:srgbClr val="E6EDF3"/>
                </a:solidFill>
                <a:latin typeface="Arial" pitchFamily="34" charset="0"/>
                <a:ea typeface="Arial" pitchFamily="34" charset="-122"/>
                <a:cs typeface="Arial" pitchFamily="34" charset="-120"/>
              </a:rPr>
              <a:t>と</a:t>
            </a:r>
            <a:r>
              <a:rPr lang="en-US" sz="1600" dirty="0">
                <a:solidFill>
                  <a:srgbClr val="FFA500"/>
                </a:solidFill>
                <a:latin typeface="Arial" pitchFamily="34" charset="0"/>
                <a:ea typeface="Arial" pitchFamily="34" charset="-122"/>
                <a:cs typeface="Arial" pitchFamily="34" charset="-120"/>
              </a:rPr>
              <a:t>オレンジ7日</a:t>
            </a:r>
            <a:endParaRPr lang="en-US" sz="1600" dirty="0"/>
          </a:p>
        </p:txBody>
      </p:sp>
      <p:sp>
        <p:nvSpPr>
          <p:cNvPr id="11" name="Shape 9"/>
          <p:cNvSpPr/>
          <p:nvPr/>
        </p:nvSpPr>
        <p:spPr>
          <a:xfrm>
            <a:off x="812800" y="3603575"/>
            <a:ext cx="4165600" cy="0"/>
          </a:xfrm>
          <a:prstGeom prst="line">
            <a:avLst/>
          </a:prstGeom>
          <a:noFill/>
          <a:ln w="6350">
            <a:solidFill>
              <a:srgbClr val="222A35"/>
            </a:solidFill>
            <a:prstDash val="solid"/>
          </a:ln>
        </p:spPr>
      </p:sp>
      <p:sp>
        <p:nvSpPr>
          <p:cNvPr id="12" name="Text 10"/>
          <p:cNvSpPr/>
          <p:nvPr/>
        </p:nvSpPr>
        <p:spPr>
          <a:xfrm>
            <a:off x="812800" y="3708350"/>
            <a:ext cx="429056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赤＝目次ページの日付つきスカイマスター</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26件＋うち5件の翌日</a:t>
            </a:r>
            <a:endParaRPr lang="en-US" sz="1600" dirty="0"/>
          </a:p>
        </p:txBody>
      </p:sp>
      <p:sp>
        <p:nvSpPr>
          <p:cNvPr id="13" name="Shape 11"/>
          <p:cNvSpPr/>
          <p:nvPr/>
        </p:nvSpPr>
        <p:spPr>
          <a:xfrm>
            <a:off x="812800" y="4422725"/>
            <a:ext cx="4165600" cy="0"/>
          </a:xfrm>
          <a:prstGeom prst="line">
            <a:avLst/>
          </a:prstGeom>
          <a:noFill/>
          <a:ln w="6350">
            <a:solidFill>
              <a:srgbClr val="222A35"/>
            </a:solidFill>
            <a:prstDash val="solid"/>
          </a:ln>
        </p:spPr>
      </p:sp>
      <p:sp>
        <p:nvSpPr>
          <p:cNvPr id="14" name="Text 12"/>
          <p:cNvSpPr/>
          <p:nvPr/>
        </p:nvSpPr>
        <p:spPr>
          <a:xfrm>
            <a:off x="812800" y="4527500"/>
            <a:ext cx="429056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オレンジ＝偽物マスター5件＋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空振りマスター2件（250430、260421）</a:t>
            </a:r>
            <a:endParaRPr lang="en-US" sz="1600" dirty="0"/>
          </a:p>
        </p:txBody>
      </p:sp>
      <p:sp>
        <p:nvSpPr>
          <p:cNvPr id="15" name="Shape 13"/>
          <p:cNvSpPr/>
          <p:nvPr/>
        </p:nvSpPr>
        <p:spPr>
          <a:xfrm>
            <a:off x="812800" y="5241875"/>
            <a:ext cx="4165600" cy="0"/>
          </a:xfrm>
          <a:prstGeom prst="line">
            <a:avLst/>
          </a:prstGeom>
          <a:noFill/>
          <a:ln w="6350">
            <a:solidFill>
              <a:srgbClr val="222A35"/>
            </a:solidFill>
            <a:prstDash val="solid"/>
          </a:ln>
        </p:spPr>
      </p:sp>
      <p:sp>
        <p:nvSpPr>
          <p:cNvPr id="16" name="Text 14"/>
          <p:cNvSpPr/>
          <p:nvPr/>
        </p:nvSpPr>
        <p:spPr>
          <a:xfrm>
            <a:off x="812800" y="5346650"/>
            <a:ext cx="429056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赤の日の内訳：実線18・破線10・枠なし3</a:t>
            </a:r>
            <a:endParaRPr lang="en-US" sz="1600" dirty="0"/>
          </a:p>
        </p:txBody>
      </p:sp>
      <p:sp>
        <p:nvSpPr>
          <p:cNvPr id="17" name="Text 15"/>
          <p:cNvSpPr/>
          <p:nvPr/>
        </p:nvSpPr>
        <p:spPr>
          <a:xfrm>
            <a:off x="5283200" y="1981150"/>
            <a:ext cx="3429000" cy="364480"/>
          </a:xfrm>
          <a:prstGeom prst="rect">
            <a:avLst/>
          </a:prstGeom>
          <a:solidFill>
            <a:srgbClr val="0D0D0D"/>
          </a:solidFill>
          <a:ln/>
        </p:spPr>
        <p:txBody>
          <a:bodyPr wrap="square" lIns="133350" tIns="82550" rIns="38481" bIns="12700" rtlCol="0" anchor="t">
            <a:normAutofit/>
          </a:bodyPr>
          <a:lstStyle/>
          <a:p>
            <a:pPr algn="l" indent="0" marL="0">
              <a:lnSpc>
                <a:spcPts val="1920"/>
              </a:lnSpc>
              <a:buNone/>
            </a:pPr>
            <a:r>
              <a:rPr lang="en-US" sz="1600" b="1" dirty="0">
                <a:solidFill>
                  <a:srgbClr val="DCDCDC"/>
                </a:solidFill>
                <a:latin typeface="Arial" pitchFamily="34" charset="0"/>
                <a:ea typeface="Arial" pitchFamily="34" charset="-122"/>
                <a:cs typeface="Arial" pitchFamily="34" charset="-120"/>
              </a:rPr>
              <a:t>230830</a:t>
            </a:r>
            <a:endParaRPr lang="en-US" sz="1600" dirty="0"/>
          </a:p>
        </p:txBody>
      </p:sp>
      <p:sp>
        <p:nvSpPr>
          <p:cNvPr id="18" name="Shape 16"/>
          <p:cNvSpPr/>
          <p:nvPr/>
        </p:nvSpPr>
        <p:spPr>
          <a:xfrm>
            <a:off x="5283200" y="1984325"/>
            <a:ext cx="3429000" cy="0"/>
          </a:xfrm>
          <a:prstGeom prst="line">
            <a:avLst/>
          </a:prstGeom>
          <a:noFill/>
          <a:ln w="6350">
            <a:solidFill>
              <a:srgbClr val="DCDCDC"/>
            </a:solidFill>
            <a:prstDash val="solid"/>
          </a:ln>
        </p:spPr>
      </p:sp>
      <p:sp>
        <p:nvSpPr>
          <p:cNvPr id="19" name="Shape 17"/>
          <p:cNvSpPr/>
          <p:nvPr/>
        </p:nvSpPr>
        <p:spPr>
          <a:xfrm>
            <a:off x="8709025" y="1981150"/>
            <a:ext cx="0" cy="364480"/>
          </a:xfrm>
          <a:prstGeom prst="line">
            <a:avLst/>
          </a:prstGeom>
          <a:noFill/>
          <a:ln w="6350">
            <a:solidFill>
              <a:srgbClr val="DCDCDC"/>
            </a:solidFill>
            <a:prstDash val="solid"/>
          </a:ln>
        </p:spPr>
      </p:sp>
      <p:sp>
        <p:nvSpPr>
          <p:cNvPr id="20" name="Shape 18"/>
          <p:cNvSpPr/>
          <p:nvPr/>
        </p:nvSpPr>
        <p:spPr>
          <a:xfrm>
            <a:off x="5286375" y="1981150"/>
            <a:ext cx="0" cy="364480"/>
          </a:xfrm>
          <a:prstGeom prst="line">
            <a:avLst/>
          </a:prstGeom>
          <a:noFill/>
          <a:ln w="6350">
            <a:solidFill>
              <a:srgbClr val="DCDCDC"/>
            </a:solidFill>
            <a:prstDash val="solid"/>
          </a:ln>
        </p:spPr>
      </p:sp>
      <p:sp>
        <p:nvSpPr>
          <p:cNvPr id="21" name="Shape 19"/>
          <p:cNvSpPr/>
          <p:nvPr/>
        </p:nvSpPr>
        <p:spPr>
          <a:xfrm>
            <a:off x="5283200" y="2345630"/>
            <a:ext cx="3429000" cy="265410"/>
          </a:xfrm>
          <a:prstGeom prst="rect">
            <a:avLst/>
          </a:prstGeom>
          <a:solidFill>
            <a:srgbClr val="0D0D0D"/>
          </a:solidFill>
          <a:ln/>
        </p:spPr>
      </p:sp>
      <p:sp>
        <p:nvSpPr>
          <p:cNvPr id="22" name="Shape 20"/>
          <p:cNvSpPr/>
          <p:nvPr/>
        </p:nvSpPr>
        <p:spPr>
          <a:xfrm>
            <a:off x="8709025" y="2345630"/>
            <a:ext cx="0" cy="265410"/>
          </a:xfrm>
          <a:prstGeom prst="line">
            <a:avLst/>
          </a:prstGeom>
          <a:noFill/>
          <a:ln w="6350">
            <a:solidFill>
              <a:srgbClr val="DCDCDC"/>
            </a:solidFill>
            <a:prstDash val="solid"/>
          </a:ln>
        </p:spPr>
      </p:sp>
      <p:sp>
        <p:nvSpPr>
          <p:cNvPr id="23" name="Shape 21"/>
          <p:cNvSpPr/>
          <p:nvPr/>
        </p:nvSpPr>
        <p:spPr>
          <a:xfrm>
            <a:off x="5286375" y="2345630"/>
            <a:ext cx="0" cy="265410"/>
          </a:xfrm>
          <a:prstGeom prst="line">
            <a:avLst/>
          </a:prstGeom>
          <a:noFill/>
          <a:ln w="6350">
            <a:solidFill>
              <a:srgbClr val="DCDCDC"/>
            </a:solidFill>
            <a:prstDash val="solid"/>
          </a:ln>
        </p:spPr>
      </p:sp>
      <p:sp>
        <p:nvSpPr>
          <p:cNvPr id="24" name="Shape 22"/>
          <p:cNvSpPr/>
          <p:nvPr/>
        </p:nvSpPr>
        <p:spPr>
          <a:xfrm>
            <a:off x="5416550" y="2345630"/>
            <a:ext cx="3162300" cy="6350"/>
          </a:xfrm>
          <a:prstGeom prst="rect">
            <a:avLst/>
          </a:prstGeom>
          <a:solidFill>
            <a:srgbClr val="333333"/>
          </a:solidFill>
          <a:ln/>
        </p:spPr>
      </p:sp>
      <p:sp>
        <p:nvSpPr>
          <p:cNvPr id="25" name="Text 23"/>
          <p:cNvSpPr/>
          <p:nvPr/>
        </p:nvSpPr>
        <p:spPr>
          <a:xfrm>
            <a:off x="5416550" y="2390080"/>
            <a:ext cx="3257169"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6060"/>
                </a:solidFill>
                <a:latin typeface="Arial" pitchFamily="34" charset="0"/>
                <a:ea typeface="Arial" pitchFamily="34" charset="-122"/>
                <a:cs typeface="Arial" pitchFamily="34" charset="-120"/>
              </a:rPr>
              <a:t>スカイマスター事象</a:t>
            </a:r>
            <a:endParaRPr lang="en-US" sz="1200" dirty="0"/>
          </a:p>
        </p:txBody>
      </p:sp>
      <p:sp>
        <p:nvSpPr>
          <p:cNvPr id="26" name="Shape 24"/>
          <p:cNvSpPr/>
          <p:nvPr/>
        </p:nvSpPr>
        <p:spPr>
          <a:xfrm>
            <a:off x="8712200" y="2471986"/>
            <a:ext cx="203200" cy="12700"/>
          </a:xfrm>
          <a:prstGeom prst="rect">
            <a:avLst/>
          </a:prstGeom>
          <a:solidFill>
            <a:srgbClr val="7D8894"/>
          </a:solidFill>
          <a:ln/>
        </p:spPr>
      </p:sp>
      <p:sp>
        <p:nvSpPr>
          <p:cNvPr id="27" name="Text 25"/>
          <p:cNvSpPr/>
          <p:nvPr/>
        </p:nvSpPr>
        <p:spPr>
          <a:xfrm>
            <a:off x="8966200" y="2386905"/>
            <a:ext cx="2197608" cy="208260"/>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7D8894"/>
                </a:solidFill>
                <a:latin typeface="Arial" pitchFamily="34" charset="0"/>
                <a:ea typeface="Arial" pitchFamily="34" charset="-122"/>
                <a:cs typeface="Arial" pitchFamily="34" charset="-120"/>
              </a:rPr>
              <a:t>事象の目印（凡例で切り替え）</a:t>
            </a:r>
            <a:endParaRPr lang="en-US" sz="1200" dirty="0"/>
          </a:p>
        </p:txBody>
      </p:sp>
      <p:sp>
        <p:nvSpPr>
          <p:cNvPr id="28" name="Shape 26"/>
          <p:cNvSpPr/>
          <p:nvPr/>
        </p:nvSpPr>
        <p:spPr>
          <a:xfrm>
            <a:off x="5283200" y="2611041"/>
            <a:ext cx="3429000" cy="486370"/>
          </a:xfrm>
          <a:prstGeom prst="rect">
            <a:avLst/>
          </a:prstGeom>
          <a:solidFill>
            <a:srgbClr val="0D0D0D"/>
          </a:solidFill>
          <a:ln/>
        </p:spPr>
      </p:sp>
      <p:sp>
        <p:nvSpPr>
          <p:cNvPr id="29" name="Shape 27"/>
          <p:cNvSpPr/>
          <p:nvPr/>
        </p:nvSpPr>
        <p:spPr>
          <a:xfrm>
            <a:off x="8709025" y="2611041"/>
            <a:ext cx="0" cy="486370"/>
          </a:xfrm>
          <a:prstGeom prst="line">
            <a:avLst/>
          </a:prstGeom>
          <a:noFill/>
          <a:ln w="6350">
            <a:solidFill>
              <a:srgbClr val="DCDCDC"/>
            </a:solidFill>
            <a:prstDash val="solid"/>
          </a:ln>
        </p:spPr>
      </p:sp>
      <p:sp>
        <p:nvSpPr>
          <p:cNvPr id="30" name="Shape 28"/>
          <p:cNvSpPr/>
          <p:nvPr/>
        </p:nvSpPr>
        <p:spPr>
          <a:xfrm>
            <a:off x="5286375" y="2611041"/>
            <a:ext cx="0" cy="486370"/>
          </a:xfrm>
          <a:prstGeom prst="line">
            <a:avLst/>
          </a:prstGeom>
          <a:noFill/>
          <a:ln w="6350">
            <a:solidFill>
              <a:srgbClr val="DCDCDC"/>
            </a:solidFill>
            <a:prstDash val="solid"/>
          </a:ln>
        </p:spPr>
      </p:sp>
      <p:sp>
        <p:nvSpPr>
          <p:cNvPr id="31" name="Shape 29"/>
          <p:cNvSpPr/>
          <p:nvPr/>
        </p:nvSpPr>
        <p:spPr>
          <a:xfrm>
            <a:off x="5416550" y="2611041"/>
            <a:ext cx="3162300" cy="6350"/>
          </a:xfrm>
          <a:prstGeom prst="rect">
            <a:avLst/>
          </a:prstGeom>
          <a:solidFill>
            <a:srgbClr val="333333"/>
          </a:solidFill>
          <a:ln/>
        </p:spPr>
      </p:sp>
      <p:sp>
        <p:nvSpPr>
          <p:cNvPr id="32" name="Text 30"/>
          <p:cNvSpPr/>
          <p:nvPr/>
        </p:nvSpPr>
        <p:spPr>
          <a:xfrm>
            <a:off x="5416550" y="2655491"/>
            <a:ext cx="3257169" cy="208260"/>
          </a:xfrm>
          <a:prstGeom prst="rect">
            <a:avLst/>
          </a:prstGeom>
          <a:noFill/>
          <a:ln/>
        </p:spPr>
        <p:txBody>
          <a:bodyPr wrap="square" lIns="0" tIns="0" rIns="0" bIns="0" rtlCol="0" anchor="t">
            <a:normAutofit/>
          </a:bodyPr>
          <a:lstStyle/>
          <a:p>
            <a:pPr algn="l" indent="0" marL="0">
              <a:lnSpc>
                <a:spcPts val="1440"/>
              </a:lnSpc>
              <a:buNone/>
            </a:pPr>
            <a:r>
              <a:rPr lang="en-US" sz="1200" b="1" spc="150" kern="0" dirty="0">
                <a:solidFill>
                  <a:srgbClr val="DCDCDC"/>
                </a:solidFill>
                <a:latin typeface="Courier New" pitchFamily="49" charset="0"/>
                <a:ea typeface="Courier New" pitchFamily="49" charset="-122"/>
                <a:cs typeface="Courier New" pitchFamily="49" charset="-120"/>
              </a:rPr>
              <a:t>DTCP</a:t>
            </a:r>
            <a:endParaRPr lang="en-US" sz="1200" dirty="0"/>
          </a:p>
        </p:txBody>
      </p:sp>
      <p:sp>
        <p:nvSpPr>
          <p:cNvPr id="33" name="Text 31"/>
          <p:cNvSpPr/>
          <p:nvPr/>
        </p:nvSpPr>
        <p:spPr>
          <a:xfrm>
            <a:off x="5416550" y="2876451"/>
            <a:ext cx="3257169"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AAAAAA"/>
                </a:solidFill>
                <a:latin typeface="Courier New" pitchFamily="49" charset="0"/>
                <a:ea typeface="Courier New" pitchFamily="49" charset="-122"/>
                <a:cs typeface="Courier New" pitchFamily="49" charset="-120"/>
              </a:rPr>
              <a:t>HFGCS TIMECARD 230830 ※ SKYMASTER</a:t>
            </a:r>
            <a:endParaRPr lang="en-US" sz="1200" dirty="0"/>
          </a:p>
        </p:txBody>
      </p:sp>
      <p:sp>
        <p:nvSpPr>
          <p:cNvPr id="34" name="Shape 32"/>
          <p:cNvSpPr/>
          <p:nvPr/>
        </p:nvSpPr>
        <p:spPr>
          <a:xfrm>
            <a:off x="8712200" y="2847876"/>
            <a:ext cx="203200" cy="12700"/>
          </a:xfrm>
          <a:prstGeom prst="rect">
            <a:avLst/>
          </a:prstGeom>
          <a:solidFill>
            <a:srgbClr val="7D8894"/>
          </a:solidFill>
          <a:ln/>
        </p:spPr>
      </p:sp>
      <p:sp>
        <p:nvSpPr>
          <p:cNvPr id="35" name="Text 33"/>
          <p:cNvSpPr/>
          <p:nvPr/>
        </p:nvSpPr>
        <p:spPr>
          <a:xfrm>
            <a:off x="8966200" y="2762796"/>
            <a:ext cx="965200" cy="208260"/>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7D8894"/>
                </a:solidFill>
                <a:latin typeface="Arial" pitchFamily="34" charset="0"/>
                <a:ea typeface="Arial" pitchFamily="34" charset="-122"/>
                <a:cs typeface="Arial" pitchFamily="34" charset="-120"/>
              </a:rPr>
              <a:t>その日の録音</a:t>
            </a:r>
            <a:endParaRPr lang="en-US" sz="1200" dirty="0"/>
          </a:p>
        </p:txBody>
      </p:sp>
      <p:sp>
        <p:nvSpPr>
          <p:cNvPr id="36" name="Shape 34"/>
          <p:cNvSpPr/>
          <p:nvPr/>
        </p:nvSpPr>
        <p:spPr>
          <a:xfrm>
            <a:off x="5283200" y="3097411"/>
            <a:ext cx="3429000" cy="749300"/>
          </a:xfrm>
          <a:prstGeom prst="rect">
            <a:avLst/>
          </a:prstGeom>
          <a:solidFill>
            <a:srgbClr val="0D0D0D"/>
          </a:solidFill>
          <a:ln/>
        </p:spPr>
      </p:sp>
      <p:sp>
        <p:nvSpPr>
          <p:cNvPr id="37" name="Shape 35"/>
          <p:cNvSpPr/>
          <p:nvPr/>
        </p:nvSpPr>
        <p:spPr>
          <a:xfrm>
            <a:off x="8709025" y="3097411"/>
            <a:ext cx="0" cy="749300"/>
          </a:xfrm>
          <a:prstGeom prst="line">
            <a:avLst/>
          </a:prstGeom>
          <a:noFill/>
          <a:ln w="6350">
            <a:solidFill>
              <a:srgbClr val="DCDCDC"/>
            </a:solidFill>
            <a:prstDash val="solid"/>
          </a:ln>
        </p:spPr>
      </p:sp>
      <p:sp>
        <p:nvSpPr>
          <p:cNvPr id="38" name="Shape 36"/>
          <p:cNvSpPr/>
          <p:nvPr/>
        </p:nvSpPr>
        <p:spPr>
          <a:xfrm>
            <a:off x="5286375" y="3097411"/>
            <a:ext cx="0" cy="749300"/>
          </a:xfrm>
          <a:prstGeom prst="line">
            <a:avLst/>
          </a:prstGeom>
          <a:noFill/>
          <a:ln w="6350">
            <a:solidFill>
              <a:srgbClr val="DCDCDC"/>
            </a:solidFill>
            <a:prstDash val="solid"/>
          </a:ln>
        </p:spPr>
      </p:sp>
      <p:sp>
        <p:nvSpPr>
          <p:cNvPr id="39" name="Text 37"/>
          <p:cNvSpPr/>
          <p:nvPr/>
        </p:nvSpPr>
        <p:spPr>
          <a:xfrm>
            <a:off x="5419725" y="3113286"/>
            <a:ext cx="1212850" cy="679450"/>
          </a:xfrm>
          <a:prstGeom prst="rect">
            <a:avLst/>
          </a:prstGeom>
          <a:solidFill>
            <a:srgbClr val="111111"/>
          </a:solidFill>
          <a:ln w="6350">
            <a:solidFill>
              <a:srgbClr val="2A2A2A"/>
            </a:solidFill>
            <a:prstDash val="solid"/>
          </a:ln>
        </p:spPr>
        <p:txBody>
          <a:bodyPr wrap="square" lIns="0" tIns="3175" rIns="0" bIns="0" rtlCol="0" anchor="t">
            <a:normAutofit/>
          </a:bodyPr>
          <a:lstStyle/>
          <a:p>
            <a:pPr algn="ctr" indent="0" marL="0">
              <a:lnSpc>
                <a:spcPts val="1680"/>
              </a:lnSpc>
              <a:buNone/>
            </a:pPr>
            <a:r>
              <a:rPr lang="en-US" sz="1200" dirty="0">
                <a:solidFill>
                  <a:srgbClr val="7D8894"/>
                </a:solidFill>
                <a:latin typeface="Arial" pitchFamily="34" charset="0"/>
                <a:ea typeface="Arial" pitchFamily="34" charset="-122"/>
                <a:cs typeface="Arial" pitchFamily="34" charset="-120"/>
              </a:rPr>
              <a:t>サムネイル</a:t>
            </a:r>
            <a:endParaRPr lang="en-US" sz="1200" dirty="0"/>
          </a:p>
        </p:txBody>
      </p:sp>
      <p:sp>
        <p:nvSpPr>
          <p:cNvPr id="40" name="Shape 38"/>
          <p:cNvSpPr/>
          <p:nvPr/>
        </p:nvSpPr>
        <p:spPr>
          <a:xfrm>
            <a:off x="5283200" y="3846711"/>
            <a:ext cx="3429000" cy="227310"/>
          </a:xfrm>
          <a:prstGeom prst="rect">
            <a:avLst/>
          </a:prstGeom>
          <a:solidFill>
            <a:srgbClr val="0D0D0D"/>
          </a:solidFill>
          <a:ln/>
        </p:spPr>
      </p:sp>
      <p:sp>
        <p:nvSpPr>
          <p:cNvPr id="41" name="Shape 39"/>
          <p:cNvSpPr/>
          <p:nvPr/>
        </p:nvSpPr>
        <p:spPr>
          <a:xfrm>
            <a:off x="8709025" y="3846711"/>
            <a:ext cx="0" cy="227310"/>
          </a:xfrm>
          <a:prstGeom prst="line">
            <a:avLst/>
          </a:prstGeom>
          <a:noFill/>
          <a:ln w="6350">
            <a:solidFill>
              <a:srgbClr val="DCDCDC"/>
            </a:solidFill>
            <a:prstDash val="solid"/>
          </a:ln>
        </p:spPr>
      </p:sp>
      <p:sp>
        <p:nvSpPr>
          <p:cNvPr id="42" name="Shape 40"/>
          <p:cNvSpPr/>
          <p:nvPr/>
        </p:nvSpPr>
        <p:spPr>
          <a:xfrm>
            <a:off x="5286375" y="3846711"/>
            <a:ext cx="0" cy="227310"/>
          </a:xfrm>
          <a:prstGeom prst="line">
            <a:avLst/>
          </a:prstGeom>
          <a:noFill/>
          <a:ln w="6350">
            <a:solidFill>
              <a:srgbClr val="DCDCDC"/>
            </a:solidFill>
            <a:prstDash val="solid"/>
          </a:ln>
        </p:spPr>
      </p:sp>
      <p:sp>
        <p:nvSpPr>
          <p:cNvPr id="43" name="Shape 41"/>
          <p:cNvSpPr/>
          <p:nvPr/>
        </p:nvSpPr>
        <p:spPr>
          <a:xfrm>
            <a:off x="5416550" y="3846711"/>
            <a:ext cx="3162300" cy="6350"/>
          </a:xfrm>
          <a:prstGeom prst="rect">
            <a:avLst/>
          </a:prstGeom>
          <a:solidFill>
            <a:srgbClr val="333333"/>
          </a:solidFill>
          <a:ln/>
        </p:spPr>
      </p:sp>
      <p:sp>
        <p:nvSpPr>
          <p:cNvPr id="44" name="Text 42"/>
          <p:cNvSpPr/>
          <p:nvPr/>
        </p:nvSpPr>
        <p:spPr>
          <a:xfrm>
            <a:off x="5416550" y="3891161"/>
            <a:ext cx="3257169"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DCDCDC"/>
                </a:solidFill>
                <a:latin typeface="Arial" pitchFamily="34" charset="0"/>
                <a:ea typeface="Arial" pitchFamily="34" charset="-122"/>
                <a:cs typeface="Arial" pitchFamily="34" charset="-120"/>
              </a:rPr>
              <a:t>電文合計:</a:t>
            </a:r>
            <a:r>
              <a:rPr lang="en-US" sz="1200" dirty="0">
                <a:solidFill>
                  <a:srgbClr val="DCDCDC"/>
                </a:solidFill>
                <a:latin typeface="Arial" pitchFamily="34" charset="0"/>
                <a:ea typeface="Arial" pitchFamily="34" charset="-122"/>
                <a:cs typeface="Arial" pitchFamily="34" charset="-120"/>
              </a:rPr>
              <a:t> 17</a:t>
            </a:r>
            <a:endParaRPr lang="en-US" sz="1200" dirty="0"/>
          </a:p>
        </p:txBody>
      </p:sp>
      <p:sp>
        <p:nvSpPr>
          <p:cNvPr id="45" name="Shape 43"/>
          <p:cNvSpPr/>
          <p:nvPr/>
        </p:nvSpPr>
        <p:spPr>
          <a:xfrm>
            <a:off x="8712200" y="3954016"/>
            <a:ext cx="203200" cy="12700"/>
          </a:xfrm>
          <a:prstGeom prst="rect">
            <a:avLst/>
          </a:prstGeom>
          <a:solidFill>
            <a:srgbClr val="7D8894"/>
          </a:solidFill>
          <a:ln/>
        </p:spPr>
      </p:sp>
      <p:sp>
        <p:nvSpPr>
          <p:cNvPr id="46" name="Text 44"/>
          <p:cNvSpPr/>
          <p:nvPr/>
        </p:nvSpPr>
        <p:spPr>
          <a:xfrm>
            <a:off x="8966200" y="3868936"/>
            <a:ext cx="2284934" cy="208260"/>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7D8894"/>
                </a:solidFill>
                <a:latin typeface="Arial" pitchFamily="34" charset="0"/>
                <a:ea typeface="Arial" pitchFamily="34" charset="-122"/>
                <a:cs typeface="Arial" pitchFamily="34" charset="-120"/>
              </a:rPr>
              <a:t>完全な書き取り・放送ごとに1件</a:t>
            </a:r>
            <a:endParaRPr lang="en-US" sz="1200" dirty="0"/>
          </a:p>
        </p:txBody>
      </p:sp>
      <p:sp>
        <p:nvSpPr>
          <p:cNvPr id="47" name="Text 45"/>
          <p:cNvSpPr/>
          <p:nvPr/>
        </p:nvSpPr>
        <p:spPr>
          <a:xfrm>
            <a:off x="5283200" y="4074021"/>
            <a:ext cx="3429000" cy="246360"/>
          </a:xfrm>
          <a:prstGeom prst="rect">
            <a:avLst/>
          </a:prstGeom>
          <a:solidFill>
            <a:srgbClr val="0D0D0D"/>
          </a:solidFill>
          <a:ln/>
        </p:spPr>
        <p:txBody>
          <a:bodyPr wrap="square" lIns="133350" tIns="12700" rIns="38481" bIns="25400" rtlCol="0" anchor="t">
            <a:normAutofit/>
          </a:bodyPr>
          <a:lstStyle/>
          <a:p>
            <a:pPr algn="l" indent="0" marL="0">
              <a:lnSpc>
                <a:spcPts val="1440"/>
              </a:lnSpc>
              <a:buNone/>
            </a:pPr>
            <a:r>
              <a:rPr lang="en-US" sz="1200" i="1" dirty="0">
                <a:solidFill>
                  <a:srgbClr val="777777"/>
                </a:solidFill>
                <a:latin typeface="Arial" pitchFamily="34" charset="0"/>
                <a:ea typeface="Arial" pitchFamily="34" charset="-122"/>
                <a:cs typeface="Arial" pitchFamily="34" charset="-120"/>
              </a:rPr>
              <a:t>16 はE6Bによる送信</a:t>
            </a:r>
            <a:endParaRPr lang="en-US" sz="1200" dirty="0"/>
          </a:p>
        </p:txBody>
      </p:sp>
      <p:sp>
        <p:nvSpPr>
          <p:cNvPr id="48" name="Shape 46"/>
          <p:cNvSpPr/>
          <p:nvPr/>
        </p:nvSpPr>
        <p:spPr>
          <a:xfrm>
            <a:off x="8709025" y="4074021"/>
            <a:ext cx="0" cy="246360"/>
          </a:xfrm>
          <a:prstGeom prst="line">
            <a:avLst/>
          </a:prstGeom>
          <a:noFill/>
          <a:ln w="6350">
            <a:solidFill>
              <a:srgbClr val="DCDCDC"/>
            </a:solidFill>
            <a:prstDash val="solid"/>
          </a:ln>
        </p:spPr>
      </p:sp>
      <p:sp>
        <p:nvSpPr>
          <p:cNvPr id="49" name="Shape 47"/>
          <p:cNvSpPr/>
          <p:nvPr/>
        </p:nvSpPr>
        <p:spPr>
          <a:xfrm>
            <a:off x="5286375" y="4074021"/>
            <a:ext cx="0" cy="246360"/>
          </a:xfrm>
          <a:prstGeom prst="line">
            <a:avLst/>
          </a:prstGeom>
          <a:noFill/>
          <a:ln w="6350">
            <a:solidFill>
              <a:srgbClr val="DCDCDC"/>
            </a:solidFill>
            <a:prstDash val="solid"/>
          </a:ln>
        </p:spPr>
      </p:sp>
      <p:sp>
        <p:nvSpPr>
          <p:cNvPr id="50" name="Shape 48"/>
          <p:cNvSpPr/>
          <p:nvPr/>
        </p:nvSpPr>
        <p:spPr>
          <a:xfrm>
            <a:off x="8712200" y="4190851"/>
            <a:ext cx="203200" cy="12700"/>
          </a:xfrm>
          <a:prstGeom prst="rect">
            <a:avLst/>
          </a:prstGeom>
          <a:solidFill>
            <a:srgbClr val="7D8894"/>
          </a:solidFill>
          <a:ln/>
        </p:spPr>
      </p:sp>
      <p:sp>
        <p:nvSpPr>
          <p:cNvPr id="51" name="Text 49"/>
          <p:cNvSpPr/>
          <p:nvPr/>
        </p:nvSpPr>
        <p:spPr>
          <a:xfrm>
            <a:off x="8966200" y="4105771"/>
            <a:ext cx="1761745" cy="208260"/>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7D8894"/>
                </a:solidFill>
                <a:latin typeface="Arial" pitchFamily="34" charset="0"/>
                <a:ea typeface="Arial" pitchFamily="34" charset="-122"/>
                <a:cs typeface="Arial" pitchFamily="34" charset="-120"/>
              </a:rPr>
              <a:t>E-6B送信の印がある件数</a:t>
            </a:r>
            <a:endParaRPr lang="en-US" sz="1200" dirty="0"/>
          </a:p>
        </p:txBody>
      </p:sp>
      <p:sp>
        <p:nvSpPr>
          <p:cNvPr id="52" name="Shape 50"/>
          <p:cNvSpPr/>
          <p:nvPr/>
        </p:nvSpPr>
        <p:spPr>
          <a:xfrm>
            <a:off x="5283200" y="4320381"/>
            <a:ext cx="3429000" cy="1370211"/>
          </a:xfrm>
          <a:prstGeom prst="rect">
            <a:avLst/>
          </a:prstGeom>
          <a:solidFill>
            <a:srgbClr val="0D0D0D"/>
          </a:solidFill>
          <a:ln/>
        </p:spPr>
      </p:sp>
      <p:sp>
        <p:nvSpPr>
          <p:cNvPr id="53" name="Shape 51"/>
          <p:cNvSpPr/>
          <p:nvPr/>
        </p:nvSpPr>
        <p:spPr>
          <a:xfrm>
            <a:off x="8709025" y="4320381"/>
            <a:ext cx="0" cy="1370211"/>
          </a:xfrm>
          <a:prstGeom prst="line">
            <a:avLst/>
          </a:prstGeom>
          <a:noFill/>
          <a:ln w="6350">
            <a:solidFill>
              <a:srgbClr val="DCDCDC"/>
            </a:solidFill>
            <a:prstDash val="solid"/>
          </a:ln>
        </p:spPr>
      </p:sp>
      <p:sp>
        <p:nvSpPr>
          <p:cNvPr id="54" name="Shape 52"/>
          <p:cNvSpPr/>
          <p:nvPr/>
        </p:nvSpPr>
        <p:spPr>
          <a:xfrm>
            <a:off x="5283200" y="5687417"/>
            <a:ext cx="3429000" cy="0"/>
          </a:xfrm>
          <a:prstGeom prst="line">
            <a:avLst/>
          </a:prstGeom>
          <a:noFill/>
          <a:ln w="6350">
            <a:solidFill>
              <a:srgbClr val="DCDCDC"/>
            </a:solidFill>
            <a:prstDash val="solid"/>
          </a:ln>
        </p:spPr>
      </p:sp>
      <p:sp>
        <p:nvSpPr>
          <p:cNvPr id="55" name="Shape 53"/>
          <p:cNvSpPr/>
          <p:nvPr/>
        </p:nvSpPr>
        <p:spPr>
          <a:xfrm>
            <a:off x="5286375" y="4320381"/>
            <a:ext cx="0" cy="1370211"/>
          </a:xfrm>
          <a:prstGeom prst="line">
            <a:avLst/>
          </a:prstGeom>
          <a:noFill/>
          <a:ln w="6350">
            <a:solidFill>
              <a:srgbClr val="DCDCDC"/>
            </a:solidFill>
            <a:prstDash val="solid"/>
          </a:ln>
        </p:spPr>
      </p:sp>
      <p:sp>
        <p:nvSpPr>
          <p:cNvPr id="56" name="Shape 54"/>
          <p:cNvSpPr/>
          <p:nvPr/>
        </p:nvSpPr>
        <p:spPr>
          <a:xfrm>
            <a:off x="5416550" y="4320381"/>
            <a:ext cx="3162300" cy="6350"/>
          </a:xfrm>
          <a:prstGeom prst="rect">
            <a:avLst/>
          </a:prstGeom>
          <a:solidFill>
            <a:srgbClr val="333333"/>
          </a:solidFill>
          <a:ln/>
        </p:spPr>
      </p:sp>
      <p:sp>
        <p:nvSpPr>
          <p:cNvPr id="57" name="Text 55"/>
          <p:cNvSpPr/>
          <p:nvPr/>
        </p:nvSpPr>
        <p:spPr>
          <a:xfrm>
            <a:off x="5416550" y="4352131"/>
            <a:ext cx="3257169"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2ECC71"/>
                </a:solidFill>
                <a:latin typeface="Arial" pitchFamily="34" charset="0"/>
                <a:ea typeface="Arial" pitchFamily="34" charset="-122"/>
                <a:cs typeface="Arial" pitchFamily="34" charset="-120"/>
              </a:rPr>
              <a:t>■</a:t>
            </a:r>
            <a:r>
              <a:rPr lang="en-US" sz="1200" dirty="0">
                <a:solidFill>
                  <a:srgbClr val="DCDCDC"/>
                </a:solidFill>
                <a:latin typeface="Arial" pitchFamily="34" charset="0"/>
                <a:ea typeface="Arial" pitchFamily="34" charset="-122"/>
                <a:cs typeface="Arial" pitchFamily="34" charset="-120"/>
              </a:rPr>
              <a:t> </a:t>
            </a:r>
            <a:r>
              <a:rPr lang="en-US" sz="1200" b="1" dirty="0">
                <a:solidFill>
                  <a:srgbClr val="DCDCDC"/>
                </a:solidFill>
                <a:latin typeface="Arial" pitchFamily="34" charset="0"/>
                <a:ea typeface="Arial" pitchFamily="34" charset="-122"/>
                <a:cs typeface="Arial" pitchFamily="34" charset="-120"/>
              </a:rPr>
              <a:t>Group 1:</a:t>
            </a:r>
            <a:r>
              <a:rPr lang="en-US" sz="1200" dirty="0">
                <a:solidFill>
                  <a:srgbClr val="DCDCDC"/>
                </a:solidFill>
                <a:latin typeface="Arial" pitchFamily="34" charset="0"/>
                <a:ea typeface="Arial" pitchFamily="34" charset="-122"/>
                <a:cs typeface="Arial" pitchFamily="34" charset="-120"/>
              </a:rPr>
              <a:t> 16 通</a:t>
            </a:r>
            <a:endParaRPr lang="en-US" sz="1200" dirty="0"/>
          </a:p>
        </p:txBody>
      </p:sp>
      <p:sp>
        <p:nvSpPr>
          <p:cNvPr id="58" name="Text 56"/>
          <p:cNvSpPr/>
          <p:nvPr/>
        </p:nvSpPr>
        <p:spPr>
          <a:xfrm>
            <a:off x="5594350" y="4560391"/>
            <a:ext cx="307403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777777"/>
                </a:solidFill>
                <a:latin typeface="Arial" pitchFamily="34" charset="0"/>
                <a:ea typeface="Arial" pitchFamily="34" charset="-122"/>
                <a:cs typeface="Arial" pitchFamily="34" charset="-120"/>
              </a:rPr>
              <a:t>電文長 </a:t>
            </a:r>
            <a:r>
              <a:rPr lang="en-US" sz="1200" dirty="0">
                <a:solidFill>
                  <a:srgbClr val="CCCCCC"/>
                </a:solidFill>
                <a:latin typeface="Arial" pitchFamily="34" charset="0"/>
                <a:ea typeface="Arial" pitchFamily="34" charset="-122"/>
                <a:cs typeface="Arial" pitchFamily="34" charset="-120"/>
              </a:rPr>
              <a:t>30</a:t>
            </a:r>
            <a:r>
              <a:rPr lang="en-US" sz="1200" dirty="0">
                <a:solidFill>
                  <a:srgbClr val="777777"/>
                </a:solidFill>
                <a:latin typeface="Arial" pitchFamily="34" charset="0"/>
                <a:ea typeface="Arial" pitchFamily="34" charset="-122"/>
                <a:cs typeface="Arial" pitchFamily="34" charset="-120"/>
              </a:rPr>
              <a:t>[×16]</a:t>
            </a:r>
            <a:endParaRPr lang="en-US" sz="1200" dirty="0"/>
          </a:p>
        </p:txBody>
      </p:sp>
      <p:sp>
        <p:nvSpPr>
          <p:cNvPr id="59" name="Text 57"/>
          <p:cNvSpPr/>
          <p:nvPr/>
        </p:nvSpPr>
        <p:spPr>
          <a:xfrm>
            <a:off x="5594350" y="4768652"/>
            <a:ext cx="307403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777777"/>
                </a:solidFill>
                <a:latin typeface="Arial" pitchFamily="34" charset="0"/>
                <a:ea typeface="Arial" pitchFamily="34" charset="-122"/>
                <a:cs typeface="Arial" pitchFamily="34" charset="-120"/>
              </a:rPr>
              <a:t>接頭辞 </a:t>
            </a:r>
            <a:r>
              <a:rPr lang="en-US" sz="1200" dirty="0">
                <a:solidFill>
                  <a:srgbClr val="CCCCCC"/>
                </a:solidFill>
                <a:latin typeface="Arial" pitchFamily="34" charset="0"/>
                <a:ea typeface="Arial" pitchFamily="34" charset="-122"/>
                <a:cs typeface="Arial" pitchFamily="34" charset="-120"/>
              </a:rPr>
              <a:t>PJ</a:t>
            </a:r>
            <a:r>
              <a:rPr lang="en-US" sz="1200" dirty="0">
                <a:solidFill>
                  <a:srgbClr val="777777"/>
                </a:solidFill>
                <a:latin typeface="Arial" pitchFamily="34" charset="0"/>
                <a:ea typeface="Arial" pitchFamily="34" charset="-122"/>
                <a:cs typeface="Arial" pitchFamily="34" charset="-120"/>
              </a:rPr>
              <a:t>[×16]</a:t>
            </a:r>
            <a:endParaRPr lang="en-US" sz="1200" dirty="0"/>
          </a:p>
        </p:txBody>
      </p:sp>
      <p:sp>
        <p:nvSpPr>
          <p:cNvPr id="60" name="Shape 58"/>
          <p:cNvSpPr/>
          <p:nvPr/>
        </p:nvSpPr>
        <p:spPr>
          <a:xfrm>
            <a:off x="5416550" y="4976912"/>
            <a:ext cx="3162300" cy="6350"/>
          </a:xfrm>
          <a:prstGeom prst="rect">
            <a:avLst/>
          </a:prstGeom>
          <a:solidFill>
            <a:srgbClr val="333333"/>
          </a:solidFill>
          <a:ln/>
        </p:spPr>
      </p:sp>
      <p:sp>
        <p:nvSpPr>
          <p:cNvPr id="61" name="Text 59"/>
          <p:cNvSpPr/>
          <p:nvPr/>
        </p:nvSpPr>
        <p:spPr>
          <a:xfrm>
            <a:off x="5416550" y="5008662"/>
            <a:ext cx="3257169"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FFA500"/>
                </a:solidFill>
                <a:latin typeface="Arial" pitchFamily="34" charset="0"/>
                <a:ea typeface="Arial" pitchFamily="34" charset="-122"/>
                <a:cs typeface="Arial" pitchFamily="34" charset="-120"/>
              </a:rPr>
              <a:t>■</a:t>
            </a:r>
            <a:r>
              <a:rPr lang="en-US" sz="1200" dirty="0">
                <a:solidFill>
                  <a:srgbClr val="DCDCDC"/>
                </a:solidFill>
                <a:latin typeface="Arial" pitchFamily="34" charset="0"/>
                <a:ea typeface="Arial" pitchFamily="34" charset="-122"/>
                <a:cs typeface="Arial" pitchFamily="34" charset="-120"/>
              </a:rPr>
              <a:t> </a:t>
            </a:r>
            <a:r>
              <a:rPr lang="en-US" sz="1200" b="1" dirty="0">
                <a:solidFill>
                  <a:srgbClr val="DCDCDC"/>
                </a:solidFill>
                <a:latin typeface="Arial" pitchFamily="34" charset="0"/>
                <a:ea typeface="Arial" pitchFamily="34" charset="-122"/>
                <a:cs typeface="Arial" pitchFamily="34" charset="-120"/>
              </a:rPr>
              <a:t>Group 2:</a:t>
            </a:r>
            <a:r>
              <a:rPr lang="en-US" sz="1200" dirty="0">
                <a:solidFill>
                  <a:srgbClr val="DCDCDC"/>
                </a:solidFill>
                <a:latin typeface="Arial" pitchFamily="34" charset="0"/>
                <a:ea typeface="Arial" pitchFamily="34" charset="-122"/>
                <a:cs typeface="Arial" pitchFamily="34" charset="-120"/>
              </a:rPr>
              <a:t> 1 通</a:t>
            </a:r>
            <a:endParaRPr lang="en-US" sz="1200" dirty="0"/>
          </a:p>
        </p:txBody>
      </p:sp>
      <p:sp>
        <p:nvSpPr>
          <p:cNvPr id="62" name="Text 60"/>
          <p:cNvSpPr/>
          <p:nvPr/>
        </p:nvSpPr>
        <p:spPr>
          <a:xfrm>
            <a:off x="5594350" y="5216922"/>
            <a:ext cx="307403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777777"/>
                </a:solidFill>
                <a:latin typeface="Arial" pitchFamily="34" charset="0"/>
                <a:ea typeface="Arial" pitchFamily="34" charset="-122"/>
                <a:cs typeface="Arial" pitchFamily="34" charset="-120"/>
              </a:rPr>
              <a:t>電文長 </a:t>
            </a:r>
            <a:r>
              <a:rPr lang="en-US" sz="1200" dirty="0">
                <a:solidFill>
                  <a:srgbClr val="CCCCCC"/>
                </a:solidFill>
                <a:latin typeface="Arial" pitchFamily="34" charset="0"/>
                <a:ea typeface="Arial" pitchFamily="34" charset="-122"/>
                <a:cs typeface="Arial" pitchFamily="34" charset="-120"/>
              </a:rPr>
              <a:t>30</a:t>
            </a:r>
            <a:r>
              <a:rPr lang="en-US" sz="1200" dirty="0">
                <a:solidFill>
                  <a:srgbClr val="777777"/>
                </a:solidFill>
                <a:latin typeface="Arial" pitchFamily="34" charset="0"/>
                <a:ea typeface="Arial" pitchFamily="34" charset="-122"/>
                <a:cs typeface="Arial" pitchFamily="34" charset="-120"/>
              </a:rPr>
              <a:t>[×1]</a:t>
            </a:r>
            <a:endParaRPr lang="en-US" sz="1200" dirty="0"/>
          </a:p>
        </p:txBody>
      </p:sp>
      <p:sp>
        <p:nvSpPr>
          <p:cNvPr id="63" name="Text 61"/>
          <p:cNvSpPr/>
          <p:nvPr/>
        </p:nvSpPr>
        <p:spPr>
          <a:xfrm>
            <a:off x="5594350" y="5425182"/>
            <a:ext cx="307403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777777"/>
                </a:solidFill>
                <a:latin typeface="Arial" pitchFamily="34" charset="0"/>
                <a:ea typeface="Arial" pitchFamily="34" charset="-122"/>
                <a:cs typeface="Arial" pitchFamily="34" charset="-120"/>
              </a:rPr>
              <a:t>接頭辞 </a:t>
            </a:r>
            <a:r>
              <a:rPr lang="en-US" sz="1200" dirty="0">
                <a:solidFill>
                  <a:srgbClr val="CCCCCC"/>
                </a:solidFill>
                <a:latin typeface="Arial" pitchFamily="34" charset="0"/>
                <a:ea typeface="Arial" pitchFamily="34" charset="-122"/>
                <a:cs typeface="Arial" pitchFamily="34" charset="-120"/>
              </a:rPr>
              <a:t>RM</a:t>
            </a:r>
            <a:r>
              <a:rPr lang="en-US" sz="1200" dirty="0">
                <a:solidFill>
                  <a:srgbClr val="777777"/>
                </a:solidFill>
                <a:latin typeface="Arial" pitchFamily="34" charset="0"/>
                <a:ea typeface="Arial" pitchFamily="34" charset="-122"/>
                <a:cs typeface="Arial" pitchFamily="34" charset="-120"/>
              </a:rPr>
              <a:t>[×1]</a:t>
            </a:r>
            <a:endParaRPr lang="en-US" sz="1200" dirty="0"/>
          </a:p>
        </p:txBody>
      </p:sp>
      <p:sp>
        <p:nvSpPr>
          <p:cNvPr id="64" name="Shape 62"/>
          <p:cNvSpPr/>
          <p:nvPr/>
        </p:nvSpPr>
        <p:spPr>
          <a:xfrm>
            <a:off x="8712200" y="4999137"/>
            <a:ext cx="203200" cy="12700"/>
          </a:xfrm>
          <a:prstGeom prst="rect">
            <a:avLst/>
          </a:prstGeom>
          <a:solidFill>
            <a:srgbClr val="7D8894"/>
          </a:solidFill>
          <a:ln/>
        </p:spPr>
      </p:sp>
      <p:sp>
        <p:nvSpPr>
          <p:cNvPr id="65" name="Text 63"/>
          <p:cNvSpPr/>
          <p:nvPr/>
        </p:nvSpPr>
        <p:spPr>
          <a:xfrm>
            <a:off x="8966200" y="4822627"/>
            <a:ext cx="2485390"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7D8894"/>
                </a:solidFill>
                <a:latin typeface="Arial" pitchFamily="34" charset="0"/>
                <a:ea typeface="Arial" pitchFamily="34" charset="-122"/>
                <a:cs typeface="Arial" pitchFamily="34" charset="-120"/>
              </a:rPr>
              <a:t>群ごと：長さは長い順、接頭辞は上位5つ</a:t>
            </a:r>
            <a:endParaRPr lang="en-US" sz="1200" dirty="0"/>
          </a:p>
        </p:txBody>
      </p:sp>
      <p:sp>
        <p:nvSpPr>
          <p:cNvPr id="66" name="Text 6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公開中のカレンダーのCSSから再現・サムネイルは縮小</a:t>
            </a:r>
            <a:endParaRPr lang="en-US" sz="1200" dirty="0"/>
          </a:p>
        </p:txBody>
      </p:sp>
      <p:sp>
        <p:nvSpPr>
          <p:cNvPr id="67" name="Text 6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時系列</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EAMカレンダー・絞り込み</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群と長さの絞り込み</a:t>
            </a:r>
            <a:endParaRPr lang="en-US" sz="3600" dirty="0"/>
          </a:p>
        </p:txBody>
      </p:sp>
      <p:sp>
        <p:nvSpPr>
          <p:cNvPr id="4" name="Text 2"/>
          <p:cNvSpPr/>
          <p:nvPr/>
        </p:nvSpPr>
        <p:spPr>
          <a:xfrm>
            <a:off x="812800" y="1981150"/>
            <a:ext cx="10883392"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E6EDF3"/>
                </a:solidFill>
                <a:latin typeface="Arial" pitchFamily="34" charset="0"/>
                <a:ea typeface="Arial" pitchFamily="34" charset="-122"/>
                <a:cs typeface="Arial" pitchFamily="34" charset="-120"/>
              </a:rPr>
              <a:t>1件のメッセージがチェックした群</a:t>
            </a:r>
            <a:r>
              <a:rPr lang="en-US" sz="2200" dirty="0">
                <a:solidFill>
                  <a:srgbClr val="FFCC00"/>
                </a:solidFill>
                <a:latin typeface="Arial" pitchFamily="34" charset="0"/>
                <a:ea typeface="Arial" pitchFamily="34" charset="-122"/>
                <a:cs typeface="Arial" pitchFamily="34" charset="-120"/>
              </a:rPr>
              <a:t>かつ</a:t>
            </a:r>
            <a:r>
              <a:rPr lang="en-US" sz="2200" dirty="0">
                <a:solidFill>
                  <a:srgbClr val="E6EDF3"/>
                </a:solidFill>
                <a:latin typeface="Arial" pitchFamily="34" charset="0"/>
                <a:ea typeface="Arial" pitchFamily="34" charset="-122"/>
                <a:cs typeface="Arial" pitchFamily="34" charset="-120"/>
              </a:rPr>
              <a:t>長さに合えば、その日は点灯したまま</a:t>
            </a:r>
            <a:endParaRPr lang="en-US" sz="2200" dirty="0"/>
          </a:p>
        </p:txBody>
      </p:sp>
      <p:sp>
        <p:nvSpPr>
          <p:cNvPr id="5" name="Shape 3"/>
          <p:cNvSpPr/>
          <p:nvPr/>
        </p:nvSpPr>
        <p:spPr>
          <a:xfrm>
            <a:off x="812800" y="2603450"/>
            <a:ext cx="10566400" cy="213320"/>
          </a:xfrm>
          <a:prstGeom prst="rect">
            <a:avLst/>
          </a:prstGeom>
          <a:solidFill>
            <a:srgbClr val="0E141B"/>
          </a:solidFill>
          <a:ln/>
        </p:spPr>
      </p:sp>
      <p:sp>
        <p:nvSpPr>
          <p:cNvPr id="6" name="Text 4"/>
          <p:cNvSpPr/>
          <p:nvPr/>
        </p:nvSpPr>
        <p:spPr>
          <a:xfrm>
            <a:off x="812800" y="2603450"/>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チェックした長さ</a:t>
            </a:r>
            <a:endParaRPr lang="en-US" sz="1200" dirty="0"/>
          </a:p>
        </p:txBody>
      </p:sp>
      <p:sp>
        <p:nvSpPr>
          <p:cNvPr id="7" name="Text 5"/>
          <p:cNvSpPr/>
          <p:nvPr/>
        </p:nvSpPr>
        <p:spPr>
          <a:xfrm>
            <a:off x="2870200" y="2603450"/>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チェックした群</a:t>
            </a:r>
            <a:endParaRPr lang="en-US" sz="1200" dirty="0"/>
          </a:p>
        </p:txBody>
      </p:sp>
      <p:sp>
        <p:nvSpPr>
          <p:cNvPr id="8" name="Text 6"/>
          <p:cNvSpPr/>
          <p:nvPr/>
        </p:nvSpPr>
        <p:spPr>
          <a:xfrm>
            <a:off x="4927600" y="2603450"/>
            <a:ext cx="10668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方式</a:t>
            </a:r>
            <a:endParaRPr lang="en-US" sz="1200" dirty="0"/>
          </a:p>
        </p:txBody>
      </p:sp>
      <p:sp>
        <p:nvSpPr>
          <p:cNvPr id="9" name="Text 7"/>
          <p:cNvSpPr/>
          <p:nvPr/>
        </p:nvSpPr>
        <p:spPr>
          <a:xfrm>
            <a:off x="6096000" y="2603450"/>
            <a:ext cx="54416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点灯する日</a:t>
            </a:r>
            <a:endParaRPr lang="en-US" sz="1200" dirty="0"/>
          </a:p>
        </p:txBody>
      </p:sp>
      <p:sp>
        <p:nvSpPr>
          <p:cNvPr id="10" name="Shape 8"/>
          <p:cNvSpPr/>
          <p:nvPr/>
        </p:nvSpPr>
        <p:spPr>
          <a:xfrm>
            <a:off x="812800" y="3277146"/>
            <a:ext cx="10566400" cy="0"/>
          </a:xfrm>
          <a:prstGeom prst="line">
            <a:avLst/>
          </a:prstGeom>
          <a:noFill/>
          <a:ln w="6350">
            <a:solidFill>
              <a:srgbClr val="222A35"/>
            </a:solidFill>
            <a:prstDash val="solid"/>
          </a:ln>
        </p:spPr>
      </p:sp>
      <p:sp>
        <p:nvSpPr>
          <p:cNvPr id="11" name="Text 9"/>
          <p:cNvSpPr/>
          <p:nvPr/>
        </p:nvSpPr>
        <p:spPr>
          <a:xfrm>
            <a:off x="812800" y="289297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17文字</a:t>
            </a:r>
            <a:endParaRPr lang="en-US" sz="1600" dirty="0"/>
          </a:p>
        </p:txBody>
      </p:sp>
      <p:sp>
        <p:nvSpPr>
          <p:cNvPr id="12" name="Text 10"/>
          <p:cNvSpPr/>
          <p:nvPr/>
        </p:nvSpPr>
        <p:spPr>
          <a:xfrm>
            <a:off x="2870200" y="289297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すべての群</a:t>
            </a:r>
            <a:endParaRPr lang="en-US" sz="1600" dirty="0"/>
          </a:p>
        </p:txBody>
      </p:sp>
      <p:sp>
        <p:nvSpPr>
          <p:cNvPr id="13" name="Text 11"/>
          <p:cNvSpPr/>
          <p:nvPr/>
        </p:nvSpPr>
        <p:spPr>
          <a:xfrm>
            <a:off x="4927600" y="2892971"/>
            <a:ext cx="106680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いずれか</a:t>
            </a:r>
            <a:endParaRPr lang="en-US" sz="1600" dirty="0"/>
          </a:p>
        </p:txBody>
      </p:sp>
      <p:sp>
        <p:nvSpPr>
          <p:cNvPr id="14" name="Text 12"/>
          <p:cNvSpPr/>
          <p:nvPr/>
        </p:nvSpPr>
        <p:spPr>
          <a:xfrm>
            <a:off x="6096000" y="2892971"/>
            <a:ext cx="5441696"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6日（すべて2026年、すべて第2群）</a:t>
            </a:r>
            <a:endParaRPr lang="en-US" sz="1600" dirty="0"/>
          </a:p>
        </p:txBody>
      </p:sp>
      <p:sp>
        <p:nvSpPr>
          <p:cNvPr id="15" name="Shape 13"/>
          <p:cNvSpPr/>
          <p:nvPr/>
        </p:nvSpPr>
        <p:spPr>
          <a:xfrm>
            <a:off x="812800" y="3740696"/>
            <a:ext cx="10566400" cy="0"/>
          </a:xfrm>
          <a:prstGeom prst="line">
            <a:avLst/>
          </a:prstGeom>
          <a:noFill/>
          <a:ln w="6350">
            <a:solidFill>
              <a:srgbClr val="222A35"/>
            </a:solidFill>
            <a:prstDash val="solid"/>
          </a:ln>
        </p:spPr>
      </p:sp>
      <p:sp>
        <p:nvSpPr>
          <p:cNvPr id="16" name="Text 14"/>
          <p:cNvSpPr/>
          <p:nvPr/>
        </p:nvSpPr>
        <p:spPr>
          <a:xfrm>
            <a:off x="812800" y="335652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すべての長さ</a:t>
            </a:r>
            <a:endParaRPr lang="en-US" sz="1600" dirty="0"/>
          </a:p>
        </p:txBody>
      </p:sp>
      <p:sp>
        <p:nvSpPr>
          <p:cNvPr id="17" name="Text 15"/>
          <p:cNvSpPr/>
          <p:nvPr/>
        </p:nvSpPr>
        <p:spPr>
          <a:xfrm>
            <a:off x="2870200" y="335652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9063CD"/>
                </a:solidFill>
                <a:latin typeface="Arial" pitchFamily="34" charset="0"/>
                <a:ea typeface="Arial" pitchFamily="34" charset="-122"/>
                <a:cs typeface="Arial" pitchFamily="34" charset="-120"/>
              </a:rPr>
              <a:t>第5群</a:t>
            </a:r>
            <a:endParaRPr lang="en-US" sz="1600" dirty="0"/>
          </a:p>
        </p:txBody>
      </p:sp>
      <p:sp>
        <p:nvSpPr>
          <p:cNvPr id="18" name="Text 16"/>
          <p:cNvSpPr/>
          <p:nvPr/>
        </p:nvSpPr>
        <p:spPr>
          <a:xfrm>
            <a:off x="4927600" y="3356521"/>
            <a:ext cx="106680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いずれか</a:t>
            </a:r>
            <a:endParaRPr lang="en-US" sz="1600" dirty="0"/>
          </a:p>
        </p:txBody>
      </p:sp>
      <p:sp>
        <p:nvSpPr>
          <p:cNvPr id="19" name="Text 17"/>
          <p:cNvSpPr/>
          <p:nvPr/>
        </p:nvSpPr>
        <p:spPr>
          <a:xfrm>
            <a:off x="6096000" y="3356521"/>
            <a:ext cx="5441696"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4日：250610、250611、260127、260129</a:t>
            </a:r>
            <a:endParaRPr lang="en-US" sz="1600" dirty="0"/>
          </a:p>
        </p:txBody>
      </p:sp>
      <p:sp>
        <p:nvSpPr>
          <p:cNvPr id="20" name="Shape 18"/>
          <p:cNvSpPr/>
          <p:nvPr/>
        </p:nvSpPr>
        <p:spPr>
          <a:xfrm>
            <a:off x="812800" y="4204246"/>
            <a:ext cx="10566400" cy="0"/>
          </a:xfrm>
          <a:prstGeom prst="line">
            <a:avLst/>
          </a:prstGeom>
          <a:noFill/>
          <a:ln w="6350">
            <a:solidFill>
              <a:srgbClr val="222A35"/>
            </a:solidFill>
            <a:prstDash val="solid"/>
          </a:ln>
        </p:spPr>
      </p:sp>
      <p:sp>
        <p:nvSpPr>
          <p:cNvPr id="21" name="Text 19"/>
          <p:cNvSpPr/>
          <p:nvPr/>
        </p:nvSpPr>
        <p:spPr>
          <a:xfrm>
            <a:off x="812800" y="382007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22 + 41文字</a:t>
            </a:r>
            <a:endParaRPr lang="en-US" sz="1600" dirty="0"/>
          </a:p>
        </p:txBody>
      </p:sp>
      <p:sp>
        <p:nvSpPr>
          <p:cNvPr id="22" name="Text 20"/>
          <p:cNvSpPr/>
          <p:nvPr/>
        </p:nvSpPr>
        <p:spPr>
          <a:xfrm>
            <a:off x="2870200" y="382007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すべての群</a:t>
            </a:r>
            <a:endParaRPr lang="en-US" sz="1600" dirty="0"/>
          </a:p>
        </p:txBody>
      </p:sp>
      <p:sp>
        <p:nvSpPr>
          <p:cNvPr id="23" name="Text 21"/>
          <p:cNvSpPr/>
          <p:nvPr/>
        </p:nvSpPr>
        <p:spPr>
          <a:xfrm>
            <a:off x="4927600" y="3820071"/>
            <a:ext cx="106680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いずれか</a:t>
            </a:r>
            <a:endParaRPr lang="en-US" sz="1600" dirty="0"/>
          </a:p>
        </p:txBody>
      </p:sp>
      <p:sp>
        <p:nvSpPr>
          <p:cNvPr id="24" name="Text 22"/>
          <p:cNvSpPr/>
          <p:nvPr/>
        </p:nvSpPr>
        <p:spPr>
          <a:xfrm>
            <a:off x="6096000" y="3820071"/>
            <a:ext cx="5441696"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128日、</a:t>
            </a:r>
            <a:r>
              <a:rPr lang="en-US" sz="1600" dirty="0">
                <a:solidFill>
                  <a:srgbClr val="22D3D3"/>
                </a:solidFill>
                <a:latin typeface="Arial" pitchFamily="34" charset="0"/>
                <a:ea typeface="Arial" pitchFamily="34" charset="-122"/>
                <a:cs typeface="Arial" pitchFamily="34" charset="-120"/>
              </a:rPr>
              <a:t>うち15日は水色の枠</a:t>
            </a:r>
            <a:endParaRPr lang="en-US" sz="1600" dirty="0"/>
          </a:p>
        </p:txBody>
      </p:sp>
      <p:sp>
        <p:nvSpPr>
          <p:cNvPr id="25" name="Shape 23"/>
          <p:cNvSpPr/>
          <p:nvPr/>
        </p:nvSpPr>
        <p:spPr>
          <a:xfrm>
            <a:off x="812800" y="4667796"/>
            <a:ext cx="10566400" cy="0"/>
          </a:xfrm>
          <a:prstGeom prst="line">
            <a:avLst/>
          </a:prstGeom>
          <a:noFill/>
          <a:ln w="6350">
            <a:solidFill>
              <a:srgbClr val="222A35"/>
            </a:solidFill>
            <a:prstDash val="solid"/>
          </a:ln>
        </p:spPr>
      </p:sp>
      <p:sp>
        <p:nvSpPr>
          <p:cNvPr id="26" name="Shape 24"/>
          <p:cNvSpPr/>
          <p:nvPr/>
        </p:nvSpPr>
        <p:spPr>
          <a:xfrm>
            <a:off x="812800" y="4207421"/>
            <a:ext cx="38100" cy="457200"/>
          </a:xfrm>
          <a:prstGeom prst="rect">
            <a:avLst/>
          </a:prstGeom>
          <a:solidFill>
            <a:srgbClr val="22D3D3"/>
          </a:solidFill>
          <a:ln/>
        </p:spPr>
      </p:sp>
      <p:sp>
        <p:nvSpPr>
          <p:cNvPr id="27" name="Text 25"/>
          <p:cNvSpPr/>
          <p:nvPr/>
        </p:nvSpPr>
        <p:spPr>
          <a:xfrm>
            <a:off x="1003300" y="428362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22 + 41文字</a:t>
            </a:r>
            <a:endParaRPr lang="en-US" sz="1600" dirty="0"/>
          </a:p>
        </p:txBody>
      </p:sp>
      <p:sp>
        <p:nvSpPr>
          <p:cNvPr id="28" name="Text 26"/>
          <p:cNvSpPr/>
          <p:nvPr/>
        </p:nvSpPr>
        <p:spPr>
          <a:xfrm>
            <a:off x="3060700" y="428362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すべての群</a:t>
            </a:r>
            <a:endParaRPr lang="en-US" sz="1600" dirty="0"/>
          </a:p>
        </p:txBody>
      </p:sp>
      <p:sp>
        <p:nvSpPr>
          <p:cNvPr id="29" name="Text 27"/>
          <p:cNvSpPr/>
          <p:nvPr/>
        </p:nvSpPr>
        <p:spPr>
          <a:xfrm>
            <a:off x="5118100" y="4283621"/>
            <a:ext cx="106680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すべて</a:t>
            </a:r>
            <a:endParaRPr lang="en-US" sz="1600" dirty="0"/>
          </a:p>
        </p:txBody>
      </p:sp>
      <p:sp>
        <p:nvSpPr>
          <p:cNvPr id="30" name="Text 28"/>
          <p:cNvSpPr/>
          <p:nvPr/>
        </p:nvSpPr>
        <p:spPr>
          <a:xfrm>
            <a:off x="6286500" y="4283621"/>
            <a:ext cx="5245481"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15日（241015〜260907）</a:t>
            </a:r>
            <a:endParaRPr lang="en-US" sz="1600" dirty="0"/>
          </a:p>
        </p:txBody>
      </p:sp>
      <p:sp>
        <p:nvSpPr>
          <p:cNvPr id="31" name="Shape 29"/>
          <p:cNvSpPr/>
          <p:nvPr/>
        </p:nvSpPr>
        <p:spPr>
          <a:xfrm>
            <a:off x="812800" y="5131346"/>
            <a:ext cx="10566400" cy="0"/>
          </a:xfrm>
          <a:prstGeom prst="line">
            <a:avLst/>
          </a:prstGeom>
          <a:noFill/>
          <a:ln w="6350">
            <a:solidFill>
              <a:srgbClr val="222A35"/>
            </a:solidFill>
            <a:prstDash val="solid"/>
          </a:ln>
        </p:spPr>
      </p:sp>
      <p:sp>
        <p:nvSpPr>
          <p:cNvPr id="32" name="Shape 30"/>
          <p:cNvSpPr/>
          <p:nvPr/>
        </p:nvSpPr>
        <p:spPr>
          <a:xfrm>
            <a:off x="812800" y="4670971"/>
            <a:ext cx="38100" cy="457200"/>
          </a:xfrm>
          <a:prstGeom prst="rect">
            <a:avLst/>
          </a:prstGeom>
          <a:solidFill>
            <a:srgbClr val="22D3D3"/>
          </a:solidFill>
          <a:ln/>
        </p:spPr>
      </p:sp>
      <p:sp>
        <p:nvSpPr>
          <p:cNvPr id="33" name="Text 31"/>
          <p:cNvSpPr/>
          <p:nvPr/>
        </p:nvSpPr>
        <p:spPr>
          <a:xfrm>
            <a:off x="1003300" y="474717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22 + 41文字</a:t>
            </a:r>
            <a:endParaRPr lang="en-US" sz="1600" dirty="0"/>
          </a:p>
        </p:txBody>
      </p:sp>
      <p:sp>
        <p:nvSpPr>
          <p:cNvPr id="34" name="Text 32"/>
          <p:cNvSpPr/>
          <p:nvPr/>
        </p:nvSpPr>
        <p:spPr>
          <a:xfrm>
            <a:off x="3060700" y="4747171"/>
            <a:ext cx="19621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第3群のみ</a:t>
            </a:r>
            <a:endParaRPr lang="en-US" sz="1600" dirty="0"/>
          </a:p>
        </p:txBody>
      </p:sp>
      <p:sp>
        <p:nvSpPr>
          <p:cNvPr id="35" name="Text 33"/>
          <p:cNvSpPr/>
          <p:nvPr/>
        </p:nvSpPr>
        <p:spPr>
          <a:xfrm>
            <a:off x="5118100" y="4747171"/>
            <a:ext cx="106680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すべて</a:t>
            </a:r>
            <a:endParaRPr lang="en-US" sz="1600" dirty="0"/>
          </a:p>
        </p:txBody>
      </p:sp>
      <p:sp>
        <p:nvSpPr>
          <p:cNvPr id="36" name="Text 34"/>
          <p:cNvSpPr/>
          <p:nvPr/>
        </p:nvSpPr>
        <p:spPr>
          <a:xfrm>
            <a:off x="6286500" y="4747171"/>
            <a:ext cx="5245481"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10日</a:t>
            </a:r>
            <a:endParaRPr lang="en-US" sz="1600" dirty="0"/>
          </a:p>
        </p:txBody>
      </p:sp>
      <p:sp>
        <p:nvSpPr>
          <p:cNvPr id="37" name="Text 35"/>
          <p:cNvSpPr/>
          <p:nvPr/>
        </p:nvSpPr>
        <p:spPr>
          <a:xfrm>
            <a:off x="812800" y="5337721"/>
            <a:ext cx="1088339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ページ上の</a:t>
            </a:r>
            <a:r>
              <a:rPr lang="en-US" sz="1200" dirty="0">
                <a:solidFill>
                  <a:srgbClr val="22D3D3"/>
                </a:solidFill>
                <a:latin typeface="Arial" pitchFamily="34" charset="0"/>
                <a:ea typeface="Arial" pitchFamily="34" charset="-122"/>
                <a:cs typeface="Arial" pitchFamily="34" charset="-120"/>
              </a:rPr>
              <a:t>水色の枠</a:t>
            </a:r>
            <a:r>
              <a:rPr lang="en-US" sz="1200" dirty="0">
                <a:solidFill>
                  <a:srgbClr val="7D8894"/>
                </a:solidFill>
                <a:latin typeface="Arial" pitchFamily="34" charset="0"/>
                <a:ea typeface="Arial" pitchFamily="34" charset="-122"/>
                <a:cs typeface="Arial" pitchFamily="34" charset="-120"/>
              </a:rPr>
              <a:t>：チェックした長さを2つ以上含む日（どちらの方式でも）</a:t>
            </a:r>
            <a:endParaRPr lang="en-US" sz="1200" dirty="0"/>
          </a:p>
        </p:txBody>
      </p:sp>
      <p:sp>
        <p:nvSpPr>
          <p:cNvPr id="38" name="Text 3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公開中のメッセージカレンダーで確認</a:t>
            </a:r>
            <a:endParaRPr lang="en-US" sz="1200" dirty="0"/>
          </a:p>
        </p:txBody>
      </p:sp>
      <p:sp>
        <p:nvSpPr>
          <p:cNvPr id="39" name="Text 37"/>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時系列</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EAMカレンダー・形式逸脱</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末尾反復の日</a:t>
            </a:r>
            <a:endParaRPr lang="en-US" sz="3600" dirty="0"/>
          </a:p>
        </p:txBody>
      </p:sp>
      <p:sp>
        <p:nvSpPr>
          <p:cNvPr id="4" name="Shape 2"/>
          <p:cNvSpPr/>
          <p:nvPr/>
        </p:nvSpPr>
        <p:spPr>
          <a:xfrm>
            <a:off x="812800" y="1984325"/>
            <a:ext cx="5232400" cy="0"/>
          </a:xfrm>
          <a:prstGeom prst="line">
            <a:avLst/>
          </a:prstGeom>
          <a:noFill/>
          <a:ln w="6350">
            <a:solidFill>
              <a:srgbClr val="222A35"/>
            </a:solidFill>
            <a:prstDash val="solid"/>
          </a:ln>
        </p:spPr>
      </p:sp>
      <p:sp>
        <p:nvSpPr>
          <p:cNvPr id="5" name="Text 3"/>
          <p:cNvSpPr/>
          <p:nvPr/>
        </p:nvSpPr>
        <p:spPr>
          <a:xfrm>
            <a:off x="812800" y="2089100"/>
            <a:ext cx="538937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第1群：最後の6文字がすべて異なるのは</a:t>
            </a:r>
            <a:r>
              <a:rPr lang="en-US" sz="1600" dirty="0">
                <a:solidFill>
                  <a:srgbClr val="FFCC00"/>
                </a:solidFill>
                <a:latin typeface="Arial" pitchFamily="34" charset="0"/>
                <a:ea typeface="Arial" pitchFamily="34" charset="-122"/>
                <a:cs typeface="Arial" pitchFamily="34" charset="-120"/>
              </a:rPr>
              <a:t>97.2%</a:t>
            </a:r>
            <a:endParaRPr lang="en-US" sz="1600" dirty="0"/>
          </a:p>
        </p:txBody>
      </p:sp>
      <p:sp>
        <p:nvSpPr>
          <p:cNvPr id="6" name="Shape 4"/>
          <p:cNvSpPr/>
          <p:nvPr/>
        </p:nvSpPr>
        <p:spPr>
          <a:xfrm>
            <a:off x="6146800" y="1984325"/>
            <a:ext cx="5232400" cy="0"/>
          </a:xfrm>
          <a:prstGeom prst="line">
            <a:avLst/>
          </a:prstGeom>
          <a:noFill/>
          <a:ln w="6350">
            <a:solidFill>
              <a:srgbClr val="222A35"/>
            </a:solidFill>
            <a:prstDash val="solid"/>
          </a:ln>
        </p:spPr>
      </p:sp>
      <p:sp>
        <p:nvSpPr>
          <p:cNvPr id="7" name="Text 5"/>
          <p:cNvSpPr/>
          <p:nvPr/>
        </p:nvSpPr>
        <p:spPr>
          <a:xfrm>
            <a:off x="6146800" y="2089100"/>
            <a:ext cx="538937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無作為なbase32なら60.8%（30文字の論文）</a:t>
            </a:r>
            <a:endParaRPr lang="en-US" sz="1600" dirty="0"/>
          </a:p>
        </p:txBody>
      </p:sp>
      <p:sp>
        <p:nvSpPr>
          <p:cNvPr id="8" name="Shape 6"/>
          <p:cNvSpPr/>
          <p:nvPr/>
        </p:nvSpPr>
        <p:spPr>
          <a:xfrm>
            <a:off x="812800" y="2498675"/>
            <a:ext cx="5232400" cy="0"/>
          </a:xfrm>
          <a:prstGeom prst="line">
            <a:avLst/>
          </a:prstGeom>
          <a:noFill/>
          <a:ln w="6350">
            <a:solidFill>
              <a:srgbClr val="222A35"/>
            </a:solidFill>
            <a:prstDash val="solid"/>
          </a:ln>
        </p:spPr>
      </p:sp>
      <p:sp>
        <p:nvSpPr>
          <p:cNvPr id="9" name="Text 7"/>
          <p:cNvSpPr/>
          <p:nvPr/>
        </p:nvSpPr>
        <p:spPr>
          <a:xfrm>
            <a:off x="812800" y="2603450"/>
            <a:ext cx="538937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4D4D"/>
                </a:solidFill>
                <a:latin typeface="Arial" pitchFamily="34" charset="0"/>
                <a:ea typeface="Arial" pitchFamily="34" charset="-122"/>
                <a:cs typeface="Arial" pitchFamily="34" charset="-120"/>
              </a:rPr>
              <a:t>末尾反復の日：</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第1群の30文字メッセージがこの規則を破った日</a:t>
            </a:r>
            <a:endParaRPr lang="en-US" sz="1600" dirty="0"/>
          </a:p>
        </p:txBody>
      </p:sp>
      <p:sp>
        <p:nvSpPr>
          <p:cNvPr id="10" name="Shape 8"/>
          <p:cNvSpPr/>
          <p:nvPr/>
        </p:nvSpPr>
        <p:spPr>
          <a:xfrm>
            <a:off x="6146800" y="2498675"/>
            <a:ext cx="5232400" cy="0"/>
          </a:xfrm>
          <a:prstGeom prst="line">
            <a:avLst/>
          </a:prstGeom>
          <a:noFill/>
          <a:ln w="6350">
            <a:solidFill>
              <a:srgbClr val="222A35"/>
            </a:solidFill>
            <a:prstDash val="solid"/>
          </a:ln>
        </p:spPr>
      </p:sp>
      <p:sp>
        <p:nvSpPr>
          <p:cNvPr id="11" name="Text 9"/>
          <p:cNvSpPr/>
          <p:nvPr/>
        </p:nvSpPr>
        <p:spPr>
          <a:xfrm>
            <a:off x="6146800" y="2603450"/>
            <a:ext cx="538937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121日・128件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凡例に専用の切り替え、該当日に赤い点</a:t>
            </a:r>
            <a:endParaRPr lang="en-US" sz="1600" dirty="0"/>
          </a:p>
        </p:txBody>
      </p:sp>
      <p:sp>
        <p:nvSpPr>
          <p:cNvPr id="12" name="Text 10"/>
          <p:cNvSpPr/>
          <p:nvPr/>
        </p:nvSpPr>
        <p:spPr>
          <a:xfrm>
            <a:off x="787400" y="3517850"/>
            <a:ext cx="2921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13" name="Text 11"/>
          <p:cNvSpPr/>
          <p:nvPr/>
        </p:nvSpPr>
        <p:spPr>
          <a:xfrm>
            <a:off x="1054100" y="3517850"/>
            <a:ext cx="2921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14" name="Text 12"/>
          <p:cNvSpPr/>
          <p:nvPr/>
        </p:nvSpPr>
        <p:spPr>
          <a:xfrm>
            <a:off x="1320800" y="3517850"/>
            <a:ext cx="2921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15" name="Text 13"/>
          <p:cNvSpPr/>
          <p:nvPr/>
        </p:nvSpPr>
        <p:spPr>
          <a:xfrm>
            <a:off x="1587500" y="3517850"/>
            <a:ext cx="2921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7D8894"/>
                </a:solidFill>
                <a:latin typeface="Courier New" pitchFamily="49" charset="0"/>
                <a:ea typeface="Courier New" pitchFamily="49" charset="-122"/>
                <a:cs typeface="Courier New" pitchFamily="49" charset="-120"/>
              </a:rPr>
              <a:t>15</a:t>
            </a:r>
            <a:endParaRPr lang="en-US" sz="1200" dirty="0"/>
          </a:p>
        </p:txBody>
      </p:sp>
      <p:sp>
        <p:nvSpPr>
          <p:cNvPr id="16" name="Text 14"/>
          <p:cNvSpPr/>
          <p:nvPr/>
        </p:nvSpPr>
        <p:spPr>
          <a:xfrm>
            <a:off x="1854200" y="3517850"/>
            <a:ext cx="2921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7D8894"/>
                </a:solidFill>
                <a:latin typeface="Courier New" pitchFamily="49" charset="0"/>
                <a:ea typeface="Courier New" pitchFamily="49" charset="-122"/>
                <a:cs typeface="Courier New" pitchFamily="49" charset="-120"/>
              </a:rPr>
              <a:t>20</a:t>
            </a:r>
            <a:endParaRPr lang="en-US" sz="1200" dirty="0"/>
          </a:p>
        </p:txBody>
      </p:sp>
      <p:sp>
        <p:nvSpPr>
          <p:cNvPr id="17" name="Text 15"/>
          <p:cNvSpPr/>
          <p:nvPr/>
        </p:nvSpPr>
        <p:spPr>
          <a:xfrm>
            <a:off x="812800" y="3784550"/>
            <a:ext cx="6566662" cy="241300"/>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A9B4BF"/>
                </a:solidFill>
                <a:latin typeface="Arial" pitchFamily="34" charset="0"/>
                <a:ea typeface="Arial" pitchFamily="34" charset="-122"/>
                <a:cs typeface="Arial" pitchFamily="34" charset="-120"/>
              </a:rPr>
              <a:t>260923（水）· 20:43 UTC · </a:t>
            </a:r>
            <a:r>
              <a:rPr lang="en-US" sz="1200" dirty="0">
                <a:solidFill>
                  <a:srgbClr val="06B050"/>
                </a:solidFill>
                <a:latin typeface="Arial" pitchFamily="34" charset="0"/>
                <a:ea typeface="Arial" pitchFamily="34" charset="-122"/>
                <a:cs typeface="Arial" pitchFamily="34" charset="-120"/>
              </a:rPr>
              <a:t>第1群</a:t>
            </a:r>
            <a:endParaRPr lang="en-US" sz="1200" dirty="0"/>
          </a:p>
        </p:txBody>
      </p:sp>
      <p:sp>
        <p:nvSpPr>
          <p:cNvPr id="18" name="Text 16"/>
          <p:cNvSpPr/>
          <p:nvPr/>
        </p:nvSpPr>
        <p:spPr>
          <a:xfrm>
            <a:off x="812800" y="4051250"/>
            <a:ext cx="241300" cy="355600"/>
          </a:xfrm>
          <a:prstGeom prst="rect">
            <a:avLst/>
          </a:prstGeom>
          <a:solidFill>
            <a:srgbClr val="054C28"/>
          </a:solidFill>
          <a:ln/>
        </p:spPr>
        <p:txBody>
          <a:bodyPr wrap="square" lIns="0" tIns="0" rIns="0" bIns="0" rtlCol="0" anchor="t">
            <a:normAutofit/>
          </a:bodyPr>
          <a:lstStyle/>
          <a:p>
            <a:pPr algn="ctr" indent="0" marL="0">
              <a:lnSpc>
                <a:spcPts val="2800"/>
              </a:lnSpc>
              <a:buNone/>
            </a:pPr>
            <a:r>
              <a:rPr lang="en-US" sz="1600" dirty="0">
                <a:solidFill>
                  <a:srgbClr val="FFFFFF"/>
                </a:solidFill>
                <a:latin typeface="Courier New" pitchFamily="49" charset="0"/>
                <a:ea typeface="Courier New" pitchFamily="49" charset="-122"/>
                <a:cs typeface="Courier New" pitchFamily="49" charset="-120"/>
              </a:rPr>
              <a:t>A</a:t>
            </a:r>
            <a:endParaRPr lang="en-US" sz="1600" dirty="0"/>
          </a:p>
        </p:txBody>
      </p:sp>
      <p:sp>
        <p:nvSpPr>
          <p:cNvPr id="19" name="Text 17"/>
          <p:cNvSpPr/>
          <p:nvPr/>
        </p:nvSpPr>
        <p:spPr>
          <a:xfrm>
            <a:off x="1079500" y="4051250"/>
            <a:ext cx="241300" cy="355600"/>
          </a:xfrm>
          <a:prstGeom prst="rect">
            <a:avLst/>
          </a:prstGeom>
          <a:solidFill>
            <a:srgbClr val="054C28"/>
          </a:solidFill>
          <a:ln/>
        </p:spPr>
        <p:txBody>
          <a:bodyPr wrap="square" lIns="0" tIns="0" rIns="0" bIns="0" rtlCol="0" anchor="t">
            <a:normAutofit/>
          </a:bodyPr>
          <a:lstStyle/>
          <a:p>
            <a:pPr algn="ctr" indent="0" marL="0">
              <a:lnSpc>
                <a:spcPts val="2800"/>
              </a:lnSpc>
              <a:buNone/>
            </a:pPr>
            <a:r>
              <a:rPr lang="en-US" sz="1600" dirty="0">
                <a:solidFill>
                  <a:srgbClr val="FFFFFF"/>
                </a:solidFill>
                <a:latin typeface="Courier New" pitchFamily="49" charset="0"/>
                <a:ea typeface="Courier New" pitchFamily="49" charset="-122"/>
                <a:cs typeface="Courier New" pitchFamily="49" charset="-120"/>
              </a:rPr>
              <a:t>C</a:t>
            </a:r>
            <a:endParaRPr lang="en-US" sz="1600" dirty="0"/>
          </a:p>
        </p:txBody>
      </p:sp>
      <p:sp>
        <p:nvSpPr>
          <p:cNvPr id="20" name="Text 18"/>
          <p:cNvSpPr/>
          <p:nvPr/>
        </p:nvSpPr>
        <p:spPr>
          <a:xfrm>
            <a:off x="13462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R</a:t>
            </a:r>
            <a:endParaRPr lang="en-US" sz="1600" dirty="0"/>
          </a:p>
        </p:txBody>
      </p:sp>
      <p:sp>
        <p:nvSpPr>
          <p:cNvPr id="21" name="Text 19"/>
          <p:cNvSpPr/>
          <p:nvPr/>
        </p:nvSpPr>
        <p:spPr>
          <a:xfrm>
            <a:off x="16129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J</a:t>
            </a:r>
            <a:endParaRPr lang="en-US" sz="1600" dirty="0"/>
          </a:p>
        </p:txBody>
      </p:sp>
      <p:sp>
        <p:nvSpPr>
          <p:cNvPr id="22" name="Text 20"/>
          <p:cNvSpPr/>
          <p:nvPr/>
        </p:nvSpPr>
        <p:spPr>
          <a:xfrm>
            <a:off x="18796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D</a:t>
            </a:r>
            <a:endParaRPr lang="en-US" sz="1600" dirty="0"/>
          </a:p>
        </p:txBody>
      </p:sp>
      <p:sp>
        <p:nvSpPr>
          <p:cNvPr id="23" name="Text 21"/>
          <p:cNvSpPr/>
          <p:nvPr/>
        </p:nvSpPr>
        <p:spPr>
          <a:xfrm>
            <a:off x="21463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4</a:t>
            </a:r>
            <a:endParaRPr lang="en-US" sz="1600" dirty="0"/>
          </a:p>
        </p:txBody>
      </p:sp>
      <p:sp>
        <p:nvSpPr>
          <p:cNvPr id="24" name="Text 22"/>
          <p:cNvSpPr/>
          <p:nvPr/>
        </p:nvSpPr>
        <p:spPr>
          <a:xfrm>
            <a:off x="24130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L</a:t>
            </a:r>
            <a:endParaRPr lang="en-US" sz="1600" dirty="0"/>
          </a:p>
        </p:txBody>
      </p:sp>
      <p:sp>
        <p:nvSpPr>
          <p:cNvPr id="25" name="Text 23"/>
          <p:cNvSpPr/>
          <p:nvPr/>
        </p:nvSpPr>
        <p:spPr>
          <a:xfrm>
            <a:off x="26797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S</a:t>
            </a:r>
            <a:endParaRPr lang="en-US" sz="1600" dirty="0"/>
          </a:p>
        </p:txBody>
      </p:sp>
      <p:sp>
        <p:nvSpPr>
          <p:cNvPr id="26" name="Text 24"/>
          <p:cNvSpPr/>
          <p:nvPr/>
        </p:nvSpPr>
        <p:spPr>
          <a:xfrm>
            <a:off x="29464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N</a:t>
            </a:r>
            <a:endParaRPr lang="en-US" sz="1600" dirty="0"/>
          </a:p>
        </p:txBody>
      </p:sp>
      <p:sp>
        <p:nvSpPr>
          <p:cNvPr id="27" name="Text 25"/>
          <p:cNvSpPr/>
          <p:nvPr/>
        </p:nvSpPr>
        <p:spPr>
          <a:xfrm>
            <a:off x="32131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G</a:t>
            </a:r>
            <a:endParaRPr lang="en-US" sz="1600" dirty="0"/>
          </a:p>
        </p:txBody>
      </p:sp>
      <p:sp>
        <p:nvSpPr>
          <p:cNvPr id="28" name="Text 26"/>
          <p:cNvSpPr/>
          <p:nvPr/>
        </p:nvSpPr>
        <p:spPr>
          <a:xfrm>
            <a:off x="34798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Z</a:t>
            </a:r>
            <a:endParaRPr lang="en-US" sz="1600" dirty="0"/>
          </a:p>
        </p:txBody>
      </p:sp>
      <p:sp>
        <p:nvSpPr>
          <p:cNvPr id="29" name="Text 27"/>
          <p:cNvSpPr/>
          <p:nvPr/>
        </p:nvSpPr>
        <p:spPr>
          <a:xfrm>
            <a:off x="37465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U</a:t>
            </a:r>
            <a:endParaRPr lang="en-US" sz="1600" dirty="0"/>
          </a:p>
        </p:txBody>
      </p:sp>
      <p:sp>
        <p:nvSpPr>
          <p:cNvPr id="30" name="Text 28"/>
          <p:cNvSpPr/>
          <p:nvPr/>
        </p:nvSpPr>
        <p:spPr>
          <a:xfrm>
            <a:off x="40132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Z</a:t>
            </a:r>
            <a:endParaRPr lang="en-US" sz="1600" dirty="0"/>
          </a:p>
        </p:txBody>
      </p:sp>
      <p:sp>
        <p:nvSpPr>
          <p:cNvPr id="31" name="Text 29"/>
          <p:cNvSpPr/>
          <p:nvPr/>
        </p:nvSpPr>
        <p:spPr>
          <a:xfrm>
            <a:off x="42799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W</a:t>
            </a:r>
            <a:endParaRPr lang="en-US" sz="1600" dirty="0"/>
          </a:p>
        </p:txBody>
      </p:sp>
      <p:sp>
        <p:nvSpPr>
          <p:cNvPr id="32" name="Text 30"/>
          <p:cNvSpPr/>
          <p:nvPr/>
        </p:nvSpPr>
        <p:spPr>
          <a:xfrm>
            <a:off x="45466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S</a:t>
            </a:r>
            <a:endParaRPr lang="en-US" sz="1600" dirty="0"/>
          </a:p>
        </p:txBody>
      </p:sp>
      <p:sp>
        <p:nvSpPr>
          <p:cNvPr id="33" name="Text 31"/>
          <p:cNvSpPr/>
          <p:nvPr/>
        </p:nvSpPr>
        <p:spPr>
          <a:xfrm>
            <a:off x="48133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L</a:t>
            </a:r>
            <a:endParaRPr lang="en-US" sz="1600" dirty="0"/>
          </a:p>
        </p:txBody>
      </p:sp>
      <p:sp>
        <p:nvSpPr>
          <p:cNvPr id="34" name="Text 32"/>
          <p:cNvSpPr/>
          <p:nvPr/>
        </p:nvSpPr>
        <p:spPr>
          <a:xfrm>
            <a:off x="50800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S</a:t>
            </a:r>
            <a:endParaRPr lang="en-US" sz="1600" dirty="0"/>
          </a:p>
        </p:txBody>
      </p:sp>
      <p:sp>
        <p:nvSpPr>
          <p:cNvPr id="35" name="Text 33"/>
          <p:cNvSpPr/>
          <p:nvPr/>
        </p:nvSpPr>
        <p:spPr>
          <a:xfrm>
            <a:off x="53467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7</a:t>
            </a:r>
            <a:endParaRPr lang="en-US" sz="1600" dirty="0"/>
          </a:p>
        </p:txBody>
      </p:sp>
      <p:sp>
        <p:nvSpPr>
          <p:cNvPr id="36" name="Text 34"/>
          <p:cNvSpPr/>
          <p:nvPr/>
        </p:nvSpPr>
        <p:spPr>
          <a:xfrm>
            <a:off x="56134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R</a:t>
            </a:r>
            <a:endParaRPr lang="en-US" sz="1600" dirty="0"/>
          </a:p>
        </p:txBody>
      </p:sp>
      <p:sp>
        <p:nvSpPr>
          <p:cNvPr id="37" name="Text 35"/>
          <p:cNvSpPr/>
          <p:nvPr/>
        </p:nvSpPr>
        <p:spPr>
          <a:xfrm>
            <a:off x="58801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F</a:t>
            </a:r>
            <a:endParaRPr lang="en-US" sz="1600" dirty="0"/>
          </a:p>
        </p:txBody>
      </p:sp>
      <p:sp>
        <p:nvSpPr>
          <p:cNvPr id="38" name="Text 36"/>
          <p:cNvSpPr/>
          <p:nvPr/>
        </p:nvSpPr>
        <p:spPr>
          <a:xfrm>
            <a:off x="61468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E</a:t>
            </a:r>
            <a:endParaRPr lang="en-US" sz="1600" dirty="0"/>
          </a:p>
        </p:txBody>
      </p:sp>
      <p:sp>
        <p:nvSpPr>
          <p:cNvPr id="39" name="Text 37"/>
          <p:cNvSpPr/>
          <p:nvPr/>
        </p:nvSpPr>
        <p:spPr>
          <a:xfrm>
            <a:off x="64135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I</a:t>
            </a:r>
            <a:endParaRPr lang="en-US" sz="1600" dirty="0"/>
          </a:p>
        </p:txBody>
      </p:sp>
      <p:sp>
        <p:nvSpPr>
          <p:cNvPr id="40" name="Text 38"/>
          <p:cNvSpPr/>
          <p:nvPr/>
        </p:nvSpPr>
        <p:spPr>
          <a:xfrm>
            <a:off x="66802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A</a:t>
            </a:r>
            <a:endParaRPr lang="en-US" sz="1600" dirty="0"/>
          </a:p>
        </p:txBody>
      </p:sp>
      <p:sp>
        <p:nvSpPr>
          <p:cNvPr id="41" name="Text 39"/>
          <p:cNvSpPr/>
          <p:nvPr/>
        </p:nvSpPr>
        <p:spPr>
          <a:xfrm>
            <a:off x="6946900" y="40512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W</a:t>
            </a:r>
            <a:endParaRPr lang="en-US" sz="1600" dirty="0"/>
          </a:p>
        </p:txBody>
      </p:sp>
      <p:sp>
        <p:nvSpPr>
          <p:cNvPr id="42" name="Text 40"/>
          <p:cNvSpPr/>
          <p:nvPr/>
        </p:nvSpPr>
        <p:spPr>
          <a:xfrm>
            <a:off x="812800" y="4457650"/>
            <a:ext cx="6566662" cy="241300"/>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A9B4BF"/>
                </a:solidFill>
                <a:latin typeface="Arial" pitchFamily="34" charset="0"/>
                <a:ea typeface="Arial" pitchFamily="34" charset="-122"/>
                <a:cs typeface="Arial" pitchFamily="34" charset="-120"/>
              </a:rPr>
              <a:t>220213（日）· 22:16 UTC · </a:t>
            </a:r>
            <a:r>
              <a:rPr lang="en-US" sz="1200" dirty="0">
                <a:solidFill>
                  <a:srgbClr val="06B050"/>
                </a:solidFill>
                <a:latin typeface="Arial" pitchFamily="34" charset="0"/>
                <a:ea typeface="Arial" pitchFamily="34" charset="-122"/>
                <a:cs typeface="Arial" pitchFamily="34" charset="-120"/>
              </a:rPr>
              <a:t>第1群</a:t>
            </a:r>
            <a:endParaRPr lang="en-US" sz="1200" dirty="0"/>
          </a:p>
        </p:txBody>
      </p:sp>
      <p:sp>
        <p:nvSpPr>
          <p:cNvPr id="43" name="Text 41"/>
          <p:cNvSpPr/>
          <p:nvPr/>
        </p:nvSpPr>
        <p:spPr>
          <a:xfrm>
            <a:off x="812800" y="4724350"/>
            <a:ext cx="241300" cy="355600"/>
          </a:xfrm>
          <a:prstGeom prst="rect">
            <a:avLst/>
          </a:prstGeom>
          <a:solidFill>
            <a:srgbClr val="054C28"/>
          </a:solidFill>
          <a:ln/>
        </p:spPr>
        <p:txBody>
          <a:bodyPr wrap="square" lIns="0" tIns="0" rIns="0" bIns="0" rtlCol="0" anchor="t">
            <a:normAutofit/>
          </a:bodyPr>
          <a:lstStyle/>
          <a:p>
            <a:pPr algn="ctr" indent="0" marL="0">
              <a:lnSpc>
                <a:spcPts val="2800"/>
              </a:lnSpc>
              <a:buNone/>
            </a:pPr>
            <a:r>
              <a:rPr lang="en-US" sz="1600" dirty="0">
                <a:solidFill>
                  <a:srgbClr val="FFFFFF"/>
                </a:solidFill>
                <a:latin typeface="Courier New" pitchFamily="49" charset="0"/>
                <a:ea typeface="Courier New" pitchFamily="49" charset="-122"/>
                <a:cs typeface="Courier New" pitchFamily="49" charset="-120"/>
              </a:rPr>
              <a:t>B</a:t>
            </a:r>
            <a:endParaRPr lang="en-US" sz="1600" dirty="0"/>
          </a:p>
        </p:txBody>
      </p:sp>
      <p:sp>
        <p:nvSpPr>
          <p:cNvPr id="44" name="Text 42"/>
          <p:cNvSpPr/>
          <p:nvPr/>
        </p:nvSpPr>
        <p:spPr>
          <a:xfrm>
            <a:off x="1079500" y="4724350"/>
            <a:ext cx="241300" cy="355600"/>
          </a:xfrm>
          <a:prstGeom prst="rect">
            <a:avLst/>
          </a:prstGeom>
          <a:solidFill>
            <a:srgbClr val="054C28"/>
          </a:solidFill>
          <a:ln/>
        </p:spPr>
        <p:txBody>
          <a:bodyPr wrap="square" lIns="0" tIns="0" rIns="0" bIns="0" rtlCol="0" anchor="t">
            <a:normAutofit/>
          </a:bodyPr>
          <a:lstStyle/>
          <a:p>
            <a:pPr algn="ctr" indent="0" marL="0">
              <a:lnSpc>
                <a:spcPts val="2800"/>
              </a:lnSpc>
              <a:buNone/>
            </a:pPr>
            <a:r>
              <a:rPr lang="en-US" sz="1600" dirty="0">
                <a:solidFill>
                  <a:srgbClr val="FFFFFF"/>
                </a:solidFill>
                <a:latin typeface="Courier New" pitchFamily="49" charset="0"/>
                <a:ea typeface="Courier New" pitchFamily="49" charset="-122"/>
                <a:cs typeface="Courier New" pitchFamily="49" charset="-120"/>
              </a:rPr>
              <a:t>4</a:t>
            </a:r>
            <a:endParaRPr lang="en-US" sz="1600" dirty="0"/>
          </a:p>
        </p:txBody>
      </p:sp>
      <p:sp>
        <p:nvSpPr>
          <p:cNvPr id="45" name="Text 43"/>
          <p:cNvSpPr/>
          <p:nvPr/>
        </p:nvSpPr>
        <p:spPr>
          <a:xfrm>
            <a:off x="13462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S</a:t>
            </a:r>
            <a:endParaRPr lang="en-US" sz="1600" dirty="0"/>
          </a:p>
        </p:txBody>
      </p:sp>
      <p:sp>
        <p:nvSpPr>
          <p:cNvPr id="46" name="Text 44"/>
          <p:cNvSpPr/>
          <p:nvPr/>
        </p:nvSpPr>
        <p:spPr>
          <a:xfrm>
            <a:off x="16129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O</a:t>
            </a:r>
            <a:endParaRPr lang="en-US" sz="1600" dirty="0"/>
          </a:p>
        </p:txBody>
      </p:sp>
      <p:sp>
        <p:nvSpPr>
          <p:cNvPr id="47" name="Text 45"/>
          <p:cNvSpPr/>
          <p:nvPr/>
        </p:nvSpPr>
        <p:spPr>
          <a:xfrm>
            <a:off x="18796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X</a:t>
            </a:r>
            <a:endParaRPr lang="en-US" sz="1600" dirty="0"/>
          </a:p>
        </p:txBody>
      </p:sp>
      <p:sp>
        <p:nvSpPr>
          <p:cNvPr id="48" name="Text 46"/>
          <p:cNvSpPr/>
          <p:nvPr/>
        </p:nvSpPr>
        <p:spPr>
          <a:xfrm>
            <a:off x="21463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Z</a:t>
            </a:r>
            <a:endParaRPr lang="en-US" sz="1600" dirty="0"/>
          </a:p>
        </p:txBody>
      </p:sp>
      <p:sp>
        <p:nvSpPr>
          <p:cNvPr id="49" name="Text 47"/>
          <p:cNvSpPr/>
          <p:nvPr/>
        </p:nvSpPr>
        <p:spPr>
          <a:xfrm>
            <a:off x="24130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D</a:t>
            </a:r>
            <a:endParaRPr lang="en-US" sz="1600" dirty="0"/>
          </a:p>
        </p:txBody>
      </p:sp>
      <p:sp>
        <p:nvSpPr>
          <p:cNvPr id="50" name="Text 48"/>
          <p:cNvSpPr/>
          <p:nvPr/>
        </p:nvSpPr>
        <p:spPr>
          <a:xfrm>
            <a:off x="26797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Q</a:t>
            </a:r>
            <a:endParaRPr lang="en-US" sz="1600" dirty="0"/>
          </a:p>
        </p:txBody>
      </p:sp>
      <p:sp>
        <p:nvSpPr>
          <p:cNvPr id="51" name="Text 49"/>
          <p:cNvSpPr/>
          <p:nvPr/>
        </p:nvSpPr>
        <p:spPr>
          <a:xfrm>
            <a:off x="29464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X</a:t>
            </a:r>
            <a:endParaRPr lang="en-US" sz="1600" dirty="0"/>
          </a:p>
        </p:txBody>
      </p:sp>
      <p:sp>
        <p:nvSpPr>
          <p:cNvPr id="52" name="Text 50"/>
          <p:cNvSpPr/>
          <p:nvPr/>
        </p:nvSpPr>
        <p:spPr>
          <a:xfrm>
            <a:off x="32131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Y</a:t>
            </a:r>
            <a:endParaRPr lang="en-US" sz="1600" dirty="0"/>
          </a:p>
        </p:txBody>
      </p:sp>
      <p:sp>
        <p:nvSpPr>
          <p:cNvPr id="53" name="Text 51"/>
          <p:cNvSpPr/>
          <p:nvPr/>
        </p:nvSpPr>
        <p:spPr>
          <a:xfrm>
            <a:off x="34798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B</a:t>
            </a:r>
            <a:endParaRPr lang="en-US" sz="1600" dirty="0"/>
          </a:p>
        </p:txBody>
      </p:sp>
      <p:sp>
        <p:nvSpPr>
          <p:cNvPr id="54" name="Text 52"/>
          <p:cNvSpPr/>
          <p:nvPr/>
        </p:nvSpPr>
        <p:spPr>
          <a:xfrm>
            <a:off x="37465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V</a:t>
            </a:r>
            <a:endParaRPr lang="en-US" sz="1600" dirty="0"/>
          </a:p>
        </p:txBody>
      </p:sp>
      <p:sp>
        <p:nvSpPr>
          <p:cNvPr id="55" name="Text 53"/>
          <p:cNvSpPr/>
          <p:nvPr/>
        </p:nvSpPr>
        <p:spPr>
          <a:xfrm>
            <a:off x="40132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G</a:t>
            </a:r>
            <a:endParaRPr lang="en-US" sz="1600" dirty="0"/>
          </a:p>
        </p:txBody>
      </p:sp>
      <p:sp>
        <p:nvSpPr>
          <p:cNvPr id="56" name="Text 54"/>
          <p:cNvSpPr/>
          <p:nvPr/>
        </p:nvSpPr>
        <p:spPr>
          <a:xfrm>
            <a:off x="42799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Q</a:t>
            </a:r>
            <a:endParaRPr lang="en-US" sz="1600" dirty="0"/>
          </a:p>
        </p:txBody>
      </p:sp>
      <p:sp>
        <p:nvSpPr>
          <p:cNvPr id="57" name="Text 55"/>
          <p:cNvSpPr/>
          <p:nvPr/>
        </p:nvSpPr>
        <p:spPr>
          <a:xfrm>
            <a:off x="45466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N</a:t>
            </a:r>
            <a:endParaRPr lang="en-US" sz="1600" dirty="0"/>
          </a:p>
        </p:txBody>
      </p:sp>
      <p:sp>
        <p:nvSpPr>
          <p:cNvPr id="58" name="Text 56"/>
          <p:cNvSpPr/>
          <p:nvPr/>
        </p:nvSpPr>
        <p:spPr>
          <a:xfrm>
            <a:off x="48133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M</a:t>
            </a:r>
            <a:endParaRPr lang="en-US" sz="1600" dirty="0"/>
          </a:p>
        </p:txBody>
      </p:sp>
      <p:sp>
        <p:nvSpPr>
          <p:cNvPr id="59" name="Text 57"/>
          <p:cNvSpPr/>
          <p:nvPr/>
        </p:nvSpPr>
        <p:spPr>
          <a:xfrm>
            <a:off x="50800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2</a:t>
            </a:r>
            <a:endParaRPr lang="en-US" sz="1600" dirty="0"/>
          </a:p>
        </p:txBody>
      </p:sp>
      <p:sp>
        <p:nvSpPr>
          <p:cNvPr id="60" name="Text 58"/>
          <p:cNvSpPr/>
          <p:nvPr/>
        </p:nvSpPr>
        <p:spPr>
          <a:xfrm>
            <a:off x="53467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L</a:t>
            </a:r>
            <a:endParaRPr lang="en-US" sz="1600" dirty="0"/>
          </a:p>
        </p:txBody>
      </p:sp>
      <p:sp>
        <p:nvSpPr>
          <p:cNvPr id="61" name="Text 59"/>
          <p:cNvSpPr/>
          <p:nvPr/>
        </p:nvSpPr>
        <p:spPr>
          <a:xfrm>
            <a:off x="56134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P</a:t>
            </a:r>
            <a:endParaRPr lang="en-US" sz="1600" dirty="0"/>
          </a:p>
        </p:txBody>
      </p:sp>
      <p:sp>
        <p:nvSpPr>
          <p:cNvPr id="62" name="Text 60"/>
          <p:cNvSpPr/>
          <p:nvPr/>
        </p:nvSpPr>
        <p:spPr>
          <a:xfrm>
            <a:off x="58801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C</a:t>
            </a:r>
            <a:endParaRPr lang="en-US" sz="1600" dirty="0"/>
          </a:p>
        </p:txBody>
      </p:sp>
      <p:sp>
        <p:nvSpPr>
          <p:cNvPr id="63" name="Text 61"/>
          <p:cNvSpPr/>
          <p:nvPr/>
        </p:nvSpPr>
        <p:spPr>
          <a:xfrm>
            <a:off x="61468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L</a:t>
            </a:r>
            <a:endParaRPr lang="en-US" sz="1600" dirty="0"/>
          </a:p>
        </p:txBody>
      </p:sp>
      <p:sp>
        <p:nvSpPr>
          <p:cNvPr id="64" name="Text 62"/>
          <p:cNvSpPr/>
          <p:nvPr/>
        </p:nvSpPr>
        <p:spPr>
          <a:xfrm>
            <a:off x="64135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R</a:t>
            </a:r>
            <a:endParaRPr lang="en-US" sz="1600" dirty="0"/>
          </a:p>
        </p:txBody>
      </p:sp>
      <p:sp>
        <p:nvSpPr>
          <p:cNvPr id="65" name="Text 63"/>
          <p:cNvSpPr/>
          <p:nvPr/>
        </p:nvSpPr>
        <p:spPr>
          <a:xfrm>
            <a:off x="66802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T</a:t>
            </a:r>
            <a:endParaRPr lang="en-US" sz="1600" dirty="0"/>
          </a:p>
        </p:txBody>
      </p:sp>
      <p:sp>
        <p:nvSpPr>
          <p:cNvPr id="66" name="Text 64"/>
          <p:cNvSpPr/>
          <p:nvPr/>
        </p:nvSpPr>
        <p:spPr>
          <a:xfrm>
            <a:off x="6946900" y="47243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3A424B"/>
                </a:solidFill>
                <a:latin typeface="Courier New" pitchFamily="49" charset="0"/>
                <a:ea typeface="Courier New" pitchFamily="49" charset="-122"/>
                <a:cs typeface="Courier New" pitchFamily="49" charset="-120"/>
              </a:rPr>
              <a:t>D</a:t>
            </a:r>
            <a:endParaRPr lang="en-US" sz="1600" dirty="0"/>
          </a:p>
        </p:txBody>
      </p:sp>
      <p:sp>
        <p:nvSpPr>
          <p:cNvPr id="67" name="Text 65"/>
          <p:cNvSpPr/>
          <p:nvPr/>
        </p:nvSpPr>
        <p:spPr>
          <a:xfrm>
            <a:off x="812800" y="5130750"/>
            <a:ext cx="6566662" cy="241300"/>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7D8894"/>
                </a:solidFill>
                <a:latin typeface="Arial" pitchFamily="34" charset="0"/>
                <a:ea typeface="Arial" pitchFamily="34" charset="-122"/>
                <a:cs typeface="Arial" pitchFamily="34" charset="-120"/>
              </a:rPr>
              <a:t>ツールチップ：! 形式逸脱 — 末尾反復</a:t>
            </a:r>
            <a:endParaRPr lang="en-US" sz="1200" dirty="0"/>
          </a:p>
        </p:txBody>
      </p:sp>
      <p:sp>
        <p:nvSpPr>
          <p:cNvPr id="68" name="Shape 66"/>
          <p:cNvSpPr/>
          <p:nvPr/>
        </p:nvSpPr>
        <p:spPr>
          <a:xfrm>
            <a:off x="7270750" y="3473400"/>
            <a:ext cx="1663700" cy="1117600"/>
          </a:xfrm>
          <a:prstGeom prst="rect">
            <a:avLst/>
          </a:prstGeom>
          <a:noFill/>
          <a:ln w="12700">
            <a:solidFill>
              <a:srgbClr val="E6EDF3"/>
            </a:solidFill>
            <a:prstDash val="solid"/>
          </a:ln>
        </p:spPr>
      </p:sp>
      <p:sp>
        <p:nvSpPr>
          <p:cNvPr id="69" name="Text 67"/>
          <p:cNvSpPr/>
          <p:nvPr/>
        </p:nvSpPr>
        <p:spPr>
          <a:xfrm>
            <a:off x="7289800" y="3517850"/>
            <a:ext cx="2921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7D8894"/>
                </a:solidFill>
                <a:latin typeface="Courier New" pitchFamily="49" charset="0"/>
                <a:ea typeface="Courier New" pitchFamily="49" charset="-122"/>
                <a:cs typeface="Courier New" pitchFamily="49" charset="-120"/>
              </a:rPr>
              <a:t>25</a:t>
            </a:r>
            <a:endParaRPr lang="en-US" sz="1200" dirty="0"/>
          </a:p>
        </p:txBody>
      </p:sp>
      <p:sp>
        <p:nvSpPr>
          <p:cNvPr id="70" name="Text 68"/>
          <p:cNvSpPr/>
          <p:nvPr/>
        </p:nvSpPr>
        <p:spPr>
          <a:xfrm>
            <a:off x="7556500" y="3517850"/>
            <a:ext cx="292100" cy="241300"/>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7D8894"/>
                </a:solidFill>
                <a:latin typeface="Courier New" pitchFamily="49" charset="0"/>
                <a:ea typeface="Courier New" pitchFamily="49" charset="-122"/>
                <a:cs typeface="Courier New" pitchFamily="49" charset="-120"/>
              </a:rPr>
              <a:t>30</a:t>
            </a:r>
            <a:endParaRPr lang="en-US" sz="1200" dirty="0"/>
          </a:p>
        </p:txBody>
      </p:sp>
      <p:sp>
        <p:nvSpPr>
          <p:cNvPr id="71" name="Text 69"/>
          <p:cNvSpPr/>
          <p:nvPr/>
        </p:nvSpPr>
        <p:spPr>
          <a:xfrm>
            <a:off x="7315200" y="37845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72" name="Text 70"/>
          <p:cNvSpPr/>
          <p:nvPr/>
        </p:nvSpPr>
        <p:spPr>
          <a:xfrm>
            <a:off x="7581900" y="37845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E6EDF3"/>
                </a:solidFill>
                <a:latin typeface="Courier New" pitchFamily="49" charset="0"/>
                <a:ea typeface="Courier New" pitchFamily="49" charset="-122"/>
                <a:cs typeface="Courier New" pitchFamily="49" charset="-120"/>
              </a:rPr>
              <a:t>M</a:t>
            </a:r>
            <a:endParaRPr lang="en-US" sz="1600" dirty="0"/>
          </a:p>
        </p:txBody>
      </p:sp>
      <p:sp>
        <p:nvSpPr>
          <p:cNvPr id="73" name="Text 71"/>
          <p:cNvSpPr/>
          <p:nvPr/>
        </p:nvSpPr>
        <p:spPr>
          <a:xfrm>
            <a:off x="7848600" y="3784550"/>
            <a:ext cx="241300" cy="355600"/>
          </a:xfrm>
          <a:prstGeom prst="rect">
            <a:avLst/>
          </a:prstGeom>
          <a:solidFill>
            <a:srgbClr val="FF4D4D"/>
          </a:solidFill>
          <a:ln/>
        </p:spPr>
        <p:txBody>
          <a:bodyPr wrap="square" lIns="0" tIns="0" rIns="0" bIns="0" rtlCol="0" anchor="t">
            <a:normAutofit/>
          </a:bodyPr>
          <a:lstStyle/>
          <a:p>
            <a:pPr algn="ctr" indent="0" marL="0">
              <a:lnSpc>
                <a:spcPts val="2800"/>
              </a:lnSpc>
              <a:buNone/>
            </a:pPr>
            <a:r>
              <a:rPr lang="en-US" sz="1600" dirty="0">
                <a:solidFill>
                  <a:srgbClr val="FFFFFF"/>
                </a:solidFill>
                <a:latin typeface="Courier New" pitchFamily="49" charset="0"/>
                <a:ea typeface="Courier New" pitchFamily="49" charset="-122"/>
                <a:cs typeface="Courier New" pitchFamily="49" charset="-120"/>
              </a:rPr>
              <a:t>J</a:t>
            </a:r>
            <a:endParaRPr lang="en-US" sz="1600" dirty="0"/>
          </a:p>
        </p:txBody>
      </p:sp>
      <p:sp>
        <p:nvSpPr>
          <p:cNvPr id="74" name="Text 72"/>
          <p:cNvSpPr/>
          <p:nvPr/>
        </p:nvSpPr>
        <p:spPr>
          <a:xfrm>
            <a:off x="8115300" y="37845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75" name="Text 73"/>
          <p:cNvSpPr/>
          <p:nvPr/>
        </p:nvSpPr>
        <p:spPr>
          <a:xfrm>
            <a:off x="8382000" y="3784550"/>
            <a:ext cx="241300" cy="355600"/>
          </a:xfrm>
          <a:prstGeom prst="rect">
            <a:avLst/>
          </a:prstGeom>
          <a:solidFill>
            <a:srgbClr val="FF4D4D"/>
          </a:solidFill>
          <a:ln/>
        </p:spPr>
        <p:txBody>
          <a:bodyPr wrap="square" lIns="0" tIns="0" rIns="0" bIns="0" rtlCol="0" anchor="t">
            <a:normAutofit/>
          </a:bodyPr>
          <a:lstStyle/>
          <a:p>
            <a:pPr algn="ctr" indent="0" marL="0">
              <a:lnSpc>
                <a:spcPts val="2800"/>
              </a:lnSpc>
              <a:buNone/>
            </a:pPr>
            <a:r>
              <a:rPr lang="en-US" sz="1600" dirty="0">
                <a:solidFill>
                  <a:srgbClr val="FFFFFF"/>
                </a:solidFill>
                <a:latin typeface="Courier New" pitchFamily="49" charset="0"/>
                <a:ea typeface="Courier New" pitchFamily="49" charset="-122"/>
                <a:cs typeface="Courier New" pitchFamily="49" charset="-120"/>
              </a:rPr>
              <a:t>J</a:t>
            </a:r>
            <a:endParaRPr lang="en-US" sz="1600" dirty="0"/>
          </a:p>
        </p:txBody>
      </p:sp>
      <p:sp>
        <p:nvSpPr>
          <p:cNvPr id="76" name="Text 74"/>
          <p:cNvSpPr/>
          <p:nvPr/>
        </p:nvSpPr>
        <p:spPr>
          <a:xfrm>
            <a:off x="8648700" y="3784550"/>
            <a:ext cx="241300" cy="355600"/>
          </a:xfrm>
          <a:prstGeom prst="rect">
            <a:avLst/>
          </a:prstGeom>
          <a:solidFill>
            <a:srgbClr val="FF4D4D"/>
          </a:solidFill>
          <a:ln/>
        </p:spPr>
        <p:txBody>
          <a:bodyPr wrap="square" lIns="0" tIns="0" rIns="0" bIns="0" rtlCol="0" anchor="t">
            <a:normAutofit/>
          </a:bodyPr>
          <a:lstStyle/>
          <a:p>
            <a:pPr algn="ctr" indent="0" marL="0">
              <a:lnSpc>
                <a:spcPts val="2800"/>
              </a:lnSpc>
              <a:buNone/>
            </a:pPr>
            <a:r>
              <a:rPr lang="en-US" sz="1600" dirty="0">
                <a:solidFill>
                  <a:srgbClr val="FFFFFF"/>
                </a:solidFill>
                <a:latin typeface="Courier New" pitchFamily="49" charset="0"/>
                <a:ea typeface="Courier New" pitchFamily="49" charset="-122"/>
                <a:cs typeface="Courier New" pitchFamily="49" charset="-120"/>
              </a:rPr>
              <a:t>J</a:t>
            </a:r>
            <a:endParaRPr lang="en-US" sz="1600" dirty="0"/>
          </a:p>
        </p:txBody>
      </p:sp>
      <p:sp>
        <p:nvSpPr>
          <p:cNvPr id="77" name="Text 75"/>
          <p:cNvSpPr/>
          <p:nvPr/>
        </p:nvSpPr>
        <p:spPr>
          <a:xfrm>
            <a:off x="7315200" y="41909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E6EDF3"/>
                </a:solidFill>
                <a:latin typeface="Courier New" pitchFamily="49" charset="0"/>
                <a:ea typeface="Courier New" pitchFamily="49" charset="-122"/>
                <a:cs typeface="Courier New" pitchFamily="49" charset="-120"/>
              </a:rPr>
              <a:t>A</a:t>
            </a:r>
            <a:endParaRPr lang="en-US" sz="1600" dirty="0"/>
          </a:p>
        </p:txBody>
      </p:sp>
      <p:sp>
        <p:nvSpPr>
          <p:cNvPr id="78" name="Text 76"/>
          <p:cNvSpPr/>
          <p:nvPr/>
        </p:nvSpPr>
        <p:spPr>
          <a:xfrm>
            <a:off x="7588250" y="4197300"/>
            <a:ext cx="228600" cy="342900"/>
          </a:xfrm>
          <a:prstGeom prst="rect">
            <a:avLst/>
          </a:prstGeom>
          <a:solidFill>
            <a:srgbClr val="0E141B"/>
          </a:solidFill>
          <a:ln w="12700">
            <a:solidFill>
              <a:srgbClr val="FF4D4D"/>
            </a:solidFill>
            <a:prstDash val="solid"/>
          </a:ln>
        </p:spPr>
        <p:txBody>
          <a:bodyPr wrap="square" lIns="0" tIns="635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5</a:t>
            </a:r>
            <a:endParaRPr lang="en-US" sz="1600" dirty="0"/>
          </a:p>
        </p:txBody>
      </p:sp>
      <p:sp>
        <p:nvSpPr>
          <p:cNvPr id="79" name="Text 77"/>
          <p:cNvSpPr/>
          <p:nvPr/>
        </p:nvSpPr>
        <p:spPr>
          <a:xfrm>
            <a:off x="7848600" y="4190950"/>
            <a:ext cx="241300" cy="355600"/>
          </a:xfrm>
          <a:prstGeom prst="rect">
            <a:avLst/>
          </a:prstGeom>
          <a:solidFill>
            <a:srgbClr val="FF4D4D"/>
          </a:solidFill>
          <a:ln/>
        </p:spPr>
        <p:txBody>
          <a:bodyPr wrap="square" lIns="0" tIns="0" rIns="0" bIns="0" rtlCol="0" anchor="t">
            <a:normAutofit/>
          </a:bodyPr>
          <a:lstStyle/>
          <a:p>
            <a:pPr algn="ctr" indent="0" marL="0">
              <a:lnSpc>
                <a:spcPts val="2800"/>
              </a:lnSpc>
              <a:buNone/>
            </a:pPr>
            <a:r>
              <a:rPr lang="en-US" sz="1600" dirty="0">
                <a:solidFill>
                  <a:srgbClr val="FFFFFF"/>
                </a:solidFill>
                <a:latin typeface="Courier New" pitchFamily="49" charset="0"/>
                <a:ea typeface="Courier New" pitchFamily="49" charset="-122"/>
                <a:cs typeface="Courier New" pitchFamily="49" charset="-120"/>
              </a:rPr>
              <a:t>N</a:t>
            </a:r>
            <a:endParaRPr lang="en-US" sz="1600" dirty="0"/>
          </a:p>
        </p:txBody>
      </p:sp>
      <p:sp>
        <p:nvSpPr>
          <p:cNvPr id="80" name="Text 78"/>
          <p:cNvSpPr/>
          <p:nvPr/>
        </p:nvSpPr>
        <p:spPr>
          <a:xfrm>
            <a:off x="8115300" y="4190950"/>
            <a:ext cx="241300" cy="355600"/>
          </a:xfrm>
          <a:prstGeom prst="rect">
            <a:avLst/>
          </a:prstGeom>
          <a:solidFill>
            <a:srgbClr val="FF4D4D"/>
          </a:solidFill>
          <a:ln/>
        </p:spPr>
        <p:txBody>
          <a:bodyPr wrap="square" lIns="0" tIns="0" rIns="0" bIns="0" rtlCol="0" anchor="t">
            <a:normAutofit/>
          </a:bodyPr>
          <a:lstStyle/>
          <a:p>
            <a:pPr algn="ctr" indent="0" marL="0">
              <a:lnSpc>
                <a:spcPts val="2800"/>
              </a:lnSpc>
              <a:buNone/>
            </a:pPr>
            <a:r>
              <a:rPr lang="en-US" sz="1600" dirty="0">
                <a:solidFill>
                  <a:srgbClr val="FFFFFF"/>
                </a:solidFill>
                <a:latin typeface="Courier New" pitchFamily="49" charset="0"/>
                <a:ea typeface="Courier New" pitchFamily="49" charset="-122"/>
                <a:cs typeface="Courier New" pitchFamily="49" charset="-120"/>
              </a:rPr>
              <a:t>N</a:t>
            </a:r>
            <a:endParaRPr lang="en-US" sz="1600" dirty="0"/>
          </a:p>
        </p:txBody>
      </p:sp>
      <p:sp>
        <p:nvSpPr>
          <p:cNvPr id="81" name="Text 79"/>
          <p:cNvSpPr/>
          <p:nvPr/>
        </p:nvSpPr>
        <p:spPr>
          <a:xfrm>
            <a:off x="8382000" y="4190950"/>
            <a:ext cx="241300" cy="355600"/>
          </a:xfrm>
          <a:prstGeom prst="rect">
            <a:avLst/>
          </a:prstGeom>
          <a:solidFill>
            <a:srgbClr val="0E141B"/>
          </a:solidFill>
          <a:ln/>
        </p:spPr>
        <p:txBody>
          <a:bodyPr wrap="square" lIns="0" tIns="0" rIns="0" bIns="0" rtlCol="0" anchor="t">
            <a:normAutofit/>
          </a:bodyPr>
          <a:lstStyle/>
          <a:p>
            <a:pPr algn="ctr" indent="0" marL="0">
              <a:lnSpc>
                <a:spcPts val="2800"/>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82" name="Text 80"/>
          <p:cNvSpPr/>
          <p:nvPr/>
        </p:nvSpPr>
        <p:spPr>
          <a:xfrm>
            <a:off x="8655050" y="4197300"/>
            <a:ext cx="228600" cy="342900"/>
          </a:xfrm>
          <a:prstGeom prst="rect">
            <a:avLst/>
          </a:prstGeom>
          <a:solidFill>
            <a:srgbClr val="0E141B"/>
          </a:solidFill>
          <a:ln w="12700">
            <a:solidFill>
              <a:srgbClr val="FF4D4D"/>
            </a:solidFill>
            <a:prstDash val="solid"/>
          </a:ln>
        </p:spPr>
        <p:txBody>
          <a:bodyPr wrap="square" lIns="0" tIns="635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5</a:t>
            </a:r>
            <a:endParaRPr lang="en-US" sz="1600" dirty="0"/>
          </a:p>
        </p:txBody>
      </p:sp>
      <p:sp>
        <p:nvSpPr>
          <p:cNvPr id="83" name="Text 81"/>
          <p:cNvSpPr/>
          <p:nvPr/>
        </p:nvSpPr>
        <p:spPr>
          <a:xfrm>
            <a:off x="7264400" y="4648150"/>
            <a:ext cx="145663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E6EDF3"/>
                </a:solidFill>
                <a:latin typeface="Arial" pitchFamily="34" charset="0"/>
                <a:ea typeface="Arial" pitchFamily="34" charset="-122"/>
                <a:cs typeface="Arial" pitchFamily="34" charset="-120"/>
              </a:rPr>
              <a:t>末尾・25〜30文字目</a:t>
            </a:r>
            <a:endParaRPr lang="en-US" sz="1200" dirty="0"/>
          </a:p>
        </p:txBody>
      </p:sp>
      <p:sp>
        <p:nvSpPr>
          <p:cNvPr id="84" name="Text 82"/>
          <p:cNvSpPr/>
          <p:nvPr/>
        </p:nvSpPr>
        <p:spPr>
          <a:xfrm>
            <a:off x="9144000" y="3517850"/>
            <a:ext cx="1758373" cy="381000"/>
          </a:xfrm>
          <a:prstGeom prst="rect">
            <a:avLst/>
          </a:prstGeom>
          <a:noFill/>
          <a:ln/>
        </p:spPr>
        <p:txBody>
          <a:bodyPr wrap="none" lIns="0" tIns="0" rIns="0" bIns="0" rtlCol="0" anchor="t">
            <a:normAutofit/>
          </a:bodyPr>
          <a:lstStyle/>
          <a:p>
            <a:pPr algn="l" indent="0" marL="0">
              <a:lnSpc>
                <a:spcPts val="2800"/>
              </a:lnSpc>
              <a:buNone/>
            </a:pPr>
            <a:r>
              <a:rPr lang="en-US" sz="1600" dirty="0">
                <a:solidFill>
                  <a:srgbClr val="FF4D4D"/>
                </a:solidFill>
                <a:latin typeface="Courier New" pitchFamily="49" charset="0"/>
                <a:ea typeface="Courier New" pitchFamily="49" charset="-122"/>
                <a:cs typeface="Courier New" pitchFamily="49" charset="-120"/>
              </a:rPr>
              <a:t>20:43 — HMJ2JJ</a:t>
            </a:r>
            <a:endParaRPr lang="en-US" sz="1600" dirty="0"/>
          </a:p>
        </p:txBody>
      </p:sp>
      <p:sp>
        <p:nvSpPr>
          <p:cNvPr id="85" name="Text 83"/>
          <p:cNvSpPr/>
          <p:nvPr/>
        </p:nvSpPr>
        <p:spPr>
          <a:xfrm>
            <a:off x="9144000" y="3924250"/>
            <a:ext cx="1758373" cy="381000"/>
          </a:xfrm>
          <a:prstGeom prst="rect">
            <a:avLst/>
          </a:prstGeom>
          <a:noFill/>
          <a:ln/>
        </p:spPr>
        <p:txBody>
          <a:bodyPr wrap="none" lIns="0" tIns="0" rIns="0" bIns="0" rtlCol="0" anchor="t">
            <a:normAutofit/>
          </a:bodyPr>
          <a:lstStyle/>
          <a:p>
            <a:pPr algn="l" indent="0" marL="0">
              <a:lnSpc>
                <a:spcPts val="2800"/>
              </a:lnSpc>
              <a:buNone/>
            </a:pPr>
            <a:r>
              <a:rPr lang="en-US" sz="1600" dirty="0">
                <a:solidFill>
                  <a:srgbClr val="FF4D4D"/>
                </a:solidFill>
                <a:latin typeface="Courier New" pitchFamily="49" charset="0"/>
                <a:ea typeface="Courier New" pitchFamily="49" charset="-122"/>
                <a:cs typeface="Courier New" pitchFamily="49" charset="-120"/>
              </a:rPr>
              <a:t>22:16 — A5NND5</a:t>
            </a:r>
            <a:endParaRPr lang="en-US" sz="1600" dirty="0"/>
          </a:p>
        </p:txBody>
      </p:sp>
      <p:sp>
        <p:nvSpPr>
          <p:cNvPr id="86" name="Text 8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公開中のカレンダーの末尾反復の一覧にあるメッセージ</a:t>
            </a:r>
            <a:endParaRPr lang="en-US" sz="1200" dirty="0"/>
          </a:p>
        </p:txBody>
      </p:sp>
      <p:sp>
        <p:nvSpPr>
          <p:cNvPr id="87" name="Text 8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時系列</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再放送</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再放送時系列</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異なる2つ以上の時刻（分単位）に放送された</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メッセージ1件につき1行：2,725行</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各行は初回放送が起点・点は再放送（対数軸）</a:t>
            </a:r>
            <a:endParaRPr lang="en-US" sz="1600" dirty="0"/>
          </a:p>
        </p:txBody>
      </p:sp>
      <p:sp>
        <p:nvSpPr>
          <p:cNvPr id="8" name="Shape 6"/>
          <p:cNvSpPr/>
          <p:nvPr/>
        </p:nvSpPr>
        <p:spPr>
          <a:xfrm>
            <a:off x="812800" y="3317825"/>
            <a:ext cx="4572000" cy="0"/>
          </a:xfrm>
          <a:prstGeom prst="line">
            <a:avLst/>
          </a:prstGeom>
          <a:noFill/>
          <a:ln w="6350">
            <a:solidFill>
              <a:srgbClr val="222A35"/>
            </a:solidFill>
            <a:prstDash val="solid"/>
          </a:ln>
        </p:spPr>
      </p:sp>
      <p:sp>
        <p:nvSpPr>
          <p:cNvPr id="9" name="Text 7"/>
          <p:cNvSpPr/>
          <p:nvPr/>
        </p:nvSpPr>
        <p:spPr>
          <a:xfrm>
            <a:off x="812800" y="34226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94.3%</a:t>
            </a:r>
            <a:r>
              <a:rPr lang="en-US" sz="1600" dirty="0">
                <a:solidFill>
                  <a:srgbClr val="E6EDF3"/>
                </a:solidFill>
                <a:latin typeface="Arial" pitchFamily="34" charset="0"/>
                <a:ea typeface="Arial" pitchFamily="34" charset="-122"/>
                <a:cs typeface="Arial" pitchFamily="34" charset="-120"/>
              </a:rPr>
              <a:t>の行は初回放送から2時間以内に終わる</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継続時間の中央値34分</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最後の放送が115〜119分：66行</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120〜124分：15行</a:t>
            </a:r>
            <a:endParaRPr lang="en-US" sz="1600" dirty="0"/>
          </a:p>
        </p:txBody>
      </p:sp>
      <p:sp>
        <p:nvSpPr>
          <p:cNvPr id="12" name="Shape 10"/>
          <p:cNvSpPr/>
          <p:nvPr/>
        </p:nvSpPr>
        <p:spPr>
          <a:xfrm>
            <a:off x="812800" y="4956125"/>
            <a:ext cx="4572000" cy="0"/>
          </a:xfrm>
          <a:prstGeom prst="line">
            <a:avLst/>
          </a:prstGeom>
          <a:noFill/>
          <a:ln w="6350">
            <a:solidFill>
              <a:srgbClr val="222A35"/>
            </a:solidFill>
            <a:prstDash val="solid"/>
          </a:ln>
        </p:spPr>
      </p:sp>
      <p:sp>
        <p:nvSpPr>
          <p:cNvPr id="13" name="Text 11"/>
          <p:cNvSpPr/>
          <p:nvPr/>
        </p:nvSpPr>
        <p:spPr>
          <a:xfrm>
            <a:off x="812800" y="50609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行の例：B46UDI、220130 19:00 UTC、</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7.48時間に14回放送</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日本語表示の再放送時系列ページの上部：見出し「HFGCS 再放送時系列」と説明文、「時系列順」「群の順」のボタン、群の凡例、t=0から7日までの対数軸上に点が並ぶ2022年の細い行の帯">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データ：公開中の再放送時系列（最終更新 260924）</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時系列</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141B"/>
        </a:solidFill>
      </p:bgPr>
    </p:bg>
    <p:spTree>
      <p:nvGrpSpPr>
        <p:cNvPr id="1" name=""/>
        <p:cNvGrpSpPr/>
        <p:nvPr/>
      </p:nvGrpSpPr>
      <p:grpSpPr>
        <a:xfrm>
          <a:off x="0" y="0"/>
          <a:ext cx="0" cy="0"/>
          <a:chOff x="0" y="0"/>
          <a:chExt cx="0" cy="0"/>
        </a:xfrm>
      </p:grpSpPr>
      <p:sp>
        <p:nvSpPr>
          <p:cNvPr id="2" name="Text 0"/>
          <p:cNvSpPr/>
          <p:nvPr/>
        </p:nvSpPr>
        <p:spPr>
          <a:xfrm>
            <a:off x="812800" y="224472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第6部</a:t>
            </a:r>
            <a:endParaRPr lang="en-US" sz="1200" dirty="0"/>
          </a:p>
        </p:txBody>
      </p:sp>
      <p:sp>
        <p:nvSpPr>
          <p:cNvPr id="3" name="Text 1"/>
          <p:cNvSpPr/>
          <p:nvPr>
            <p:ph type="title"/>
          </p:nvPr>
        </p:nvSpPr>
        <p:spPr>
          <a:xfrm>
            <a:off x="812800" y="2559645"/>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長さ別の構造</a:t>
            </a:r>
            <a:endParaRPr lang="en-US" sz="3600" dirty="0"/>
          </a:p>
        </p:txBody>
      </p:sp>
      <p:sp>
        <p:nvSpPr>
          <p:cNvPr id="4" name="Shape 2"/>
          <p:cNvSpPr/>
          <p:nvPr/>
        </p:nvSpPr>
        <p:spPr>
          <a:xfrm>
            <a:off x="812800" y="3416250"/>
            <a:ext cx="10566400" cy="0"/>
          </a:xfrm>
          <a:prstGeom prst="line">
            <a:avLst/>
          </a:prstGeom>
          <a:noFill/>
          <a:ln w="6350">
            <a:solidFill>
              <a:srgbClr val="2A3340"/>
            </a:solidFill>
            <a:prstDash val="solid"/>
          </a:ln>
        </p:spPr>
      </p:sp>
      <p:sp>
        <p:nvSpPr>
          <p:cNvPr id="5" name="Text 3"/>
          <p:cNvSpPr/>
          <p:nvPr/>
        </p:nvSpPr>
        <p:spPr>
          <a:xfrm>
            <a:off x="812800" y="3571825"/>
            <a:ext cx="10883392" cy="8636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サイトはメッセージを長さ別にどう読むか：</a:t>
            </a:r>
            <a:endParaRPr lang="en-US" sz="2200" dirty="0"/>
          </a:p>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103ページのヒートマップ、形式分析の論文、IPEマップ</a:t>
            </a:r>
            <a:endParaRPr lang="en-US" sz="22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7"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「構造」タブ</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103ページのヒートマップ</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メッセージの長さごとに1ページ、</a:t>
            </a:r>
            <a:r>
              <a:rPr lang="en-US" sz="1600" dirty="0">
                <a:solidFill>
                  <a:srgbClr val="FFCC00"/>
                </a:solidFill>
                <a:latin typeface="Arial" pitchFamily="34" charset="0"/>
                <a:ea typeface="Arial" pitchFamily="34" charset="-122"/>
                <a:cs typeface="Arial" pitchFamily="34" charset="-120"/>
              </a:rPr>
              <a:t>17〜292</a:t>
            </a:r>
            <a:r>
              <a:rPr lang="en-US" sz="1600" dirty="0">
                <a:solidFill>
                  <a:srgbClr val="E6EDF3"/>
                </a:solidFill>
                <a:latin typeface="Arial" pitchFamily="34" charset="0"/>
                <a:ea typeface="Arial" pitchFamily="34" charset="-122"/>
                <a:cs typeface="Arial" pitchFamily="34" charset="-120"/>
              </a:rPr>
              <a:t>文字</a:t>
            </a:r>
            <a:endParaRPr lang="en-US" sz="1600" dirty="0"/>
          </a:p>
        </p:txBody>
      </p:sp>
      <p:sp>
        <p:nvSpPr>
          <p:cNvPr id="6" name="Shape 4"/>
          <p:cNvSpPr/>
          <p:nvPr/>
        </p:nvSpPr>
        <p:spPr>
          <a:xfrm>
            <a:off x="812800" y="2498675"/>
            <a:ext cx="4572000" cy="0"/>
          </a:xfrm>
          <a:prstGeom prst="line">
            <a:avLst/>
          </a:prstGeom>
          <a:noFill/>
          <a:ln w="6350">
            <a:solidFill>
              <a:srgbClr val="222A35"/>
            </a:solidFill>
            <a:prstDash val="solid"/>
          </a:ln>
        </p:spPr>
      </p:sp>
      <p:sp>
        <p:nvSpPr>
          <p:cNvPr id="7" name="Text 5"/>
          <p:cNvSpPr/>
          <p:nvPr/>
        </p:nvSpPr>
        <p:spPr>
          <a:xfrm>
            <a:off x="812800" y="26034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帯：そのページの色の位置。</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幅は長さに比例（292 = 全幅）</a:t>
            </a:r>
            <a:endParaRPr lang="en-US" sz="1600" dirty="0"/>
          </a:p>
        </p:txBody>
      </p:sp>
      <p:sp>
        <p:nvSpPr>
          <p:cNvPr id="8" name="Shape 6"/>
          <p:cNvSpPr/>
          <p:nvPr/>
        </p:nvSpPr>
        <p:spPr>
          <a:xfrm>
            <a:off x="812800" y="3317825"/>
            <a:ext cx="4572000" cy="0"/>
          </a:xfrm>
          <a:prstGeom prst="line">
            <a:avLst/>
          </a:prstGeom>
          <a:noFill/>
          <a:ln w="6350">
            <a:solidFill>
              <a:srgbClr val="222A35"/>
            </a:solidFill>
            <a:prstDash val="solid"/>
          </a:ln>
        </p:spPr>
      </p:sp>
      <p:sp>
        <p:nvSpPr>
          <p:cNvPr id="9" name="Text 7"/>
          <p:cNvSpPr/>
          <p:nvPr/>
        </p:nvSpPr>
        <p:spPr>
          <a:xfrm>
            <a:off x="812800" y="34226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点：第1〜5群と不明。</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点灯はその群がページにある印</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点灯した点にカーソルで接頭辞を表示</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長さを入力してEnter</a:t>
            </a:r>
            <a:endParaRPr lang="en-US" sz="1600" dirty="0"/>
          </a:p>
        </p:txBody>
      </p:sp>
      <p:sp>
        <p:nvSpPr>
          <p:cNvPr id="12" name="Shape 10"/>
          <p:cNvSpPr/>
          <p:nvPr/>
        </p:nvSpPr>
        <p:spPr>
          <a:xfrm>
            <a:off x="5791200" y="1981150"/>
            <a:ext cx="5588000" cy="3143250"/>
          </a:xfrm>
          <a:prstGeom prst="roundRect">
            <a:avLst>
              <a:gd name="adj" fmla="val 2424"/>
            </a:avLst>
          </a:prstGeom>
          <a:solidFill>
            <a:srgbClr val="0E141B"/>
          </a:solidFill>
          <a:ln/>
        </p:spPr>
      </p:sp>
      <p:pic>
        <p:nvPicPr>
          <p:cNvPr id="13" name="Image 0" descr="日本語表示の「構造」タブ：説明文、「ヒートマップについて」と「長さをまたぐ対」へのリンク、17〜30文字のページの行。各行に帯と6つの群の点がある">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4" name="Shape 11"/>
          <p:cNvSpPr/>
          <p:nvPr/>
        </p:nvSpPr>
        <p:spPr>
          <a:xfrm>
            <a:off x="5794375" y="1984325"/>
            <a:ext cx="5581650" cy="3136900"/>
          </a:xfrm>
          <a:prstGeom prst="roundRect">
            <a:avLst>
              <a:gd name="adj" fmla="val 2328"/>
            </a:avLst>
          </a:prstGeom>
          <a:noFill/>
          <a:ln w="6350">
            <a:solidFill>
              <a:srgbClr val="222A35"/>
            </a:solidFill>
            <a:prstDash val="solid"/>
          </a:ln>
        </p:spPr>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出典：neetintel.github.io/?structures</a:t>
            </a:r>
            <a:endParaRPr lang="en-US" sz="1200" dirty="0"/>
          </a:p>
        </p:txBody>
      </p:sp>
      <p:sp>
        <p:nvSpPr>
          <p:cNvPr id="16" name="Text 1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ヒートマップ</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1行に1メッセージ</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1行が1つのメッセージ本文。再放送も1行だけ</a:t>
            </a:r>
            <a:endParaRPr lang="en-US" sz="1600" dirty="0"/>
          </a:p>
        </p:txBody>
      </p:sp>
      <p:sp>
        <p:nvSpPr>
          <p:cNvPr id="6" name="Shape 4"/>
          <p:cNvSpPr/>
          <p:nvPr/>
        </p:nvSpPr>
        <p:spPr>
          <a:xfrm>
            <a:off x="812800" y="2498675"/>
            <a:ext cx="4572000" cy="0"/>
          </a:xfrm>
          <a:prstGeom prst="line">
            <a:avLst/>
          </a:prstGeom>
          <a:noFill/>
          <a:ln w="6350">
            <a:solidFill>
              <a:srgbClr val="222A35"/>
            </a:solidFill>
            <a:prstDash val="solid"/>
          </a:ln>
        </p:spPr>
      </p:sp>
      <p:sp>
        <p:nvSpPr>
          <p:cNvPr id="7" name="Text 5"/>
          <p:cNvSpPr/>
          <p:nvPr/>
        </p:nvSpPr>
        <p:spPr>
          <a:xfrm>
            <a:off x="812800" y="26034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群は接頭辞で決まる。</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長さごと・群ごとに別々に検定</a:t>
            </a:r>
            <a:endParaRPr lang="en-US" sz="1600" dirty="0"/>
          </a:p>
        </p:txBody>
      </p:sp>
      <p:sp>
        <p:nvSpPr>
          <p:cNvPr id="8" name="Shape 6"/>
          <p:cNvSpPr/>
          <p:nvPr/>
        </p:nvSpPr>
        <p:spPr>
          <a:xfrm>
            <a:off x="812800" y="3317825"/>
            <a:ext cx="4572000" cy="0"/>
          </a:xfrm>
          <a:prstGeom prst="line">
            <a:avLst/>
          </a:prstGeom>
          <a:noFill/>
          <a:ln w="6350">
            <a:solidFill>
              <a:srgbClr val="222A35"/>
            </a:solidFill>
            <a:prstDash val="solid"/>
          </a:ln>
        </p:spPr>
      </p:sp>
      <p:sp>
        <p:nvSpPr>
          <p:cNvPr id="9" name="Text 7"/>
          <p:cNvSpPr/>
          <p:nvPr/>
        </p:nvSpPr>
        <p:spPr>
          <a:xfrm>
            <a:off x="812800" y="34226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除外：部分的な受信や無効とした読み取り、</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受信できなかった文字、1〜2文字目</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オレンジの棒：列ごとの平均の濃さ</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103ページで計</a:t>
            </a:r>
            <a:r>
              <a:rPr lang="en-US" sz="1600" dirty="0">
                <a:solidFill>
                  <a:srgbClr val="FFCC00"/>
                </a:solidFill>
                <a:latin typeface="Arial" pitchFamily="34" charset="0"/>
                <a:ea typeface="Arial" pitchFamily="34" charset="-122"/>
                <a:cs typeface="Arial" pitchFamily="34" charset="-120"/>
              </a:rPr>
              <a:t>1,838行</a:t>
            </a:r>
            <a:endParaRPr lang="en-US" sz="1600" dirty="0"/>
          </a:p>
        </p:txBody>
      </p:sp>
      <p:sp>
        <p:nvSpPr>
          <p:cNvPr id="12" name="Shape 10"/>
          <p:cNvSpPr/>
          <p:nvPr/>
        </p:nvSpPr>
        <p:spPr>
          <a:xfrm>
            <a:off x="5791200" y="1981150"/>
            <a:ext cx="5588000" cy="3143250"/>
          </a:xfrm>
          <a:prstGeom prst="roundRect">
            <a:avLst>
              <a:gd name="adj" fmla="val 2424"/>
            </a:avLst>
          </a:prstGeom>
          <a:solidFill>
            <a:srgbClr val="0E141B"/>
          </a:solidFill>
          <a:ln/>
        </p:spPr>
      </p:sp>
      <p:pic>
        <p:nvPicPr>
          <p:cNvPr id="13" name="Image 0" descr="142文字のヒートマップのページ（英語のみのページ）：説明の枠、オレンジの棒、色付きのマスで1行に1件ずつ並ぶ第4群のメッセージ">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4" name="Shape 11"/>
          <p:cNvSpPr/>
          <p:nvPr/>
        </p:nvSpPr>
        <p:spPr>
          <a:xfrm>
            <a:off x="5794375" y="1984325"/>
            <a:ext cx="5581650" cy="3136900"/>
          </a:xfrm>
          <a:prstGeom prst="roundRect">
            <a:avLst>
              <a:gd name="adj" fmla="val 2328"/>
            </a:avLst>
          </a:prstGeom>
          <a:noFill/>
          <a:ln w="6350">
            <a:solidFill>
              <a:srgbClr val="222A35"/>
            </a:solidFill>
            <a:prstDash val="solid"/>
          </a:ln>
        </p:spPr>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6" name="Text 1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ヒートマップ</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色とその規則</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3352006"/>
        </p:xfrm>
        <a:graphic>
          <a:graphicData uri="http://schemas.openxmlformats.org/drawingml/2006/table">
            <a:tbl>
              <a:tblPr/>
              <a:tblGrid>
                <a:gridCol w="1371981"/>
                <a:gridCol w="5276850"/>
                <a:gridCol w="3904869"/>
              </a:tblGrid>
              <a:tr h="41900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色</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パターン</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規則</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19001">
                <a:tc>
                  <a:txBody>
                    <a:bodyPr/>
                    <a:lstStyle/>
                    <a:p>
                      <a:pPr indent="0" marL="0">
                        <a:lnSpc>
                          <a:spcPts val="2240"/>
                        </a:lnSpc>
                        <a:buNone/>
                      </a:pPr>
                      <a:r>
                        <a:rPr lang="en-US" sz="1600" dirty="0">
                          <a:solidFill>
                            <a:srgbClr val="D17061"/>
                          </a:solidFill>
                          <a:latin typeface="Arial" pitchFamily="34" charset="0"/>
                          <a:ea typeface="Arial" pitchFamily="34" charset="-122"/>
                          <a:cs typeface="Arial" pitchFamily="34" charset="-120"/>
                        </a:rPr>
                        <a:t>赤</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同じ文字が4つ以上続く</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A9B4BF"/>
                          </a:solidFill>
                          <a:latin typeface="Arial" pitchFamily="34" charset="0"/>
                          <a:ea typeface="Arial" pitchFamily="34" charset="-122"/>
                          <a:cs typeface="Arial" pitchFamily="34" charset="-120"/>
                        </a:rPr>
                        <a:t>常に色付け、検定なし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indent="0" marL="0">
                        <a:lnSpc>
                          <a:spcPts val="2240"/>
                        </a:lnSpc>
                        <a:buNone/>
                      </a:pPr>
                      <a:r>
                        <a:rPr lang="en-US" sz="1600" dirty="0">
                          <a:solidFill>
                            <a:srgbClr val="E8915E"/>
                          </a:solidFill>
                          <a:latin typeface="Arial" pitchFamily="34" charset="0"/>
                          <a:ea typeface="Arial" pitchFamily="34" charset="-122"/>
                          <a:cs typeface="Arial" pitchFamily="34" charset="-120"/>
                        </a:rPr>
                        <a:t>珊瑚色</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群の連続が揃う位置の2〜3文字の連続</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A9B4BF"/>
                          </a:solidFill>
                          <a:latin typeface="Arial" pitchFamily="34" charset="0"/>
                          <a:ea typeface="Arial" pitchFamily="34" charset="-122"/>
                          <a:cs typeface="Arial" pitchFamily="34" charset="-120"/>
                        </a:rPr>
                        <a:t>連続区間の中だけ</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indent="0" marL="0">
                        <a:lnSpc>
                          <a:spcPts val="2240"/>
                        </a:lnSpc>
                        <a:buNone/>
                      </a:pPr>
                      <a:r>
                        <a:rPr lang="en-US" sz="1600" dirty="0">
                          <a:solidFill>
                            <a:srgbClr val="DEBA73"/>
                          </a:solidFill>
                          <a:latin typeface="Arial" pitchFamily="34" charset="0"/>
                          <a:ea typeface="Arial" pitchFamily="34" charset="-122"/>
                          <a:cs typeface="Arial" pitchFamily="34" charset="-120"/>
                        </a:rPr>
                        <a:t>琥珀色</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X??X：3つ離れた位置に同じ文字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A9B4BF"/>
                          </a:solidFill>
                          <a:latin typeface="Arial" pitchFamily="34" charset="0"/>
                          <a:ea typeface="Arial" pitchFamily="34" charset="-122"/>
                          <a:cs typeface="Arial" pitchFamily="34" charset="-120"/>
                        </a:rPr>
                        <a:t>対の検定、データ全体</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indent="0" marL="0">
                        <a:lnSpc>
                          <a:spcPts val="2240"/>
                        </a:lnSpc>
                        <a:buNone/>
                      </a:pPr>
                      <a:r>
                        <a:rPr lang="en-US" sz="1600" dirty="0">
                          <a:solidFill>
                            <a:srgbClr val="7AABF0"/>
                          </a:solidFill>
                          <a:latin typeface="Arial" pitchFamily="34" charset="0"/>
                          <a:ea typeface="Arial" pitchFamily="34" charset="-122"/>
                          <a:cs typeface="Arial" pitchFamily="34" charset="-120"/>
                        </a:rPr>
                        <a:t>青</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メッセージをまたぐ高頻度の対、または鏡像ブロック</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A9B4BF"/>
                          </a:solidFill>
                          <a:latin typeface="Arial" pitchFamily="34" charset="0"/>
                          <a:ea typeface="Arial" pitchFamily="34" charset="-122"/>
                          <a:cs typeface="Arial" pitchFamily="34" charset="-120"/>
                        </a:rPr>
                        <a:t>対か鏡像ブロックの検定</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indent="0" marL="0">
                        <a:lnSpc>
                          <a:spcPts val="2240"/>
                        </a:lnSpc>
                        <a:buNone/>
                      </a:pPr>
                      <a:r>
                        <a:rPr lang="en-US" sz="1600" dirty="0">
                          <a:solidFill>
                            <a:srgbClr val="37BE7F"/>
                          </a:solidFill>
                          <a:latin typeface="Arial" pitchFamily="34" charset="0"/>
                          <a:ea typeface="Arial" pitchFamily="34" charset="-122"/>
                          <a:cs typeface="Arial" pitchFamily="34" charset="-120"/>
                        </a:rPr>
                        <a:t>青緑</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メッセージが自分の一部を繰り返す</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A9B4BF"/>
                          </a:solidFill>
                          <a:latin typeface="Arial" pitchFamily="34" charset="0"/>
                          <a:ea typeface="Arial" pitchFamily="34" charset="-122"/>
                          <a:cs typeface="Arial" pitchFamily="34" charset="-120"/>
                        </a:rPr>
                        <a:t>独自の規則：偶然には長すぎる</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indent="0" marL="0">
                        <a:lnSpc>
                          <a:spcPts val="2240"/>
                        </a:lnSpc>
                        <a:buNone/>
                      </a:pPr>
                      <a:r>
                        <a:rPr lang="en-US" sz="1600" dirty="0">
                          <a:solidFill>
                            <a:srgbClr val="D4B9F4"/>
                          </a:solidFill>
                          <a:latin typeface="Arial" pitchFamily="34" charset="0"/>
                          <a:ea typeface="Arial" pitchFamily="34" charset="-122"/>
                          <a:cs typeface="Arial" pitchFamily="34" charset="-120"/>
                        </a:rPr>
                        <a:t>薄紫</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群の一部のメッセージだけで成り立つ対</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A9B4BF"/>
                          </a:solidFill>
                          <a:latin typeface="Arial" pitchFamily="34" charset="0"/>
                          <a:ea typeface="Arial" pitchFamily="34" charset="-122"/>
                          <a:cs typeface="Arial" pitchFamily="34" charset="-120"/>
                        </a:rPr>
                        <a:t>その群の検定数 × 74</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indent="0" marL="0">
                        <a:lnSpc>
                          <a:spcPts val="2240"/>
                        </a:lnSpc>
                        <a:buNone/>
                      </a:pPr>
                      <a:r>
                        <a:rPr lang="en-US" sz="1600" dirty="0">
                          <a:solidFill>
                            <a:srgbClr val="DEBA73"/>
                          </a:solidFill>
                          <a:latin typeface="Arial" pitchFamily="34" charset="0"/>
                          <a:ea typeface="Arial" pitchFamily="34" charset="-122"/>
                          <a:cs typeface="Arial" pitchFamily="34" charset="-120"/>
                        </a:rPr>
                        <a:t>淡い色</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どの色でも：あと少しで届かなかったもの</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A9B4BF"/>
                          </a:solidFill>
                          <a:latin typeface="Arial" pitchFamily="34" charset="0"/>
                          <a:ea typeface="Arial" pitchFamily="34" charset="-122"/>
                          <a:cs typeface="Arial" pitchFamily="34" charset="-120"/>
                        </a:rPr>
                        <a:t>ページ内で偶然の見込み2回未満</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出典：ヒートマップについて（about_structure_heatmaps.html）</a:t>
            </a:r>
            <a:endParaRPr lang="en-US" sz="1200" dirty="0"/>
          </a:p>
        </p:txBody>
      </p:sp>
      <p:sp>
        <p:nvSpPr>
          <p:cNvPr id="6" name="Text 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CC0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4110A"/>
                </a:solidFill>
                <a:latin typeface="Arial" pitchFamily="34" charset="0"/>
                <a:ea typeface="Arial" pitchFamily="34" charset="-122"/>
                <a:cs typeface="Arial" pitchFamily="34" charset="-120"/>
              </a:rPr>
              <a:t>ヒートマップ</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14110A"/>
                </a:solidFill>
                <a:latin typeface="Arial" pitchFamily="34" charset="0"/>
                <a:ea typeface="Arial" pitchFamily="34" charset="-122"/>
                <a:cs typeface="Arial" pitchFamily="34" charset="-120"/>
              </a:rPr>
              <a:t>有意性の基準</a:t>
            </a:r>
            <a:endParaRPr lang="en-US" sz="3600" dirty="0"/>
          </a:p>
        </p:txBody>
      </p:sp>
      <p:sp>
        <p:nvSpPr>
          <p:cNvPr id="4" name="Text 2"/>
          <p:cNvSpPr/>
          <p:nvPr/>
        </p:nvSpPr>
        <p:spPr>
          <a:xfrm>
            <a:off x="812800" y="198115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14110A"/>
                </a:solidFill>
                <a:latin typeface="Arial" pitchFamily="34" charset="0"/>
                <a:ea typeface="Arial" pitchFamily="34" charset="-122"/>
                <a:cs typeface="Arial" pitchFamily="34" charset="-120"/>
              </a:rPr>
              <a:t>1,100万分の1</a:t>
            </a:r>
            <a:endParaRPr lang="en-US" sz="8000" dirty="0"/>
          </a:p>
        </p:txBody>
      </p:sp>
      <p:sp>
        <p:nvSpPr>
          <p:cNvPr id="5" name="Text 3"/>
          <p:cNvSpPr/>
          <p:nvPr/>
        </p:nvSpPr>
        <p:spPr>
          <a:xfrm>
            <a:off x="812800" y="30479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3D3410"/>
                </a:solidFill>
                <a:latin typeface="Arial" pitchFamily="34" charset="0"/>
                <a:ea typeface="Arial" pitchFamily="34" charset="-122"/>
                <a:cs typeface="Arial" pitchFamily="34" charset="-120"/>
              </a:rPr>
              <a:t>0.05 ÷ 538,498（全ページで数えた対と連続の検定数、261005時点）</a:t>
            </a:r>
            <a:endParaRPr lang="en-US" sz="1600" dirty="0"/>
          </a:p>
        </p:txBody>
      </p:sp>
      <p:sp>
        <p:nvSpPr>
          <p:cNvPr id="6" name="Shape 4"/>
          <p:cNvSpPr/>
          <p:nvPr/>
        </p:nvSpPr>
        <p:spPr>
          <a:xfrm>
            <a:off x="815975" y="3559125"/>
            <a:ext cx="5200650" cy="1342330"/>
          </a:xfrm>
          <a:prstGeom prst="roundRect">
            <a:avLst>
              <a:gd name="adj" fmla="val 5440"/>
            </a:avLst>
          </a:prstGeom>
          <a:solidFill>
            <a:srgbClr val="14110A">
              <a:alpha val="8000"/>
            </a:srgbClr>
          </a:solidFill>
          <a:ln w="6350">
            <a:solidFill>
              <a:srgbClr val="14110A">
                <a:alpha val="25000"/>
              </a:srgbClr>
            </a:solidFill>
            <a:prstDash val="solid"/>
          </a:ln>
        </p:spPr>
      </p:sp>
      <p:sp>
        <p:nvSpPr>
          <p:cNvPr id="7" name="Text 5"/>
          <p:cNvSpPr/>
          <p:nvPr/>
        </p:nvSpPr>
        <p:spPr>
          <a:xfrm>
            <a:off x="1022350" y="3765500"/>
            <a:ext cx="493153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3410"/>
                </a:solidFill>
                <a:latin typeface="Arial" pitchFamily="34" charset="0"/>
                <a:ea typeface="Arial" pitchFamily="34" charset="-122"/>
                <a:cs typeface="Arial" pitchFamily="34" charset="-120"/>
              </a:rPr>
              <a:t>淡い色</a:t>
            </a:r>
            <a:endParaRPr lang="en-US" sz="1200" dirty="0"/>
          </a:p>
        </p:txBody>
      </p:sp>
      <p:sp>
        <p:nvSpPr>
          <p:cNvPr id="8" name="Text 6"/>
          <p:cNvSpPr/>
          <p:nvPr/>
        </p:nvSpPr>
        <p:spPr>
          <a:xfrm>
            <a:off x="1022350" y="4055021"/>
            <a:ext cx="493153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D3410"/>
                </a:solidFill>
                <a:latin typeface="Arial" pitchFamily="34" charset="0"/>
                <a:ea typeface="Arial" pitchFamily="34" charset="-122"/>
                <a:cs typeface="Arial" pitchFamily="34" charset="-120"/>
              </a:rPr>
              <a:t>4件中4件</a:t>
            </a:r>
            <a:endParaRPr lang="en-US" sz="2200" dirty="0"/>
          </a:p>
        </p:txBody>
      </p:sp>
      <p:sp>
        <p:nvSpPr>
          <p:cNvPr id="9" name="Text 7"/>
          <p:cNvSpPr/>
          <p:nvPr/>
        </p:nvSpPr>
        <p:spPr>
          <a:xfrm>
            <a:off x="1022350" y="4466481"/>
            <a:ext cx="493153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D3410"/>
                </a:solidFill>
                <a:latin typeface="Arial" pitchFamily="34" charset="0"/>
                <a:ea typeface="Arial" pitchFamily="34" charset="-122"/>
                <a:cs typeface="Arial" pitchFamily="34" charset="-120"/>
              </a:rPr>
              <a:t>一致率3%なら約120万分の1</a:t>
            </a:r>
            <a:endParaRPr lang="en-US" sz="1200" dirty="0"/>
          </a:p>
        </p:txBody>
      </p:sp>
      <p:sp>
        <p:nvSpPr>
          <p:cNvPr id="10" name="Shape 8"/>
          <p:cNvSpPr/>
          <p:nvPr/>
        </p:nvSpPr>
        <p:spPr>
          <a:xfrm>
            <a:off x="6175375" y="3559125"/>
            <a:ext cx="5200650" cy="1342330"/>
          </a:xfrm>
          <a:prstGeom prst="roundRect">
            <a:avLst>
              <a:gd name="adj" fmla="val 5440"/>
            </a:avLst>
          </a:prstGeom>
          <a:solidFill>
            <a:srgbClr val="14110A"/>
          </a:solidFill>
          <a:ln w="6350">
            <a:solidFill>
              <a:srgbClr val="14110A"/>
            </a:solidFill>
            <a:prstDash val="solid"/>
          </a:ln>
        </p:spPr>
      </p:sp>
      <p:sp>
        <p:nvSpPr>
          <p:cNvPr id="11" name="Text 9"/>
          <p:cNvSpPr/>
          <p:nvPr/>
        </p:nvSpPr>
        <p:spPr>
          <a:xfrm>
            <a:off x="6381750" y="3765500"/>
            <a:ext cx="493153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濃い色</a:t>
            </a:r>
            <a:endParaRPr lang="en-US" sz="1200" dirty="0"/>
          </a:p>
        </p:txBody>
      </p:sp>
      <p:sp>
        <p:nvSpPr>
          <p:cNvPr id="12" name="Text 10"/>
          <p:cNvSpPr/>
          <p:nvPr/>
        </p:nvSpPr>
        <p:spPr>
          <a:xfrm>
            <a:off x="6381750" y="4055021"/>
            <a:ext cx="493153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CC00"/>
                </a:solidFill>
                <a:latin typeface="Arial" pitchFamily="34" charset="0"/>
                <a:ea typeface="Arial" pitchFamily="34" charset="-122"/>
                <a:cs typeface="Arial" pitchFamily="34" charset="-120"/>
              </a:rPr>
              <a:t>5件中5件</a:t>
            </a:r>
            <a:endParaRPr lang="en-US" sz="2200" dirty="0"/>
          </a:p>
        </p:txBody>
      </p:sp>
      <p:sp>
        <p:nvSpPr>
          <p:cNvPr id="13" name="Text 11"/>
          <p:cNvSpPr/>
          <p:nvPr/>
        </p:nvSpPr>
        <p:spPr>
          <a:xfrm>
            <a:off x="6381750" y="4466481"/>
            <a:ext cx="493153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3"/>
                </a:solidFill>
                <a:latin typeface="Arial" pitchFamily="34" charset="0"/>
                <a:ea typeface="Arial" pitchFamily="34" charset="-122"/>
                <a:cs typeface="Arial" pitchFamily="34" charset="-120"/>
              </a:rPr>
              <a:t>約4,100万分の1</a:t>
            </a:r>
            <a:endParaRPr lang="en-US" sz="1200" dirty="0"/>
          </a:p>
        </p:txBody>
      </p:sp>
      <p:sp>
        <p:nvSpPr>
          <p:cNvPr id="14" name="Shape 12"/>
          <p:cNvSpPr/>
          <p:nvPr/>
        </p:nvSpPr>
        <p:spPr>
          <a:xfrm>
            <a:off x="812800" y="5111006"/>
            <a:ext cx="10566400" cy="0"/>
          </a:xfrm>
          <a:prstGeom prst="line">
            <a:avLst/>
          </a:prstGeom>
          <a:noFill/>
          <a:ln w="6350">
            <a:solidFill>
              <a:srgbClr val="14110A">
                <a:alpha val="30000"/>
              </a:srgbClr>
            </a:solidFill>
            <a:prstDash val="solid"/>
          </a:ln>
        </p:spPr>
      </p:sp>
      <p:sp>
        <p:nvSpPr>
          <p:cNvPr id="15" name="Text 13"/>
          <p:cNvSpPr/>
          <p:nvPr/>
        </p:nvSpPr>
        <p:spPr>
          <a:xfrm>
            <a:off x="812800" y="5215781"/>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4110A"/>
                </a:solidFill>
                <a:latin typeface="Arial" pitchFamily="34" charset="0"/>
                <a:ea typeface="Arial" pitchFamily="34" charset="-122"/>
                <a:cs typeface="Arial" pitchFamily="34" charset="-120"/>
              </a:rPr>
              <a:t>旧版：メッセージの30%で高頻度の対。データ全体の検定はなし</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3410"/>
                </a:solidFill>
                <a:latin typeface="Arial" pitchFamily="34" charset="0"/>
                <a:ea typeface="Arial" pitchFamily="34" charset="-122"/>
                <a:cs typeface="Arial" pitchFamily="34" charset="-120"/>
              </a:rPr>
              <a:t>出典：ヒートマップについて（about_structure_heatmaps.html）</a:t>
            </a:r>
            <a:endParaRPr lang="en-US" sz="1200" dirty="0"/>
          </a:p>
        </p:txBody>
      </p:sp>
      <p:sp>
        <p:nvSpPr>
          <p:cNvPr id="17"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D3410"/>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ヒートマップ</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142文字のページの列</a:t>
            </a:r>
            <a:endParaRPr lang="en-US" sz="3600" dirty="0"/>
          </a:p>
        </p:txBody>
      </p:sp>
      <p:sp>
        <p:nvSpPr>
          <p:cNvPr id="4" name="Text 2"/>
          <p:cNvSpPr/>
          <p:nvPr/>
        </p:nvSpPr>
        <p:spPr>
          <a:xfrm>
            <a:off x="838200" y="1981150"/>
            <a:ext cx="1041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17</a:t>
            </a:r>
            <a:endParaRPr lang="en-US" sz="1200" dirty="0"/>
          </a:p>
        </p:txBody>
      </p:sp>
      <p:sp>
        <p:nvSpPr>
          <p:cNvPr id="5" name="Text 3"/>
          <p:cNvSpPr/>
          <p:nvPr/>
        </p:nvSpPr>
        <p:spPr>
          <a:xfrm>
            <a:off x="1854200" y="1981150"/>
            <a:ext cx="787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21</a:t>
            </a:r>
            <a:endParaRPr lang="en-US" sz="1200" dirty="0"/>
          </a:p>
        </p:txBody>
      </p:sp>
      <p:sp>
        <p:nvSpPr>
          <p:cNvPr id="6" name="Text 4"/>
          <p:cNvSpPr/>
          <p:nvPr/>
        </p:nvSpPr>
        <p:spPr>
          <a:xfrm>
            <a:off x="2616200" y="1981150"/>
            <a:ext cx="1549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24</a:t>
            </a:r>
            <a:endParaRPr lang="en-US" sz="1200" dirty="0"/>
          </a:p>
        </p:txBody>
      </p:sp>
      <p:sp>
        <p:nvSpPr>
          <p:cNvPr id="7" name="Text 5"/>
          <p:cNvSpPr/>
          <p:nvPr/>
        </p:nvSpPr>
        <p:spPr>
          <a:xfrm>
            <a:off x="4140200" y="1981150"/>
            <a:ext cx="533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30</a:t>
            </a:r>
            <a:endParaRPr lang="en-US" sz="1200" dirty="0"/>
          </a:p>
        </p:txBody>
      </p:sp>
      <p:sp>
        <p:nvSpPr>
          <p:cNvPr id="8" name="Text 6"/>
          <p:cNvSpPr/>
          <p:nvPr/>
        </p:nvSpPr>
        <p:spPr>
          <a:xfrm>
            <a:off x="4648200" y="1981150"/>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32</a:t>
            </a:r>
            <a:endParaRPr lang="en-US" sz="1200" dirty="0"/>
          </a:p>
        </p:txBody>
      </p:sp>
      <p:sp>
        <p:nvSpPr>
          <p:cNvPr id="9" name="Text 7"/>
          <p:cNvSpPr/>
          <p:nvPr/>
        </p:nvSpPr>
        <p:spPr>
          <a:xfrm>
            <a:off x="7188200" y="1981150"/>
            <a:ext cx="787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42</a:t>
            </a:r>
            <a:endParaRPr lang="en-US" sz="1200" dirty="0"/>
          </a:p>
        </p:txBody>
      </p:sp>
      <p:sp>
        <p:nvSpPr>
          <p:cNvPr id="10" name="Text 8"/>
          <p:cNvSpPr/>
          <p:nvPr/>
        </p:nvSpPr>
        <p:spPr>
          <a:xfrm>
            <a:off x="7950200" y="1981150"/>
            <a:ext cx="787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45</a:t>
            </a:r>
            <a:endParaRPr lang="en-US" sz="1200" dirty="0"/>
          </a:p>
        </p:txBody>
      </p:sp>
      <p:sp>
        <p:nvSpPr>
          <p:cNvPr id="11" name="Text 9"/>
          <p:cNvSpPr/>
          <p:nvPr/>
        </p:nvSpPr>
        <p:spPr>
          <a:xfrm>
            <a:off x="8712200" y="1981150"/>
            <a:ext cx="279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48</a:t>
            </a:r>
            <a:endParaRPr lang="en-US" sz="1200" dirty="0"/>
          </a:p>
        </p:txBody>
      </p:sp>
      <p:sp>
        <p:nvSpPr>
          <p:cNvPr id="12" name="Shape 10"/>
          <p:cNvSpPr/>
          <p:nvPr/>
        </p:nvSpPr>
        <p:spPr>
          <a:xfrm>
            <a:off x="812800" y="2365871"/>
            <a:ext cx="88900" cy="88900"/>
          </a:xfrm>
          <a:prstGeom prst="roundRect">
            <a:avLst>
              <a:gd name="adj" fmla="val 50000"/>
            </a:avLst>
          </a:prstGeom>
          <a:solidFill>
            <a:srgbClr val="FF0467"/>
          </a:solidFill>
          <a:ln/>
        </p:spPr>
      </p:sp>
      <p:sp>
        <p:nvSpPr>
          <p:cNvPr id="13" name="Text 11"/>
          <p:cNvSpPr/>
          <p:nvPr/>
        </p:nvSpPr>
        <p:spPr>
          <a:xfrm>
            <a:off x="977900" y="2311301"/>
            <a:ext cx="2072368" cy="223490"/>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A9B4BF"/>
                </a:solidFill>
                <a:latin typeface="Courier New" pitchFamily="49" charset="0"/>
                <a:ea typeface="Courier New" pitchFamily="49" charset="-122"/>
                <a:cs typeface="Courier New" pitchFamily="49" charset="-120"/>
              </a:rPr>
              <a:t>221116 06:22 CHOPHOUSE</a:t>
            </a:r>
            <a:endParaRPr lang="en-US" sz="1200" dirty="0"/>
          </a:p>
        </p:txBody>
      </p:sp>
      <p:sp>
        <p:nvSpPr>
          <p:cNvPr id="14" name="Text 12"/>
          <p:cNvSpPr/>
          <p:nvPr/>
        </p:nvSpPr>
        <p:spPr>
          <a:xfrm>
            <a:off x="3175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15" name="Text 13"/>
          <p:cNvSpPr/>
          <p:nvPr/>
        </p:nvSpPr>
        <p:spPr>
          <a:xfrm>
            <a:off x="3429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6" name="Text 14"/>
          <p:cNvSpPr/>
          <p:nvPr/>
        </p:nvSpPr>
        <p:spPr>
          <a:xfrm>
            <a:off x="3683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17" name="Text 15"/>
          <p:cNvSpPr/>
          <p:nvPr/>
        </p:nvSpPr>
        <p:spPr>
          <a:xfrm>
            <a:off x="3937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18" name="Text 16"/>
          <p:cNvSpPr/>
          <p:nvPr/>
        </p:nvSpPr>
        <p:spPr>
          <a:xfrm>
            <a:off x="4191000" y="2245271"/>
            <a:ext cx="228600" cy="330200"/>
          </a:xfrm>
          <a:prstGeom prst="rect">
            <a:avLst/>
          </a:prstGeom>
          <a:solidFill>
            <a:srgbClr val="DEBA73"/>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S</a:t>
            </a:r>
            <a:endParaRPr lang="en-US" sz="1600" dirty="0"/>
          </a:p>
        </p:txBody>
      </p:sp>
      <p:sp>
        <p:nvSpPr>
          <p:cNvPr id="19" name="Text 17"/>
          <p:cNvSpPr/>
          <p:nvPr/>
        </p:nvSpPr>
        <p:spPr>
          <a:xfrm>
            <a:off x="4445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20" name="Text 18"/>
          <p:cNvSpPr/>
          <p:nvPr/>
        </p:nvSpPr>
        <p:spPr>
          <a:xfrm>
            <a:off x="4699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21" name="Text 19"/>
          <p:cNvSpPr/>
          <p:nvPr/>
        </p:nvSpPr>
        <p:spPr>
          <a:xfrm>
            <a:off x="4953000" y="2245271"/>
            <a:ext cx="228600" cy="330200"/>
          </a:xfrm>
          <a:prstGeom prst="rect">
            <a:avLst/>
          </a:prstGeom>
          <a:solidFill>
            <a:srgbClr val="DEBA73"/>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S</a:t>
            </a:r>
            <a:endParaRPr lang="en-US" sz="1600" dirty="0"/>
          </a:p>
        </p:txBody>
      </p:sp>
      <p:sp>
        <p:nvSpPr>
          <p:cNvPr id="22" name="Text 20"/>
          <p:cNvSpPr/>
          <p:nvPr/>
        </p:nvSpPr>
        <p:spPr>
          <a:xfrm>
            <a:off x="5207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A</a:t>
            </a:r>
            <a:endParaRPr lang="en-US" sz="1600" dirty="0"/>
          </a:p>
        </p:txBody>
      </p:sp>
      <p:sp>
        <p:nvSpPr>
          <p:cNvPr id="23" name="Text 21"/>
          <p:cNvSpPr/>
          <p:nvPr/>
        </p:nvSpPr>
        <p:spPr>
          <a:xfrm>
            <a:off x="5461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M</a:t>
            </a:r>
            <a:endParaRPr lang="en-US" sz="1600" dirty="0"/>
          </a:p>
        </p:txBody>
      </p:sp>
      <p:sp>
        <p:nvSpPr>
          <p:cNvPr id="24" name="Text 22"/>
          <p:cNvSpPr/>
          <p:nvPr/>
        </p:nvSpPr>
        <p:spPr>
          <a:xfrm>
            <a:off x="5715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25" name="Text 23"/>
          <p:cNvSpPr/>
          <p:nvPr/>
        </p:nvSpPr>
        <p:spPr>
          <a:xfrm>
            <a:off x="5969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26" name="Text 24"/>
          <p:cNvSpPr/>
          <p:nvPr/>
        </p:nvSpPr>
        <p:spPr>
          <a:xfrm>
            <a:off x="6223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27" name="Text 25"/>
          <p:cNvSpPr/>
          <p:nvPr/>
        </p:nvSpPr>
        <p:spPr>
          <a:xfrm>
            <a:off x="6477000" y="2245271"/>
            <a:ext cx="228600" cy="330200"/>
          </a:xfrm>
          <a:prstGeom prst="rect">
            <a:avLst/>
          </a:prstGeom>
          <a:solidFill>
            <a:srgbClr val="7AABF0"/>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I</a:t>
            </a:r>
            <a:endParaRPr lang="en-US" sz="1600" dirty="0"/>
          </a:p>
        </p:txBody>
      </p:sp>
      <p:sp>
        <p:nvSpPr>
          <p:cNvPr id="28" name="Text 26"/>
          <p:cNvSpPr/>
          <p:nvPr/>
        </p:nvSpPr>
        <p:spPr>
          <a:xfrm>
            <a:off x="6731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A</a:t>
            </a:r>
            <a:endParaRPr lang="en-US" sz="1600" dirty="0"/>
          </a:p>
        </p:txBody>
      </p:sp>
      <p:sp>
        <p:nvSpPr>
          <p:cNvPr id="29" name="Text 27"/>
          <p:cNvSpPr/>
          <p:nvPr/>
        </p:nvSpPr>
        <p:spPr>
          <a:xfrm>
            <a:off x="6985000" y="2245271"/>
            <a:ext cx="228600" cy="330200"/>
          </a:xfrm>
          <a:prstGeom prst="rect">
            <a:avLst/>
          </a:prstGeom>
          <a:solidFill>
            <a:srgbClr val="7AABF0"/>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I</a:t>
            </a:r>
            <a:endParaRPr lang="en-US" sz="1600" dirty="0"/>
          </a:p>
        </p:txBody>
      </p:sp>
      <p:sp>
        <p:nvSpPr>
          <p:cNvPr id="30" name="Text 28"/>
          <p:cNvSpPr/>
          <p:nvPr/>
        </p:nvSpPr>
        <p:spPr>
          <a:xfrm>
            <a:off x="7239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31" name="Text 29"/>
          <p:cNvSpPr/>
          <p:nvPr/>
        </p:nvSpPr>
        <p:spPr>
          <a:xfrm>
            <a:off x="7493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32" name="Text 30"/>
          <p:cNvSpPr/>
          <p:nvPr/>
        </p:nvSpPr>
        <p:spPr>
          <a:xfrm>
            <a:off x="7747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33" name="Text 31"/>
          <p:cNvSpPr/>
          <p:nvPr/>
        </p:nvSpPr>
        <p:spPr>
          <a:xfrm>
            <a:off x="8001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34" name="Text 32"/>
          <p:cNvSpPr/>
          <p:nvPr/>
        </p:nvSpPr>
        <p:spPr>
          <a:xfrm>
            <a:off x="8255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L</a:t>
            </a:r>
            <a:endParaRPr lang="en-US" sz="1600" dirty="0"/>
          </a:p>
        </p:txBody>
      </p:sp>
      <p:sp>
        <p:nvSpPr>
          <p:cNvPr id="35" name="Text 33"/>
          <p:cNvSpPr/>
          <p:nvPr/>
        </p:nvSpPr>
        <p:spPr>
          <a:xfrm>
            <a:off x="8509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A</a:t>
            </a:r>
            <a:endParaRPr lang="en-US" sz="1600" dirty="0"/>
          </a:p>
        </p:txBody>
      </p:sp>
      <p:sp>
        <p:nvSpPr>
          <p:cNvPr id="36" name="Text 34"/>
          <p:cNvSpPr/>
          <p:nvPr/>
        </p:nvSpPr>
        <p:spPr>
          <a:xfrm>
            <a:off x="8763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37" name="Text 35"/>
          <p:cNvSpPr/>
          <p:nvPr/>
        </p:nvSpPr>
        <p:spPr>
          <a:xfrm>
            <a:off x="9017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A</a:t>
            </a:r>
            <a:endParaRPr lang="en-US" sz="1600" dirty="0"/>
          </a:p>
        </p:txBody>
      </p:sp>
      <p:sp>
        <p:nvSpPr>
          <p:cNvPr id="38" name="Text 36"/>
          <p:cNvSpPr/>
          <p:nvPr/>
        </p:nvSpPr>
        <p:spPr>
          <a:xfrm>
            <a:off x="9271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39" name="Text 37"/>
          <p:cNvSpPr/>
          <p:nvPr/>
        </p:nvSpPr>
        <p:spPr>
          <a:xfrm>
            <a:off x="9525000" y="2245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7</a:t>
            </a:r>
            <a:endParaRPr lang="en-US" sz="1600" dirty="0"/>
          </a:p>
        </p:txBody>
      </p:sp>
      <p:sp>
        <p:nvSpPr>
          <p:cNvPr id="40" name="Text 38"/>
          <p:cNvSpPr/>
          <p:nvPr/>
        </p:nvSpPr>
        <p:spPr>
          <a:xfrm>
            <a:off x="9779000" y="2245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7</a:t>
            </a:r>
            <a:endParaRPr lang="en-US" sz="1600" dirty="0"/>
          </a:p>
        </p:txBody>
      </p:sp>
      <p:sp>
        <p:nvSpPr>
          <p:cNvPr id="41" name="Text 39"/>
          <p:cNvSpPr/>
          <p:nvPr/>
        </p:nvSpPr>
        <p:spPr>
          <a:xfrm>
            <a:off x="10033000" y="2245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7</a:t>
            </a:r>
            <a:endParaRPr lang="en-US" sz="1600" dirty="0"/>
          </a:p>
        </p:txBody>
      </p:sp>
      <p:sp>
        <p:nvSpPr>
          <p:cNvPr id="42" name="Text 40"/>
          <p:cNvSpPr/>
          <p:nvPr/>
        </p:nvSpPr>
        <p:spPr>
          <a:xfrm>
            <a:off x="10287000" y="2245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7</a:t>
            </a:r>
            <a:endParaRPr lang="en-US" sz="1600" dirty="0"/>
          </a:p>
        </p:txBody>
      </p:sp>
      <p:sp>
        <p:nvSpPr>
          <p:cNvPr id="43" name="Text 41"/>
          <p:cNvSpPr/>
          <p:nvPr/>
        </p:nvSpPr>
        <p:spPr>
          <a:xfrm>
            <a:off x="10541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44" name="Text 42"/>
          <p:cNvSpPr/>
          <p:nvPr/>
        </p:nvSpPr>
        <p:spPr>
          <a:xfrm>
            <a:off x="10795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W</a:t>
            </a:r>
            <a:endParaRPr lang="en-US" sz="1600" dirty="0"/>
          </a:p>
        </p:txBody>
      </p:sp>
      <p:sp>
        <p:nvSpPr>
          <p:cNvPr id="45" name="Text 43"/>
          <p:cNvSpPr/>
          <p:nvPr/>
        </p:nvSpPr>
        <p:spPr>
          <a:xfrm>
            <a:off x="11049000" y="2245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Q</a:t>
            </a:r>
            <a:endParaRPr lang="en-US" sz="1600" dirty="0"/>
          </a:p>
        </p:txBody>
      </p:sp>
      <p:sp>
        <p:nvSpPr>
          <p:cNvPr id="46" name="Shape 44"/>
          <p:cNvSpPr/>
          <p:nvPr/>
        </p:nvSpPr>
        <p:spPr>
          <a:xfrm>
            <a:off x="812800" y="2746871"/>
            <a:ext cx="88900" cy="88900"/>
          </a:xfrm>
          <a:prstGeom prst="roundRect">
            <a:avLst>
              <a:gd name="adj" fmla="val 50000"/>
            </a:avLst>
          </a:prstGeom>
          <a:solidFill>
            <a:srgbClr val="FF0467"/>
          </a:solidFill>
          <a:ln/>
        </p:spPr>
      </p:sp>
      <p:sp>
        <p:nvSpPr>
          <p:cNvPr id="47" name="Text 45"/>
          <p:cNvSpPr/>
          <p:nvPr/>
        </p:nvSpPr>
        <p:spPr>
          <a:xfrm>
            <a:off x="977900" y="2692301"/>
            <a:ext cx="2072368" cy="223490"/>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A9B4BF"/>
                </a:solidFill>
                <a:latin typeface="Courier New" pitchFamily="49" charset="0"/>
                <a:ea typeface="Courier New" pitchFamily="49" charset="-122"/>
                <a:cs typeface="Courier New" pitchFamily="49" charset="-120"/>
              </a:rPr>
              <a:t>221123 21:48 POLICEMAN</a:t>
            </a:r>
            <a:endParaRPr lang="en-US" sz="1200" dirty="0"/>
          </a:p>
        </p:txBody>
      </p:sp>
      <p:sp>
        <p:nvSpPr>
          <p:cNvPr id="48" name="Text 46"/>
          <p:cNvSpPr/>
          <p:nvPr/>
        </p:nvSpPr>
        <p:spPr>
          <a:xfrm>
            <a:off x="3175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49" name="Text 47"/>
          <p:cNvSpPr/>
          <p:nvPr/>
        </p:nvSpPr>
        <p:spPr>
          <a:xfrm>
            <a:off x="3429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50" name="Text 48"/>
          <p:cNvSpPr/>
          <p:nvPr/>
        </p:nvSpPr>
        <p:spPr>
          <a:xfrm>
            <a:off x="3683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51" name="Text 49"/>
          <p:cNvSpPr/>
          <p:nvPr/>
        </p:nvSpPr>
        <p:spPr>
          <a:xfrm>
            <a:off x="3937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X</a:t>
            </a:r>
            <a:endParaRPr lang="en-US" sz="1600" dirty="0"/>
          </a:p>
        </p:txBody>
      </p:sp>
      <p:sp>
        <p:nvSpPr>
          <p:cNvPr id="52" name="Text 50"/>
          <p:cNvSpPr/>
          <p:nvPr/>
        </p:nvSpPr>
        <p:spPr>
          <a:xfrm>
            <a:off x="4191000" y="2626271"/>
            <a:ext cx="228600" cy="330200"/>
          </a:xfrm>
          <a:prstGeom prst="rect">
            <a:avLst/>
          </a:prstGeom>
          <a:solidFill>
            <a:srgbClr val="DEBA73"/>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2</a:t>
            </a:r>
            <a:endParaRPr lang="en-US" sz="1600" dirty="0"/>
          </a:p>
        </p:txBody>
      </p:sp>
      <p:sp>
        <p:nvSpPr>
          <p:cNvPr id="53" name="Text 51"/>
          <p:cNvSpPr/>
          <p:nvPr/>
        </p:nvSpPr>
        <p:spPr>
          <a:xfrm>
            <a:off x="4445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C</a:t>
            </a:r>
            <a:endParaRPr lang="en-US" sz="1600" dirty="0"/>
          </a:p>
        </p:txBody>
      </p:sp>
      <p:sp>
        <p:nvSpPr>
          <p:cNvPr id="54" name="Text 52"/>
          <p:cNvSpPr/>
          <p:nvPr/>
        </p:nvSpPr>
        <p:spPr>
          <a:xfrm>
            <a:off x="4699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55" name="Text 53"/>
          <p:cNvSpPr/>
          <p:nvPr/>
        </p:nvSpPr>
        <p:spPr>
          <a:xfrm>
            <a:off x="4953000" y="2626271"/>
            <a:ext cx="228600" cy="330200"/>
          </a:xfrm>
          <a:prstGeom prst="rect">
            <a:avLst/>
          </a:prstGeom>
          <a:solidFill>
            <a:srgbClr val="DEBA73"/>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2</a:t>
            </a:r>
            <a:endParaRPr lang="en-US" sz="1600" dirty="0"/>
          </a:p>
        </p:txBody>
      </p:sp>
      <p:sp>
        <p:nvSpPr>
          <p:cNvPr id="56" name="Text 54"/>
          <p:cNvSpPr/>
          <p:nvPr/>
        </p:nvSpPr>
        <p:spPr>
          <a:xfrm>
            <a:off x="5207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X</a:t>
            </a:r>
            <a:endParaRPr lang="en-US" sz="1600" dirty="0"/>
          </a:p>
        </p:txBody>
      </p:sp>
      <p:sp>
        <p:nvSpPr>
          <p:cNvPr id="57" name="Text 55"/>
          <p:cNvSpPr/>
          <p:nvPr/>
        </p:nvSpPr>
        <p:spPr>
          <a:xfrm>
            <a:off x="5461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F</a:t>
            </a:r>
            <a:endParaRPr lang="en-US" sz="1600" dirty="0"/>
          </a:p>
        </p:txBody>
      </p:sp>
      <p:sp>
        <p:nvSpPr>
          <p:cNvPr id="58" name="Text 56"/>
          <p:cNvSpPr/>
          <p:nvPr/>
        </p:nvSpPr>
        <p:spPr>
          <a:xfrm>
            <a:off x="5715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59" name="Text 57"/>
          <p:cNvSpPr/>
          <p:nvPr/>
        </p:nvSpPr>
        <p:spPr>
          <a:xfrm>
            <a:off x="5969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60" name="Text 58"/>
          <p:cNvSpPr/>
          <p:nvPr/>
        </p:nvSpPr>
        <p:spPr>
          <a:xfrm>
            <a:off x="6223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M</a:t>
            </a:r>
            <a:endParaRPr lang="en-US" sz="1600" dirty="0"/>
          </a:p>
        </p:txBody>
      </p:sp>
      <p:sp>
        <p:nvSpPr>
          <p:cNvPr id="61" name="Text 59"/>
          <p:cNvSpPr/>
          <p:nvPr/>
        </p:nvSpPr>
        <p:spPr>
          <a:xfrm>
            <a:off x="6477000" y="2626271"/>
            <a:ext cx="228600" cy="330200"/>
          </a:xfrm>
          <a:prstGeom prst="rect">
            <a:avLst/>
          </a:prstGeom>
          <a:solidFill>
            <a:srgbClr val="7AABF0"/>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G</a:t>
            </a:r>
            <a:endParaRPr lang="en-US" sz="1600" dirty="0"/>
          </a:p>
        </p:txBody>
      </p:sp>
      <p:sp>
        <p:nvSpPr>
          <p:cNvPr id="62" name="Text 60"/>
          <p:cNvSpPr/>
          <p:nvPr/>
        </p:nvSpPr>
        <p:spPr>
          <a:xfrm>
            <a:off x="6731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63" name="Text 61"/>
          <p:cNvSpPr/>
          <p:nvPr/>
        </p:nvSpPr>
        <p:spPr>
          <a:xfrm>
            <a:off x="6985000" y="2626271"/>
            <a:ext cx="228600" cy="330200"/>
          </a:xfrm>
          <a:prstGeom prst="rect">
            <a:avLst/>
          </a:prstGeom>
          <a:solidFill>
            <a:srgbClr val="E8915E"/>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G</a:t>
            </a:r>
            <a:endParaRPr lang="en-US" sz="1600" dirty="0"/>
          </a:p>
        </p:txBody>
      </p:sp>
      <p:sp>
        <p:nvSpPr>
          <p:cNvPr id="64" name="Text 62"/>
          <p:cNvSpPr/>
          <p:nvPr/>
        </p:nvSpPr>
        <p:spPr>
          <a:xfrm>
            <a:off x="7239000" y="2626271"/>
            <a:ext cx="228600" cy="330200"/>
          </a:xfrm>
          <a:prstGeom prst="rect">
            <a:avLst/>
          </a:prstGeom>
          <a:solidFill>
            <a:srgbClr val="E8915E"/>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G</a:t>
            </a:r>
            <a:endParaRPr lang="en-US" sz="1600" dirty="0"/>
          </a:p>
        </p:txBody>
      </p:sp>
      <p:sp>
        <p:nvSpPr>
          <p:cNvPr id="65" name="Text 63"/>
          <p:cNvSpPr/>
          <p:nvPr/>
        </p:nvSpPr>
        <p:spPr>
          <a:xfrm>
            <a:off x="7493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L</a:t>
            </a:r>
            <a:endParaRPr lang="en-US" sz="1600" dirty="0"/>
          </a:p>
        </p:txBody>
      </p:sp>
      <p:sp>
        <p:nvSpPr>
          <p:cNvPr id="66" name="Text 64"/>
          <p:cNvSpPr/>
          <p:nvPr/>
        </p:nvSpPr>
        <p:spPr>
          <a:xfrm>
            <a:off x="7747000" y="2626271"/>
            <a:ext cx="228600" cy="330200"/>
          </a:xfrm>
          <a:prstGeom prst="rect">
            <a:avLst/>
          </a:prstGeom>
          <a:solidFill>
            <a:srgbClr val="7AABF0"/>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R</a:t>
            </a:r>
            <a:endParaRPr lang="en-US" sz="1600" dirty="0"/>
          </a:p>
        </p:txBody>
      </p:sp>
      <p:sp>
        <p:nvSpPr>
          <p:cNvPr id="67" name="Text 65"/>
          <p:cNvSpPr/>
          <p:nvPr/>
        </p:nvSpPr>
        <p:spPr>
          <a:xfrm>
            <a:off x="8001000" y="2626271"/>
            <a:ext cx="228600" cy="330200"/>
          </a:xfrm>
          <a:prstGeom prst="rect">
            <a:avLst/>
          </a:prstGeom>
          <a:solidFill>
            <a:srgbClr val="E8915E"/>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68" name="Text 66"/>
          <p:cNvSpPr/>
          <p:nvPr/>
        </p:nvSpPr>
        <p:spPr>
          <a:xfrm>
            <a:off x="8255000" y="2626271"/>
            <a:ext cx="228600" cy="330200"/>
          </a:xfrm>
          <a:prstGeom prst="rect">
            <a:avLst/>
          </a:prstGeom>
          <a:solidFill>
            <a:srgbClr val="E8915E"/>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69" name="Text 67"/>
          <p:cNvSpPr/>
          <p:nvPr/>
        </p:nvSpPr>
        <p:spPr>
          <a:xfrm>
            <a:off x="8509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70" name="Text 68"/>
          <p:cNvSpPr/>
          <p:nvPr/>
        </p:nvSpPr>
        <p:spPr>
          <a:xfrm>
            <a:off x="8763000" y="2626271"/>
            <a:ext cx="228600" cy="330200"/>
          </a:xfrm>
          <a:prstGeom prst="rect">
            <a:avLst/>
          </a:prstGeom>
          <a:solidFill>
            <a:srgbClr val="7AABF0"/>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R</a:t>
            </a:r>
            <a:endParaRPr lang="en-US" sz="1600" dirty="0"/>
          </a:p>
        </p:txBody>
      </p:sp>
      <p:sp>
        <p:nvSpPr>
          <p:cNvPr id="71" name="Text 69"/>
          <p:cNvSpPr/>
          <p:nvPr/>
        </p:nvSpPr>
        <p:spPr>
          <a:xfrm>
            <a:off x="9017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W</a:t>
            </a:r>
            <a:endParaRPr lang="en-US" sz="1600" dirty="0"/>
          </a:p>
        </p:txBody>
      </p:sp>
      <p:sp>
        <p:nvSpPr>
          <p:cNvPr id="72" name="Text 70"/>
          <p:cNvSpPr/>
          <p:nvPr/>
        </p:nvSpPr>
        <p:spPr>
          <a:xfrm>
            <a:off x="9271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C</a:t>
            </a:r>
            <a:endParaRPr lang="en-US" sz="1600" dirty="0"/>
          </a:p>
        </p:txBody>
      </p:sp>
      <p:sp>
        <p:nvSpPr>
          <p:cNvPr id="73" name="Text 71"/>
          <p:cNvSpPr/>
          <p:nvPr/>
        </p:nvSpPr>
        <p:spPr>
          <a:xfrm>
            <a:off x="9525000" y="2626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5</a:t>
            </a:r>
            <a:endParaRPr lang="en-US" sz="1600" dirty="0"/>
          </a:p>
        </p:txBody>
      </p:sp>
      <p:sp>
        <p:nvSpPr>
          <p:cNvPr id="74" name="Text 72"/>
          <p:cNvSpPr/>
          <p:nvPr/>
        </p:nvSpPr>
        <p:spPr>
          <a:xfrm>
            <a:off x="9779000" y="2626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5</a:t>
            </a:r>
            <a:endParaRPr lang="en-US" sz="1600" dirty="0"/>
          </a:p>
        </p:txBody>
      </p:sp>
      <p:sp>
        <p:nvSpPr>
          <p:cNvPr id="75" name="Text 73"/>
          <p:cNvSpPr/>
          <p:nvPr/>
        </p:nvSpPr>
        <p:spPr>
          <a:xfrm>
            <a:off x="10033000" y="2626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5</a:t>
            </a:r>
            <a:endParaRPr lang="en-US" sz="1600" dirty="0"/>
          </a:p>
        </p:txBody>
      </p:sp>
      <p:sp>
        <p:nvSpPr>
          <p:cNvPr id="76" name="Text 74"/>
          <p:cNvSpPr/>
          <p:nvPr/>
        </p:nvSpPr>
        <p:spPr>
          <a:xfrm>
            <a:off x="10287000" y="2626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5</a:t>
            </a:r>
            <a:endParaRPr lang="en-US" sz="1600" dirty="0"/>
          </a:p>
        </p:txBody>
      </p:sp>
      <p:sp>
        <p:nvSpPr>
          <p:cNvPr id="77" name="Text 75"/>
          <p:cNvSpPr/>
          <p:nvPr/>
        </p:nvSpPr>
        <p:spPr>
          <a:xfrm>
            <a:off x="10541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78" name="Text 76"/>
          <p:cNvSpPr/>
          <p:nvPr/>
        </p:nvSpPr>
        <p:spPr>
          <a:xfrm>
            <a:off x="10795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79" name="Text 77"/>
          <p:cNvSpPr/>
          <p:nvPr/>
        </p:nvSpPr>
        <p:spPr>
          <a:xfrm>
            <a:off x="11049000" y="2626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R</a:t>
            </a:r>
            <a:endParaRPr lang="en-US" sz="1600" dirty="0"/>
          </a:p>
        </p:txBody>
      </p:sp>
      <p:sp>
        <p:nvSpPr>
          <p:cNvPr id="80" name="Shape 78"/>
          <p:cNvSpPr/>
          <p:nvPr/>
        </p:nvSpPr>
        <p:spPr>
          <a:xfrm>
            <a:off x="812800" y="3127871"/>
            <a:ext cx="88900" cy="88900"/>
          </a:xfrm>
          <a:prstGeom prst="roundRect">
            <a:avLst>
              <a:gd name="adj" fmla="val 50000"/>
            </a:avLst>
          </a:prstGeom>
          <a:solidFill>
            <a:srgbClr val="FF0467"/>
          </a:solidFill>
          <a:ln/>
        </p:spPr>
      </p:sp>
      <p:sp>
        <p:nvSpPr>
          <p:cNvPr id="81" name="Text 79"/>
          <p:cNvSpPr/>
          <p:nvPr/>
        </p:nvSpPr>
        <p:spPr>
          <a:xfrm>
            <a:off x="977900" y="3073301"/>
            <a:ext cx="2072368" cy="223490"/>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A9B4BF"/>
                </a:solidFill>
                <a:latin typeface="Courier New" pitchFamily="49" charset="0"/>
                <a:ea typeface="Courier New" pitchFamily="49" charset="-122"/>
                <a:cs typeface="Courier New" pitchFamily="49" charset="-120"/>
              </a:rPr>
              <a:t>230721 06:14 BEERPARTY</a:t>
            </a:r>
            <a:endParaRPr lang="en-US" sz="1200" dirty="0"/>
          </a:p>
        </p:txBody>
      </p:sp>
      <p:sp>
        <p:nvSpPr>
          <p:cNvPr id="82" name="Text 80"/>
          <p:cNvSpPr/>
          <p:nvPr/>
        </p:nvSpPr>
        <p:spPr>
          <a:xfrm>
            <a:off x="3175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83" name="Text 81"/>
          <p:cNvSpPr/>
          <p:nvPr/>
        </p:nvSpPr>
        <p:spPr>
          <a:xfrm>
            <a:off x="3429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P</a:t>
            </a:r>
            <a:endParaRPr lang="en-US" sz="1600" dirty="0"/>
          </a:p>
        </p:txBody>
      </p:sp>
      <p:sp>
        <p:nvSpPr>
          <p:cNvPr id="84" name="Text 82"/>
          <p:cNvSpPr/>
          <p:nvPr/>
        </p:nvSpPr>
        <p:spPr>
          <a:xfrm>
            <a:off x="3683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85" name="Text 83"/>
          <p:cNvSpPr/>
          <p:nvPr/>
        </p:nvSpPr>
        <p:spPr>
          <a:xfrm>
            <a:off x="3937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F</a:t>
            </a:r>
            <a:endParaRPr lang="en-US" sz="1600" dirty="0"/>
          </a:p>
        </p:txBody>
      </p:sp>
      <p:sp>
        <p:nvSpPr>
          <p:cNvPr id="86" name="Text 84"/>
          <p:cNvSpPr/>
          <p:nvPr/>
        </p:nvSpPr>
        <p:spPr>
          <a:xfrm>
            <a:off x="4191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N</a:t>
            </a:r>
            <a:endParaRPr lang="en-US" sz="1600" dirty="0"/>
          </a:p>
        </p:txBody>
      </p:sp>
      <p:sp>
        <p:nvSpPr>
          <p:cNvPr id="87" name="Text 85"/>
          <p:cNvSpPr/>
          <p:nvPr/>
        </p:nvSpPr>
        <p:spPr>
          <a:xfrm>
            <a:off x="4445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R</a:t>
            </a:r>
            <a:endParaRPr lang="en-US" sz="1600" dirty="0"/>
          </a:p>
        </p:txBody>
      </p:sp>
      <p:sp>
        <p:nvSpPr>
          <p:cNvPr id="88" name="Text 86"/>
          <p:cNvSpPr/>
          <p:nvPr/>
        </p:nvSpPr>
        <p:spPr>
          <a:xfrm>
            <a:off x="4699000" y="3007271"/>
            <a:ext cx="228600" cy="330200"/>
          </a:xfrm>
          <a:prstGeom prst="rect">
            <a:avLst/>
          </a:prstGeom>
          <a:solidFill>
            <a:srgbClr val="E8915E"/>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G</a:t>
            </a:r>
            <a:endParaRPr lang="en-US" sz="1600" dirty="0"/>
          </a:p>
        </p:txBody>
      </p:sp>
      <p:sp>
        <p:nvSpPr>
          <p:cNvPr id="89" name="Text 87"/>
          <p:cNvSpPr/>
          <p:nvPr/>
        </p:nvSpPr>
        <p:spPr>
          <a:xfrm>
            <a:off x="4953000" y="3007271"/>
            <a:ext cx="228600" cy="330200"/>
          </a:xfrm>
          <a:prstGeom prst="rect">
            <a:avLst/>
          </a:prstGeom>
          <a:solidFill>
            <a:srgbClr val="E8915E"/>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G</a:t>
            </a:r>
            <a:endParaRPr lang="en-US" sz="1600" dirty="0"/>
          </a:p>
        </p:txBody>
      </p:sp>
      <p:sp>
        <p:nvSpPr>
          <p:cNvPr id="90" name="Text 88"/>
          <p:cNvSpPr/>
          <p:nvPr/>
        </p:nvSpPr>
        <p:spPr>
          <a:xfrm>
            <a:off x="5207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W</a:t>
            </a:r>
            <a:endParaRPr lang="en-US" sz="1600" dirty="0"/>
          </a:p>
        </p:txBody>
      </p:sp>
      <p:sp>
        <p:nvSpPr>
          <p:cNvPr id="91" name="Text 89"/>
          <p:cNvSpPr/>
          <p:nvPr/>
        </p:nvSpPr>
        <p:spPr>
          <a:xfrm>
            <a:off x="5461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Q</a:t>
            </a:r>
            <a:endParaRPr lang="en-US" sz="1600" dirty="0"/>
          </a:p>
        </p:txBody>
      </p:sp>
      <p:sp>
        <p:nvSpPr>
          <p:cNvPr id="92" name="Text 90"/>
          <p:cNvSpPr/>
          <p:nvPr/>
        </p:nvSpPr>
        <p:spPr>
          <a:xfrm>
            <a:off x="5715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Y</a:t>
            </a:r>
            <a:endParaRPr lang="en-US" sz="1600" dirty="0"/>
          </a:p>
        </p:txBody>
      </p:sp>
      <p:sp>
        <p:nvSpPr>
          <p:cNvPr id="93" name="Text 91"/>
          <p:cNvSpPr/>
          <p:nvPr/>
        </p:nvSpPr>
        <p:spPr>
          <a:xfrm>
            <a:off x="5969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94" name="Text 92"/>
          <p:cNvSpPr/>
          <p:nvPr/>
        </p:nvSpPr>
        <p:spPr>
          <a:xfrm>
            <a:off x="6223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95" name="Text 93"/>
          <p:cNvSpPr/>
          <p:nvPr/>
        </p:nvSpPr>
        <p:spPr>
          <a:xfrm>
            <a:off x="6477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96" name="Text 94"/>
          <p:cNvSpPr/>
          <p:nvPr/>
        </p:nvSpPr>
        <p:spPr>
          <a:xfrm>
            <a:off x="6731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97" name="Text 95"/>
          <p:cNvSpPr/>
          <p:nvPr/>
        </p:nvSpPr>
        <p:spPr>
          <a:xfrm>
            <a:off x="6985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98" name="Text 96"/>
          <p:cNvSpPr/>
          <p:nvPr/>
        </p:nvSpPr>
        <p:spPr>
          <a:xfrm>
            <a:off x="7239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99" name="Text 97"/>
          <p:cNvSpPr/>
          <p:nvPr/>
        </p:nvSpPr>
        <p:spPr>
          <a:xfrm>
            <a:off x="7493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3</a:t>
            </a:r>
            <a:endParaRPr lang="en-US" sz="1600" dirty="0"/>
          </a:p>
        </p:txBody>
      </p:sp>
      <p:sp>
        <p:nvSpPr>
          <p:cNvPr id="100" name="Text 98"/>
          <p:cNvSpPr/>
          <p:nvPr/>
        </p:nvSpPr>
        <p:spPr>
          <a:xfrm>
            <a:off x="7747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101" name="Text 99"/>
          <p:cNvSpPr/>
          <p:nvPr/>
        </p:nvSpPr>
        <p:spPr>
          <a:xfrm>
            <a:off x="8001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102" name="Text 100"/>
          <p:cNvSpPr/>
          <p:nvPr/>
        </p:nvSpPr>
        <p:spPr>
          <a:xfrm>
            <a:off x="8255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103" name="Text 101"/>
          <p:cNvSpPr/>
          <p:nvPr/>
        </p:nvSpPr>
        <p:spPr>
          <a:xfrm>
            <a:off x="8509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104" name="Text 102"/>
          <p:cNvSpPr/>
          <p:nvPr/>
        </p:nvSpPr>
        <p:spPr>
          <a:xfrm>
            <a:off x="8763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105" name="Text 103"/>
          <p:cNvSpPr/>
          <p:nvPr/>
        </p:nvSpPr>
        <p:spPr>
          <a:xfrm>
            <a:off x="9017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106" name="Text 104"/>
          <p:cNvSpPr/>
          <p:nvPr/>
        </p:nvSpPr>
        <p:spPr>
          <a:xfrm>
            <a:off x="9271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R</a:t>
            </a:r>
            <a:endParaRPr lang="en-US" sz="1600" dirty="0"/>
          </a:p>
        </p:txBody>
      </p:sp>
      <p:sp>
        <p:nvSpPr>
          <p:cNvPr id="107" name="Text 105"/>
          <p:cNvSpPr/>
          <p:nvPr/>
        </p:nvSpPr>
        <p:spPr>
          <a:xfrm>
            <a:off x="9525000" y="3007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08" name="Text 106"/>
          <p:cNvSpPr/>
          <p:nvPr/>
        </p:nvSpPr>
        <p:spPr>
          <a:xfrm>
            <a:off x="9779000" y="3007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09" name="Text 107"/>
          <p:cNvSpPr/>
          <p:nvPr/>
        </p:nvSpPr>
        <p:spPr>
          <a:xfrm>
            <a:off x="10033000" y="3007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10" name="Text 108"/>
          <p:cNvSpPr/>
          <p:nvPr/>
        </p:nvSpPr>
        <p:spPr>
          <a:xfrm>
            <a:off x="10287000" y="3007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11" name="Text 109"/>
          <p:cNvSpPr/>
          <p:nvPr/>
        </p:nvSpPr>
        <p:spPr>
          <a:xfrm>
            <a:off x="10541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112" name="Text 110"/>
          <p:cNvSpPr/>
          <p:nvPr/>
        </p:nvSpPr>
        <p:spPr>
          <a:xfrm>
            <a:off x="10795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113" name="Text 111"/>
          <p:cNvSpPr/>
          <p:nvPr/>
        </p:nvSpPr>
        <p:spPr>
          <a:xfrm>
            <a:off x="11049000" y="3007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114" name="Shape 112"/>
          <p:cNvSpPr/>
          <p:nvPr/>
        </p:nvSpPr>
        <p:spPr>
          <a:xfrm>
            <a:off x="812800" y="3508871"/>
            <a:ext cx="88900" cy="88900"/>
          </a:xfrm>
          <a:prstGeom prst="roundRect">
            <a:avLst>
              <a:gd name="adj" fmla="val 50000"/>
            </a:avLst>
          </a:prstGeom>
          <a:solidFill>
            <a:srgbClr val="FF0467"/>
          </a:solidFill>
          <a:ln/>
        </p:spPr>
      </p:sp>
      <p:sp>
        <p:nvSpPr>
          <p:cNvPr id="115" name="Text 113"/>
          <p:cNvSpPr/>
          <p:nvPr/>
        </p:nvSpPr>
        <p:spPr>
          <a:xfrm>
            <a:off x="977900" y="3454301"/>
            <a:ext cx="2072368" cy="223490"/>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A9B4BF"/>
                </a:solidFill>
                <a:latin typeface="Courier New" pitchFamily="49" charset="0"/>
                <a:ea typeface="Courier New" pitchFamily="49" charset="-122"/>
                <a:cs typeface="Courier New" pitchFamily="49" charset="-120"/>
              </a:rPr>
              <a:t>240124 13:46 FIRELIGHT</a:t>
            </a:r>
            <a:endParaRPr lang="en-US" sz="1200" dirty="0"/>
          </a:p>
        </p:txBody>
      </p:sp>
      <p:sp>
        <p:nvSpPr>
          <p:cNvPr id="116" name="Text 114"/>
          <p:cNvSpPr/>
          <p:nvPr/>
        </p:nvSpPr>
        <p:spPr>
          <a:xfrm>
            <a:off x="3175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17" name="Text 115"/>
          <p:cNvSpPr/>
          <p:nvPr/>
        </p:nvSpPr>
        <p:spPr>
          <a:xfrm>
            <a:off x="3429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5</a:t>
            </a:r>
            <a:endParaRPr lang="en-US" sz="1600" dirty="0"/>
          </a:p>
        </p:txBody>
      </p:sp>
      <p:sp>
        <p:nvSpPr>
          <p:cNvPr id="118" name="Text 116"/>
          <p:cNvSpPr/>
          <p:nvPr/>
        </p:nvSpPr>
        <p:spPr>
          <a:xfrm>
            <a:off x="3683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119" name="Text 117"/>
          <p:cNvSpPr/>
          <p:nvPr/>
        </p:nvSpPr>
        <p:spPr>
          <a:xfrm>
            <a:off x="3937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120" name="Text 118"/>
          <p:cNvSpPr/>
          <p:nvPr/>
        </p:nvSpPr>
        <p:spPr>
          <a:xfrm>
            <a:off x="4191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121" name="Text 119"/>
          <p:cNvSpPr/>
          <p:nvPr/>
        </p:nvSpPr>
        <p:spPr>
          <a:xfrm>
            <a:off x="4445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122" name="Text 120"/>
          <p:cNvSpPr/>
          <p:nvPr/>
        </p:nvSpPr>
        <p:spPr>
          <a:xfrm>
            <a:off x="4699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123" name="Text 121"/>
          <p:cNvSpPr/>
          <p:nvPr/>
        </p:nvSpPr>
        <p:spPr>
          <a:xfrm>
            <a:off x="4953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Y</a:t>
            </a:r>
            <a:endParaRPr lang="en-US" sz="1600" dirty="0"/>
          </a:p>
        </p:txBody>
      </p:sp>
      <p:sp>
        <p:nvSpPr>
          <p:cNvPr id="124" name="Text 122"/>
          <p:cNvSpPr/>
          <p:nvPr/>
        </p:nvSpPr>
        <p:spPr>
          <a:xfrm>
            <a:off x="5207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4</a:t>
            </a:r>
            <a:endParaRPr lang="en-US" sz="1600" dirty="0"/>
          </a:p>
        </p:txBody>
      </p:sp>
      <p:sp>
        <p:nvSpPr>
          <p:cNvPr id="125" name="Text 123"/>
          <p:cNvSpPr/>
          <p:nvPr/>
        </p:nvSpPr>
        <p:spPr>
          <a:xfrm>
            <a:off x="5461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126" name="Text 124"/>
          <p:cNvSpPr/>
          <p:nvPr/>
        </p:nvSpPr>
        <p:spPr>
          <a:xfrm>
            <a:off x="5715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3</a:t>
            </a:r>
            <a:endParaRPr lang="en-US" sz="1600" dirty="0"/>
          </a:p>
        </p:txBody>
      </p:sp>
      <p:sp>
        <p:nvSpPr>
          <p:cNvPr id="127" name="Text 125"/>
          <p:cNvSpPr/>
          <p:nvPr/>
        </p:nvSpPr>
        <p:spPr>
          <a:xfrm>
            <a:off x="5969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128" name="Text 126"/>
          <p:cNvSpPr/>
          <p:nvPr/>
        </p:nvSpPr>
        <p:spPr>
          <a:xfrm>
            <a:off x="6223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129" name="Text 127"/>
          <p:cNvSpPr/>
          <p:nvPr/>
        </p:nvSpPr>
        <p:spPr>
          <a:xfrm>
            <a:off x="6477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6</a:t>
            </a:r>
            <a:endParaRPr lang="en-US" sz="1600" dirty="0"/>
          </a:p>
        </p:txBody>
      </p:sp>
      <p:sp>
        <p:nvSpPr>
          <p:cNvPr id="130" name="Text 128"/>
          <p:cNvSpPr/>
          <p:nvPr/>
        </p:nvSpPr>
        <p:spPr>
          <a:xfrm>
            <a:off x="6731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131" name="Text 129"/>
          <p:cNvSpPr/>
          <p:nvPr/>
        </p:nvSpPr>
        <p:spPr>
          <a:xfrm>
            <a:off x="6985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132" name="Text 130"/>
          <p:cNvSpPr/>
          <p:nvPr/>
        </p:nvSpPr>
        <p:spPr>
          <a:xfrm>
            <a:off x="7239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V</a:t>
            </a:r>
            <a:endParaRPr lang="en-US" sz="1600" dirty="0"/>
          </a:p>
        </p:txBody>
      </p:sp>
      <p:sp>
        <p:nvSpPr>
          <p:cNvPr id="133" name="Text 131"/>
          <p:cNvSpPr/>
          <p:nvPr/>
        </p:nvSpPr>
        <p:spPr>
          <a:xfrm>
            <a:off x="7493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34" name="Text 132"/>
          <p:cNvSpPr/>
          <p:nvPr/>
        </p:nvSpPr>
        <p:spPr>
          <a:xfrm>
            <a:off x="7747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135" name="Text 133"/>
          <p:cNvSpPr/>
          <p:nvPr/>
        </p:nvSpPr>
        <p:spPr>
          <a:xfrm>
            <a:off x="8001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3</a:t>
            </a:r>
            <a:endParaRPr lang="en-US" sz="1600" dirty="0"/>
          </a:p>
        </p:txBody>
      </p:sp>
      <p:sp>
        <p:nvSpPr>
          <p:cNvPr id="136" name="Text 134"/>
          <p:cNvSpPr/>
          <p:nvPr/>
        </p:nvSpPr>
        <p:spPr>
          <a:xfrm>
            <a:off x="8255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137" name="Text 135"/>
          <p:cNvSpPr/>
          <p:nvPr/>
        </p:nvSpPr>
        <p:spPr>
          <a:xfrm>
            <a:off x="8509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N</a:t>
            </a:r>
            <a:endParaRPr lang="en-US" sz="1600" dirty="0"/>
          </a:p>
        </p:txBody>
      </p:sp>
      <p:sp>
        <p:nvSpPr>
          <p:cNvPr id="138" name="Text 136"/>
          <p:cNvSpPr/>
          <p:nvPr/>
        </p:nvSpPr>
        <p:spPr>
          <a:xfrm>
            <a:off x="8763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139" name="Text 137"/>
          <p:cNvSpPr/>
          <p:nvPr/>
        </p:nvSpPr>
        <p:spPr>
          <a:xfrm>
            <a:off x="9017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140" name="Text 138"/>
          <p:cNvSpPr/>
          <p:nvPr/>
        </p:nvSpPr>
        <p:spPr>
          <a:xfrm>
            <a:off x="9271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K</a:t>
            </a:r>
            <a:endParaRPr lang="en-US" sz="1600" dirty="0"/>
          </a:p>
        </p:txBody>
      </p:sp>
      <p:sp>
        <p:nvSpPr>
          <p:cNvPr id="141" name="Text 139"/>
          <p:cNvSpPr/>
          <p:nvPr/>
        </p:nvSpPr>
        <p:spPr>
          <a:xfrm>
            <a:off x="9525000" y="3388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42" name="Text 140"/>
          <p:cNvSpPr/>
          <p:nvPr/>
        </p:nvSpPr>
        <p:spPr>
          <a:xfrm>
            <a:off x="9779000" y="3388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43" name="Text 141"/>
          <p:cNvSpPr/>
          <p:nvPr/>
        </p:nvSpPr>
        <p:spPr>
          <a:xfrm>
            <a:off x="10033000" y="3388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44" name="Text 142"/>
          <p:cNvSpPr/>
          <p:nvPr/>
        </p:nvSpPr>
        <p:spPr>
          <a:xfrm>
            <a:off x="10287000" y="3388271"/>
            <a:ext cx="228600" cy="330200"/>
          </a:xfrm>
          <a:prstGeom prst="rect">
            <a:avLst/>
          </a:prstGeom>
          <a:solidFill>
            <a:srgbClr val="D17061"/>
          </a:solidFill>
          <a:ln/>
        </p:spPr>
        <p:txBody>
          <a:bodyPr wrap="square" lIns="0" tIns="0" rIns="0" bIns="0" rtlCol="0" anchor="t">
            <a:normAutofit/>
          </a:bodyPr>
          <a:lstStyle/>
          <a:p>
            <a:pPr algn="ctr" indent="0" marL="0">
              <a:lnSpc>
                <a:spcPts val="2608"/>
              </a:lnSpc>
              <a:buNone/>
            </a:pPr>
            <a:r>
              <a:rPr lang="en-US" sz="1600"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45" name="Text 143"/>
          <p:cNvSpPr/>
          <p:nvPr/>
        </p:nvSpPr>
        <p:spPr>
          <a:xfrm>
            <a:off x="10541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146" name="Text 144"/>
          <p:cNvSpPr/>
          <p:nvPr/>
        </p:nvSpPr>
        <p:spPr>
          <a:xfrm>
            <a:off x="10795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147" name="Text 145"/>
          <p:cNvSpPr/>
          <p:nvPr/>
        </p:nvSpPr>
        <p:spPr>
          <a:xfrm>
            <a:off x="11049000" y="3388271"/>
            <a:ext cx="228600" cy="330200"/>
          </a:xfrm>
          <a:prstGeom prst="rect">
            <a:avLst/>
          </a:prstGeom>
          <a:solidFill>
            <a:srgbClr val="0E141B"/>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P</a:t>
            </a:r>
            <a:endParaRPr lang="en-US" sz="1600" dirty="0"/>
          </a:p>
        </p:txBody>
      </p:sp>
      <p:sp>
        <p:nvSpPr>
          <p:cNvPr id="148" name="Text 146"/>
          <p:cNvSpPr/>
          <p:nvPr/>
        </p:nvSpPr>
        <p:spPr>
          <a:xfrm>
            <a:off x="812800" y="3769271"/>
            <a:ext cx="1088339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142文字のページの4行、17〜48文字目（ページ自身の色）：</a:t>
            </a:r>
            <a:r>
              <a:rPr lang="en-US" sz="1200" dirty="0">
                <a:solidFill>
                  <a:srgbClr val="DEBA73"/>
                </a:solidFill>
                <a:latin typeface="Arial" pitchFamily="34" charset="0"/>
                <a:ea typeface="Arial" pitchFamily="34" charset="-122"/>
                <a:cs typeface="Arial" pitchFamily="34" charset="-120"/>
              </a:rPr>
              <a:t>琥珀色</a:t>
            </a:r>
            <a:r>
              <a:rPr lang="en-US" sz="1200" dirty="0">
                <a:solidFill>
                  <a:srgbClr val="7D8894"/>
                </a:solidFill>
                <a:latin typeface="Arial" pitchFamily="34" charset="0"/>
                <a:ea typeface="Arial" pitchFamily="34" charset="-122"/>
                <a:cs typeface="Arial" pitchFamily="34" charset="-120"/>
              </a:rPr>
              <a:t> X??X · </a:t>
            </a:r>
            <a:r>
              <a:rPr lang="en-US" sz="1200" dirty="0">
                <a:solidFill>
                  <a:srgbClr val="7AABF0"/>
                </a:solidFill>
                <a:latin typeface="Arial" pitchFamily="34" charset="0"/>
                <a:ea typeface="Arial" pitchFamily="34" charset="-122"/>
                <a:cs typeface="Arial" pitchFamily="34" charset="-120"/>
              </a:rPr>
              <a:t>青</a:t>
            </a:r>
            <a:r>
              <a:rPr lang="en-US" sz="1200" dirty="0">
                <a:solidFill>
                  <a:srgbClr val="7D8894"/>
                </a:solidFill>
                <a:latin typeface="Arial" pitchFamily="34" charset="0"/>
                <a:ea typeface="Arial" pitchFamily="34" charset="-122"/>
                <a:cs typeface="Arial" pitchFamily="34" charset="-120"/>
              </a:rPr>
              <a:t> メッセージをまたぐ対 · </a:t>
            </a:r>
            <a:r>
              <a:rPr lang="en-US" sz="1200" dirty="0">
                <a:solidFill>
                  <a:srgbClr val="E8915E"/>
                </a:solidFill>
                <a:latin typeface="Arial" pitchFamily="34" charset="0"/>
                <a:ea typeface="Arial" pitchFamily="34" charset="-122"/>
                <a:cs typeface="Arial" pitchFamily="34" charset="-120"/>
              </a:rPr>
              <a:t>珊瑚色</a:t>
            </a:r>
            <a:r>
              <a:rPr lang="en-US" sz="1200" dirty="0">
                <a:solidFill>
                  <a:srgbClr val="7D8894"/>
                </a:solidFill>
                <a:latin typeface="Arial" pitchFamily="34" charset="0"/>
                <a:ea typeface="Arial" pitchFamily="34" charset="-122"/>
                <a:cs typeface="Arial" pitchFamily="34" charset="-120"/>
              </a:rPr>
              <a:t> 二重文字 · </a:t>
            </a:r>
            <a:r>
              <a:rPr lang="en-US" sz="1200" dirty="0">
                <a:solidFill>
                  <a:srgbClr val="D17061"/>
                </a:solidFill>
                <a:latin typeface="Arial" pitchFamily="34" charset="0"/>
                <a:ea typeface="Arial" pitchFamily="34" charset="-122"/>
                <a:cs typeface="Arial" pitchFamily="34" charset="-120"/>
              </a:rPr>
              <a:t>赤</a:t>
            </a:r>
            <a:r>
              <a:rPr lang="en-US" sz="1200" dirty="0">
                <a:solidFill>
                  <a:srgbClr val="7D8894"/>
                </a:solidFill>
                <a:latin typeface="Arial" pitchFamily="34" charset="0"/>
                <a:ea typeface="Arial" pitchFamily="34" charset="-122"/>
                <a:cs typeface="Arial" pitchFamily="34" charset="-120"/>
              </a:rPr>
              <a:t> 4文字の連続</a:t>
            </a:r>
            <a:endParaRPr lang="en-US" sz="1200" dirty="0"/>
          </a:p>
        </p:txBody>
      </p:sp>
      <p:sp>
        <p:nvSpPr>
          <p:cNvPr id="149" name="Shape 147"/>
          <p:cNvSpPr/>
          <p:nvPr/>
        </p:nvSpPr>
        <p:spPr>
          <a:xfrm>
            <a:off x="812800" y="4255046"/>
            <a:ext cx="5181600" cy="0"/>
          </a:xfrm>
          <a:prstGeom prst="line">
            <a:avLst/>
          </a:prstGeom>
          <a:noFill/>
          <a:ln w="6350">
            <a:solidFill>
              <a:srgbClr val="222A35"/>
            </a:solidFill>
            <a:prstDash val="solid"/>
          </a:ln>
        </p:spPr>
      </p:sp>
      <p:sp>
        <p:nvSpPr>
          <p:cNvPr id="150" name="Text 148"/>
          <p:cNvSpPr/>
          <p:nvPr/>
        </p:nvSpPr>
        <p:spPr>
          <a:xfrm>
            <a:off x="812800" y="4359821"/>
            <a:ext cx="533704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21 = 24（</a:t>
            </a:r>
            <a:r>
              <a:rPr lang="en-US" sz="1600" dirty="0">
                <a:solidFill>
                  <a:srgbClr val="DEBA73"/>
                </a:solidFill>
                <a:latin typeface="Arial" pitchFamily="34" charset="0"/>
                <a:ea typeface="Arial" pitchFamily="34" charset="-122"/>
                <a:cs typeface="Arial" pitchFamily="34" charset="-120"/>
              </a:rPr>
              <a:t>琥珀色</a:t>
            </a:r>
            <a:r>
              <a:rPr lang="en-US" sz="1600" dirty="0">
                <a:solidFill>
                  <a:srgbClr val="E6EDF3"/>
                </a:solidFill>
                <a:latin typeface="Arial" pitchFamily="34" charset="0"/>
                <a:ea typeface="Arial" pitchFamily="34" charset="-122"/>
                <a:cs typeface="Arial" pitchFamily="34" charset="-120"/>
              </a:rPr>
              <a:t>）：40件中34件</a:t>
            </a:r>
            <a:endParaRPr lang="en-US" sz="1600" dirty="0"/>
          </a:p>
        </p:txBody>
      </p:sp>
      <p:sp>
        <p:nvSpPr>
          <p:cNvPr id="151" name="Shape 149"/>
          <p:cNvSpPr/>
          <p:nvPr/>
        </p:nvSpPr>
        <p:spPr>
          <a:xfrm>
            <a:off x="6197600" y="4255046"/>
            <a:ext cx="5181600" cy="0"/>
          </a:xfrm>
          <a:prstGeom prst="line">
            <a:avLst/>
          </a:prstGeom>
          <a:noFill/>
          <a:ln w="6350">
            <a:solidFill>
              <a:srgbClr val="222A35"/>
            </a:solidFill>
            <a:prstDash val="solid"/>
          </a:ln>
        </p:spPr>
      </p:sp>
      <p:sp>
        <p:nvSpPr>
          <p:cNvPr id="152" name="Text 150"/>
          <p:cNvSpPr/>
          <p:nvPr/>
        </p:nvSpPr>
        <p:spPr>
          <a:xfrm>
            <a:off x="6197600" y="4359821"/>
            <a:ext cx="533704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残る6件中5件は代わりに23〜24が二重文字（</a:t>
            </a:r>
            <a:r>
              <a:rPr lang="en-US" sz="1600" dirty="0">
                <a:solidFill>
                  <a:srgbClr val="E8915E"/>
                </a:solidFill>
                <a:latin typeface="Arial" pitchFamily="34" charset="0"/>
                <a:ea typeface="Arial" pitchFamily="34" charset="-122"/>
                <a:cs typeface="Arial" pitchFamily="34" charset="-120"/>
              </a:rPr>
              <a:t>珊瑚色</a:t>
            </a:r>
            <a:r>
              <a:rPr lang="en-US" sz="1600" dirty="0">
                <a:solidFill>
                  <a:srgbClr val="E6EDF3"/>
                </a:solidFill>
                <a:latin typeface="Arial" pitchFamily="34" charset="0"/>
                <a:ea typeface="Arial" pitchFamily="34" charset="-122"/>
                <a:cs typeface="Arial" pitchFamily="34" charset="-120"/>
              </a:rPr>
              <a:t>）</a:t>
            </a:r>
            <a:endParaRPr lang="en-US" sz="1600" dirty="0"/>
          </a:p>
        </p:txBody>
      </p:sp>
      <p:sp>
        <p:nvSpPr>
          <p:cNvPr id="153" name="Shape 151"/>
          <p:cNvSpPr/>
          <p:nvPr/>
        </p:nvSpPr>
        <p:spPr>
          <a:xfrm>
            <a:off x="812800" y="4870996"/>
            <a:ext cx="5181600" cy="0"/>
          </a:xfrm>
          <a:prstGeom prst="line">
            <a:avLst/>
          </a:prstGeom>
          <a:noFill/>
          <a:ln w="6350">
            <a:solidFill>
              <a:srgbClr val="222A35"/>
            </a:solidFill>
            <a:prstDash val="solid"/>
          </a:ln>
        </p:spPr>
      </p:sp>
      <p:sp>
        <p:nvSpPr>
          <p:cNvPr id="154" name="Text 152"/>
          <p:cNvSpPr/>
          <p:nvPr/>
        </p:nvSpPr>
        <p:spPr>
          <a:xfrm>
            <a:off x="812800" y="4975771"/>
            <a:ext cx="533704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42・64・86・108に4文字の連続：各40件中38〜39件</a:t>
            </a:r>
            <a:endParaRPr lang="en-US" sz="1600" dirty="0"/>
          </a:p>
        </p:txBody>
      </p:sp>
      <p:sp>
        <p:nvSpPr>
          <p:cNvPr id="155" name="Shape 153"/>
          <p:cNvSpPr/>
          <p:nvPr/>
        </p:nvSpPr>
        <p:spPr>
          <a:xfrm>
            <a:off x="6197600" y="4870996"/>
            <a:ext cx="5181600" cy="0"/>
          </a:xfrm>
          <a:prstGeom prst="line">
            <a:avLst/>
          </a:prstGeom>
          <a:noFill/>
          <a:ln w="6350">
            <a:solidFill>
              <a:srgbClr val="222A35"/>
            </a:solidFill>
            <a:prstDash val="solid"/>
          </a:ln>
        </p:spPr>
      </p:sp>
      <p:sp>
        <p:nvSpPr>
          <p:cNvPr id="156" name="Text 154"/>
          <p:cNvSpPr/>
          <p:nvPr/>
        </p:nvSpPr>
        <p:spPr>
          <a:xfrm>
            <a:off x="6197600" y="4975771"/>
            <a:ext cx="533704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琥珀色のSをクリック：34行は明るく、6行は薄れる</a:t>
            </a:r>
            <a:endParaRPr lang="en-US" sz="1600" dirty="0"/>
          </a:p>
        </p:txBody>
      </p:sp>
      <p:sp>
        <p:nvSpPr>
          <p:cNvPr id="157" name="Text 15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データ：公開中の142文字のヒートマップのページ</a:t>
            </a:r>
            <a:endParaRPr lang="en-US" sz="1200" dirty="0"/>
          </a:p>
        </p:txBody>
      </p:sp>
      <p:sp>
        <p:nvSpPr>
          <p:cNvPr id="158" name="Text 156"/>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長さをまたぐ対</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長さをまたぐ対</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すべての長さの結果を積み重ね：</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群ごとに1行が1種類の長さ</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マス：この長さと、ほかの2種類以上の長さの</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同じ場所で通過 · 淡い色＝あと少し</a:t>
            </a:r>
            <a:endParaRPr lang="en-US" sz="1600" dirty="0"/>
          </a:p>
        </p:txBody>
      </p:sp>
      <p:sp>
        <p:nvSpPr>
          <p:cNvPr id="8" name="Shape 6"/>
          <p:cNvSpPr/>
          <p:nvPr/>
        </p:nvSpPr>
        <p:spPr>
          <a:xfrm>
            <a:off x="812800" y="3622625"/>
            <a:ext cx="4572000" cy="0"/>
          </a:xfrm>
          <a:prstGeom prst="line">
            <a:avLst/>
          </a:prstGeom>
          <a:noFill/>
          <a:ln w="6350">
            <a:solidFill>
              <a:srgbClr val="222A35"/>
            </a:solidFill>
            <a:prstDash val="solid"/>
          </a:ln>
        </p:spPr>
      </p:sp>
      <p:sp>
        <p:nvSpPr>
          <p:cNvPr id="9" name="Text 7"/>
          <p:cNvSpPr/>
          <p:nvPr/>
        </p:nvSpPr>
        <p:spPr>
          <a:xfrm>
            <a:off x="812800" y="37274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0467"/>
                </a:solidFill>
                <a:latin typeface="Arial" pitchFamily="34" charset="0"/>
                <a:ea typeface="Arial" pitchFamily="34" charset="-122"/>
                <a:cs typeface="Arial" pitchFamily="34" charset="-120"/>
              </a:rPr>
              <a:t>第4群：</a:t>
            </a:r>
            <a:r>
              <a:rPr lang="en-US" sz="1600" dirty="0">
                <a:solidFill>
                  <a:srgbClr val="E6EDF3"/>
                </a:solidFill>
                <a:latin typeface="Arial" pitchFamily="34" charset="0"/>
                <a:ea typeface="Arial" pitchFamily="34" charset="-122"/>
                <a:cs typeface="Arial" pitchFamily="34" charset="-120"/>
              </a:rPr>
              <a:t>21 = 24は56〜268文字のうち</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12種類の長さで揃う · 偶然 0.0</a:t>
            </a:r>
            <a:endParaRPr lang="en-US" sz="1600" dirty="0"/>
          </a:p>
        </p:txBody>
      </p:sp>
      <p:sp>
        <p:nvSpPr>
          <p:cNvPr id="10" name="Shape 8"/>
          <p:cNvSpPr/>
          <p:nvPr/>
        </p:nvSpPr>
        <p:spPr>
          <a:xfrm>
            <a:off x="812800" y="4441775"/>
            <a:ext cx="4572000" cy="0"/>
          </a:xfrm>
          <a:prstGeom prst="line">
            <a:avLst/>
          </a:prstGeom>
          <a:noFill/>
          <a:ln w="6350">
            <a:solidFill>
              <a:srgbClr val="222A35"/>
            </a:solidFill>
            <a:prstDash val="solid"/>
          </a:ln>
        </p:spPr>
      </p:sp>
      <p:sp>
        <p:nvSpPr>
          <p:cNvPr id="11" name="Text 9"/>
          <p:cNvSpPr/>
          <p:nvPr/>
        </p:nvSpPr>
        <p:spPr>
          <a:xfrm>
            <a:off x="812800" y="45465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D7D32"/>
                </a:solidFill>
                <a:latin typeface="Arial" pitchFamily="34" charset="0"/>
                <a:ea typeface="Arial" pitchFamily="34" charset="-122"/>
                <a:cs typeface="Arial" pitchFamily="34" charset="-120"/>
              </a:rPr>
              <a:t>第2群：</a:t>
            </a:r>
            <a:r>
              <a:rPr lang="en-US" sz="1600" dirty="0">
                <a:solidFill>
                  <a:srgbClr val="E6EDF3"/>
                </a:solidFill>
                <a:latin typeface="Arial" pitchFamily="34" charset="0"/>
                <a:ea typeface="Arial" pitchFamily="34" charset="-122"/>
                <a:cs typeface="Arial" pitchFamily="34" charset="-120"/>
              </a:rPr>
              <a:t>16–24 = 21–29は39〜85文字のうち</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16種類の長さで揃う · 偶然 0.0</a:t>
            </a:r>
            <a:endParaRPr lang="en-US" sz="1600" dirty="0"/>
          </a:p>
        </p:txBody>
      </p:sp>
      <p:sp>
        <p:nvSpPr>
          <p:cNvPr id="12" name="Shape 10"/>
          <p:cNvSpPr/>
          <p:nvPr/>
        </p:nvSpPr>
        <p:spPr>
          <a:xfrm>
            <a:off x="5791200" y="1981150"/>
            <a:ext cx="5588000" cy="3143250"/>
          </a:xfrm>
          <a:prstGeom prst="roundRect">
            <a:avLst>
              <a:gd name="adj" fmla="val 2424"/>
            </a:avLst>
          </a:prstGeom>
          <a:solidFill>
            <a:srgbClr val="0E141B"/>
          </a:solidFill>
          <a:ln/>
        </p:spPr>
      </p:sp>
      <p:pic>
        <p:nvPicPr>
          <p:cNvPr id="13" name="Image 0" descr="日本語表示の「長さをまたぐ対」の第4群：50〜292文字の長さごとに1行。21 = 24と、42〜45文字目以降の連続の位置で、ピンクのマスが列になって揃っている">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4" name="Shape 11"/>
          <p:cNvSpPr/>
          <p:nvPr/>
        </p:nvSpPr>
        <p:spPr>
          <a:xfrm>
            <a:off x="5794375" y="1984325"/>
            <a:ext cx="5581650" cy="3136900"/>
          </a:xfrm>
          <a:prstGeom prst="roundRect">
            <a:avLst>
              <a:gd name="adj" fmla="val 2328"/>
            </a:avLst>
          </a:prstGeom>
          <a:noFill/>
          <a:ln w="6350">
            <a:solidFill>
              <a:srgbClr val="222A35"/>
            </a:solidFill>
            <a:prstDash val="solid"/>
          </a:ln>
        </p:spPr>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出典：cross_length_patterns.html</a:t>
            </a:r>
            <a:endParaRPr lang="en-US" sz="1200" dirty="0"/>
          </a:p>
        </p:txBody>
      </p:sp>
      <p:sp>
        <p:nvSpPr>
          <p:cNvPr id="16" name="Text 1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30文字の論文</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Mと5の不足</a:t>
            </a:r>
            <a:endParaRPr lang="en-US" sz="3600" dirty="0"/>
          </a:p>
        </p:txBody>
      </p:sp>
      <p:sp>
        <p:nvSpPr>
          <p:cNvPr id="4" name="Text 2"/>
          <p:cNvSpPr/>
          <p:nvPr/>
        </p:nvSpPr>
        <p:spPr>
          <a:xfrm>
            <a:off x="812800" y="198115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CC00"/>
                </a:solidFill>
                <a:latin typeface="Arial" pitchFamily="34" charset="0"/>
                <a:ea typeface="Arial" pitchFamily="34" charset="-122"/>
                <a:cs typeface="Arial" pitchFamily="34" charset="-120"/>
              </a:rPr>
              <a:t>1.9%</a:t>
            </a:r>
            <a:endParaRPr lang="en-US" sz="8000" dirty="0"/>
          </a:p>
        </p:txBody>
      </p:sp>
      <p:sp>
        <p:nvSpPr>
          <p:cNvPr id="5" name="Text 3"/>
          <p:cNvSpPr/>
          <p:nvPr/>
        </p:nvSpPr>
        <p:spPr>
          <a:xfrm>
            <a:off x="812800" y="3047950"/>
            <a:ext cx="39243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第1群の本体のMと5。均等なら3.125%（z −22.8、−22.3）</a:t>
            </a:r>
            <a:endParaRPr lang="en-US" sz="1600" dirty="0"/>
          </a:p>
        </p:txBody>
      </p:sp>
      <p:sp>
        <p:nvSpPr>
          <p:cNvPr id="6" name="Shape 4"/>
          <p:cNvSpPr/>
          <p:nvPr/>
        </p:nvSpPr>
        <p:spPr>
          <a:xfrm>
            <a:off x="5029200" y="1984325"/>
            <a:ext cx="6350000" cy="0"/>
          </a:xfrm>
          <a:prstGeom prst="line">
            <a:avLst/>
          </a:prstGeom>
          <a:noFill/>
          <a:ln w="6350">
            <a:solidFill>
              <a:srgbClr val="222A35"/>
            </a:solidFill>
            <a:prstDash val="solid"/>
          </a:ln>
        </p:spPr>
      </p:sp>
      <p:sp>
        <p:nvSpPr>
          <p:cNvPr id="7" name="Text 5"/>
          <p:cNvSpPr/>
          <p:nvPr/>
        </p:nvSpPr>
        <p:spPr>
          <a:xfrm>
            <a:off x="5029200" y="2089100"/>
            <a:ext cx="65405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一意なメッセージ5,881件：</a:t>
            </a:r>
            <a:r>
              <a:rPr lang="en-US" sz="1600" dirty="0">
                <a:solidFill>
                  <a:srgbClr val="06B050"/>
                </a:solidFill>
                <a:latin typeface="Arial" pitchFamily="34" charset="0"/>
                <a:ea typeface="Arial" pitchFamily="34" charset="-122"/>
                <a:cs typeface="Arial" pitchFamily="34" charset="-120"/>
              </a:rPr>
              <a:t>第1群3,917件</a:t>
            </a:r>
            <a:r>
              <a:rPr lang="en-US" sz="1600" dirty="0">
                <a:solidFill>
                  <a:srgbClr val="E6EDF3"/>
                </a:solidFill>
                <a:latin typeface="Arial" pitchFamily="34" charset="0"/>
                <a:ea typeface="Arial" pitchFamily="34" charset="-122"/>
                <a:cs typeface="Arial" pitchFamily="34" charset="-120"/>
              </a:rPr>
              <a:t>、</a:t>
            </a:r>
            <a:r>
              <a:rPr lang="en-US" sz="1600" dirty="0">
                <a:solidFill>
                  <a:srgbClr val="ED7D32"/>
                </a:solidFill>
                <a:latin typeface="Arial" pitchFamily="34" charset="0"/>
                <a:ea typeface="Arial" pitchFamily="34" charset="-122"/>
                <a:cs typeface="Arial" pitchFamily="34" charset="-120"/>
              </a:rPr>
              <a:t>第2群1,964件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2022年1月25日〜2026年7月29日</a:t>
            </a:r>
            <a:endParaRPr lang="en-US" sz="1600" dirty="0"/>
          </a:p>
        </p:txBody>
      </p:sp>
      <p:sp>
        <p:nvSpPr>
          <p:cNvPr id="8" name="Shape 6"/>
          <p:cNvSpPr/>
          <p:nvPr/>
        </p:nvSpPr>
        <p:spPr>
          <a:xfrm>
            <a:off x="5029200" y="2803475"/>
            <a:ext cx="6350000" cy="0"/>
          </a:xfrm>
          <a:prstGeom prst="line">
            <a:avLst/>
          </a:prstGeom>
          <a:noFill/>
          <a:ln w="6350">
            <a:solidFill>
              <a:srgbClr val="222A35"/>
            </a:solidFill>
            <a:prstDash val="solid"/>
          </a:ln>
        </p:spPr>
      </p:sp>
      <p:sp>
        <p:nvSpPr>
          <p:cNvPr id="9" name="Text 7"/>
          <p:cNvSpPr/>
          <p:nvPr/>
        </p:nvSpPr>
        <p:spPr>
          <a:xfrm>
            <a:off x="5029200" y="2908250"/>
            <a:ext cx="654050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100件以上ある18の接頭辞すべてで不足、2024年10月の前後とも</a:t>
            </a:r>
            <a:endParaRPr lang="en-US" sz="1600" dirty="0"/>
          </a:p>
        </p:txBody>
      </p:sp>
      <p:sp>
        <p:nvSpPr>
          <p:cNvPr id="10" name="Shape 8"/>
          <p:cNvSpPr/>
          <p:nvPr/>
        </p:nvSpPr>
        <p:spPr>
          <a:xfrm>
            <a:off x="5029200" y="3317825"/>
            <a:ext cx="6350000" cy="0"/>
          </a:xfrm>
          <a:prstGeom prst="line">
            <a:avLst/>
          </a:prstGeom>
          <a:noFill/>
          <a:ln w="6350">
            <a:solidFill>
              <a:srgbClr val="222A35"/>
            </a:solidFill>
            <a:prstDash val="solid"/>
          </a:ln>
        </p:spPr>
      </p:sp>
      <p:sp>
        <p:nvSpPr>
          <p:cNvPr id="11" name="Text 9"/>
          <p:cNvSpPr/>
          <p:nvPr/>
        </p:nvSpPr>
        <p:spPr>
          <a:xfrm>
            <a:off x="5029200" y="3422600"/>
            <a:ext cx="654050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条件をそろえた無作為な対照は±2以内</a:t>
            </a:r>
            <a:endParaRPr lang="en-US" sz="16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出典：eam_30char_format_analysis.html</a:t>
            </a:r>
            <a:endParaRPr lang="en-US" sz="1200" dirty="0"/>
          </a:p>
        </p:txBody>
      </p:sp>
      <p:sp>
        <p:nvSpPr>
          <p:cNvPr id="13" name="Text 11"/>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30文字の論文</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最後の6文字</a:t>
            </a:r>
            <a:endParaRPr lang="en-US" sz="3600" dirty="0"/>
          </a:p>
        </p:txBody>
      </p:sp>
      <p:sp>
        <p:nvSpPr>
          <p:cNvPr id="4" name="Text 2"/>
          <p:cNvSpPr/>
          <p:nvPr/>
        </p:nvSpPr>
        <p:spPr>
          <a:xfrm>
            <a:off x="812800" y="1993850"/>
            <a:ext cx="88165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隣り合う位置が同じ文字のメッセージ数（表5）。各数は2つの位置の間に表示</a:t>
            </a:r>
            <a:endParaRPr lang="en-US" sz="1200" dirty="0"/>
          </a:p>
        </p:txBody>
      </p:sp>
      <p:sp>
        <p:nvSpPr>
          <p:cNvPr id="5" name="Shape 3"/>
          <p:cNvSpPr/>
          <p:nvPr/>
        </p:nvSpPr>
        <p:spPr>
          <a:xfrm>
            <a:off x="11112500" y="1981150"/>
            <a:ext cx="0" cy="226020"/>
          </a:xfrm>
          <a:prstGeom prst="line">
            <a:avLst/>
          </a:prstGeom>
          <a:noFill/>
          <a:ln w="12700">
            <a:solidFill>
              <a:srgbClr val="FFCC00"/>
            </a:solidFill>
            <a:prstDash val="solid"/>
          </a:ln>
        </p:spPr>
      </p:sp>
      <p:sp>
        <p:nvSpPr>
          <p:cNvPr id="6" name="Shape 4"/>
          <p:cNvSpPr/>
          <p:nvPr/>
        </p:nvSpPr>
        <p:spPr>
          <a:xfrm>
            <a:off x="9372600" y="2200821"/>
            <a:ext cx="1746250" cy="0"/>
          </a:xfrm>
          <a:prstGeom prst="line">
            <a:avLst/>
          </a:prstGeom>
          <a:noFill/>
          <a:ln w="12700">
            <a:solidFill>
              <a:srgbClr val="FFCC00"/>
            </a:solidFill>
            <a:prstDash val="solid"/>
          </a:ln>
        </p:spPr>
      </p:sp>
      <p:sp>
        <p:nvSpPr>
          <p:cNvPr id="7" name="Shape 5"/>
          <p:cNvSpPr/>
          <p:nvPr/>
        </p:nvSpPr>
        <p:spPr>
          <a:xfrm>
            <a:off x="9378950" y="1981150"/>
            <a:ext cx="0" cy="226020"/>
          </a:xfrm>
          <a:prstGeom prst="line">
            <a:avLst/>
          </a:prstGeom>
          <a:noFill/>
          <a:ln w="12700">
            <a:solidFill>
              <a:srgbClr val="FFCC00"/>
            </a:solidFill>
            <a:prstDash val="solid"/>
          </a:ln>
        </p:spPr>
      </p:sp>
      <p:sp>
        <p:nvSpPr>
          <p:cNvPr id="8" name="Text 6"/>
          <p:cNvSpPr/>
          <p:nvPr/>
        </p:nvSpPr>
        <p:spPr>
          <a:xfrm>
            <a:off x="9359487" y="1981150"/>
            <a:ext cx="177247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CC00"/>
                </a:solidFill>
                <a:latin typeface="Arial" pitchFamily="34" charset="0"/>
                <a:ea typeface="Arial" pitchFamily="34" charset="-122"/>
                <a:cs typeface="Arial" pitchFamily="34" charset="-120"/>
              </a:rPr>
              <a:t>最後の6文字</a:t>
            </a:r>
            <a:endParaRPr lang="en-US" sz="1200" dirty="0"/>
          </a:p>
        </p:txBody>
      </p:sp>
      <p:sp>
        <p:nvSpPr>
          <p:cNvPr id="9" name="Text 7"/>
          <p:cNvSpPr/>
          <p:nvPr/>
        </p:nvSpPr>
        <p:spPr>
          <a:xfrm>
            <a:off x="7874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10" name="Text 8"/>
          <p:cNvSpPr/>
          <p:nvPr/>
        </p:nvSpPr>
        <p:spPr>
          <a:xfrm>
            <a:off x="11366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11" name="Text 9"/>
          <p:cNvSpPr/>
          <p:nvPr/>
        </p:nvSpPr>
        <p:spPr>
          <a:xfrm>
            <a:off x="14859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12" name="Text 10"/>
          <p:cNvSpPr/>
          <p:nvPr/>
        </p:nvSpPr>
        <p:spPr>
          <a:xfrm>
            <a:off x="18351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13" name="Text 11"/>
          <p:cNvSpPr/>
          <p:nvPr/>
        </p:nvSpPr>
        <p:spPr>
          <a:xfrm>
            <a:off x="21844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14" name="Text 12"/>
          <p:cNvSpPr/>
          <p:nvPr/>
        </p:nvSpPr>
        <p:spPr>
          <a:xfrm>
            <a:off x="25336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6</a:t>
            </a:r>
            <a:endParaRPr lang="en-US" sz="1200" dirty="0"/>
          </a:p>
        </p:txBody>
      </p:sp>
      <p:sp>
        <p:nvSpPr>
          <p:cNvPr id="15" name="Text 13"/>
          <p:cNvSpPr/>
          <p:nvPr/>
        </p:nvSpPr>
        <p:spPr>
          <a:xfrm>
            <a:off x="28829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7</a:t>
            </a:r>
            <a:endParaRPr lang="en-US" sz="1200" dirty="0"/>
          </a:p>
        </p:txBody>
      </p:sp>
      <p:sp>
        <p:nvSpPr>
          <p:cNvPr id="16" name="Text 14"/>
          <p:cNvSpPr/>
          <p:nvPr/>
        </p:nvSpPr>
        <p:spPr>
          <a:xfrm>
            <a:off x="32321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8</a:t>
            </a:r>
            <a:endParaRPr lang="en-US" sz="1200" dirty="0"/>
          </a:p>
        </p:txBody>
      </p:sp>
      <p:sp>
        <p:nvSpPr>
          <p:cNvPr id="17" name="Text 15"/>
          <p:cNvSpPr/>
          <p:nvPr/>
        </p:nvSpPr>
        <p:spPr>
          <a:xfrm>
            <a:off x="35814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18" name="Text 16"/>
          <p:cNvSpPr/>
          <p:nvPr/>
        </p:nvSpPr>
        <p:spPr>
          <a:xfrm>
            <a:off x="39306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19" name="Text 17"/>
          <p:cNvSpPr/>
          <p:nvPr/>
        </p:nvSpPr>
        <p:spPr>
          <a:xfrm>
            <a:off x="42799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20" name="Text 18"/>
          <p:cNvSpPr/>
          <p:nvPr/>
        </p:nvSpPr>
        <p:spPr>
          <a:xfrm>
            <a:off x="46291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21" name="Text 19"/>
          <p:cNvSpPr/>
          <p:nvPr/>
        </p:nvSpPr>
        <p:spPr>
          <a:xfrm>
            <a:off x="49784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13</a:t>
            </a:r>
            <a:endParaRPr lang="en-US" sz="1200" dirty="0"/>
          </a:p>
        </p:txBody>
      </p:sp>
      <p:sp>
        <p:nvSpPr>
          <p:cNvPr id="22" name="Text 20"/>
          <p:cNvSpPr/>
          <p:nvPr/>
        </p:nvSpPr>
        <p:spPr>
          <a:xfrm>
            <a:off x="53276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14</a:t>
            </a:r>
            <a:endParaRPr lang="en-US" sz="1200" dirty="0"/>
          </a:p>
        </p:txBody>
      </p:sp>
      <p:sp>
        <p:nvSpPr>
          <p:cNvPr id="23" name="Text 21"/>
          <p:cNvSpPr/>
          <p:nvPr/>
        </p:nvSpPr>
        <p:spPr>
          <a:xfrm>
            <a:off x="56769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15</a:t>
            </a:r>
            <a:endParaRPr lang="en-US" sz="1200" dirty="0"/>
          </a:p>
        </p:txBody>
      </p:sp>
      <p:sp>
        <p:nvSpPr>
          <p:cNvPr id="24" name="Text 22"/>
          <p:cNvSpPr/>
          <p:nvPr/>
        </p:nvSpPr>
        <p:spPr>
          <a:xfrm>
            <a:off x="60261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16</a:t>
            </a:r>
            <a:endParaRPr lang="en-US" sz="1200" dirty="0"/>
          </a:p>
        </p:txBody>
      </p:sp>
      <p:sp>
        <p:nvSpPr>
          <p:cNvPr id="25" name="Text 23"/>
          <p:cNvSpPr/>
          <p:nvPr/>
        </p:nvSpPr>
        <p:spPr>
          <a:xfrm>
            <a:off x="63754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17</a:t>
            </a:r>
            <a:endParaRPr lang="en-US" sz="1200" dirty="0"/>
          </a:p>
        </p:txBody>
      </p:sp>
      <p:sp>
        <p:nvSpPr>
          <p:cNvPr id="26" name="Text 24"/>
          <p:cNvSpPr/>
          <p:nvPr/>
        </p:nvSpPr>
        <p:spPr>
          <a:xfrm>
            <a:off x="67246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18</a:t>
            </a:r>
            <a:endParaRPr lang="en-US" sz="1200" dirty="0"/>
          </a:p>
        </p:txBody>
      </p:sp>
      <p:sp>
        <p:nvSpPr>
          <p:cNvPr id="27" name="Text 25"/>
          <p:cNvSpPr/>
          <p:nvPr/>
        </p:nvSpPr>
        <p:spPr>
          <a:xfrm>
            <a:off x="70739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19</a:t>
            </a:r>
            <a:endParaRPr lang="en-US" sz="1200" dirty="0"/>
          </a:p>
        </p:txBody>
      </p:sp>
      <p:sp>
        <p:nvSpPr>
          <p:cNvPr id="28" name="Text 26"/>
          <p:cNvSpPr/>
          <p:nvPr/>
        </p:nvSpPr>
        <p:spPr>
          <a:xfrm>
            <a:off x="74231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20</a:t>
            </a:r>
            <a:endParaRPr lang="en-US" sz="1200" dirty="0"/>
          </a:p>
        </p:txBody>
      </p:sp>
      <p:sp>
        <p:nvSpPr>
          <p:cNvPr id="29" name="Text 27"/>
          <p:cNvSpPr/>
          <p:nvPr/>
        </p:nvSpPr>
        <p:spPr>
          <a:xfrm>
            <a:off x="77724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21</a:t>
            </a:r>
            <a:endParaRPr lang="en-US" sz="1200" dirty="0"/>
          </a:p>
        </p:txBody>
      </p:sp>
      <p:sp>
        <p:nvSpPr>
          <p:cNvPr id="30" name="Text 28"/>
          <p:cNvSpPr/>
          <p:nvPr/>
        </p:nvSpPr>
        <p:spPr>
          <a:xfrm>
            <a:off x="81216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22</a:t>
            </a:r>
            <a:endParaRPr lang="en-US" sz="1200" dirty="0"/>
          </a:p>
        </p:txBody>
      </p:sp>
      <p:sp>
        <p:nvSpPr>
          <p:cNvPr id="31" name="Text 29"/>
          <p:cNvSpPr/>
          <p:nvPr/>
        </p:nvSpPr>
        <p:spPr>
          <a:xfrm>
            <a:off x="84709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23</a:t>
            </a:r>
            <a:endParaRPr lang="en-US" sz="1200" dirty="0"/>
          </a:p>
        </p:txBody>
      </p:sp>
      <p:sp>
        <p:nvSpPr>
          <p:cNvPr id="32" name="Text 30"/>
          <p:cNvSpPr/>
          <p:nvPr/>
        </p:nvSpPr>
        <p:spPr>
          <a:xfrm>
            <a:off x="88201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24</a:t>
            </a:r>
            <a:endParaRPr lang="en-US" sz="1200" dirty="0"/>
          </a:p>
        </p:txBody>
      </p:sp>
      <p:sp>
        <p:nvSpPr>
          <p:cNvPr id="33" name="Text 31"/>
          <p:cNvSpPr/>
          <p:nvPr/>
        </p:nvSpPr>
        <p:spPr>
          <a:xfrm>
            <a:off x="91694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25</a:t>
            </a:r>
            <a:endParaRPr lang="en-US" sz="1200" dirty="0"/>
          </a:p>
        </p:txBody>
      </p:sp>
      <p:sp>
        <p:nvSpPr>
          <p:cNvPr id="34" name="Text 32"/>
          <p:cNvSpPr/>
          <p:nvPr/>
        </p:nvSpPr>
        <p:spPr>
          <a:xfrm>
            <a:off x="95186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26</a:t>
            </a:r>
            <a:endParaRPr lang="en-US" sz="1200" dirty="0"/>
          </a:p>
        </p:txBody>
      </p:sp>
      <p:sp>
        <p:nvSpPr>
          <p:cNvPr id="35" name="Text 33"/>
          <p:cNvSpPr/>
          <p:nvPr/>
        </p:nvSpPr>
        <p:spPr>
          <a:xfrm>
            <a:off x="98679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27</a:t>
            </a:r>
            <a:endParaRPr lang="en-US" sz="1200" dirty="0"/>
          </a:p>
        </p:txBody>
      </p:sp>
      <p:sp>
        <p:nvSpPr>
          <p:cNvPr id="36" name="Text 34"/>
          <p:cNvSpPr/>
          <p:nvPr/>
        </p:nvSpPr>
        <p:spPr>
          <a:xfrm>
            <a:off x="102171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28</a:t>
            </a:r>
            <a:endParaRPr lang="en-US" sz="1200" dirty="0"/>
          </a:p>
        </p:txBody>
      </p:sp>
      <p:sp>
        <p:nvSpPr>
          <p:cNvPr id="37" name="Text 35"/>
          <p:cNvSpPr/>
          <p:nvPr/>
        </p:nvSpPr>
        <p:spPr>
          <a:xfrm>
            <a:off x="1056640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29</a:t>
            </a:r>
            <a:endParaRPr lang="en-US" sz="1200" dirty="0"/>
          </a:p>
        </p:txBody>
      </p:sp>
      <p:sp>
        <p:nvSpPr>
          <p:cNvPr id="38" name="Text 36"/>
          <p:cNvSpPr/>
          <p:nvPr/>
        </p:nvSpPr>
        <p:spPr>
          <a:xfrm>
            <a:off x="10915650" y="2257971"/>
            <a:ext cx="400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30</a:t>
            </a:r>
            <a:endParaRPr lang="en-US" sz="1200" dirty="0"/>
          </a:p>
        </p:txBody>
      </p:sp>
      <p:sp>
        <p:nvSpPr>
          <p:cNvPr id="39" name="Text 37"/>
          <p:cNvSpPr/>
          <p:nvPr/>
        </p:nvSpPr>
        <p:spPr>
          <a:xfrm>
            <a:off x="812800" y="252209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6B050"/>
                </a:solidFill>
                <a:latin typeface="Arial" pitchFamily="34" charset="0"/>
                <a:ea typeface="Arial" pitchFamily="34" charset="-122"/>
                <a:cs typeface="Arial" pitchFamily="34" charset="-120"/>
              </a:rPr>
              <a:t>第1群 · 3,917件 · 期待値約122</a:t>
            </a:r>
            <a:endParaRPr lang="en-US" sz="1200" dirty="0"/>
          </a:p>
        </p:txBody>
      </p:sp>
      <p:sp>
        <p:nvSpPr>
          <p:cNvPr id="40" name="Text 38"/>
          <p:cNvSpPr/>
          <p:nvPr/>
        </p:nvSpPr>
        <p:spPr>
          <a:xfrm>
            <a:off x="812800" y="2786211"/>
            <a:ext cx="330200" cy="330200"/>
          </a:xfrm>
          <a:prstGeom prst="rect">
            <a:avLst/>
          </a:prstGeom>
          <a:solidFill>
            <a:srgbClr val="7D8894">
              <a:alpha val="4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146</a:t>
            </a:r>
            <a:endParaRPr lang="en-US" sz="1200" dirty="0"/>
          </a:p>
        </p:txBody>
      </p:sp>
      <p:sp>
        <p:nvSpPr>
          <p:cNvPr id="41" name="Text 39"/>
          <p:cNvSpPr/>
          <p:nvPr/>
        </p:nvSpPr>
        <p:spPr>
          <a:xfrm>
            <a:off x="11620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130</a:t>
            </a:r>
            <a:endParaRPr lang="en-US" sz="1200" dirty="0"/>
          </a:p>
        </p:txBody>
      </p:sp>
      <p:sp>
        <p:nvSpPr>
          <p:cNvPr id="42" name="Text 40"/>
          <p:cNvSpPr/>
          <p:nvPr/>
        </p:nvSpPr>
        <p:spPr>
          <a:xfrm>
            <a:off x="15113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114</a:t>
            </a:r>
            <a:endParaRPr lang="en-US" sz="1200" dirty="0"/>
          </a:p>
        </p:txBody>
      </p:sp>
      <p:sp>
        <p:nvSpPr>
          <p:cNvPr id="43" name="Text 41"/>
          <p:cNvSpPr/>
          <p:nvPr/>
        </p:nvSpPr>
        <p:spPr>
          <a:xfrm>
            <a:off x="18605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141</a:t>
            </a:r>
            <a:endParaRPr lang="en-US" sz="1200" dirty="0"/>
          </a:p>
        </p:txBody>
      </p:sp>
      <p:sp>
        <p:nvSpPr>
          <p:cNvPr id="44" name="Text 42"/>
          <p:cNvSpPr/>
          <p:nvPr/>
        </p:nvSpPr>
        <p:spPr>
          <a:xfrm>
            <a:off x="22098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127</a:t>
            </a:r>
            <a:endParaRPr lang="en-US" sz="1200" dirty="0"/>
          </a:p>
        </p:txBody>
      </p:sp>
      <p:sp>
        <p:nvSpPr>
          <p:cNvPr id="45" name="Text 43"/>
          <p:cNvSpPr/>
          <p:nvPr/>
        </p:nvSpPr>
        <p:spPr>
          <a:xfrm>
            <a:off x="25590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117</a:t>
            </a:r>
            <a:endParaRPr lang="en-US" sz="1200" dirty="0"/>
          </a:p>
        </p:txBody>
      </p:sp>
      <p:sp>
        <p:nvSpPr>
          <p:cNvPr id="46" name="Text 44"/>
          <p:cNvSpPr/>
          <p:nvPr/>
        </p:nvSpPr>
        <p:spPr>
          <a:xfrm>
            <a:off x="29083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136</a:t>
            </a:r>
            <a:endParaRPr lang="en-US" sz="1200" dirty="0"/>
          </a:p>
        </p:txBody>
      </p:sp>
      <p:sp>
        <p:nvSpPr>
          <p:cNvPr id="47" name="Text 45"/>
          <p:cNvSpPr/>
          <p:nvPr/>
        </p:nvSpPr>
        <p:spPr>
          <a:xfrm>
            <a:off x="32575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147</a:t>
            </a:r>
            <a:endParaRPr lang="en-US" sz="1200" dirty="0"/>
          </a:p>
        </p:txBody>
      </p:sp>
      <p:sp>
        <p:nvSpPr>
          <p:cNvPr id="48" name="Text 46"/>
          <p:cNvSpPr/>
          <p:nvPr/>
        </p:nvSpPr>
        <p:spPr>
          <a:xfrm>
            <a:off x="36068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119</a:t>
            </a:r>
            <a:endParaRPr lang="en-US" sz="1200" dirty="0"/>
          </a:p>
        </p:txBody>
      </p:sp>
      <p:sp>
        <p:nvSpPr>
          <p:cNvPr id="49" name="Text 47"/>
          <p:cNvSpPr/>
          <p:nvPr/>
        </p:nvSpPr>
        <p:spPr>
          <a:xfrm>
            <a:off x="39560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130</a:t>
            </a:r>
            <a:endParaRPr lang="en-US" sz="1200" dirty="0"/>
          </a:p>
        </p:txBody>
      </p:sp>
      <p:sp>
        <p:nvSpPr>
          <p:cNvPr id="50" name="Text 48"/>
          <p:cNvSpPr/>
          <p:nvPr/>
        </p:nvSpPr>
        <p:spPr>
          <a:xfrm>
            <a:off x="43053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128</a:t>
            </a:r>
            <a:endParaRPr lang="en-US" sz="1200" dirty="0"/>
          </a:p>
        </p:txBody>
      </p:sp>
      <p:sp>
        <p:nvSpPr>
          <p:cNvPr id="51" name="Text 49"/>
          <p:cNvSpPr/>
          <p:nvPr/>
        </p:nvSpPr>
        <p:spPr>
          <a:xfrm>
            <a:off x="46545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123</a:t>
            </a:r>
            <a:endParaRPr lang="en-US" sz="1200" dirty="0"/>
          </a:p>
        </p:txBody>
      </p:sp>
      <p:sp>
        <p:nvSpPr>
          <p:cNvPr id="52" name="Text 50"/>
          <p:cNvSpPr/>
          <p:nvPr/>
        </p:nvSpPr>
        <p:spPr>
          <a:xfrm>
            <a:off x="50038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110</a:t>
            </a:r>
            <a:endParaRPr lang="en-US" sz="1200" dirty="0"/>
          </a:p>
        </p:txBody>
      </p:sp>
      <p:sp>
        <p:nvSpPr>
          <p:cNvPr id="53" name="Text 51"/>
          <p:cNvSpPr/>
          <p:nvPr/>
        </p:nvSpPr>
        <p:spPr>
          <a:xfrm>
            <a:off x="53530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118</a:t>
            </a:r>
            <a:endParaRPr lang="en-US" sz="1200" dirty="0"/>
          </a:p>
        </p:txBody>
      </p:sp>
      <p:sp>
        <p:nvSpPr>
          <p:cNvPr id="54" name="Text 52"/>
          <p:cNvSpPr/>
          <p:nvPr/>
        </p:nvSpPr>
        <p:spPr>
          <a:xfrm>
            <a:off x="57023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124</a:t>
            </a:r>
            <a:endParaRPr lang="en-US" sz="1200" dirty="0"/>
          </a:p>
        </p:txBody>
      </p:sp>
      <p:sp>
        <p:nvSpPr>
          <p:cNvPr id="55" name="Text 53"/>
          <p:cNvSpPr/>
          <p:nvPr/>
        </p:nvSpPr>
        <p:spPr>
          <a:xfrm>
            <a:off x="60515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125</a:t>
            </a:r>
            <a:endParaRPr lang="en-US" sz="1200" dirty="0"/>
          </a:p>
        </p:txBody>
      </p:sp>
      <p:sp>
        <p:nvSpPr>
          <p:cNvPr id="56" name="Text 54"/>
          <p:cNvSpPr/>
          <p:nvPr/>
        </p:nvSpPr>
        <p:spPr>
          <a:xfrm>
            <a:off x="64008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115</a:t>
            </a:r>
            <a:endParaRPr lang="en-US" sz="1200" dirty="0"/>
          </a:p>
        </p:txBody>
      </p:sp>
      <p:sp>
        <p:nvSpPr>
          <p:cNvPr id="57" name="Text 55"/>
          <p:cNvSpPr/>
          <p:nvPr/>
        </p:nvSpPr>
        <p:spPr>
          <a:xfrm>
            <a:off x="67500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132</a:t>
            </a:r>
            <a:endParaRPr lang="en-US" sz="1200" dirty="0"/>
          </a:p>
        </p:txBody>
      </p:sp>
      <p:sp>
        <p:nvSpPr>
          <p:cNvPr id="58" name="Text 56"/>
          <p:cNvSpPr/>
          <p:nvPr/>
        </p:nvSpPr>
        <p:spPr>
          <a:xfrm>
            <a:off x="7099300" y="2786211"/>
            <a:ext cx="330200" cy="330200"/>
          </a:xfrm>
          <a:prstGeom prst="rect">
            <a:avLst/>
          </a:prstGeom>
          <a:solidFill>
            <a:srgbClr val="06B050">
              <a:alpha val="4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48</a:t>
            </a:r>
            <a:endParaRPr lang="en-US" sz="1200" dirty="0"/>
          </a:p>
        </p:txBody>
      </p:sp>
      <p:sp>
        <p:nvSpPr>
          <p:cNvPr id="59" name="Text 57"/>
          <p:cNvSpPr/>
          <p:nvPr/>
        </p:nvSpPr>
        <p:spPr>
          <a:xfrm>
            <a:off x="7448550" y="2786211"/>
            <a:ext cx="330200" cy="330200"/>
          </a:xfrm>
          <a:prstGeom prst="rect">
            <a:avLst/>
          </a:prstGeom>
          <a:solidFill>
            <a:srgbClr val="06B050">
              <a:alpha val="4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49</a:t>
            </a:r>
            <a:endParaRPr lang="en-US" sz="1200" dirty="0"/>
          </a:p>
        </p:txBody>
      </p:sp>
      <p:sp>
        <p:nvSpPr>
          <p:cNvPr id="60" name="Text 58"/>
          <p:cNvSpPr/>
          <p:nvPr/>
        </p:nvSpPr>
        <p:spPr>
          <a:xfrm>
            <a:off x="77978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130</a:t>
            </a:r>
            <a:endParaRPr lang="en-US" sz="1200" dirty="0"/>
          </a:p>
        </p:txBody>
      </p:sp>
      <p:sp>
        <p:nvSpPr>
          <p:cNvPr id="61" name="Text 59"/>
          <p:cNvSpPr/>
          <p:nvPr/>
        </p:nvSpPr>
        <p:spPr>
          <a:xfrm>
            <a:off x="81470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123</a:t>
            </a:r>
            <a:endParaRPr lang="en-US" sz="1200" dirty="0"/>
          </a:p>
        </p:txBody>
      </p:sp>
      <p:sp>
        <p:nvSpPr>
          <p:cNvPr id="62" name="Text 60"/>
          <p:cNvSpPr/>
          <p:nvPr/>
        </p:nvSpPr>
        <p:spPr>
          <a:xfrm>
            <a:off x="849630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143</a:t>
            </a:r>
            <a:endParaRPr lang="en-US" sz="1200" dirty="0"/>
          </a:p>
        </p:txBody>
      </p:sp>
      <p:sp>
        <p:nvSpPr>
          <p:cNvPr id="63" name="Text 61"/>
          <p:cNvSpPr/>
          <p:nvPr/>
        </p:nvSpPr>
        <p:spPr>
          <a:xfrm>
            <a:off x="8845550" y="2786211"/>
            <a:ext cx="330200" cy="330200"/>
          </a:xfrm>
          <a:prstGeom prst="rect">
            <a:avLst/>
          </a:prstGeom>
          <a:solidFill>
            <a:srgbClr val="06B050">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119</a:t>
            </a:r>
            <a:endParaRPr lang="en-US" sz="1200" dirty="0"/>
          </a:p>
        </p:txBody>
      </p:sp>
      <p:sp>
        <p:nvSpPr>
          <p:cNvPr id="64" name="Text 62"/>
          <p:cNvSpPr/>
          <p:nvPr/>
        </p:nvSpPr>
        <p:spPr>
          <a:xfrm>
            <a:off x="9194800" y="2786211"/>
            <a:ext cx="330200" cy="330200"/>
          </a:xfrm>
          <a:prstGeom prst="rect">
            <a:avLst/>
          </a:prstGeom>
          <a:solidFill>
            <a:srgbClr val="06B050"/>
          </a:solidFill>
          <a:ln/>
        </p:spPr>
        <p:txBody>
          <a:bodyPr wrap="square" lIns="0" tIns="0" rIns="0" bIns="0" rtlCol="0" anchor="t">
            <a:normAutofit/>
          </a:bodyPr>
          <a:lstStyle/>
          <a:p>
            <a:pPr algn="ctr" indent="0" marL="0">
              <a:lnSpc>
                <a:spcPts val="2604"/>
              </a:lnSpc>
              <a:buNone/>
            </a:pPr>
            <a:r>
              <a:rPr lang="en-US" sz="1200" dirty="0">
                <a:solidFill>
                  <a:srgbClr val="14110A"/>
                </a:solidFill>
                <a:latin typeface="Courier New" pitchFamily="49" charset="0"/>
                <a:ea typeface="Courier New" pitchFamily="49" charset="-122"/>
                <a:cs typeface="Courier New" pitchFamily="49" charset="-120"/>
              </a:rPr>
              <a:t>8</a:t>
            </a:r>
            <a:endParaRPr lang="en-US" sz="1200" dirty="0"/>
          </a:p>
        </p:txBody>
      </p:sp>
      <p:sp>
        <p:nvSpPr>
          <p:cNvPr id="65" name="Text 63"/>
          <p:cNvSpPr/>
          <p:nvPr/>
        </p:nvSpPr>
        <p:spPr>
          <a:xfrm>
            <a:off x="9544050" y="2786211"/>
            <a:ext cx="330200" cy="330200"/>
          </a:xfrm>
          <a:prstGeom prst="rect">
            <a:avLst/>
          </a:prstGeom>
          <a:solidFill>
            <a:srgbClr val="06B050"/>
          </a:solidFill>
          <a:ln/>
        </p:spPr>
        <p:txBody>
          <a:bodyPr wrap="square" lIns="0" tIns="0" rIns="0" bIns="0" rtlCol="0" anchor="t">
            <a:normAutofit/>
          </a:bodyPr>
          <a:lstStyle/>
          <a:p>
            <a:pPr algn="ctr" indent="0" marL="0">
              <a:lnSpc>
                <a:spcPts val="2604"/>
              </a:lnSpc>
              <a:buNone/>
            </a:pPr>
            <a:r>
              <a:rPr lang="en-US" sz="1200" dirty="0">
                <a:solidFill>
                  <a:srgbClr val="14110A"/>
                </a:solidFill>
                <a:latin typeface="Courier New" pitchFamily="49" charset="0"/>
                <a:ea typeface="Courier New" pitchFamily="49" charset="-122"/>
                <a:cs typeface="Courier New" pitchFamily="49" charset="-120"/>
              </a:rPr>
              <a:t>5</a:t>
            </a:r>
            <a:endParaRPr lang="en-US" sz="1200" dirty="0"/>
          </a:p>
        </p:txBody>
      </p:sp>
      <p:sp>
        <p:nvSpPr>
          <p:cNvPr id="66" name="Text 64"/>
          <p:cNvSpPr/>
          <p:nvPr/>
        </p:nvSpPr>
        <p:spPr>
          <a:xfrm>
            <a:off x="9893300" y="2786211"/>
            <a:ext cx="330200" cy="330200"/>
          </a:xfrm>
          <a:prstGeom prst="rect">
            <a:avLst/>
          </a:prstGeom>
          <a:solidFill>
            <a:srgbClr val="06B050"/>
          </a:solidFill>
          <a:ln/>
        </p:spPr>
        <p:txBody>
          <a:bodyPr wrap="square" lIns="0" tIns="0" rIns="0" bIns="0" rtlCol="0" anchor="t">
            <a:normAutofit/>
          </a:bodyPr>
          <a:lstStyle/>
          <a:p>
            <a:pPr algn="ctr" indent="0" marL="0">
              <a:lnSpc>
                <a:spcPts val="2604"/>
              </a:lnSpc>
              <a:buNone/>
            </a:pPr>
            <a:r>
              <a:rPr lang="en-US" sz="1200" dirty="0">
                <a:solidFill>
                  <a:srgbClr val="14110A"/>
                </a:solidFill>
                <a:latin typeface="Courier New" pitchFamily="49" charset="0"/>
                <a:ea typeface="Courier New" pitchFamily="49" charset="-122"/>
                <a:cs typeface="Courier New" pitchFamily="49" charset="-120"/>
              </a:rPr>
              <a:t>10</a:t>
            </a:r>
            <a:endParaRPr lang="en-US" sz="1200" dirty="0"/>
          </a:p>
        </p:txBody>
      </p:sp>
      <p:sp>
        <p:nvSpPr>
          <p:cNvPr id="67" name="Text 65"/>
          <p:cNvSpPr/>
          <p:nvPr/>
        </p:nvSpPr>
        <p:spPr>
          <a:xfrm>
            <a:off x="10242550" y="2786211"/>
            <a:ext cx="330200" cy="330200"/>
          </a:xfrm>
          <a:prstGeom prst="rect">
            <a:avLst/>
          </a:prstGeom>
          <a:solidFill>
            <a:srgbClr val="06B050"/>
          </a:solidFill>
          <a:ln/>
        </p:spPr>
        <p:txBody>
          <a:bodyPr wrap="square" lIns="0" tIns="0" rIns="0" bIns="0" rtlCol="0" anchor="t">
            <a:normAutofit/>
          </a:bodyPr>
          <a:lstStyle/>
          <a:p>
            <a:pPr algn="ctr" indent="0" marL="0">
              <a:lnSpc>
                <a:spcPts val="2604"/>
              </a:lnSpc>
              <a:buNone/>
            </a:pPr>
            <a:r>
              <a:rPr lang="en-US" sz="1200" dirty="0">
                <a:solidFill>
                  <a:srgbClr val="14110A"/>
                </a:solidFill>
                <a:latin typeface="Courier New" pitchFamily="49" charset="0"/>
                <a:ea typeface="Courier New" pitchFamily="49" charset="-122"/>
                <a:cs typeface="Courier New" pitchFamily="49" charset="-120"/>
              </a:rPr>
              <a:t>10</a:t>
            </a:r>
            <a:endParaRPr lang="en-US" sz="1200" dirty="0"/>
          </a:p>
        </p:txBody>
      </p:sp>
      <p:sp>
        <p:nvSpPr>
          <p:cNvPr id="68" name="Text 66"/>
          <p:cNvSpPr/>
          <p:nvPr/>
        </p:nvSpPr>
        <p:spPr>
          <a:xfrm>
            <a:off x="10591800" y="2786211"/>
            <a:ext cx="330200" cy="330200"/>
          </a:xfrm>
          <a:prstGeom prst="rect">
            <a:avLst/>
          </a:prstGeom>
          <a:solidFill>
            <a:srgbClr val="06B050"/>
          </a:solidFill>
          <a:ln/>
        </p:spPr>
        <p:txBody>
          <a:bodyPr wrap="square" lIns="0" tIns="0" rIns="0" bIns="0" rtlCol="0" anchor="t">
            <a:normAutofit/>
          </a:bodyPr>
          <a:lstStyle/>
          <a:p>
            <a:pPr algn="ctr" indent="0" marL="0">
              <a:lnSpc>
                <a:spcPts val="2604"/>
              </a:lnSpc>
              <a:buNone/>
            </a:pPr>
            <a:r>
              <a:rPr lang="en-US" sz="1200" dirty="0">
                <a:solidFill>
                  <a:srgbClr val="14110A"/>
                </a:solidFill>
                <a:latin typeface="Courier New" pitchFamily="49" charset="0"/>
                <a:ea typeface="Courier New" pitchFamily="49" charset="-122"/>
                <a:cs typeface="Courier New" pitchFamily="49" charset="-120"/>
              </a:rPr>
              <a:t>9</a:t>
            </a:r>
            <a:endParaRPr lang="en-US" sz="1200" dirty="0"/>
          </a:p>
        </p:txBody>
      </p:sp>
      <p:sp>
        <p:nvSpPr>
          <p:cNvPr id="69" name="Text 67"/>
          <p:cNvSpPr/>
          <p:nvPr/>
        </p:nvSpPr>
        <p:spPr>
          <a:xfrm>
            <a:off x="812800" y="3167211"/>
            <a:ext cx="66582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7D32"/>
                </a:solidFill>
                <a:latin typeface="Arial" pitchFamily="34" charset="0"/>
                <a:ea typeface="Arial" pitchFamily="34" charset="-122"/>
                <a:cs typeface="Arial" pitchFamily="34" charset="-120"/>
              </a:rPr>
              <a:t>第2群 · 1,964件 · 期待値約61</a:t>
            </a:r>
            <a:endParaRPr lang="en-US" sz="1200" dirty="0"/>
          </a:p>
        </p:txBody>
      </p:sp>
      <p:sp>
        <p:nvSpPr>
          <p:cNvPr id="70" name="Text 68"/>
          <p:cNvSpPr/>
          <p:nvPr/>
        </p:nvSpPr>
        <p:spPr>
          <a:xfrm>
            <a:off x="7277100" y="3167211"/>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 19〜21：両形式の合算、次のスライドで</a:t>
            </a:r>
            <a:endParaRPr lang="en-US" sz="1200" dirty="0"/>
          </a:p>
        </p:txBody>
      </p:sp>
      <p:sp>
        <p:nvSpPr>
          <p:cNvPr id="71" name="Text 69"/>
          <p:cNvSpPr/>
          <p:nvPr/>
        </p:nvSpPr>
        <p:spPr>
          <a:xfrm>
            <a:off x="812800" y="3431332"/>
            <a:ext cx="330200" cy="330200"/>
          </a:xfrm>
          <a:prstGeom prst="rect">
            <a:avLst/>
          </a:prstGeom>
          <a:solidFill>
            <a:srgbClr val="7D8894">
              <a:alpha val="4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101</a:t>
            </a:r>
            <a:endParaRPr lang="en-US" sz="1200" dirty="0"/>
          </a:p>
        </p:txBody>
      </p:sp>
      <p:sp>
        <p:nvSpPr>
          <p:cNvPr id="72" name="Text 70"/>
          <p:cNvSpPr/>
          <p:nvPr/>
        </p:nvSpPr>
        <p:spPr>
          <a:xfrm>
            <a:off x="11620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58</a:t>
            </a:r>
            <a:endParaRPr lang="en-US" sz="1200" dirty="0"/>
          </a:p>
        </p:txBody>
      </p:sp>
      <p:sp>
        <p:nvSpPr>
          <p:cNvPr id="73" name="Text 71"/>
          <p:cNvSpPr/>
          <p:nvPr/>
        </p:nvSpPr>
        <p:spPr>
          <a:xfrm>
            <a:off x="15113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67</a:t>
            </a:r>
            <a:endParaRPr lang="en-US" sz="1200" dirty="0"/>
          </a:p>
        </p:txBody>
      </p:sp>
      <p:sp>
        <p:nvSpPr>
          <p:cNvPr id="74" name="Text 72"/>
          <p:cNvSpPr/>
          <p:nvPr/>
        </p:nvSpPr>
        <p:spPr>
          <a:xfrm>
            <a:off x="18605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60</a:t>
            </a:r>
            <a:endParaRPr lang="en-US" sz="1200" dirty="0"/>
          </a:p>
        </p:txBody>
      </p:sp>
      <p:sp>
        <p:nvSpPr>
          <p:cNvPr id="75" name="Text 73"/>
          <p:cNvSpPr/>
          <p:nvPr/>
        </p:nvSpPr>
        <p:spPr>
          <a:xfrm>
            <a:off x="22098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57</a:t>
            </a:r>
            <a:endParaRPr lang="en-US" sz="1200" dirty="0"/>
          </a:p>
        </p:txBody>
      </p:sp>
      <p:sp>
        <p:nvSpPr>
          <p:cNvPr id="76" name="Text 74"/>
          <p:cNvSpPr/>
          <p:nvPr/>
        </p:nvSpPr>
        <p:spPr>
          <a:xfrm>
            <a:off x="25590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51</a:t>
            </a:r>
            <a:endParaRPr lang="en-US" sz="1200" dirty="0"/>
          </a:p>
        </p:txBody>
      </p:sp>
      <p:sp>
        <p:nvSpPr>
          <p:cNvPr id="77" name="Text 75"/>
          <p:cNvSpPr/>
          <p:nvPr/>
        </p:nvSpPr>
        <p:spPr>
          <a:xfrm>
            <a:off x="29083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69</a:t>
            </a:r>
            <a:endParaRPr lang="en-US" sz="1200" dirty="0"/>
          </a:p>
        </p:txBody>
      </p:sp>
      <p:sp>
        <p:nvSpPr>
          <p:cNvPr id="78" name="Text 76"/>
          <p:cNvSpPr/>
          <p:nvPr/>
        </p:nvSpPr>
        <p:spPr>
          <a:xfrm>
            <a:off x="32575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51</a:t>
            </a:r>
            <a:endParaRPr lang="en-US" sz="1200" dirty="0"/>
          </a:p>
        </p:txBody>
      </p:sp>
      <p:sp>
        <p:nvSpPr>
          <p:cNvPr id="79" name="Text 77"/>
          <p:cNvSpPr/>
          <p:nvPr/>
        </p:nvSpPr>
        <p:spPr>
          <a:xfrm>
            <a:off x="36068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62</a:t>
            </a:r>
            <a:endParaRPr lang="en-US" sz="1200" dirty="0"/>
          </a:p>
        </p:txBody>
      </p:sp>
      <p:sp>
        <p:nvSpPr>
          <p:cNvPr id="80" name="Text 78"/>
          <p:cNvSpPr/>
          <p:nvPr/>
        </p:nvSpPr>
        <p:spPr>
          <a:xfrm>
            <a:off x="39560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60</a:t>
            </a:r>
            <a:endParaRPr lang="en-US" sz="1200" dirty="0"/>
          </a:p>
        </p:txBody>
      </p:sp>
      <p:sp>
        <p:nvSpPr>
          <p:cNvPr id="81" name="Text 79"/>
          <p:cNvSpPr/>
          <p:nvPr/>
        </p:nvSpPr>
        <p:spPr>
          <a:xfrm>
            <a:off x="43053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71</a:t>
            </a:r>
            <a:endParaRPr lang="en-US" sz="1200" dirty="0"/>
          </a:p>
        </p:txBody>
      </p:sp>
      <p:sp>
        <p:nvSpPr>
          <p:cNvPr id="82" name="Text 80"/>
          <p:cNvSpPr/>
          <p:nvPr/>
        </p:nvSpPr>
        <p:spPr>
          <a:xfrm>
            <a:off x="46545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63</a:t>
            </a:r>
            <a:endParaRPr lang="en-US" sz="1200" dirty="0"/>
          </a:p>
        </p:txBody>
      </p:sp>
      <p:sp>
        <p:nvSpPr>
          <p:cNvPr id="83" name="Text 81"/>
          <p:cNvSpPr/>
          <p:nvPr/>
        </p:nvSpPr>
        <p:spPr>
          <a:xfrm>
            <a:off x="50038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61</a:t>
            </a:r>
            <a:endParaRPr lang="en-US" sz="1200" dirty="0"/>
          </a:p>
        </p:txBody>
      </p:sp>
      <p:sp>
        <p:nvSpPr>
          <p:cNvPr id="84" name="Text 82"/>
          <p:cNvSpPr/>
          <p:nvPr/>
        </p:nvSpPr>
        <p:spPr>
          <a:xfrm>
            <a:off x="53530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69</a:t>
            </a:r>
            <a:endParaRPr lang="en-US" sz="1200" dirty="0"/>
          </a:p>
        </p:txBody>
      </p:sp>
      <p:sp>
        <p:nvSpPr>
          <p:cNvPr id="85" name="Text 83"/>
          <p:cNvSpPr/>
          <p:nvPr/>
        </p:nvSpPr>
        <p:spPr>
          <a:xfrm>
            <a:off x="57023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58</a:t>
            </a:r>
            <a:endParaRPr lang="en-US" sz="1200" dirty="0"/>
          </a:p>
        </p:txBody>
      </p:sp>
      <p:sp>
        <p:nvSpPr>
          <p:cNvPr id="86" name="Text 84"/>
          <p:cNvSpPr/>
          <p:nvPr/>
        </p:nvSpPr>
        <p:spPr>
          <a:xfrm>
            <a:off x="60515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65</a:t>
            </a:r>
            <a:endParaRPr lang="en-US" sz="1200" dirty="0"/>
          </a:p>
        </p:txBody>
      </p:sp>
      <p:sp>
        <p:nvSpPr>
          <p:cNvPr id="87" name="Text 85"/>
          <p:cNvSpPr/>
          <p:nvPr/>
        </p:nvSpPr>
        <p:spPr>
          <a:xfrm>
            <a:off x="64008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54</a:t>
            </a:r>
            <a:endParaRPr lang="en-US" sz="1200" dirty="0"/>
          </a:p>
        </p:txBody>
      </p:sp>
      <p:sp>
        <p:nvSpPr>
          <p:cNvPr id="88" name="Text 86"/>
          <p:cNvSpPr/>
          <p:nvPr/>
        </p:nvSpPr>
        <p:spPr>
          <a:xfrm>
            <a:off x="67500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63</a:t>
            </a:r>
            <a:endParaRPr lang="en-US" sz="1200" dirty="0"/>
          </a:p>
        </p:txBody>
      </p:sp>
      <p:sp>
        <p:nvSpPr>
          <p:cNvPr id="89" name="Text 87"/>
          <p:cNvSpPr/>
          <p:nvPr/>
        </p:nvSpPr>
        <p:spPr>
          <a:xfrm>
            <a:off x="70993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54</a:t>
            </a:r>
            <a:endParaRPr lang="en-US" sz="1200" dirty="0"/>
          </a:p>
        </p:txBody>
      </p:sp>
      <p:sp>
        <p:nvSpPr>
          <p:cNvPr id="90" name="Text 88"/>
          <p:cNvSpPr/>
          <p:nvPr/>
        </p:nvSpPr>
        <p:spPr>
          <a:xfrm>
            <a:off x="74485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70</a:t>
            </a:r>
            <a:endParaRPr lang="en-US" sz="1200" dirty="0"/>
          </a:p>
        </p:txBody>
      </p:sp>
      <p:sp>
        <p:nvSpPr>
          <p:cNvPr id="91" name="Text 89"/>
          <p:cNvSpPr/>
          <p:nvPr/>
        </p:nvSpPr>
        <p:spPr>
          <a:xfrm>
            <a:off x="77978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64</a:t>
            </a:r>
            <a:endParaRPr lang="en-US" sz="1200" dirty="0"/>
          </a:p>
        </p:txBody>
      </p:sp>
      <p:sp>
        <p:nvSpPr>
          <p:cNvPr id="92" name="Text 90"/>
          <p:cNvSpPr/>
          <p:nvPr/>
        </p:nvSpPr>
        <p:spPr>
          <a:xfrm>
            <a:off x="81470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65</a:t>
            </a:r>
            <a:endParaRPr lang="en-US" sz="1200" dirty="0"/>
          </a:p>
        </p:txBody>
      </p:sp>
      <p:sp>
        <p:nvSpPr>
          <p:cNvPr id="93" name="Text 91"/>
          <p:cNvSpPr/>
          <p:nvPr/>
        </p:nvSpPr>
        <p:spPr>
          <a:xfrm>
            <a:off x="84963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65</a:t>
            </a:r>
            <a:endParaRPr lang="en-US" sz="1200" dirty="0"/>
          </a:p>
        </p:txBody>
      </p:sp>
      <p:sp>
        <p:nvSpPr>
          <p:cNvPr id="94" name="Text 92"/>
          <p:cNvSpPr/>
          <p:nvPr/>
        </p:nvSpPr>
        <p:spPr>
          <a:xfrm>
            <a:off x="88455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61</a:t>
            </a:r>
            <a:endParaRPr lang="en-US" sz="1200" dirty="0"/>
          </a:p>
        </p:txBody>
      </p:sp>
      <p:sp>
        <p:nvSpPr>
          <p:cNvPr id="95" name="Text 93"/>
          <p:cNvSpPr/>
          <p:nvPr/>
        </p:nvSpPr>
        <p:spPr>
          <a:xfrm>
            <a:off x="91948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70</a:t>
            </a:r>
            <a:endParaRPr lang="en-US" sz="1200" dirty="0"/>
          </a:p>
        </p:txBody>
      </p:sp>
      <p:sp>
        <p:nvSpPr>
          <p:cNvPr id="96" name="Text 94"/>
          <p:cNvSpPr/>
          <p:nvPr/>
        </p:nvSpPr>
        <p:spPr>
          <a:xfrm>
            <a:off x="95440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56</a:t>
            </a:r>
            <a:endParaRPr lang="en-US" sz="1200" dirty="0"/>
          </a:p>
        </p:txBody>
      </p:sp>
      <p:sp>
        <p:nvSpPr>
          <p:cNvPr id="97" name="Text 95"/>
          <p:cNvSpPr/>
          <p:nvPr/>
        </p:nvSpPr>
        <p:spPr>
          <a:xfrm>
            <a:off x="98933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67</a:t>
            </a:r>
            <a:endParaRPr lang="en-US" sz="1200" dirty="0"/>
          </a:p>
        </p:txBody>
      </p:sp>
      <p:sp>
        <p:nvSpPr>
          <p:cNvPr id="98" name="Text 96"/>
          <p:cNvSpPr/>
          <p:nvPr/>
        </p:nvSpPr>
        <p:spPr>
          <a:xfrm>
            <a:off x="1024255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73</a:t>
            </a:r>
            <a:endParaRPr lang="en-US" sz="1200" dirty="0"/>
          </a:p>
        </p:txBody>
      </p:sp>
      <p:sp>
        <p:nvSpPr>
          <p:cNvPr id="99" name="Text 97"/>
          <p:cNvSpPr/>
          <p:nvPr/>
        </p:nvSpPr>
        <p:spPr>
          <a:xfrm>
            <a:off x="10591800" y="3431332"/>
            <a:ext cx="330200" cy="330200"/>
          </a:xfrm>
          <a:prstGeom prst="rect">
            <a:avLst/>
          </a:prstGeom>
          <a:solidFill>
            <a:srgbClr val="ED7D32">
              <a:alpha val="10000"/>
            </a:srgbClr>
          </a:solidFill>
          <a:ln/>
        </p:spPr>
        <p:txBody>
          <a:bodyPr wrap="square" lIns="0" tIns="0" rIns="0" bIns="0" rtlCol="0" anchor="t">
            <a:normAutofit/>
          </a:bodyPr>
          <a:lstStyle/>
          <a:p>
            <a:pPr algn="ctr" indent="0" marL="0">
              <a:lnSpc>
                <a:spcPts val="2604"/>
              </a:lnSpc>
              <a:buNone/>
            </a:pPr>
            <a:r>
              <a:rPr lang="en-US" sz="1200" dirty="0">
                <a:solidFill>
                  <a:srgbClr val="E6EDF3"/>
                </a:solidFill>
                <a:latin typeface="Courier New" pitchFamily="49" charset="0"/>
                <a:ea typeface="Courier New" pitchFamily="49" charset="-122"/>
                <a:cs typeface="Courier New" pitchFamily="49" charset="-120"/>
              </a:rPr>
              <a:t>70</a:t>
            </a:r>
            <a:endParaRPr lang="en-US" sz="1200" dirty="0"/>
          </a:p>
        </p:txBody>
      </p:sp>
      <p:sp>
        <p:nvSpPr>
          <p:cNvPr id="100" name="Shape 98"/>
          <p:cNvSpPr/>
          <p:nvPr/>
        </p:nvSpPr>
        <p:spPr>
          <a:xfrm>
            <a:off x="812800" y="4018707"/>
            <a:ext cx="5181600" cy="0"/>
          </a:xfrm>
          <a:prstGeom prst="line">
            <a:avLst/>
          </a:prstGeom>
          <a:noFill/>
          <a:ln w="6350">
            <a:solidFill>
              <a:srgbClr val="222A35"/>
            </a:solidFill>
            <a:prstDash val="solid"/>
          </a:ln>
        </p:spPr>
      </p:sp>
      <p:sp>
        <p:nvSpPr>
          <p:cNvPr id="101" name="Text 99"/>
          <p:cNvSpPr/>
          <p:nvPr/>
        </p:nvSpPr>
        <p:spPr>
          <a:xfrm>
            <a:off x="812800" y="4123482"/>
            <a:ext cx="533704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06B050"/>
                </a:solidFill>
                <a:latin typeface="Arial" pitchFamily="34" charset="0"/>
                <a:ea typeface="Arial" pitchFamily="34" charset="-122"/>
                <a:cs typeface="Arial" pitchFamily="34" charset="-120"/>
              </a:rPr>
              <a:t>第1群：</a:t>
            </a:r>
            <a:r>
              <a:rPr lang="en-US" sz="1600" dirty="0">
                <a:solidFill>
                  <a:srgbClr val="E6EDF3"/>
                </a:solidFill>
                <a:latin typeface="Arial" pitchFamily="34" charset="0"/>
                <a:ea typeface="Arial" pitchFamily="34" charset="-122"/>
                <a:cs typeface="Arial" pitchFamily="34" charset="-120"/>
              </a:rPr>
              <a:t>最後の6文字のどの2つも、一致は約0.2%</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（無作為なら3%）</a:t>
            </a:r>
            <a:endParaRPr lang="en-US" sz="1600" dirty="0"/>
          </a:p>
        </p:txBody>
      </p:sp>
      <p:sp>
        <p:nvSpPr>
          <p:cNvPr id="102" name="Shape 100"/>
          <p:cNvSpPr/>
          <p:nvPr/>
        </p:nvSpPr>
        <p:spPr>
          <a:xfrm>
            <a:off x="6197600" y="4018707"/>
            <a:ext cx="5181600" cy="0"/>
          </a:xfrm>
          <a:prstGeom prst="line">
            <a:avLst/>
          </a:prstGeom>
          <a:noFill/>
          <a:ln w="6350">
            <a:solidFill>
              <a:srgbClr val="222A35"/>
            </a:solidFill>
            <a:prstDash val="solid"/>
          </a:ln>
        </p:spPr>
      </p:sp>
      <p:sp>
        <p:nvSpPr>
          <p:cNvPr id="103" name="Text 101"/>
          <p:cNvSpPr/>
          <p:nvPr/>
        </p:nvSpPr>
        <p:spPr>
          <a:xfrm>
            <a:off x="6197600" y="4123482"/>
            <a:ext cx="533704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第1群の97%で6文字すべてが異なる。偶然なら約61%</a:t>
            </a:r>
            <a:endParaRPr lang="en-US" sz="1600" dirty="0"/>
          </a:p>
        </p:txBody>
      </p:sp>
      <p:sp>
        <p:nvSpPr>
          <p:cNvPr id="104" name="Shape 102"/>
          <p:cNvSpPr/>
          <p:nvPr/>
        </p:nvSpPr>
        <p:spPr>
          <a:xfrm>
            <a:off x="812800" y="4939457"/>
            <a:ext cx="5181600" cy="0"/>
          </a:xfrm>
          <a:prstGeom prst="line">
            <a:avLst/>
          </a:prstGeom>
          <a:noFill/>
          <a:ln w="6350">
            <a:solidFill>
              <a:srgbClr val="222A35"/>
            </a:solidFill>
            <a:prstDash val="solid"/>
          </a:ln>
        </p:spPr>
      </p:sp>
      <p:sp>
        <p:nvSpPr>
          <p:cNvPr id="105" name="Text 103"/>
          <p:cNvSpPr/>
          <p:nvPr/>
        </p:nvSpPr>
        <p:spPr>
          <a:xfrm>
            <a:off x="812800" y="5044232"/>
            <a:ext cx="533704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件数の多い18の接頭辞すべてで成立、</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2024年10月の前後とも</a:t>
            </a:r>
            <a:endParaRPr lang="en-US" sz="1600" dirty="0"/>
          </a:p>
        </p:txBody>
      </p:sp>
      <p:sp>
        <p:nvSpPr>
          <p:cNvPr id="106" name="Shape 104"/>
          <p:cNvSpPr/>
          <p:nvPr/>
        </p:nvSpPr>
        <p:spPr>
          <a:xfrm>
            <a:off x="6197600" y="4939457"/>
            <a:ext cx="5181600" cy="0"/>
          </a:xfrm>
          <a:prstGeom prst="line">
            <a:avLst/>
          </a:prstGeom>
          <a:noFill/>
          <a:ln w="6350">
            <a:solidFill>
              <a:srgbClr val="222A35"/>
            </a:solidFill>
            <a:prstDash val="solid"/>
          </a:ln>
        </p:spPr>
      </p:sp>
      <p:sp>
        <p:nvSpPr>
          <p:cNvPr id="107" name="Text 105"/>
          <p:cNvSpPr/>
          <p:nvPr/>
        </p:nvSpPr>
        <p:spPr>
          <a:xfrm>
            <a:off x="6197600" y="5044232"/>
            <a:ext cx="533704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D7D32"/>
                </a:solidFill>
                <a:latin typeface="Arial" pitchFamily="34" charset="0"/>
                <a:ea typeface="Arial" pitchFamily="34" charset="-122"/>
                <a:cs typeface="Arial" pitchFamily="34" charset="-120"/>
              </a:rPr>
              <a:t>第2群：</a:t>
            </a:r>
            <a:r>
              <a:rPr lang="en-US" sz="1600" dirty="0">
                <a:solidFill>
                  <a:srgbClr val="E6EDF3"/>
                </a:solidFill>
                <a:latin typeface="Arial" pitchFamily="34" charset="0"/>
                <a:ea typeface="Arial" pitchFamily="34" charset="-122"/>
                <a:cs typeface="Arial" pitchFamily="34" charset="-120"/>
              </a:rPr>
              <a:t>すべて異なる61.3%（偶然60.8%）で規則なし</a:t>
            </a:r>
            <a:endParaRPr lang="en-US" sz="1600" dirty="0"/>
          </a:p>
        </p:txBody>
      </p:sp>
      <p:sp>
        <p:nvSpPr>
          <p:cNvPr id="108" name="Text 10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出典：eam_30char_format_analysis.html、表5</a:t>
            </a:r>
            <a:endParaRPr lang="en-US" sz="1200" dirty="0"/>
          </a:p>
        </p:txBody>
      </p:sp>
      <p:sp>
        <p:nvSpPr>
          <p:cNvPr id="109" name="Text 107"/>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30文字の論文</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日付を特定できる形式改訂</a:t>
            </a:r>
            <a:endParaRPr lang="en-US" sz="3600" dirty="0"/>
          </a:p>
        </p:txBody>
      </p:sp>
      <p:sp>
        <p:nvSpPr>
          <p:cNvPr id="4" name="Text 2"/>
          <p:cNvSpPr/>
          <p:nvPr/>
        </p:nvSpPr>
        <p:spPr>
          <a:xfrm>
            <a:off x="812800" y="19811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3"/>
                </a:solidFill>
                <a:latin typeface="Arial" pitchFamily="34" charset="0"/>
                <a:ea typeface="Arial" pitchFamily="34" charset="-122"/>
                <a:cs typeface="Arial" pitchFamily="34" charset="-120"/>
              </a:rPr>
              <a:t>改訂前（2024年10月1日より前）</a:t>
            </a:r>
            <a:endParaRPr lang="en-US" sz="1200" dirty="0"/>
          </a:p>
        </p:txBody>
      </p:sp>
      <p:sp>
        <p:nvSpPr>
          <p:cNvPr id="5" name="Text 3"/>
          <p:cNvSpPr/>
          <p:nvPr/>
        </p:nvSpPr>
        <p:spPr>
          <a:xfrm>
            <a:off x="812800" y="2232571"/>
            <a:ext cx="330200" cy="304800"/>
          </a:xfrm>
          <a:prstGeom prst="rect">
            <a:avLst/>
          </a:prstGeom>
          <a:solidFill>
            <a:srgbClr val="7D8894">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1</a:t>
            </a:r>
            <a:endParaRPr lang="en-US" sz="1200" dirty="0"/>
          </a:p>
        </p:txBody>
      </p:sp>
      <p:sp>
        <p:nvSpPr>
          <p:cNvPr id="6" name="Text 4"/>
          <p:cNvSpPr/>
          <p:nvPr/>
        </p:nvSpPr>
        <p:spPr>
          <a:xfrm>
            <a:off x="1162050" y="2232571"/>
            <a:ext cx="330200" cy="304800"/>
          </a:xfrm>
          <a:prstGeom prst="rect">
            <a:avLst/>
          </a:prstGeom>
          <a:solidFill>
            <a:srgbClr val="7D8894">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a:t>
            </a:r>
            <a:endParaRPr lang="en-US" sz="1200" dirty="0"/>
          </a:p>
        </p:txBody>
      </p:sp>
      <p:sp>
        <p:nvSpPr>
          <p:cNvPr id="7" name="Text 5"/>
          <p:cNvSpPr/>
          <p:nvPr/>
        </p:nvSpPr>
        <p:spPr>
          <a:xfrm>
            <a:off x="1511300" y="223257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3</a:t>
            </a:r>
            <a:endParaRPr lang="en-US" sz="1200" dirty="0"/>
          </a:p>
        </p:txBody>
      </p:sp>
      <p:sp>
        <p:nvSpPr>
          <p:cNvPr id="8" name="Text 6"/>
          <p:cNvSpPr/>
          <p:nvPr/>
        </p:nvSpPr>
        <p:spPr>
          <a:xfrm>
            <a:off x="1860550" y="223257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4</a:t>
            </a:r>
            <a:endParaRPr lang="en-US" sz="1200" dirty="0"/>
          </a:p>
        </p:txBody>
      </p:sp>
      <p:sp>
        <p:nvSpPr>
          <p:cNvPr id="9" name="Text 7"/>
          <p:cNvSpPr/>
          <p:nvPr/>
        </p:nvSpPr>
        <p:spPr>
          <a:xfrm>
            <a:off x="220980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5</a:t>
            </a:r>
            <a:endParaRPr lang="en-US" sz="1200" dirty="0"/>
          </a:p>
        </p:txBody>
      </p:sp>
      <p:sp>
        <p:nvSpPr>
          <p:cNvPr id="10" name="Text 8"/>
          <p:cNvSpPr/>
          <p:nvPr/>
        </p:nvSpPr>
        <p:spPr>
          <a:xfrm>
            <a:off x="255905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6</a:t>
            </a:r>
            <a:endParaRPr lang="en-US" sz="1200" dirty="0"/>
          </a:p>
        </p:txBody>
      </p:sp>
      <p:sp>
        <p:nvSpPr>
          <p:cNvPr id="11" name="Text 9"/>
          <p:cNvSpPr/>
          <p:nvPr/>
        </p:nvSpPr>
        <p:spPr>
          <a:xfrm>
            <a:off x="290830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7</a:t>
            </a:r>
            <a:endParaRPr lang="en-US" sz="1200" dirty="0"/>
          </a:p>
        </p:txBody>
      </p:sp>
      <p:sp>
        <p:nvSpPr>
          <p:cNvPr id="12" name="Text 10"/>
          <p:cNvSpPr/>
          <p:nvPr/>
        </p:nvSpPr>
        <p:spPr>
          <a:xfrm>
            <a:off x="325755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8</a:t>
            </a:r>
            <a:endParaRPr lang="en-US" sz="1200" dirty="0"/>
          </a:p>
        </p:txBody>
      </p:sp>
      <p:sp>
        <p:nvSpPr>
          <p:cNvPr id="13" name="Text 11"/>
          <p:cNvSpPr/>
          <p:nvPr/>
        </p:nvSpPr>
        <p:spPr>
          <a:xfrm>
            <a:off x="360680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9</a:t>
            </a:r>
            <a:endParaRPr lang="en-US" sz="1200" dirty="0"/>
          </a:p>
        </p:txBody>
      </p:sp>
      <p:sp>
        <p:nvSpPr>
          <p:cNvPr id="14" name="Text 12"/>
          <p:cNvSpPr/>
          <p:nvPr/>
        </p:nvSpPr>
        <p:spPr>
          <a:xfrm>
            <a:off x="395605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10</a:t>
            </a:r>
            <a:endParaRPr lang="en-US" sz="1200" dirty="0"/>
          </a:p>
        </p:txBody>
      </p:sp>
      <p:sp>
        <p:nvSpPr>
          <p:cNvPr id="15" name="Text 13"/>
          <p:cNvSpPr/>
          <p:nvPr/>
        </p:nvSpPr>
        <p:spPr>
          <a:xfrm>
            <a:off x="430530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11</a:t>
            </a:r>
            <a:endParaRPr lang="en-US" sz="1200" dirty="0"/>
          </a:p>
        </p:txBody>
      </p:sp>
      <p:sp>
        <p:nvSpPr>
          <p:cNvPr id="16" name="Text 14"/>
          <p:cNvSpPr/>
          <p:nvPr/>
        </p:nvSpPr>
        <p:spPr>
          <a:xfrm>
            <a:off x="465455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12</a:t>
            </a:r>
            <a:endParaRPr lang="en-US" sz="1200" dirty="0"/>
          </a:p>
        </p:txBody>
      </p:sp>
      <p:sp>
        <p:nvSpPr>
          <p:cNvPr id="17" name="Text 15"/>
          <p:cNvSpPr/>
          <p:nvPr/>
        </p:nvSpPr>
        <p:spPr>
          <a:xfrm>
            <a:off x="500380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13</a:t>
            </a:r>
            <a:endParaRPr lang="en-US" sz="1200" dirty="0"/>
          </a:p>
        </p:txBody>
      </p:sp>
      <p:sp>
        <p:nvSpPr>
          <p:cNvPr id="18" name="Text 16"/>
          <p:cNvSpPr/>
          <p:nvPr/>
        </p:nvSpPr>
        <p:spPr>
          <a:xfrm>
            <a:off x="535305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14</a:t>
            </a:r>
            <a:endParaRPr lang="en-US" sz="1200" dirty="0"/>
          </a:p>
        </p:txBody>
      </p:sp>
      <p:sp>
        <p:nvSpPr>
          <p:cNvPr id="19" name="Text 17"/>
          <p:cNvSpPr/>
          <p:nvPr/>
        </p:nvSpPr>
        <p:spPr>
          <a:xfrm>
            <a:off x="570230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15</a:t>
            </a:r>
            <a:endParaRPr lang="en-US" sz="1200" dirty="0"/>
          </a:p>
        </p:txBody>
      </p:sp>
      <p:sp>
        <p:nvSpPr>
          <p:cNvPr id="20" name="Text 18"/>
          <p:cNvSpPr/>
          <p:nvPr/>
        </p:nvSpPr>
        <p:spPr>
          <a:xfrm>
            <a:off x="605155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16</a:t>
            </a:r>
            <a:endParaRPr lang="en-US" sz="1200" dirty="0"/>
          </a:p>
        </p:txBody>
      </p:sp>
      <p:sp>
        <p:nvSpPr>
          <p:cNvPr id="21" name="Text 19"/>
          <p:cNvSpPr/>
          <p:nvPr/>
        </p:nvSpPr>
        <p:spPr>
          <a:xfrm>
            <a:off x="640080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17</a:t>
            </a:r>
            <a:endParaRPr lang="en-US" sz="1200" dirty="0"/>
          </a:p>
        </p:txBody>
      </p:sp>
      <p:sp>
        <p:nvSpPr>
          <p:cNvPr id="22" name="Text 20"/>
          <p:cNvSpPr/>
          <p:nvPr/>
        </p:nvSpPr>
        <p:spPr>
          <a:xfrm>
            <a:off x="675005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18</a:t>
            </a:r>
            <a:endParaRPr lang="en-US" sz="1200" dirty="0"/>
          </a:p>
        </p:txBody>
      </p:sp>
      <p:sp>
        <p:nvSpPr>
          <p:cNvPr id="23" name="Text 21"/>
          <p:cNvSpPr/>
          <p:nvPr/>
        </p:nvSpPr>
        <p:spPr>
          <a:xfrm>
            <a:off x="7099300" y="2232571"/>
            <a:ext cx="330200" cy="304800"/>
          </a:xfrm>
          <a:prstGeom prst="rect">
            <a:avLst/>
          </a:prstGeom>
          <a:solidFill>
            <a:srgbClr val="06B050"/>
          </a:solidFill>
          <a:ln/>
        </p:spPr>
        <p:txBody>
          <a:bodyPr wrap="square" lIns="0" tIns="0" rIns="0" bIns="0" rtlCol="0" anchor="t">
            <a:normAutofit/>
          </a:bodyPr>
          <a:lstStyle/>
          <a:p>
            <a:pPr algn="ctr" indent="0" marL="0">
              <a:lnSpc>
                <a:spcPts val="2400"/>
              </a:lnSpc>
              <a:buNone/>
            </a:pPr>
            <a:r>
              <a:rPr lang="en-US" sz="1200" dirty="0">
                <a:solidFill>
                  <a:srgbClr val="14110A"/>
                </a:solidFill>
                <a:latin typeface="Courier New" pitchFamily="49" charset="0"/>
                <a:ea typeface="Courier New" pitchFamily="49" charset="-122"/>
                <a:cs typeface="Courier New" pitchFamily="49" charset="-120"/>
              </a:rPr>
              <a:t>19</a:t>
            </a:r>
            <a:endParaRPr lang="en-US" sz="1200" dirty="0"/>
          </a:p>
        </p:txBody>
      </p:sp>
      <p:sp>
        <p:nvSpPr>
          <p:cNvPr id="24" name="Text 22"/>
          <p:cNvSpPr/>
          <p:nvPr/>
        </p:nvSpPr>
        <p:spPr>
          <a:xfrm>
            <a:off x="7448550" y="2232571"/>
            <a:ext cx="330200" cy="304800"/>
          </a:xfrm>
          <a:prstGeom prst="rect">
            <a:avLst/>
          </a:prstGeom>
          <a:solidFill>
            <a:srgbClr val="06B050"/>
          </a:solidFill>
          <a:ln/>
        </p:spPr>
        <p:txBody>
          <a:bodyPr wrap="square" lIns="0" tIns="0" rIns="0" bIns="0" rtlCol="0" anchor="t">
            <a:normAutofit/>
          </a:bodyPr>
          <a:lstStyle/>
          <a:p>
            <a:pPr algn="ctr" indent="0" marL="0">
              <a:lnSpc>
                <a:spcPts val="2400"/>
              </a:lnSpc>
              <a:buNone/>
            </a:pPr>
            <a:r>
              <a:rPr lang="en-US" sz="1200" dirty="0">
                <a:solidFill>
                  <a:srgbClr val="14110A"/>
                </a:solidFill>
                <a:latin typeface="Courier New" pitchFamily="49" charset="0"/>
                <a:ea typeface="Courier New" pitchFamily="49" charset="-122"/>
                <a:cs typeface="Courier New" pitchFamily="49" charset="-120"/>
              </a:rPr>
              <a:t>20</a:t>
            </a:r>
            <a:endParaRPr lang="en-US" sz="1200" dirty="0"/>
          </a:p>
        </p:txBody>
      </p:sp>
      <p:sp>
        <p:nvSpPr>
          <p:cNvPr id="25" name="Text 23"/>
          <p:cNvSpPr/>
          <p:nvPr/>
        </p:nvSpPr>
        <p:spPr>
          <a:xfrm>
            <a:off x="7797800" y="2232571"/>
            <a:ext cx="330200" cy="304800"/>
          </a:xfrm>
          <a:prstGeom prst="rect">
            <a:avLst/>
          </a:prstGeom>
          <a:solidFill>
            <a:srgbClr val="06B050"/>
          </a:solidFill>
          <a:ln/>
        </p:spPr>
        <p:txBody>
          <a:bodyPr wrap="square" lIns="0" tIns="0" rIns="0" bIns="0" rtlCol="0" anchor="t">
            <a:normAutofit/>
          </a:bodyPr>
          <a:lstStyle/>
          <a:p>
            <a:pPr algn="ctr" indent="0" marL="0">
              <a:lnSpc>
                <a:spcPts val="2400"/>
              </a:lnSpc>
              <a:buNone/>
            </a:pPr>
            <a:r>
              <a:rPr lang="en-US" sz="1200" dirty="0">
                <a:solidFill>
                  <a:srgbClr val="14110A"/>
                </a:solidFill>
                <a:latin typeface="Courier New" pitchFamily="49" charset="0"/>
                <a:ea typeface="Courier New" pitchFamily="49" charset="-122"/>
                <a:cs typeface="Courier New" pitchFamily="49" charset="-120"/>
              </a:rPr>
              <a:t>21</a:t>
            </a:r>
            <a:endParaRPr lang="en-US" sz="1200" dirty="0"/>
          </a:p>
        </p:txBody>
      </p:sp>
      <p:sp>
        <p:nvSpPr>
          <p:cNvPr id="26" name="Text 24"/>
          <p:cNvSpPr/>
          <p:nvPr/>
        </p:nvSpPr>
        <p:spPr>
          <a:xfrm>
            <a:off x="814705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22</a:t>
            </a:r>
            <a:endParaRPr lang="en-US" sz="1200" dirty="0"/>
          </a:p>
        </p:txBody>
      </p:sp>
      <p:sp>
        <p:nvSpPr>
          <p:cNvPr id="27" name="Text 25"/>
          <p:cNvSpPr/>
          <p:nvPr/>
        </p:nvSpPr>
        <p:spPr>
          <a:xfrm>
            <a:off x="849630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23</a:t>
            </a:r>
            <a:endParaRPr lang="en-US" sz="1200" dirty="0"/>
          </a:p>
        </p:txBody>
      </p:sp>
      <p:sp>
        <p:nvSpPr>
          <p:cNvPr id="28" name="Text 26"/>
          <p:cNvSpPr/>
          <p:nvPr/>
        </p:nvSpPr>
        <p:spPr>
          <a:xfrm>
            <a:off x="8845550" y="223257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24</a:t>
            </a:r>
            <a:endParaRPr lang="en-US" sz="1200" dirty="0"/>
          </a:p>
        </p:txBody>
      </p:sp>
      <p:sp>
        <p:nvSpPr>
          <p:cNvPr id="29" name="Text 27"/>
          <p:cNvSpPr/>
          <p:nvPr/>
        </p:nvSpPr>
        <p:spPr>
          <a:xfrm>
            <a:off x="9194800" y="223257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25</a:t>
            </a:r>
            <a:endParaRPr lang="en-US" sz="1200" dirty="0"/>
          </a:p>
        </p:txBody>
      </p:sp>
      <p:sp>
        <p:nvSpPr>
          <p:cNvPr id="30" name="Text 28"/>
          <p:cNvSpPr/>
          <p:nvPr/>
        </p:nvSpPr>
        <p:spPr>
          <a:xfrm>
            <a:off x="9544050" y="223257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26</a:t>
            </a:r>
            <a:endParaRPr lang="en-US" sz="1200" dirty="0"/>
          </a:p>
        </p:txBody>
      </p:sp>
      <p:sp>
        <p:nvSpPr>
          <p:cNvPr id="31" name="Text 29"/>
          <p:cNvSpPr/>
          <p:nvPr/>
        </p:nvSpPr>
        <p:spPr>
          <a:xfrm>
            <a:off x="9893300" y="223257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27</a:t>
            </a:r>
            <a:endParaRPr lang="en-US" sz="1200" dirty="0"/>
          </a:p>
        </p:txBody>
      </p:sp>
      <p:sp>
        <p:nvSpPr>
          <p:cNvPr id="32" name="Text 30"/>
          <p:cNvSpPr/>
          <p:nvPr/>
        </p:nvSpPr>
        <p:spPr>
          <a:xfrm>
            <a:off x="10242550" y="223257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28</a:t>
            </a:r>
            <a:endParaRPr lang="en-US" sz="1200" dirty="0"/>
          </a:p>
        </p:txBody>
      </p:sp>
      <p:sp>
        <p:nvSpPr>
          <p:cNvPr id="33" name="Text 31"/>
          <p:cNvSpPr/>
          <p:nvPr/>
        </p:nvSpPr>
        <p:spPr>
          <a:xfrm>
            <a:off x="10591800" y="223257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29</a:t>
            </a:r>
            <a:endParaRPr lang="en-US" sz="1200" dirty="0"/>
          </a:p>
        </p:txBody>
      </p:sp>
      <p:sp>
        <p:nvSpPr>
          <p:cNvPr id="34" name="Text 32"/>
          <p:cNvSpPr/>
          <p:nvPr/>
        </p:nvSpPr>
        <p:spPr>
          <a:xfrm>
            <a:off x="10941050" y="223257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30</a:t>
            </a:r>
            <a:endParaRPr lang="en-US" sz="1200" dirty="0"/>
          </a:p>
        </p:txBody>
      </p:sp>
      <p:sp>
        <p:nvSpPr>
          <p:cNvPr id="35" name="Text 33"/>
          <p:cNvSpPr/>
          <p:nvPr/>
        </p:nvSpPr>
        <p:spPr>
          <a:xfrm>
            <a:off x="787400" y="2575471"/>
            <a:ext cx="749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Arial" pitchFamily="34" charset="0"/>
                <a:ea typeface="Arial" pitchFamily="34" charset="-122"/>
                <a:cs typeface="Arial" pitchFamily="34" charset="-120"/>
              </a:rPr>
              <a:t>接頭辞</a:t>
            </a:r>
            <a:endParaRPr lang="en-US" sz="1200" dirty="0"/>
          </a:p>
        </p:txBody>
      </p:sp>
      <p:sp>
        <p:nvSpPr>
          <p:cNvPr id="36" name="Text 34"/>
          <p:cNvSpPr/>
          <p:nvPr/>
        </p:nvSpPr>
        <p:spPr>
          <a:xfrm>
            <a:off x="1562100" y="2575471"/>
            <a:ext cx="21060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X 先頭の枠</a:t>
            </a:r>
            <a:endParaRPr lang="en-US" sz="1200" dirty="0"/>
          </a:p>
        </p:txBody>
      </p:sp>
      <p:sp>
        <p:nvSpPr>
          <p:cNvPr id="37" name="Text 35"/>
          <p:cNvSpPr/>
          <p:nvPr/>
        </p:nvSpPr>
        <p:spPr>
          <a:xfrm>
            <a:off x="3559651" y="2575471"/>
            <a:ext cx="323754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6B050"/>
                </a:solidFill>
                <a:latin typeface="Arial" pitchFamily="34" charset="0"/>
                <a:ea typeface="Arial" pitchFamily="34" charset="-122"/>
                <a:cs typeface="Arial" pitchFamily="34" charset="-120"/>
              </a:rPr>
              <a:t>T：M/5の不足なし、繰り返しなし</a:t>
            </a:r>
            <a:endParaRPr lang="en-US" sz="1200" dirty="0"/>
          </a:p>
        </p:txBody>
      </p:sp>
      <p:sp>
        <p:nvSpPr>
          <p:cNvPr id="38" name="Text 36"/>
          <p:cNvSpPr/>
          <p:nvPr/>
        </p:nvSpPr>
        <p:spPr>
          <a:xfrm>
            <a:off x="6718617" y="2575471"/>
            <a:ext cx="215836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R：すべて異なる、97%</a:t>
            </a:r>
            <a:endParaRPr lang="en-US" sz="1200" dirty="0"/>
          </a:p>
        </p:txBody>
      </p:sp>
      <p:sp>
        <p:nvSpPr>
          <p:cNvPr id="39" name="Text 37"/>
          <p:cNvSpPr/>
          <p:nvPr/>
        </p:nvSpPr>
        <p:spPr>
          <a:xfrm>
            <a:off x="812800" y="294119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3"/>
                </a:solidFill>
                <a:latin typeface="Arial" pitchFamily="34" charset="0"/>
                <a:ea typeface="Arial" pitchFamily="34" charset="-122"/>
                <a:cs typeface="Arial" pitchFamily="34" charset="-120"/>
              </a:rPr>
              <a:t>改訂後</a:t>
            </a:r>
            <a:endParaRPr lang="en-US" sz="1200" dirty="0"/>
          </a:p>
        </p:txBody>
      </p:sp>
      <p:sp>
        <p:nvSpPr>
          <p:cNvPr id="40" name="Text 38"/>
          <p:cNvSpPr/>
          <p:nvPr/>
        </p:nvSpPr>
        <p:spPr>
          <a:xfrm>
            <a:off x="812800" y="3205311"/>
            <a:ext cx="330200" cy="304800"/>
          </a:xfrm>
          <a:prstGeom prst="rect">
            <a:avLst/>
          </a:prstGeom>
          <a:solidFill>
            <a:srgbClr val="7D8894">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1</a:t>
            </a:r>
            <a:endParaRPr lang="en-US" sz="1200" dirty="0"/>
          </a:p>
        </p:txBody>
      </p:sp>
      <p:sp>
        <p:nvSpPr>
          <p:cNvPr id="41" name="Text 39"/>
          <p:cNvSpPr/>
          <p:nvPr/>
        </p:nvSpPr>
        <p:spPr>
          <a:xfrm>
            <a:off x="1162050" y="3205311"/>
            <a:ext cx="330200" cy="304800"/>
          </a:xfrm>
          <a:prstGeom prst="rect">
            <a:avLst/>
          </a:prstGeom>
          <a:solidFill>
            <a:srgbClr val="7D8894">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a:t>
            </a:r>
            <a:endParaRPr lang="en-US" sz="1200" dirty="0"/>
          </a:p>
        </p:txBody>
      </p:sp>
      <p:sp>
        <p:nvSpPr>
          <p:cNvPr id="42" name="Text 40"/>
          <p:cNvSpPr/>
          <p:nvPr/>
        </p:nvSpPr>
        <p:spPr>
          <a:xfrm>
            <a:off x="1511300" y="320531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3</a:t>
            </a:r>
            <a:endParaRPr lang="en-US" sz="1200" dirty="0"/>
          </a:p>
        </p:txBody>
      </p:sp>
      <p:sp>
        <p:nvSpPr>
          <p:cNvPr id="43" name="Text 41"/>
          <p:cNvSpPr/>
          <p:nvPr/>
        </p:nvSpPr>
        <p:spPr>
          <a:xfrm>
            <a:off x="1860550" y="320531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4</a:t>
            </a:r>
            <a:endParaRPr lang="en-US" sz="1200" dirty="0"/>
          </a:p>
        </p:txBody>
      </p:sp>
      <p:sp>
        <p:nvSpPr>
          <p:cNvPr id="44" name="Text 42"/>
          <p:cNvSpPr/>
          <p:nvPr/>
        </p:nvSpPr>
        <p:spPr>
          <a:xfrm>
            <a:off x="220980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5</a:t>
            </a:r>
            <a:endParaRPr lang="en-US" sz="1200" dirty="0"/>
          </a:p>
        </p:txBody>
      </p:sp>
      <p:sp>
        <p:nvSpPr>
          <p:cNvPr id="45" name="Text 43"/>
          <p:cNvSpPr/>
          <p:nvPr/>
        </p:nvSpPr>
        <p:spPr>
          <a:xfrm>
            <a:off x="255905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6</a:t>
            </a:r>
            <a:endParaRPr lang="en-US" sz="1200" dirty="0"/>
          </a:p>
        </p:txBody>
      </p:sp>
      <p:sp>
        <p:nvSpPr>
          <p:cNvPr id="46" name="Text 44"/>
          <p:cNvSpPr/>
          <p:nvPr/>
        </p:nvSpPr>
        <p:spPr>
          <a:xfrm>
            <a:off x="290830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7</a:t>
            </a:r>
            <a:endParaRPr lang="en-US" sz="1200" dirty="0"/>
          </a:p>
        </p:txBody>
      </p:sp>
      <p:sp>
        <p:nvSpPr>
          <p:cNvPr id="47" name="Text 45"/>
          <p:cNvSpPr/>
          <p:nvPr/>
        </p:nvSpPr>
        <p:spPr>
          <a:xfrm>
            <a:off x="325755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8</a:t>
            </a:r>
            <a:endParaRPr lang="en-US" sz="1200" dirty="0"/>
          </a:p>
        </p:txBody>
      </p:sp>
      <p:sp>
        <p:nvSpPr>
          <p:cNvPr id="48" name="Text 46"/>
          <p:cNvSpPr/>
          <p:nvPr/>
        </p:nvSpPr>
        <p:spPr>
          <a:xfrm>
            <a:off x="360680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9</a:t>
            </a:r>
            <a:endParaRPr lang="en-US" sz="1200" dirty="0"/>
          </a:p>
        </p:txBody>
      </p:sp>
      <p:sp>
        <p:nvSpPr>
          <p:cNvPr id="49" name="Text 47"/>
          <p:cNvSpPr/>
          <p:nvPr/>
        </p:nvSpPr>
        <p:spPr>
          <a:xfrm>
            <a:off x="395605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10</a:t>
            </a:r>
            <a:endParaRPr lang="en-US" sz="1200" dirty="0"/>
          </a:p>
        </p:txBody>
      </p:sp>
      <p:sp>
        <p:nvSpPr>
          <p:cNvPr id="50" name="Text 48"/>
          <p:cNvSpPr/>
          <p:nvPr/>
        </p:nvSpPr>
        <p:spPr>
          <a:xfrm>
            <a:off x="430530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11</a:t>
            </a:r>
            <a:endParaRPr lang="en-US" sz="1200" dirty="0"/>
          </a:p>
        </p:txBody>
      </p:sp>
      <p:sp>
        <p:nvSpPr>
          <p:cNvPr id="51" name="Text 49"/>
          <p:cNvSpPr/>
          <p:nvPr/>
        </p:nvSpPr>
        <p:spPr>
          <a:xfrm>
            <a:off x="465455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12</a:t>
            </a:r>
            <a:endParaRPr lang="en-US" sz="1200" dirty="0"/>
          </a:p>
        </p:txBody>
      </p:sp>
      <p:sp>
        <p:nvSpPr>
          <p:cNvPr id="52" name="Text 50"/>
          <p:cNvSpPr/>
          <p:nvPr/>
        </p:nvSpPr>
        <p:spPr>
          <a:xfrm>
            <a:off x="500380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13</a:t>
            </a:r>
            <a:endParaRPr lang="en-US" sz="1200" dirty="0"/>
          </a:p>
        </p:txBody>
      </p:sp>
      <p:sp>
        <p:nvSpPr>
          <p:cNvPr id="53" name="Text 51"/>
          <p:cNvSpPr/>
          <p:nvPr/>
        </p:nvSpPr>
        <p:spPr>
          <a:xfrm>
            <a:off x="535305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14</a:t>
            </a:r>
            <a:endParaRPr lang="en-US" sz="1200" dirty="0"/>
          </a:p>
        </p:txBody>
      </p:sp>
      <p:sp>
        <p:nvSpPr>
          <p:cNvPr id="54" name="Text 52"/>
          <p:cNvSpPr/>
          <p:nvPr/>
        </p:nvSpPr>
        <p:spPr>
          <a:xfrm>
            <a:off x="570230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15</a:t>
            </a:r>
            <a:endParaRPr lang="en-US" sz="1200" dirty="0"/>
          </a:p>
        </p:txBody>
      </p:sp>
      <p:sp>
        <p:nvSpPr>
          <p:cNvPr id="55" name="Text 53"/>
          <p:cNvSpPr/>
          <p:nvPr/>
        </p:nvSpPr>
        <p:spPr>
          <a:xfrm>
            <a:off x="6051550" y="3205311"/>
            <a:ext cx="330200" cy="304800"/>
          </a:xfrm>
          <a:prstGeom prst="rect">
            <a:avLst/>
          </a:prstGeom>
          <a:solidFill>
            <a:srgbClr val="06B050"/>
          </a:solidFill>
          <a:ln/>
        </p:spPr>
        <p:txBody>
          <a:bodyPr wrap="square" lIns="0" tIns="0" rIns="0" bIns="0" rtlCol="0" anchor="t">
            <a:normAutofit/>
          </a:bodyPr>
          <a:lstStyle/>
          <a:p>
            <a:pPr algn="ctr" indent="0" marL="0">
              <a:lnSpc>
                <a:spcPts val="2400"/>
              </a:lnSpc>
              <a:buNone/>
            </a:pPr>
            <a:r>
              <a:rPr lang="en-US" sz="1200" dirty="0">
                <a:solidFill>
                  <a:srgbClr val="14110A"/>
                </a:solidFill>
                <a:latin typeface="Courier New" pitchFamily="49" charset="0"/>
                <a:ea typeface="Courier New" pitchFamily="49" charset="-122"/>
                <a:cs typeface="Courier New" pitchFamily="49" charset="-120"/>
              </a:rPr>
              <a:t>16</a:t>
            </a:r>
            <a:endParaRPr lang="en-US" sz="1200" dirty="0"/>
          </a:p>
        </p:txBody>
      </p:sp>
      <p:sp>
        <p:nvSpPr>
          <p:cNvPr id="56" name="Text 54"/>
          <p:cNvSpPr/>
          <p:nvPr/>
        </p:nvSpPr>
        <p:spPr>
          <a:xfrm>
            <a:off x="6400800" y="3205311"/>
            <a:ext cx="330200" cy="304800"/>
          </a:xfrm>
          <a:prstGeom prst="rect">
            <a:avLst/>
          </a:prstGeom>
          <a:solidFill>
            <a:srgbClr val="06B050"/>
          </a:solidFill>
          <a:ln/>
        </p:spPr>
        <p:txBody>
          <a:bodyPr wrap="square" lIns="0" tIns="0" rIns="0" bIns="0" rtlCol="0" anchor="t">
            <a:normAutofit/>
          </a:bodyPr>
          <a:lstStyle/>
          <a:p>
            <a:pPr algn="ctr" indent="0" marL="0">
              <a:lnSpc>
                <a:spcPts val="2400"/>
              </a:lnSpc>
              <a:buNone/>
            </a:pPr>
            <a:r>
              <a:rPr lang="en-US" sz="1200" dirty="0">
                <a:solidFill>
                  <a:srgbClr val="14110A"/>
                </a:solidFill>
                <a:latin typeface="Courier New" pitchFamily="49" charset="0"/>
                <a:ea typeface="Courier New" pitchFamily="49" charset="-122"/>
                <a:cs typeface="Courier New" pitchFamily="49" charset="-120"/>
              </a:rPr>
              <a:t>17</a:t>
            </a:r>
            <a:endParaRPr lang="en-US" sz="1200" dirty="0"/>
          </a:p>
        </p:txBody>
      </p:sp>
      <p:sp>
        <p:nvSpPr>
          <p:cNvPr id="57" name="Text 55"/>
          <p:cNvSpPr/>
          <p:nvPr/>
        </p:nvSpPr>
        <p:spPr>
          <a:xfrm>
            <a:off x="675005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18</a:t>
            </a:r>
            <a:endParaRPr lang="en-US" sz="1200" dirty="0"/>
          </a:p>
        </p:txBody>
      </p:sp>
      <p:sp>
        <p:nvSpPr>
          <p:cNvPr id="58" name="Shape 56"/>
          <p:cNvSpPr/>
          <p:nvPr/>
        </p:nvSpPr>
        <p:spPr>
          <a:xfrm>
            <a:off x="7105650" y="3198961"/>
            <a:ext cx="1016000" cy="317500"/>
          </a:xfrm>
          <a:prstGeom prst="rect">
            <a:avLst/>
          </a:prstGeom>
          <a:noFill/>
          <a:ln w="12700">
            <a:solidFill>
              <a:srgbClr val="E6EDF3"/>
            </a:solidFill>
            <a:prstDash val="dash"/>
          </a:ln>
        </p:spPr>
      </p:sp>
      <p:sp>
        <p:nvSpPr>
          <p:cNvPr id="59" name="Text 57"/>
          <p:cNvSpPr/>
          <p:nvPr/>
        </p:nvSpPr>
        <p:spPr>
          <a:xfrm>
            <a:off x="711200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19</a:t>
            </a:r>
            <a:endParaRPr lang="en-US" sz="1200" dirty="0"/>
          </a:p>
        </p:txBody>
      </p:sp>
      <p:sp>
        <p:nvSpPr>
          <p:cNvPr id="60" name="Text 58"/>
          <p:cNvSpPr/>
          <p:nvPr/>
        </p:nvSpPr>
        <p:spPr>
          <a:xfrm>
            <a:off x="746125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20</a:t>
            </a:r>
            <a:endParaRPr lang="en-US" sz="1200" dirty="0"/>
          </a:p>
        </p:txBody>
      </p:sp>
      <p:sp>
        <p:nvSpPr>
          <p:cNvPr id="61" name="Text 59"/>
          <p:cNvSpPr/>
          <p:nvPr/>
        </p:nvSpPr>
        <p:spPr>
          <a:xfrm>
            <a:off x="781050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21</a:t>
            </a:r>
            <a:endParaRPr lang="en-US" sz="1200" dirty="0"/>
          </a:p>
        </p:txBody>
      </p:sp>
      <p:sp>
        <p:nvSpPr>
          <p:cNvPr id="62" name="Text 60"/>
          <p:cNvSpPr/>
          <p:nvPr/>
        </p:nvSpPr>
        <p:spPr>
          <a:xfrm>
            <a:off x="814705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22</a:t>
            </a:r>
            <a:endParaRPr lang="en-US" sz="1200" dirty="0"/>
          </a:p>
        </p:txBody>
      </p:sp>
      <p:sp>
        <p:nvSpPr>
          <p:cNvPr id="63" name="Text 61"/>
          <p:cNvSpPr/>
          <p:nvPr/>
        </p:nvSpPr>
        <p:spPr>
          <a:xfrm>
            <a:off x="849630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23</a:t>
            </a:r>
            <a:endParaRPr lang="en-US" sz="1200" dirty="0"/>
          </a:p>
        </p:txBody>
      </p:sp>
      <p:sp>
        <p:nvSpPr>
          <p:cNvPr id="64" name="Text 62"/>
          <p:cNvSpPr/>
          <p:nvPr/>
        </p:nvSpPr>
        <p:spPr>
          <a:xfrm>
            <a:off x="8845550" y="3205311"/>
            <a:ext cx="330200" cy="304800"/>
          </a:xfrm>
          <a:prstGeom prst="rect">
            <a:avLst/>
          </a:prstGeom>
          <a:solidFill>
            <a:srgbClr val="06B050">
              <a:alpha val="10000"/>
            </a:srgbClr>
          </a:solidFill>
          <a:ln/>
        </p:spPr>
        <p:txBody>
          <a:bodyPr wrap="square" lIns="0" tIns="0" rIns="0" bIns="0" rtlCol="0" anchor="t">
            <a:normAutofit/>
          </a:bodyPr>
          <a:lstStyle/>
          <a:p>
            <a:pPr algn="ctr" indent="0" marL="0">
              <a:lnSpc>
                <a:spcPts val="2400"/>
              </a:lnSpc>
              <a:buNone/>
            </a:pPr>
            <a:r>
              <a:rPr lang="en-US" sz="1200" dirty="0">
                <a:solidFill>
                  <a:srgbClr val="A9B4BF"/>
                </a:solidFill>
                <a:latin typeface="Courier New" pitchFamily="49" charset="0"/>
                <a:ea typeface="Courier New" pitchFamily="49" charset="-122"/>
                <a:cs typeface="Courier New" pitchFamily="49" charset="-120"/>
              </a:rPr>
              <a:t>24</a:t>
            </a:r>
            <a:endParaRPr lang="en-US" sz="1200" dirty="0"/>
          </a:p>
        </p:txBody>
      </p:sp>
      <p:sp>
        <p:nvSpPr>
          <p:cNvPr id="65" name="Text 63"/>
          <p:cNvSpPr/>
          <p:nvPr/>
        </p:nvSpPr>
        <p:spPr>
          <a:xfrm>
            <a:off x="9194800" y="320531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25</a:t>
            </a:r>
            <a:endParaRPr lang="en-US" sz="1200" dirty="0"/>
          </a:p>
        </p:txBody>
      </p:sp>
      <p:sp>
        <p:nvSpPr>
          <p:cNvPr id="66" name="Text 64"/>
          <p:cNvSpPr/>
          <p:nvPr/>
        </p:nvSpPr>
        <p:spPr>
          <a:xfrm>
            <a:off x="9544050" y="320531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26</a:t>
            </a:r>
            <a:endParaRPr lang="en-US" sz="1200" dirty="0"/>
          </a:p>
        </p:txBody>
      </p:sp>
      <p:sp>
        <p:nvSpPr>
          <p:cNvPr id="67" name="Text 65"/>
          <p:cNvSpPr/>
          <p:nvPr/>
        </p:nvSpPr>
        <p:spPr>
          <a:xfrm>
            <a:off x="9893300" y="320531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27</a:t>
            </a:r>
            <a:endParaRPr lang="en-US" sz="1200" dirty="0"/>
          </a:p>
        </p:txBody>
      </p:sp>
      <p:sp>
        <p:nvSpPr>
          <p:cNvPr id="68" name="Text 66"/>
          <p:cNvSpPr/>
          <p:nvPr/>
        </p:nvSpPr>
        <p:spPr>
          <a:xfrm>
            <a:off x="10242550" y="320531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28</a:t>
            </a:r>
            <a:endParaRPr lang="en-US" sz="1200" dirty="0"/>
          </a:p>
        </p:txBody>
      </p:sp>
      <p:sp>
        <p:nvSpPr>
          <p:cNvPr id="69" name="Text 67"/>
          <p:cNvSpPr/>
          <p:nvPr/>
        </p:nvSpPr>
        <p:spPr>
          <a:xfrm>
            <a:off x="10591800" y="320531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29</a:t>
            </a:r>
            <a:endParaRPr lang="en-US" sz="1200" dirty="0"/>
          </a:p>
        </p:txBody>
      </p:sp>
      <p:sp>
        <p:nvSpPr>
          <p:cNvPr id="70" name="Text 68"/>
          <p:cNvSpPr/>
          <p:nvPr/>
        </p:nvSpPr>
        <p:spPr>
          <a:xfrm>
            <a:off x="10941050" y="3205311"/>
            <a:ext cx="330200" cy="304800"/>
          </a:xfrm>
          <a:prstGeom prst="rect">
            <a:avLst/>
          </a:prstGeom>
          <a:solidFill>
            <a:srgbClr val="06B050">
              <a:alpha val="40000"/>
            </a:srgbClr>
          </a:solidFill>
          <a:ln/>
        </p:spPr>
        <p:txBody>
          <a:bodyPr wrap="square" lIns="0" tIns="0" rIns="0" bIns="0" rtlCol="0" anchor="t">
            <a:normAutofit/>
          </a:bodyPr>
          <a:lstStyle/>
          <a:p>
            <a:pPr algn="ctr" indent="0" marL="0">
              <a:lnSpc>
                <a:spcPts val="2400"/>
              </a:lnSpc>
              <a:buNone/>
            </a:pPr>
            <a:r>
              <a:rPr lang="en-US" sz="1200" dirty="0">
                <a:solidFill>
                  <a:srgbClr val="E6EDF3"/>
                </a:solidFill>
                <a:latin typeface="Courier New" pitchFamily="49" charset="0"/>
                <a:ea typeface="Courier New" pitchFamily="49" charset="-122"/>
                <a:cs typeface="Courier New" pitchFamily="49" charset="-120"/>
              </a:rPr>
              <a:t>30</a:t>
            </a:r>
            <a:endParaRPr lang="en-US" sz="1200" dirty="0"/>
          </a:p>
        </p:txBody>
      </p:sp>
      <p:sp>
        <p:nvSpPr>
          <p:cNvPr id="71" name="Text 69"/>
          <p:cNvSpPr/>
          <p:nvPr/>
        </p:nvSpPr>
        <p:spPr>
          <a:xfrm>
            <a:off x="787400" y="3560911"/>
            <a:ext cx="749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Arial" pitchFamily="34" charset="0"/>
                <a:ea typeface="Arial" pitchFamily="34" charset="-122"/>
                <a:cs typeface="Arial" pitchFamily="34" charset="-120"/>
              </a:rPr>
              <a:t>接頭辞</a:t>
            </a:r>
            <a:endParaRPr lang="en-US" sz="1200" dirty="0"/>
          </a:p>
        </p:txBody>
      </p:sp>
      <p:sp>
        <p:nvSpPr>
          <p:cNvPr id="72" name="Text 70"/>
          <p:cNvSpPr/>
          <p:nvPr/>
        </p:nvSpPr>
        <p:spPr>
          <a:xfrm>
            <a:off x="1562100" y="3560911"/>
            <a:ext cx="698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X</a:t>
            </a:r>
            <a:endParaRPr lang="en-US" sz="1200" dirty="0"/>
          </a:p>
        </p:txBody>
      </p:sp>
      <p:sp>
        <p:nvSpPr>
          <p:cNvPr id="73" name="Text 71"/>
          <p:cNvSpPr/>
          <p:nvPr/>
        </p:nvSpPr>
        <p:spPr>
          <a:xfrm>
            <a:off x="2125980" y="3560911"/>
            <a:ext cx="28778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6B050"/>
                </a:solidFill>
                <a:latin typeface="Arial" pitchFamily="34" charset="0"/>
                <a:ea typeface="Arial" pitchFamily="34" charset="-122"/>
                <a:cs typeface="Arial" pitchFamily="34" charset="-120"/>
              </a:rPr>
              <a:t>X₂：新しい枠、M/5の不足なし</a:t>
            </a:r>
            <a:endParaRPr lang="en-US" sz="1200" dirty="0"/>
          </a:p>
        </p:txBody>
      </p:sp>
      <p:sp>
        <p:nvSpPr>
          <p:cNvPr id="74" name="Text 72"/>
          <p:cNvSpPr/>
          <p:nvPr/>
        </p:nvSpPr>
        <p:spPr>
          <a:xfrm>
            <a:off x="4978400" y="3560911"/>
            <a:ext cx="10985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Arial" pitchFamily="34" charset="0"/>
                <a:ea typeface="Arial" pitchFamily="34" charset="-122"/>
                <a:cs typeface="Arial" pitchFamily="34" charset="-120"/>
              </a:rPr>
              <a:t>Tは削除</a:t>
            </a:r>
            <a:endParaRPr lang="en-US" sz="1200" dirty="0"/>
          </a:p>
        </p:txBody>
      </p:sp>
      <p:sp>
        <p:nvSpPr>
          <p:cNvPr id="75" name="Text 73"/>
          <p:cNvSpPr/>
          <p:nvPr/>
        </p:nvSpPr>
        <p:spPr>
          <a:xfrm>
            <a:off x="6020118" y="3560911"/>
            <a:ext cx="215836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R</a:t>
            </a:r>
            <a:endParaRPr lang="en-US" sz="1200" dirty="0"/>
          </a:p>
        </p:txBody>
      </p:sp>
      <p:sp>
        <p:nvSpPr>
          <p:cNvPr id="76" name="Shape 74"/>
          <p:cNvSpPr/>
          <p:nvPr/>
        </p:nvSpPr>
        <p:spPr>
          <a:xfrm>
            <a:off x="812800" y="4031407"/>
            <a:ext cx="5181600" cy="0"/>
          </a:xfrm>
          <a:prstGeom prst="line">
            <a:avLst/>
          </a:prstGeom>
          <a:noFill/>
          <a:ln w="6350">
            <a:solidFill>
              <a:srgbClr val="222A35"/>
            </a:solidFill>
            <a:prstDash val="solid"/>
          </a:ln>
        </p:spPr>
      </p:sp>
      <p:sp>
        <p:nvSpPr>
          <p:cNvPr id="77" name="Text 75"/>
          <p:cNvSpPr/>
          <p:nvPr/>
        </p:nvSpPr>
        <p:spPr>
          <a:xfrm>
            <a:off x="812800" y="4136182"/>
            <a:ext cx="533704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最尤の分割：</a:t>
            </a:r>
            <a:r>
              <a:rPr lang="en-US" sz="1600" dirty="0">
                <a:solidFill>
                  <a:srgbClr val="FFCC00"/>
                </a:solidFill>
                <a:latin typeface="Arial" pitchFamily="34" charset="0"/>
                <a:ea typeface="Arial" pitchFamily="34" charset="-122"/>
                <a:cs typeface="Arial" pitchFamily="34" charset="-120"/>
              </a:rPr>
              <a:t>2024年10月2日</a:t>
            </a:r>
            <a:r>
              <a:rPr lang="en-US" sz="1600" dirty="0">
                <a:solidFill>
                  <a:srgbClr val="E6EDF3"/>
                </a:solidFill>
                <a:latin typeface="Arial" pitchFamily="34" charset="0"/>
                <a:ea typeface="Arial" pitchFamily="34" charset="-122"/>
                <a:cs typeface="Arial" pitchFamily="34" charset="-120"/>
              </a:rPr>
              <a:t> 00:33〜00:57 UTC</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（米国では10月1日の夜）</a:t>
            </a:r>
            <a:endParaRPr lang="en-US" sz="1600" dirty="0"/>
          </a:p>
        </p:txBody>
      </p:sp>
      <p:sp>
        <p:nvSpPr>
          <p:cNvPr id="78" name="Shape 76"/>
          <p:cNvSpPr/>
          <p:nvPr/>
        </p:nvSpPr>
        <p:spPr>
          <a:xfrm>
            <a:off x="6197600" y="4031407"/>
            <a:ext cx="5181600" cy="0"/>
          </a:xfrm>
          <a:prstGeom prst="line">
            <a:avLst/>
          </a:prstGeom>
          <a:noFill/>
          <a:ln w="6350">
            <a:solidFill>
              <a:srgbClr val="222A35"/>
            </a:solidFill>
            <a:prstDash val="solid"/>
          </a:ln>
        </p:spPr>
      </p:sp>
      <p:sp>
        <p:nvSpPr>
          <p:cNvPr id="79" name="Text 77"/>
          <p:cNvSpPr/>
          <p:nvPr/>
        </p:nvSpPr>
        <p:spPr>
          <a:xfrm>
            <a:off x="6197600" y="4136182"/>
            <a:ext cx="533704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20対1の範囲：9月25日〜10月3日</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順序を並べ替えると切れ目なし（p &lt; 0.0002）</a:t>
            </a:r>
            <a:endParaRPr lang="en-US" sz="1600" dirty="0"/>
          </a:p>
        </p:txBody>
      </p:sp>
      <p:sp>
        <p:nvSpPr>
          <p:cNvPr id="80" name="Shape 78"/>
          <p:cNvSpPr/>
          <p:nvPr/>
        </p:nvSpPr>
        <p:spPr>
          <a:xfrm>
            <a:off x="812800" y="4952157"/>
            <a:ext cx="5181600" cy="0"/>
          </a:xfrm>
          <a:prstGeom prst="line">
            <a:avLst/>
          </a:prstGeom>
          <a:noFill/>
          <a:ln w="6350">
            <a:solidFill>
              <a:srgbClr val="222A35"/>
            </a:solidFill>
            <a:prstDash val="solid"/>
          </a:ln>
        </p:spPr>
      </p:sp>
      <p:sp>
        <p:nvSpPr>
          <p:cNvPr id="81" name="Text 79"/>
          <p:cNvSpPr/>
          <p:nvPr/>
        </p:nvSpPr>
        <p:spPr>
          <a:xfrm>
            <a:off x="812800" y="5056932"/>
            <a:ext cx="533704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改訂前：19〜21はM/5の不足を免れ、</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繰り返さない（2,587件中0と1）</a:t>
            </a:r>
            <a:endParaRPr lang="en-US" sz="1600" dirty="0"/>
          </a:p>
        </p:txBody>
      </p:sp>
      <p:sp>
        <p:nvSpPr>
          <p:cNvPr id="82" name="Shape 80"/>
          <p:cNvSpPr/>
          <p:nvPr/>
        </p:nvSpPr>
        <p:spPr>
          <a:xfrm>
            <a:off x="6197600" y="4952157"/>
            <a:ext cx="5181600" cy="0"/>
          </a:xfrm>
          <a:prstGeom prst="line">
            <a:avLst/>
          </a:prstGeom>
          <a:noFill/>
          <a:ln w="6350">
            <a:solidFill>
              <a:srgbClr val="222A35"/>
            </a:solidFill>
            <a:prstDash val="solid"/>
          </a:ln>
        </p:spPr>
      </p:sp>
      <p:sp>
        <p:nvSpPr>
          <p:cNvPr id="83" name="Text 81"/>
          <p:cNvSpPr/>
          <p:nvPr/>
        </p:nvSpPr>
        <p:spPr>
          <a:xfrm>
            <a:off x="6197600" y="5056932"/>
            <a:ext cx="533704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改訂後：どちらも消える（1,330件中48と48）</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16〜17が新たにM/5の不足を免れる</a:t>
            </a:r>
            <a:endParaRPr lang="en-US" sz="1600" dirty="0"/>
          </a:p>
        </p:txBody>
      </p:sp>
      <p:sp>
        <p:nvSpPr>
          <p:cNvPr id="84" name="Text 8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出典：eam_30char_format_analysis.html</a:t>
            </a:r>
            <a:endParaRPr lang="en-US" sz="1200" dirty="0"/>
          </a:p>
        </p:txBody>
      </p:sp>
      <p:sp>
        <p:nvSpPr>
          <p:cNvPr id="85" name="Text 8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形式分析の論文</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さらに4本の形式分析</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2933005"/>
        </p:xfrm>
        <a:graphic>
          <a:graphicData uri="http://schemas.openxmlformats.org/drawingml/2006/table">
            <a:tbl>
              <a:tblPr/>
              <a:tblGrid>
                <a:gridCol w="1160907"/>
                <a:gridCol w="2005203"/>
                <a:gridCol w="7387590"/>
              </a:tblGrid>
              <a:tr h="419001">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長さ</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群（一意）</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主な発見</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19001">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34</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D7D32"/>
                          </a:solidFill>
                          <a:latin typeface="Arial" pitchFamily="34" charset="0"/>
                          <a:ea typeface="Arial" pitchFamily="34" charset="-122"/>
                          <a:cs typeface="Arial" pitchFamily="34" charset="-120"/>
                        </a:rPr>
                        <a:t>第2群（146）</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Mと5の弱い不足だけ。位置の対は561対中0対が通過</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第3群（20）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22からの3〜7文字の並びが31で再び現れる（20件中17件）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D7D32"/>
                          </a:solidFill>
                          <a:latin typeface="Arial" pitchFamily="34" charset="0"/>
                          <a:ea typeface="Arial" pitchFamily="34" charset="-122"/>
                          <a:cs typeface="Arial" pitchFamily="34" charset="-120"/>
                        </a:rPr>
                        <a:t>第2群（39）</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16〜17が21〜22で繰り返す（35件中22件）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第3群（8）</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3文字の並びが5位置おきに3〜5回（8件中7件）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D7D32"/>
                          </a:solidFill>
                          <a:latin typeface="Arial" pitchFamily="34" charset="0"/>
                          <a:ea typeface="Arial" pitchFamily="34" charset="-122"/>
                          <a:cs typeface="Arial" pitchFamily="34" charset="-120"/>
                        </a:rPr>
                        <a:t>第2群（17）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15 = 23が17件中15件。15→23→27と17→25→29、+8と+12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19001">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46</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D7D32"/>
                          </a:solidFill>
                          <a:latin typeface="Arial" pitchFamily="34" charset="0"/>
                          <a:ea typeface="Arial" pitchFamily="34" charset="-122"/>
                          <a:cs typeface="Arial" pitchFamily="34" charset="-120"/>
                        </a:rPr>
                        <a:t>第2群（7）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15 = 23が7件中7件。15・23・27がすべて一致するのは7件中5件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出典：34・40・42・46文字の形式分析の論文</a:t>
            </a:r>
            <a:endParaRPr lang="en-US" sz="1200" dirty="0"/>
          </a:p>
        </p:txBody>
      </p:sp>
      <p:sp>
        <p:nvSpPr>
          <p:cNvPr id="6" name="Text 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IPEマップ</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集団ごとに1枚のマップ</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長さと群ごとに小さなマップ1枚：</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IPEマップに146枚、IPEマップ IIに147枚</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ピクセル（i, j）：位置iとjが一致する頻度を</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32分の1と比較</a:t>
            </a:r>
            <a:endParaRPr lang="en-US" sz="1600" dirty="0"/>
          </a:p>
        </p:txBody>
      </p:sp>
      <p:sp>
        <p:nvSpPr>
          <p:cNvPr id="8" name="Shape 6"/>
          <p:cNvSpPr/>
          <p:nvPr/>
        </p:nvSpPr>
        <p:spPr>
          <a:xfrm>
            <a:off x="812800" y="3622625"/>
            <a:ext cx="4572000" cy="0"/>
          </a:xfrm>
          <a:prstGeom prst="line">
            <a:avLst/>
          </a:prstGeom>
          <a:noFill/>
          <a:ln w="6350">
            <a:solidFill>
              <a:srgbClr val="222A35"/>
            </a:solidFill>
            <a:prstDash val="solid"/>
          </a:ln>
        </p:spPr>
      </p:sp>
      <p:sp>
        <p:nvSpPr>
          <p:cNvPr id="9" name="Text 7"/>
          <p:cNvSpPr/>
          <p:nvPr/>
        </p:nvSpPr>
        <p:spPr>
          <a:xfrm>
            <a:off x="812800" y="37274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群の色＝偶然より一致が多い · </a:t>
            </a:r>
            <a:r>
              <a:rPr lang="en-US" sz="1600" dirty="0">
                <a:solidFill>
                  <a:srgbClr val="4F7FB8"/>
                </a:solidFill>
                <a:latin typeface="Arial" pitchFamily="34" charset="0"/>
                <a:ea typeface="Arial" pitchFamily="34" charset="-122"/>
                <a:cs typeface="Arial" pitchFamily="34" charset="-120"/>
              </a:rPr>
              <a:t>青＝少ない</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II：上の三角形は2024年10月1日</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00:00 UTCより前、下は後</a:t>
            </a:r>
            <a:endParaRPr lang="en-US" sz="1600" dirty="0"/>
          </a:p>
        </p:txBody>
      </p:sp>
      <p:sp>
        <p:nvSpPr>
          <p:cNvPr id="12" name="Shape 10"/>
          <p:cNvSpPr/>
          <p:nvPr/>
        </p:nvSpPr>
        <p:spPr>
          <a:xfrm>
            <a:off x="5791200" y="1981150"/>
            <a:ext cx="5588000" cy="3143250"/>
          </a:xfrm>
          <a:prstGeom prst="roundRect">
            <a:avLst>
              <a:gd name="adj" fmla="val 2424"/>
            </a:avLst>
          </a:prstGeom>
          <a:solidFill>
            <a:srgbClr val="0E141B"/>
          </a:solidFill>
          <a:ln/>
        </p:spPr>
      </p:sp>
      <p:pic>
        <p:nvPicPr>
          <p:cNvPr id="13" name="Image 0" descr="IPEマップ II（英語のみのページ）：長さと群ごとの小さな正方形のマップが3段に並び、位置の対が偶然より多く、または少なく一致するところに色が付いている">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4" name="Shape 11"/>
          <p:cNvSpPr/>
          <p:nvPr/>
        </p:nvSpPr>
        <p:spPr>
          <a:xfrm>
            <a:off x="5794375" y="1984325"/>
            <a:ext cx="5581650" cy="3136900"/>
          </a:xfrm>
          <a:prstGeom prst="roundRect">
            <a:avLst>
              <a:gd name="adj" fmla="val 2328"/>
            </a:avLst>
          </a:prstGeom>
          <a:noFill/>
          <a:ln w="6350">
            <a:solidFill>
              <a:srgbClr val="222A35"/>
            </a:solidFill>
            <a:prstDash val="solid"/>
          </a:ln>
        </p:spPr>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出典：ipe_maps.html、ipe_maps2.html</a:t>
            </a:r>
            <a:endParaRPr lang="en-US" sz="1200" dirty="0"/>
          </a:p>
        </p:txBody>
      </p:sp>
      <p:sp>
        <p:nvSpPr>
          <p:cNvPr id="16" name="Text 1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長さ別の構造</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E141B"/>
        </a:solidFill>
      </p:bgPr>
    </p:bg>
    <p:spTree>
      <p:nvGrpSpPr>
        <p:cNvPr id="1" name=""/>
        <p:cNvGrpSpPr/>
        <p:nvPr/>
      </p:nvGrpSpPr>
      <p:grpSpPr>
        <a:xfrm>
          <a:off x="0" y="0"/>
          <a:ext cx="0" cy="0"/>
          <a:chOff x="0" y="0"/>
          <a:chExt cx="0" cy="0"/>
        </a:xfrm>
      </p:grpSpPr>
      <p:sp>
        <p:nvSpPr>
          <p:cNvPr id="2" name="Text 0"/>
          <p:cNvSpPr/>
          <p:nvPr/>
        </p:nvSpPr>
        <p:spPr>
          <a:xfrm>
            <a:off x="812800" y="224472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第7部</a:t>
            </a:r>
            <a:endParaRPr lang="en-US" sz="1200" dirty="0"/>
          </a:p>
        </p:txBody>
      </p:sp>
      <p:sp>
        <p:nvSpPr>
          <p:cNvPr id="3" name="Text 1"/>
          <p:cNvSpPr/>
          <p:nvPr>
            <p:ph type="title"/>
          </p:nvPr>
        </p:nvSpPr>
        <p:spPr>
          <a:xfrm>
            <a:off x="812800" y="2559645"/>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群別の構造</a:t>
            </a:r>
            <a:endParaRPr lang="en-US" sz="3600" dirty="0"/>
          </a:p>
        </p:txBody>
      </p:sp>
      <p:sp>
        <p:nvSpPr>
          <p:cNvPr id="4" name="Shape 2"/>
          <p:cNvSpPr/>
          <p:nvPr/>
        </p:nvSpPr>
        <p:spPr>
          <a:xfrm>
            <a:off x="812800" y="3416250"/>
            <a:ext cx="10566400" cy="0"/>
          </a:xfrm>
          <a:prstGeom prst="line">
            <a:avLst/>
          </a:prstGeom>
          <a:noFill/>
          <a:ln w="6350">
            <a:solidFill>
              <a:srgbClr val="2A3340"/>
            </a:solidFill>
            <a:prstDash val="solid"/>
          </a:ln>
        </p:spPr>
      </p:sp>
      <p:sp>
        <p:nvSpPr>
          <p:cNvPr id="5" name="Text 3"/>
          <p:cNvSpPr/>
          <p:nvPr/>
        </p:nvSpPr>
        <p:spPr>
          <a:xfrm>
            <a:off x="812800" y="3571825"/>
            <a:ext cx="10883392" cy="8636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各群のメッセージの組み立て方：</a:t>
            </a:r>
            <a:endParaRPr lang="en-US" sz="2200" dirty="0"/>
          </a:p>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G4の文法、G3の枠組み、G2の複製、G2・G3の組</a:t>
            </a:r>
            <a:endParaRPr lang="en-US" sz="22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7"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G4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目印で閉じるフィールド</a:t>
            </a:r>
            <a:endParaRPr lang="en-US" sz="3600" dirty="0"/>
          </a:p>
        </p:txBody>
      </p:sp>
      <p:sp>
        <p:nvSpPr>
          <p:cNvPr id="4" name="Shape 2"/>
          <p:cNvSpPr/>
          <p:nvPr/>
        </p:nvSpPr>
        <p:spPr>
          <a:xfrm>
            <a:off x="812800" y="1984325"/>
            <a:ext cx="4064000" cy="0"/>
          </a:xfrm>
          <a:prstGeom prst="line">
            <a:avLst/>
          </a:prstGeom>
          <a:noFill/>
          <a:ln w="6350">
            <a:solidFill>
              <a:srgbClr val="222A35"/>
            </a:solidFill>
            <a:prstDash val="solid"/>
          </a:ln>
        </p:spPr>
      </p:sp>
      <p:sp>
        <p:nvSpPr>
          <p:cNvPr id="5" name="Text 3"/>
          <p:cNvSpPr/>
          <p:nvPr/>
        </p:nvSpPr>
        <p:spPr>
          <a:xfrm>
            <a:off x="812800" y="2089100"/>
            <a:ext cx="418592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0467"/>
                </a:solidFill>
                <a:latin typeface="Arial" pitchFamily="34" charset="0"/>
                <a:ea typeface="Arial" pitchFamily="34" charset="-122"/>
                <a:cs typeface="Arial" pitchFamily="34" charset="-120"/>
              </a:rPr>
              <a:t>4連文字</a:t>
            </a:r>
            <a:r>
              <a:rPr lang="en-US" sz="1600" dirty="0">
                <a:solidFill>
                  <a:srgbClr val="E6EDF3"/>
                </a:solidFill>
                <a:latin typeface="Arial" pitchFamily="34" charset="0"/>
                <a:ea typeface="Arial" pitchFamily="34" charset="-122"/>
                <a:cs typeface="Arial" pitchFamily="34" charset="-120"/>
              </a:rPr>
              <a:t>（GGGG）はB行と本体ブロックを閉じる · 1,005枠中765枠</a:t>
            </a:r>
            <a:endParaRPr lang="en-US" sz="1600" dirty="0"/>
          </a:p>
        </p:txBody>
      </p:sp>
      <p:sp>
        <p:nvSpPr>
          <p:cNvPr id="6" name="Shape 4"/>
          <p:cNvSpPr/>
          <p:nvPr/>
        </p:nvSpPr>
        <p:spPr>
          <a:xfrm>
            <a:off x="812800" y="2803475"/>
            <a:ext cx="4064000" cy="0"/>
          </a:xfrm>
          <a:prstGeom prst="line">
            <a:avLst/>
          </a:prstGeom>
          <a:noFill/>
          <a:ln w="6350">
            <a:solidFill>
              <a:srgbClr val="222A35"/>
            </a:solidFill>
            <a:prstDash val="solid"/>
          </a:ln>
        </p:spPr>
      </p:sp>
      <p:sp>
        <p:nvSpPr>
          <p:cNvPr id="7" name="Text 5"/>
          <p:cNvSpPr/>
          <p:nvPr/>
        </p:nvSpPr>
        <p:spPr>
          <a:xfrm>
            <a:off x="812800" y="2908250"/>
            <a:ext cx="418592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0467"/>
                </a:solidFill>
                <a:latin typeface="Arial" pitchFamily="34" charset="0"/>
                <a:ea typeface="Arial" pitchFamily="34" charset="-122"/>
                <a:cs typeface="Arial" pitchFamily="34" charset="-120"/>
              </a:rPr>
              <a:t>X??X</a:t>
            </a:r>
            <a:r>
              <a:rPr lang="en-US" sz="1600" dirty="0">
                <a:solidFill>
                  <a:srgbClr val="E6EDF3"/>
                </a:solidFill>
                <a:latin typeface="Arial" pitchFamily="34" charset="0"/>
                <a:ea typeface="Arial" pitchFamily="34" charset="-122"/>
                <a:cs typeface="Arial" pitchFamily="34" charset="-120"/>
              </a:rPr>
              <a:t>（1文字目＝4文字目）は21〜24文字目でA行を閉じる</a:t>
            </a:r>
            <a:endParaRPr lang="en-US" sz="1600" dirty="0"/>
          </a:p>
        </p:txBody>
      </p:sp>
      <p:sp>
        <p:nvSpPr>
          <p:cNvPr id="8" name="Shape 6"/>
          <p:cNvSpPr/>
          <p:nvPr/>
        </p:nvSpPr>
        <p:spPr>
          <a:xfrm>
            <a:off x="812800" y="3622625"/>
            <a:ext cx="4064000" cy="0"/>
          </a:xfrm>
          <a:prstGeom prst="line">
            <a:avLst/>
          </a:prstGeom>
          <a:noFill/>
          <a:ln w="6350">
            <a:solidFill>
              <a:srgbClr val="222A35"/>
            </a:solidFill>
            <a:prstDash val="solid"/>
          </a:ln>
        </p:spPr>
      </p:sp>
      <p:sp>
        <p:nvSpPr>
          <p:cNvPr id="9" name="Text 7"/>
          <p:cNvSpPr/>
          <p:nvPr/>
        </p:nvSpPr>
        <p:spPr>
          <a:xfrm>
            <a:off x="812800" y="3727400"/>
            <a:ext cx="418592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0467"/>
                </a:solidFill>
                <a:latin typeface="Arial" pitchFamily="34" charset="0"/>
                <a:ea typeface="Arial" pitchFamily="34" charset="-122"/>
                <a:cs typeface="Arial" pitchFamily="34" charset="-120"/>
              </a:rPr>
              <a:t>二重文字</a:t>
            </a:r>
            <a:r>
              <a:rPr lang="en-US" sz="1600" dirty="0">
                <a:solidFill>
                  <a:srgbClr val="E6EDF3"/>
                </a:solidFill>
                <a:latin typeface="Arial" pitchFamily="34" charset="0"/>
                <a:ea typeface="Arial" pitchFamily="34" charset="-122"/>
                <a:cs typeface="Arial" pitchFamily="34" charset="-120"/>
              </a:rPr>
              <a:t> ##はまれな形の短いフィールドを閉じる</a:t>
            </a:r>
            <a:endParaRPr lang="en-US" sz="1600" dirty="0"/>
          </a:p>
        </p:txBody>
      </p:sp>
      <p:sp>
        <p:nvSpPr>
          <p:cNvPr id="10" name="Shape 8"/>
          <p:cNvSpPr/>
          <p:nvPr/>
        </p:nvSpPr>
        <p:spPr>
          <a:xfrm>
            <a:off x="812800" y="4441775"/>
            <a:ext cx="4064000" cy="0"/>
          </a:xfrm>
          <a:prstGeom prst="line">
            <a:avLst/>
          </a:prstGeom>
          <a:noFill/>
          <a:ln w="6350">
            <a:solidFill>
              <a:srgbClr val="222A35"/>
            </a:solidFill>
            <a:prstDash val="solid"/>
          </a:ln>
        </p:spPr>
      </p:sp>
      <p:sp>
        <p:nvSpPr>
          <p:cNvPr id="11" name="Text 9"/>
          <p:cNvSpPr/>
          <p:nvPr/>
        </p:nvSpPr>
        <p:spPr>
          <a:xfrm>
            <a:off x="812800" y="4546550"/>
            <a:ext cx="418592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257件中175件</a:t>
            </a:r>
            <a:r>
              <a:rPr lang="en-US" sz="1600" dirty="0">
                <a:solidFill>
                  <a:srgbClr val="E6EDF3"/>
                </a:solidFill>
                <a:latin typeface="Arial" pitchFamily="34" charset="0"/>
                <a:ea typeface="Arial" pitchFamily="34" charset="-122"/>
                <a:cs typeface="Arial" pitchFamily="34" charset="-120"/>
              </a:rPr>
              <a:t>が余りなく行に分かれる</a:t>
            </a:r>
            <a:endParaRPr lang="en-US" sz="1600" dirty="0"/>
          </a:p>
        </p:txBody>
      </p:sp>
      <p:sp>
        <p:nvSpPr>
          <p:cNvPr id="12" name="Text 10"/>
          <p:cNvSpPr/>
          <p:nvPr/>
        </p:nvSpPr>
        <p:spPr>
          <a:xfrm>
            <a:off x="5740400" y="1981150"/>
            <a:ext cx="580796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MM-164 · 261004（日）21:38 UTC</a:t>
            </a:r>
            <a:endParaRPr lang="en-US" sz="1200" dirty="0"/>
          </a:p>
        </p:txBody>
      </p:sp>
      <p:sp>
        <p:nvSpPr>
          <p:cNvPr id="13" name="Text 11"/>
          <p:cNvSpPr/>
          <p:nvPr/>
        </p:nvSpPr>
        <p:spPr>
          <a:xfrm>
            <a:off x="5232400" y="2301180"/>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14" name="Shape 12"/>
          <p:cNvSpPr/>
          <p:nvPr/>
        </p:nvSpPr>
        <p:spPr>
          <a:xfrm>
            <a:off x="5740400" y="2255441"/>
            <a:ext cx="243880" cy="304800"/>
          </a:xfrm>
          <a:prstGeom prst="rect">
            <a:avLst/>
          </a:prstGeom>
          <a:solidFill>
            <a:srgbClr val="2A323C"/>
          </a:solidFill>
          <a:ln/>
        </p:spPr>
      </p:sp>
      <p:sp>
        <p:nvSpPr>
          <p:cNvPr id="15" name="Text 13"/>
          <p:cNvSpPr/>
          <p:nvPr/>
        </p:nvSpPr>
        <p:spPr>
          <a:xfrm>
            <a:off x="5740400" y="2255441"/>
            <a:ext cx="29468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Courier New" pitchFamily="49" charset="0"/>
                <a:ea typeface="Courier New" pitchFamily="49" charset="-122"/>
                <a:cs typeface="Courier New" pitchFamily="49" charset="-120"/>
              </a:rPr>
              <a:t>MM</a:t>
            </a:r>
            <a:endParaRPr lang="en-US" sz="1600" dirty="0"/>
          </a:p>
        </p:txBody>
      </p:sp>
      <p:sp>
        <p:nvSpPr>
          <p:cNvPr id="16" name="Text 14"/>
          <p:cNvSpPr/>
          <p:nvPr/>
        </p:nvSpPr>
        <p:spPr>
          <a:xfrm>
            <a:off x="8636000" y="2308771"/>
            <a:ext cx="2616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 · 接頭辞</a:t>
            </a:r>
            <a:endParaRPr lang="en-US" sz="1200" dirty="0"/>
          </a:p>
        </p:txBody>
      </p:sp>
      <p:sp>
        <p:nvSpPr>
          <p:cNvPr id="17" name="Text 15"/>
          <p:cNvSpPr/>
          <p:nvPr/>
        </p:nvSpPr>
        <p:spPr>
          <a:xfrm>
            <a:off x="5232400" y="2644080"/>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18" name="Text 16"/>
          <p:cNvSpPr/>
          <p:nvPr/>
        </p:nvSpPr>
        <p:spPr>
          <a:xfrm>
            <a:off x="5740400" y="2598341"/>
            <a:ext cx="2260765"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V4MNSRJISBSI6L5YPH</a:t>
            </a:r>
            <a:endParaRPr lang="en-US" sz="1600" dirty="0"/>
          </a:p>
        </p:txBody>
      </p:sp>
      <p:sp>
        <p:nvSpPr>
          <p:cNvPr id="19" name="Shape 17"/>
          <p:cNvSpPr/>
          <p:nvPr/>
        </p:nvSpPr>
        <p:spPr>
          <a:xfrm>
            <a:off x="7941667" y="2591991"/>
            <a:ext cx="500459" cy="317500"/>
          </a:xfrm>
          <a:prstGeom prst="rect">
            <a:avLst/>
          </a:prstGeom>
          <a:noFill/>
          <a:ln w="12700">
            <a:solidFill>
              <a:srgbClr val="FF0467"/>
            </a:solidFill>
            <a:prstDash val="solid"/>
          </a:ln>
        </p:spPr>
      </p:sp>
      <p:sp>
        <p:nvSpPr>
          <p:cNvPr id="20" name="Shape 18"/>
          <p:cNvSpPr/>
          <p:nvPr/>
        </p:nvSpPr>
        <p:spPr>
          <a:xfrm>
            <a:off x="7948017" y="2598341"/>
            <a:ext cx="121940" cy="304800"/>
          </a:xfrm>
          <a:prstGeom prst="rect">
            <a:avLst/>
          </a:prstGeom>
          <a:solidFill>
            <a:srgbClr val="FF0467">
              <a:alpha val="40000"/>
            </a:srgbClr>
          </a:solidFill>
          <a:ln/>
        </p:spPr>
      </p:sp>
      <p:sp>
        <p:nvSpPr>
          <p:cNvPr id="21" name="Text 19"/>
          <p:cNvSpPr/>
          <p:nvPr/>
        </p:nvSpPr>
        <p:spPr>
          <a:xfrm>
            <a:off x="7948017" y="2598341"/>
            <a:ext cx="172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22" name="Text 20"/>
          <p:cNvSpPr/>
          <p:nvPr/>
        </p:nvSpPr>
        <p:spPr>
          <a:xfrm>
            <a:off x="8069957" y="2598341"/>
            <a:ext cx="29468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TA</a:t>
            </a:r>
            <a:endParaRPr lang="en-US" sz="1600" dirty="0"/>
          </a:p>
        </p:txBody>
      </p:sp>
      <p:sp>
        <p:nvSpPr>
          <p:cNvPr id="23" name="Shape 21"/>
          <p:cNvSpPr/>
          <p:nvPr/>
        </p:nvSpPr>
        <p:spPr>
          <a:xfrm>
            <a:off x="8313837" y="2598341"/>
            <a:ext cx="121940" cy="304800"/>
          </a:xfrm>
          <a:prstGeom prst="rect">
            <a:avLst/>
          </a:prstGeom>
          <a:solidFill>
            <a:srgbClr val="FF0467">
              <a:alpha val="40000"/>
            </a:srgbClr>
          </a:solidFill>
          <a:ln/>
        </p:spPr>
      </p:sp>
      <p:sp>
        <p:nvSpPr>
          <p:cNvPr id="24" name="Text 22"/>
          <p:cNvSpPr/>
          <p:nvPr/>
        </p:nvSpPr>
        <p:spPr>
          <a:xfrm>
            <a:off x="8313837" y="2598341"/>
            <a:ext cx="172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J</a:t>
            </a:r>
            <a:endParaRPr lang="en-US" sz="1600" dirty="0"/>
          </a:p>
        </p:txBody>
      </p:sp>
      <p:sp>
        <p:nvSpPr>
          <p:cNvPr id="25" name="Text 23"/>
          <p:cNvSpPr/>
          <p:nvPr/>
        </p:nvSpPr>
        <p:spPr>
          <a:xfrm>
            <a:off x="8636000" y="2651671"/>
            <a:ext cx="2616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22 · A行 · 18 + X??X</a:t>
            </a:r>
            <a:endParaRPr lang="en-US" sz="1200" dirty="0"/>
          </a:p>
        </p:txBody>
      </p:sp>
      <p:sp>
        <p:nvSpPr>
          <p:cNvPr id="26" name="Text 24"/>
          <p:cNvSpPr/>
          <p:nvPr/>
        </p:nvSpPr>
        <p:spPr>
          <a:xfrm>
            <a:off x="5232400" y="2986980"/>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25</a:t>
            </a:r>
            <a:endParaRPr lang="en-US" sz="1200" dirty="0"/>
          </a:p>
        </p:txBody>
      </p:sp>
      <p:sp>
        <p:nvSpPr>
          <p:cNvPr id="27" name="Text 25"/>
          <p:cNvSpPr/>
          <p:nvPr/>
        </p:nvSpPr>
        <p:spPr>
          <a:xfrm>
            <a:off x="5740400" y="2941241"/>
            <a:ext cx="213516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IGTJILNINDI2X2AAQ</a:t>
            </a:r>
            <a:endParaRPr lang="en-US" sz="1600" dirty="0"/>
          </a:p>
        </p:txBody>
      </p:sp>
      <p:sp>
        <p:nvSpPr>
          <p:cNvPr id="28" name="Shape 26"/>
          <p:cNvSpPr/>
          <p:nvPr/>
        </p:nvSpPr>
        <p:spPr>
          <a:xfrm>
            <a:off x="7813377" y="2941241"/>
            <a:ext cx="487759" cy="304800"/>
          </a:xfrm>
          <a:prstGeom prst="rect">
            <a:avLst/>
          </a:prstGeom>
          <a:solidFill>
            <a:srgbClr val="FF0467"/>
          </a:solidFill>
          <a:ln/>
        </p:spPr>
      </p:sp>
      <p:sp>
        <p:nvSpPr>
          <p:cNvPr id="29" name="Text 27"/>
          <p:cNvSpPr/>
          <p:nvPr/>
        </p:nvSpPr>
        <p:spPr>
          <a:xfrm>
            <a:off x="7813377" y="2941241"/>
            <a:ext cx="538559"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EEEE</a:t>
            </a:r>
            <a:endParaRPr lang="en-US" sz="1600" dirty="0"/>
          </a:p>
        </p:txBody>
      </p:sp>
      <p:sp>
        <p:nvSpPr>
          <p:cNvPr id="30" name="Text 28"/>
          <p:cNvSpPr/>
          <p:nvPr/>
        </p:nvSpPr>
        <p:spPr>
          <a:xfrm>
            <a:off x="8636000" y="2994571"/>
            <a:ext cx="2616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21 · B行 · 17 + 4連文字</a:t>
            </a:r>
            <a:endParaRPr lang="en-US" sz="1200" dirty="0"/>
          </a:p>
        </p:txBody>
      </p:sp>
      <p:sp>
        <p:nvSpPr>
          <p:cNvPr id="31" name="Text 29"/>
          <p:cNvSpPr/>
          <p:nvPr/>
        </p:nvSpPr>
        <p:spPr>
          <a:xfrm>
            <a:off x="5232400" y="3317180"/>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46</a:t>
            </a:r>
            <a:endParaRPr lang="en-US" sz="1200" dirty="0"/>
          </a:p>
        </p:txBody>
      </p:sp>
      <p:sp>
        <p:nvSpPr>
          <p:cNvPr id="32" name="Text 30"/>
          <p:cNvSpPr/>
          <p:nvPr/>
        </p:nvSpPr>
        <p:spPr>
          <a:xfrm>
            <a:off x="5740400" y="3271441"/>
            <a:ext cx="2260765"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SNDNSHHSGSXKPGPGNG</a:t>
            </a:r>
            <a:endParaRPr lang="en-US" sz="1600" dirty="0"/>
          </a:p>
        </p:txBody>
      </p:sp>
      <p:sp>
        <p:nvSpPr>
          <p:cNvPr id="33" name="Shape 31"/>
          <p:cNvSpPr/>
          <p:nvPr/>
        </p:nvSpPr>
        <p:spPr>
          <a:xfrm>
            <a:off x="7935317" y="3271441"/>
            <a:ext cx="487759" cy="304800"/>
          </a:xfrm>
          <a:prstGeom prst="rect">
            <a:avLst/>
          </a:prstGeom>
          <a:solidFill>
            <a:srgbClr val="FF0467"/>
          </a:solidFill>
          <a:ln/>
        </p:spPr>
      </p:sp>
      <p:sp>
        <p:nvSpPr>
          <p:cNvPr id="34" name="Text 32"/>
          <p:cNvSpPr/>
          <p:nvPr/>
        </p:nvSpPr>
        <p:spPr>
          <a:xfrm>
            <a:off x="7935317" y="3271441"/>
            <a:ext cx="538559"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UUUU</a:t>
            </a:r>
            <a:endParaRPr lang="en-US" sz="1600" dirty="0"/>
          </a:p>
        </p:txBody>
      </p:sp>
      <p:sp>
        <p:nvSpPr>
          <p:cNvPr id="35" name="Text 33"/>
          <p:cNvSpPr/>
          <p:nvPr/>
        </p:nvSpPr>
        <p:spPr>
          <a:xfrm>
            <a:off x="8636000" y="3324771"/>
            <a:ext cx="2616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22 · ブロック1 · 18 + 4連文字</a:t>
            </a:r>
            <a:endParaRPr lang="en-US" sz="1200" dirty="0"/>
          </a:p>
        </p:txBody>
      </p:sp>
      <p:sp>
        <p:nvSpPr>
          <p:cNvPr id="36" name="Text 34"/>
          <p:cNvSpPr/>
          <p:nvPr/>
        </p:nvSpPr>
        <p:spPr>
          <a:xfrm>
            <a:off x="5232400" y="3647380"/>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68</a:t>
            </a:r>
            <a:endParaRPr lang="en-US" sz="1200" dirty="0"/>
          </a:p>
        </p:txBody>
      </p:sp>
      <p:sp>
        <p:nvSpPr>
          <p:cNvPr id="37" name="Text 35"/>
          <p:cNvSpPr/>
          <p:nvPr/>
        </p:nvSpPr>
        <p:spPr>
          <a:xfrm>
            <a:off x="5740400" y="3601641"/>
            <a:ext cx="2260765"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7NILZIIT3ASPORRLRN</a:t>
            </a:r>
            <a:endParaRPr lang="en-US" sz="1600" dirty="0"/>
          </a:p>
        </p:txBody>
      </p:sp>
      <p:sp>
        <p:nvSpPr>
          <p:cNvPr id="38" name="Shape 36"/>
          <p:cNvSpPr/>
          <p:nvPr/>
        </p:nvSpPr>
        <p:spPr>
          <a:xfrm>
            <a:off x="7935317" y="3601641"/>
            <a:ext cx="487759" cy="304800"/>
          </a:xfrm>
          <a:prstGeom prst="rect">
            <a:avLst/>
          </a:prstGeom>
          <a:solidFill>
            <a:srgbClr val="FF0467"/>
          </a:solidFill>
          <a:ln/>
        </p:spPr>
      </p:sp>
      <p:sp>
        <p:nvSpPr>
          <p:cNvPr id="39" name="Text 37"/>
          <p:cNvSpPr/>
          <p:nvPr/>
        </p:nvSpPr>
        <p:spPr>
          <a:xfrm>
            <a:off x="7935317" y="3601641"/>
            <a:ext cx="538559"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LLLL</a:t>
            </a:r>
            <a:endParaRPr lang="en-US" sz="1600" dirty="0"/>
          </a:p>
        </p:txBody>
      </p:sp>
      <p:sp>
        <p:nvSpPr>
          <p:cNvPr id="40" name="Text 38"/>
          <p:cNvSpPr/>
          <p:nvPr/>
        </p:nvSpPr>
        <p:spPr>
          <a:xfrm>
            <a:off x="8636000" y="3654971"/>
            <a:ext cx="2616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22 · ブロック2</a:t>
            </a:r>
            <a:endParaRPr lang="en-US" sz="1200" dirty="0"/>
          </a:p>
        </p:txBody>
      </p:sp>
      <p:sp>
        <p:nvSpPr>
          <p:cNvPr id="41" name="Text 39"/>
          <p:cNvSpPr/>
          <p:nvPr/>
        </p:nvSpPr>
        <p:spPr>
          <a:xfrm>
            <a:off x="5232400" y="3977580"/>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90</a:t>
            </a:r>
            <a:endParaRPr lang="en-US" sz="1200" dirty="0"/>
          </a:p>
        </p:txBody>
      </p:sp>
      <p:sp>
        <p:nvSpPr>
          <p:cNvPr id="42" name="Text 40"/>
          <p:cNvSpPr/>
          <p:nvPr/>
        </p:nvSpPr>
        <p:spPr>
          <a:xfrm>
            <a:off x="5740400" y="3931841"/>
            <a:ext cx="2260765"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CPPCSOOKIVACBHHHHH</a:t>
            </a:r>
            <a:endParaRPr lang="en-US" sz="1600" dirty="0"/>
          </a:p>
        </p:txBody>
      </p:sp>
      <p:sp>
        <p:nvSpPr>
          <p:cNvPr id="43" name="Shape 41"/>
          <p:cNvSpPr/>
          <p:nvPr/>
        </p:nvSpPr>
        <p:spPr>
          <a:xfrm>
            <a:off x="7935317" y="3931841"/>
            <a:ext cx="487759" cy="304800"/>
          </a:xfrm>
          <a:prstGeom prst="rect">
            <a:avLst/>
          </a:prstGeom>
          <a:solidFill>
            <a:srgbClr val="FF0467"/>
          </a:solidFill>
          <a:ln/>
        </p:spPr>
      </p:sp>
      <p:sp>
        <p:nvSpPr>
          <p:cNvPr id="44" name="Text 42"/>
          <p:cNvSpPr/>
          <p:nvPr/>
        </p:nvSpPr>
        <p:spPr>
          <a:xfrm>
            <a:off x="7935317" y="3931841"/>
            <a:ext cx="538559"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WWWW</a:t>
            </a:r>
            <a:endParaRPr lang="en-US" sz="1600" dirty="0"/>
          </a:p>
        </p:txBody>
      </p:sp>
      <p:sp>
        <p:nvSpPr>
          <p:cNvPr id="45" name="Text 43"/>
          <p:cNvSpPr/>
          <p:nvPr/>
        </p:nvSpPr>
        <p:spPr>
          <a:xfrm>
            <a:off x="8636000" y="3985171"/>
            <a:ext cx="2616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22 · ブロック3</a:t>
            </a:r>
            <a:endParaRPr lang="en-US" sz="1200" dirty="0"/>
          </a:p>
        </p:txBody>
      </p:sp>
      <p:sp>
        <p:nvSpPr>
          <p:cNvPr id="46" name="Text 44"/>
          <p:cNvSpPr/>
          <p:nvPr/>
        </p:nvSpPr>
        <p:spPr>
          <a:xfrm>
            <a:off x="5232400" y="4307780"/>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112</a:t>
            </a:r>
            <a:endParaRPr lang="en-US" sz="1200" dirty="0"/>
          </a:p>
        </p:txBody>
      </p:sp>
      <p:sp>
        <p:nvSpPr>
          <p:cNvPr id="47" name="Text 45"/>
          <p:cNvSpPr/>
          <p:nvPr/>
        </p:nvSpPr>
        <p:spPr>
          <a:xfrm>
            <a:off x="5740400" y="4262041"/>
            <a:ext cx="2260765"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SG7F2DD3BIOGSJGWHJ</a:t>
            </a:r>
            <a:endParaRPr lang="en-US" sz="1600" dirty="0"/>
          </a:p>
        </p:txBody>
      </p:sp>
      <p:sp>
        <p:nvSpPr>
          <p:cNvPr id="48" name="Shape 46"/>
          <p:cNvSpPr/>
          <p:nvPr/>
        </p:nvSpPr>
        <p:spPr>
          <a:xfrm>
            <a:off x="7935317" y="4262041"/>
            <a:ext cx="487759" cy="304800"/>
          </a:xfrm>
          <a:prstGeom prst="rect">
            <a:avLst/>
          </a:prstGeom>
          <a:solidFill>
            <a:srgbClr val="FF0467"/>
          </a:solidFill>
          <a:ln/>
        </p:spPr>
      </p:sp>
      <p:sp>
        <p:nvSpPr>
          <p:cNvPr id="49" name="Text 47"/>
          <p:cNvSpPr/>
          <p:nvPr/>
        </p:nvSpPr>
        <p:spPr>
          <a:xfrm>
            <a:off x="7935317" y="4262041"/>
            <a:ext cx="538559"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GGGG</a:t>
            </a:r>
            <a:endParaRPr lang="en-US" sz="1600" dirty="0"/>
          </a:p>
        </p:txBody>
      </p:sp>
      <p:sp>
        <p:nvSpPr>
          <p:cNvPr id="50" name="Text 48"/>
          <p:cNvSpPr/>
          <p:nvPr/>
        </p:nvSpPr>
        <p:spPr>
          <a:xfrm>
            <a:off x="8636000" y="4315371"/>
            <a:ext cx="2616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22 · ブロック4</a:t>
            </a:r>
            <a:endParaRPr lang="en-US" sz="1200" dirty="0"/>
          </a:p>
        </p:txBody>
      </p:sp>
      <p:sp>
        <p:nvSpPr>
          <p:cNvPr id="51" name="Text 49"/>
          <p:cNvSpPr/>
          <p:nvPr/>
        </p:nvSpPr>
        <p:spPr>
          <a:xfrm>
            <a:off x="5232400" y="4637980"/>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134</a:t>
            </a:r>
            <a:endParaRPr lang="en-US" sz="1200" dirty="0"/>
          </a:p>
        </p:txBody>
      </p:sp>
      <p:sp>
        <p:nvSpPr>
          <p:cNvPr id="52" name="Text 50"/>
          <p:cNvSpPr/>
          <p:nvPr/>
        </p:nvSpPr>
        <p:spPr>
          <a:xfrm>
            <a:off x="5740400" y="4592241"/>
            <a:ext cx="2260765"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X75B7222QWEHSDHSQ2</a:t>
            </a:r>
            <a:endParaRPr lang="en-US" sz="1600" dirty="0"/>
          </a:p>
        </p:txBody>
      </p:sp>
      <p:sp>
        <p:nvSpPr>
          <p:cNvPr id="53" name="Shape 51"/>
          <p:cNvSpPr/>
          <p:nvPr/>
        </p:nvSpPr>
        <p:spPr>
          <a:xfrm>
            <a:off x="7935317" y="4592241"/>
            <a:ext cx="487759" cy="304800"/>
          </a:xfrm>
          <a:prstGeom prst="rect">
            <a:avLst/>
          </a:prstGeom>
          <a:solidFill>
            <a:srgbClr val="FF0467"/>
          </a:solidFill>
          <a:ln/>
        </p:spPr>
      </p:sp>
      <p:sp>
        <p:nvSpPr>
          <p:cNvPr id="54" name="Text 52"/>
          <p:cNvSpPr/>
          <p:nvPr/>
        </p:nvSpPr>
        <p:spPr>
          <a:xfrm>
            <a:off x="7935317" y="4592241"/>
            <a:ext cx="538559"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7777</a:t>
            </a:r>
            <a:endParaRPr lang="en-US" sz="1600" dirty="0"/>
          </a:p>
        </p:txBody>
      </p:sp>
      <p:sp>
        <p:nvSpPr>
          <p:cNvPr id="55" name="Text 53"/>
          <p:cNvSpPr/>
          <p:nvPr/>
        </p:nvSpPr>
        <p:spPr>
          <a:xfrm>
            <a:off x="8636000" y="4645571"/>
            <a:ext cx="2616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22 · ブロック5</a:t>
            </a:r>
            <a:endParaRPr lang="en-US" sz="1200" dirty="0"/>
          </a:p>
        </p:txBody>
      </p:sp>
      <p:sp>
        <p:nvSpPr>
          <p:cNvPr id="56" name="Text 54"/>
          <p:cNvSpPr/>
          <p:nvPr/>
        </p:nvSpPr>
        <p:spPr>
          <a:xfrm>
            <a:off x="5232400" y="4968180"/>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156</a:t>
            </a:r>
            <a:endParaRPr lang="en-US" sz="1200" dirty="0"/>
          </a:p>
        </p:txBody>
      </p:sp>
      <p:sp>
        <p:nvSpPr>
          <p:cNvPr id="57" name="Shape 55"/>
          <p:cNvSpPr/>
          <p:nvPr/>
        </p:nvSpPr>
        <p:spPr>
          <a:xfrm>
            <a:off x="5740400" y="4922441"/>
            <a:ext cx="1097459" cy="304800"/>
          </a:xfrm>
          <a:prstGeom prst="rect">
            <a:avLst/>
          </a:prstGeom>
          <a:solidFill>
            <a:srgbClr val="2A323C"/>
          </a:solidFill>
          <a:ln/>
        </p:spPr>
      </p:sp>
      <p:sp>
        <p:nvSpPr>
          <p:cNvPr id="58" name="Text 56"/>
          <p:cNvSpPr/>
          <p:nvPr/>
        </p:nvSpPr>
        <p:spPr>
          <a:xfrm>
            <a:off x="5740400" y="4922441"/>
            <a:ext cx="1148259"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Courier New" pitchFamily="49" charset="0"/>
                <a:ea typeface="Courier New" pitchFamily="49" charset="-122"/>
                <a:cs typeface="Courier New" pitchFamily="49" charset="-120"/>
              </a:rPr>
              <a:t>2SYL5KTFH</a:t>
            </a:r>
            <a:endParaRPr lang="en-US" sz="1600" dirty="0"/>
          </a:p>
        </p:txBody>
      </p:sp>
      <p:sp>
        <p:nvSpPr>
          <p:cNvPr id="59" name="Text 57"/>
          <p:cNvSpPr/>
          <p:nvPr/>
        </p:nvSpPr>
        <p:spPr>
          <a:xfrm>
            <a:off x="8636000" y="4975771"/>
            <a:ext cx="2616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9 · 結尾</a:t>
            </a:r>
            <a:endParaRPr lang="en-US" sz="1200" dirty="0"/>
          </a:p>
        </p:txBody>
      </p:sp>
      <p:sp>
        <p:nvSpPr>
          <p:cNvPr id="60" name="Text 58"/>
          <p:cNvSpPr/>
          <p:nvPr/>
        </p:nvSpPr>
        <p:spPr>
          <a:xfrm>
            <a:off x="5740400" y="5303441"/>
            <a:ext cx="580796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Courier New" pitchFamily="49" charset="0"/>
                <a:ea typeface="Courier New" pitchFamily="49" charset="-122"/>
                <a:cs typeface="Courier New" pitchFamily="49" charset="-120"/>
              </a:rPr>
              <a:t>2 + 22 + 21 + 5 × 22 + 9 = 164</a:t>
            </a:r>
            <a:endParaRPr lang="en-US" sz="1200" dirty="0"/>
          </a:p>
        </p:txBody>
      </p:sp>
      <p:sp>
        <p:nvSpPr>
          <p:cNvPr id="61" name="Text 5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62" name="Text 60"/>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7430"/>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FFCC00"/>
                </a:solidFill>
                <a:latin typeface="Arial" pitchFamily="34" charset="0"/>
                <a:ea typeface="Arial" pitchFamily="34" charset="-122"/>
                <a:cs typeface="Arial" pitchFamily="34" charset="-120"/>
              </a:rPr>
              <a:t>G4 EAMの構造</a:t>
            </a:r>
            <a:endParaRPr lang="en-US" sz="1196" dirty="0"/>
          </a:p>
        </p:txBody>
      </p:sp>
      <p:sp>
        <p:nvSpPr>
          <p:cNvPr id="3" name="Text 1"/>
          <p:cNvSpPr/>
          <p:nvPr>
            <p:ph type="title"/>
          </p:nvPr>
        </p:nvSpPr>
        <p:spPr>
          <a:xfrm>
            <a:off x="812800" y="1126430"/>
            <a:ext cx="10883392" cy="570756"/>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長さを表す1つの式</a:t>
            </a:r>
            <a:endParaRPr lang="en-US" sz="3600" dirty="0"/>
          </a:p>
        </p:txBody>
      </p:sp>
      <p:sp>
        <p:nvSpPr>
          <p:cNvPr id="4" name="Text 2"/>
          <p:cNvSpPr/>
          <p:nvPr/>
        </p:nvSpPr>
        <p:spPr>
          <a:xfrm>
            <a:off x="812800" y="1976586"/>
            <a:ext cx="10883392" cy="525115"/>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0467"/>
                </a:solidFill>
                <a:latin typeface="Courier New" pitchFamily="49" charset="0"/>
                <a:ea typeface="Courier New" pitchFamily="49" charset="-122"/>
                <a:cs typeface="Courier New" pitchFamily="49" charset="-120"/>
              </a:rPr>
              <a:t>L = 54 + 22n + 38k</a:t>
            </a:r>
            <a:endParaRPr lang="en-US" sz="3600" dirty="0"/>
          </a:p>
        </p:txBody>
      </p:sp>
      <p:sp>
        <p:nvSpPr>
          <p:cNvPr id="5" name="Text 3"/>
          <p:cNvSpPr/>
          <p:nvPr/>
        </p:nvSpPr>
        <p:spPr>
          <a:xfrm>
            <a:off x="812800" y="2527102"/>
            <a:ext cx="10883392" cy="328315"/>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n = 22文字のブロックの数 · k = 追加の頭部の数（A′ 17 + B′ 21 = 38）</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3045916"/>
          <a:ext cx="10553700" cy="1746994"/>
        </p:xfrm>
        <a:graphic>
          <a:graphicData uri="http://schemas.openxmlformats.org/drawingml/2006/table">
            <a:tbl>
              <a:tblPr/>
              <a:tblGrid>
                <a:gridCol w="1055370"/>
                <a:gridCol w="9498330"/>
              </a:tblGrid>
              <a:tr h="436711">
                <a:tc>
                  <a:txBody>
                    <a:bodyPr/>
                    <a:lstStyle/>
                    <a:p>
                      <a:pPr indent="0" marL="0">
                        <a:lnSpc>
                          <a:spcPts val="2226"/>
                        </a:lnSpc>
                        <a:buNone/>
                      </a:pPr>
                      <a:r>
                        <a:rPr lang="en-US" sz="1590" b="1" dirty="0">
                          <a:solidFill>
                            <a:srgbClr val="E6EDF3"/>
                          </a:solidFill>
                          <a:latin typeface="Arial" pitchFamily="34" charset="0"/>
                          <a:ea typeface="Arial" pitchFamily="34" charset="-122"/>
                          <a:cs typeface="Arial" pitchFamily="34" charset="-120"/>
                        </a:rPr>
                        <a:t>k</a:t>
                      </a:r>
                      <a:endParaRPr lang="en-US" sz="1590" dirty="0">
                        <a:latin typeface="Arial" charset="0"/>
                        <a:ea typeface="Arial" charset="0"/>
                        <a:cs typeface="Arial" charset="0"/>
                      </a:endParaRPr>
                    </a:p>
                  </a:txBody>
                  <a:tcPr marL="70676" marR="70676" marT="70676" marB="70676"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26"/>
                        </a:lnSpc>
                        <a:buNone/>
                      </a:pPr>
                      <a:r>
                        <a:rPr lang="en-US" sz="1590" b="1" dirty="0">
                          <a:solidFill>
                            <a:srgbClr val="E6EDF3"/>
                          </a:solidFill>
                          <a:latin typeface="Arial" pitchFamily="34" charset="0"/>
                          <a:ea typeface="Arial" pitchFamily="34" charset="-122"/>
                          <a:cs typeface="Arial" pitchFamily="34" charset="-120"/>
                        </a:rPr>
                        <a:t>長さ（括弧内は、ちょうどこの組み立てのメッセージ数）</a:t>
                      </a:r>
                      <a:endParaRPr lang="en-US" sz="1590" dirty="0">
                        <a:latin typeface="Arial" charset="0"/>
                        <a:ea typeface="Arial" charset="0"/>
                        <a:cs typeface="Arial" charset="0"/>
                      </a:endParaRPr>
                    </a:p>
                  </a:txBody>
                  <a:tcPr marL="70676" marR="70676" marT="70676" marB="70676"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6761">
                <a:tc>
                  <a:txBody>
                    <a:bodyPr/>
                    <a:lstStyle/>
                    <a:p>
                      <a:pPr indent="0" marL="0">
                        <a:lnSpc>
                          <a:spcPts val="2226"/>
                        </a:lnSpc>
                        <a:buNone/>
                      </a:pPr>
                      <a:r>
                        <a:rPr lang="en-US" sz="1590" dirty="0">
                          <a:solidFill>
                            <a:srgbClr val="E6EDF3"/>
                          </a:solidFill>
                          <a:latin typeface="Arial" pitchFamily="34" charset="0"/>
                          <a:ea typeface="Arial" pitchFamily="34" charset="-122"/>
                          <a:cs typeface="Arial" pitchFamily="34" charset="-120"/>
                        </a:rPr>
                        <a:t>0</a:t>
                      </a:r>
                      <a:endParaRPr lang="en-US" sz="1590" dirty="0">
                        <a:latin typeface="Arial" charset="0"/>
                        <a:ea typeface="Arial" charset="0"/>
                        <a:cs typeface="Arial" charset="0"/>
                      </a:endParaRPr>
                    </a:p>
                  </a:txBody>
                  <a:tcPr marL="70676" marR="70676" marT="70676" marB="70676"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26"/>
                        </a:lnSpc>
                        <a:buNone/>
                      </a:pPr>
                      <a:r>
                        <a:rPr lang="en-US" sz="1590" dirty="0">
                          <a:solidFill>
                            <a:srgbClr val="E6EDF3"/>
                          </a:solidFill>
                          <a:latin typeface="Arial" pitchFamily="34" charset="0"/>
                          <a:ea typeface="Arial" pitchFamily="34" charset="-122"/>
                          <a:cs typeface="Arial" pitchFamily="34" charset="-120"/>
                        </a:rPr>
                        <a:t>54（3） · 120（35） · 142（28） · 164（23） · 186（4）</a:t>
                      </a:r>
                      <a:endParaRPr lang="en-US" sz="1590" dirty="0">
                        <a:latin typeface="Arial" charset="0"/>
                        <a:ea typeface="Arial" charset="0"/>
                        <a:cs typeface="Arial" charset="0"/>
                      </a:endParaRPr>
                    </a:p>
                  </a:txBody>
                  <a:tcPr marL="70676" marR="70676" marT="70676" marB="70676"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6761">
                <a:tc>
                  <a:txBody>
                    <a:bodyPr/>
                    <a:lstStyle/>
                    <a:p>
                      <a:pPr indent="0" marL="0">
                        <a:lnSpc>
                          <a:spcPts val="2226"/>
                        </a:lnSpc>
                        <a:buNone/>
                      </a:pPr>
                      <a:r>
                        <a:rPr lang="en-US" sz="1590" dirty="0">
                          <a:solidFill>
                            <a:srgbClr val="E6EDF3"/>
                          </a:solidFill>
                          <a:latin typeface="Arial" pitchFamily="34" charset="0"/>
                          <a:ea typeface="Arial" pitchFamily="34" charset="-122"/>
                          <a:cs typeface="Arial" pitchFamily="34" charset="-120"/>
                        </a:rPr>
                        <a:t>1</a:t>
                      </a:r>
                      <a:endParaRPr lang="en-US" sz="1590" dirty="0">
                        <a:latin typeface="Arial" charset="0"/>
                        <a:ea typeface="Arial" charset="0"/>
                        <a:cs typeface="Arial" charset="0"/>
                      </a:endParaRPr>
                    </a:p>
                  </a:txBody>
                  <a:tcPr marL="70676" marR="70676" marT="70676" marB="70676"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26"/>
                        </a:lnSpc>
                        <a:buNone/>
                      </a:pPr>
                      <a:r>
                        <a:rPr lang="en-US" sz="1590" dirty="0">
                          <a:solidFill>
                            <a:srgbClr val="E6EDF3"/>
                          </a:solidFill>
                          <a:latin typeface="Arial" pitchFamily="34" charset="0"/>
                          <a:ea typeface="Arial" pitchFamily="34" charset="-122"/>
                          <a:cs typeface="Arial" pitchFamily="34" charset="-120"/>
                        </a:rPr>
                        <a:t>92（7） · 158（3） · 180（2） · 202（2） · 224（4） · 246（6） · 268（3） · 290（1）</a:t>
                      </a:r>
                      <a:endParaRPr lang="en-US" sz="1590" dirty="0">
                        <a:latin typeface="Arial" charset="0"/>
                        <a:ea typeface="Arial" charset="0"/>
                        <a:cs typeface="Arial" charset="0"/>
                      </a:endParaRPr>
                    </a:p>
                  </a:txBody>
                  <a:tcPr marL="70676" marR="70676" marT="70676" marB="70676"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6761">
                <a:tc>
                  <a:txBody>
                    <a:bodyPr/>
                    <a:lstStyle/>
                    <a:p>
                      <a:pPr indent="0" marL="0">
                        <a:lnSpc>
                          <a:spcPts val="2226"/>
                        </a:lnSpc>
                        <a:buNone/>
                      </a:pPr>
                      <a:r>
                        <a:rPr lang="en-US" sz="1590" dirty="0">
                          <a:solidFill>
                            <a:srgbClr val="E6EDF3"/>
                          </a:solidFill>
                          <a:latin typeface="Arial" pitchFamily="34" charset="0"/>
                          <a:ea typeface="Arial" pitchFamily="34" charset="-122"/>
                          <a:cs typeface="Arial" pitchFamily="34" charset="-120"/>
                        </a:rPr>
                        <a:t>2</a:t>
                      </a:r>
                      <a:endParaRPr lang="en-US" sz="1590" dirty="0">
                        <a:latin typeface="Arial" charset="0"/>
                        <a:ea typeface="Arial" charset="0"/>
                        <a:cs typeface="Arial" charset="0"/>
                      </a:endParaRPr>
                    </a:p>
                  </a:txBody>
                  <a:tcPr marL="70676" marR="70676" marT="70676" marB="70676"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26"/>
                        </a:lnSpc>
                        <a:buNone/>
                      </a:pPr>
                      <a:r>
                        <a:rPr lang="en-US" sz="1590" dirty="0">
                          <a:solidFill>
                            <a:srgbClr val="E6EDF3"/>
                          </a:solidFill>
                          <a:latin typeface="Arial" pitchFamily="34" charset="0"/>
                          <a:ea typeface="Arial" pitchFamily="34" charset="-122"/>
                          <a:cs typeface="Arial" pitchFamily="34" charset="-120"/>
                        </a:rPr>
                        <a:t>196（1）</a:t>
                      </a:r>
                      <a:endParaRPr lang="en-US" sz="1590" dirty="0">
                        <a:latin typeface="Arial" charset="0"/>
                        <a:ea typeface="Arial" charset="0"/>
                        <a:cs typeface="Arial" charset="0"/>
                      </a:endParaRPr>
                    </a:p>
                  </a:txBody>
                  <a:tcPr marL="70676" marR="70676" marT="70676" marB="70676"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7" name="Shape 4"/>
          <p:cNvSpPr/>
          <p:nvPr/>
        </p:nvSpPr>
        <p:spPr>
          <a:xfrm>
            <a:off x="812800" y="4999286"/>
            <a:ext cx="10566400" cy="0"/>
          </a:xfrm>
          <a:prstGeom prst="line">
            <a:avLst/>
          </a:prstGeom>
          <a:noFill/>
          <a:ln w="6350">
            <a:solidFill>
              <a:srgbClr val="222A35"/>
            </a:solidFill>
            <a:prstDash val="solid"/>
          </a:ln>
        </p:spPr>
      </p:sp>
      <p:sp>
        <p:nvSpPr>
          <p:cNvPr id="8" name="Text 5"/>
          <p:cNvSpPr/>
          <p:nvPr/>
        </p:nvSpPr>
        <p:spPr>
          <a:xfrm>
            <a:off x="812800" y="5078661"/>
            <a:ext cx="10883392" cy="32772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k = 0・1の系列で、まだ受信されていない長さ：</a:t>
            </a:r>
            <a:r>
              <a:rPr lang="en-US" sz="1600" dirty="0">
                <a:solidFill>
                  <a:srgbClr val="FFCC00"/>
                </a:solidFill>
                <a:latin typeface="Arial" pitchFamily="34" charset="0"/>
                <a:ea typeface="Arial" pitchFamily="34" charset="-122"/>
                <a:cs typeface="Arial" pitchFamily="34" charset="-120"/>
              </a:rPr>
              <a:t>98 · 114 · 136 · 208 · 230 · 252</a:t>
            </a:r>
            <a:endParaRPr lang="en-US" sz="1600" dirty="0"/>
          </a:p>
        </p:txBody>
      </p:sp>
      <p:sp>
        <p:nvSpPr>
          <p:cNvPr id="9" name="Shape 6"/>
          <p:cNvSpPr/>
          <p:nvPr/>
        </p:nvSpPr>
        <p:spPr>
          <a:xfrm>
            <a:off x="812800" y="5460355"/>
            <a:ext cx="10566400" cy="0"/>
          </a:xfrm>
          <a:prstGeom prst="line">
            <a:avLst/>
          </a:prstGeom>
          <a:noFill/>
          <a:ln w="6350">
            <a:solidFill>
              <a:srgbClr val="222A35"/>
            </a:solidFill>
            <a:prstDash val="solid"/>
          </a:ln>
        </p:spPr>
      </p:sp>
      <p:sp>
        <p:nvSpPr>
          <p:cNvPr id="10" name="Text 7"/>
          <p:cNvSpPr/>
          <p:nvPr/>
        </p:nvSpPr>
        <p:spPr>
          <a:xfrm>
            <a:off x="812800" y="5539730"/>
            <a:ext cx="10883392" cy="32767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4連文字がどこにもないもの62件 · 規則では読めないもの35件</a:t>
            </a:r>
            <a:endParaRPr lang="en-US" sz="16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2" name="Text 9"/>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G4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枠組み・版・値</a:t>
            </a:r>
            <a:endParaRPr lang="en-US" sz="3600" dirty="0"/>
          </a:p>
        </p:txBody>
      </p:sp>
      <p:sp>
        <p:nvSpPr>
          <p:cNvPr id="4" name="Shape 2"/>
          <p:cNvSpPr/>
          <p:nvPr/>
        </p:nvSpPr>
        <p:spPr>
          <a:xfrm>
            <a:off x="812800" y="2011611"/>
            <a:ext cx="203200" cy="203200"/>
          </a:xfrm>
          <a:prstGeom prst="rect">
            <a:avLst/>
          </a:prstGeom>
          <a:solidFill>
            <a:srgbClr val="FF0467"/>
          </a:solidFill>
          <a:ln/>
        </p:spPr>
      </p:sp>
      <p:sp>
        <p:nvSpPr>
          <p:cNvPr id="5" name="Text 3"/>
          <p:cNvSpPr/>
          <p:nvPr/>
        </p:nvSpPr>
        <p:spPr>
          <a:xfrm>
            <a:off x="1117600" y="1981150"/>
            <a:ext cx="797355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F0467"/>
                </a:solidFill>
                <a:latin typeface="Arial" pitchFamily="34" charset="0"/>
                <a:ea typeface="Arial" pitchFamily="34" charset="-122"/>
                <a:cs typeface="Arial" pitchFamily="34" charset="-120"/>
              </a:rPr>
              <a:t>枠組み：</a:t>
            </a:r>
            <a:r>
              <a:rPr lang="en-US" sz="1600" dirty="0">
                <a:solidFill>
                  <a:srgbClr val="E6EDF3"/>
                </a:solidFill>
                <a:latin typeface="Arial" pitchFamily="34" charset="0"/>
                <a:ea typeface="Arial" pitchFamily="34" charset="-122"/>
                <a:cs typeface="Arial" pitchFamily="34" charset="-120"/>
              </a:rPr>
              <a:t>先頭1〜5、11文字目、4連文字19〜22 · どのフィールドかを示す</a:t>
            </a:r>
            <a:endParaRPr lang="en-US" sz="1600" dirty="0"/>
          </a:p>
        </p:txBody>
      </p:sp>
      <p:sp>
        <p:nvSpPr>
          <p:cNvPr id="6" name="Shape 4"/>
          <p:cNvSpPr/>
          <p:nvPr/>
        </p:nvSpPr>
        <p:spPr>
          <a:xfrm>
            <a:off x="812800" y="2326531"/>
            <a:ext cx="203200" cy="203200"/>
          </a:xfrm>
          <a:prstGeom prst="rect">
            <a:avLst/>
          </a:prstGeom>
          <a:solidFill>
            <a:srgbClr val="FF0467">
              <a:alpha val="40000"/>
            </a:srgbClr>
          </a:solidFill>
          <a:ln/>
        </p:spPr>
      </p:sp>
      <p:sp>
        <p:nvSpPr>
          <p:cNvPr id="7" name="Text 5"/>
          <p:cNvSpPr/>
          <p:nvPr/>
        </p:nvSpPr>
        <p:spPr>
          <a:xfrm>
            <a:off x="1117600" y="2296071"/>
            <a:ext cx="604825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F0467"/>
                </a:solidFill>
                <a:latin typeface="Arial" pitchFamily="34" charset="0"/>
                <a:ea typeface="Arial" pitchFamily="34" charset="-122"/>
                <a:cs typeface="Arial" pitchFamily="34" charset="-120"/>
              </a:rPr>
              <a:t>版：</a:t>
            </a:r>
            <a:r>
              <a:rPr lang="en-US" sz="1600" dirty="0">
                <a:solidFill>
                  <a:srgbClr val="E6EDF3"/>
                </a:solidFill>
                <a:latin typeface="Arial" pitchFamily="34" charset="0"/>
                <a:ea typeface="Arial" pitchFamily="34" charset="-122"/>
                <a:cs typeface="Arial" pitchFamily="34" charset="-120"/>
              </a:rPr>
              <a:t>1、5、12、13文字目 · 1つのフィールドに2〜3種類</a:t>
            </a:r>
            <a:endParaRPr lang="en-US" sz="1600" dirty="0"/>
          </a:p>
        </p:txBody>
      </p:sp>
      <p:sp>
        <p:nvSpPr>
          <p:cNvPr id="8" name="Shape 6"/>
          <p:cNvSpPr/>
          <p:nvPr/>
        </p:nvSpPr>
        <p:spPr>
          <a:xfrm>
            <a:off x="812800" y="2641451"/>
            <a:ext cx="203200" cy="203200"/>
          </a:xfrm>
          <a:prstGeom prst="rect">
            <a:avLst/>
          </a:prstGeom>
          <a:solidFill>
            <a:srgbClr val="232B33"/>
          </a:solidFill>
          <a:ln/>
        </p:spPr>
      </p:sp>
      <p:sp>
        <p:nvSpPr>
          <p:cNvPr id="9" name="Text 7"/>
          <p:cNvSpPr/>
          <p:nvPr/>
        </p:nvSpPr>
        <p:spPr>
          <a:xfrm>
            <a:off x="1117600" y="2610991"/>
            <a:ext cx="905101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C9D1D9"/>
                </a:solidFill>
                <a:latin typeface="Arial" pitchFamily="34" charset="0"/>
                <a:ea typeface="Arial" pitchFamily="34" charset="-122"/>
                <a:cs typeface="Arial" pitchFamily="34" charset="-120"/>
              </a:rPr>
              <a:t>値：</a:t>
            </a:r>
            <a:r>
              <a:rPr lang="en-US" sz="1600" dirty="0">
                <a:solidFill>
                  <a:srgbClr val="E6EDF3"/>
                </a:solidFill>
                <a:latin typeface="Arial" pitchFamily="34" charset="0"/>
                <a:ea typeface="Arial" pitchFamily="34" charset="-122"/>
                <a:cs typeface="Arial" pitchFamily="34" charset="-120"/>
              </a:rPr>
              <a:t>6〜10、14〜18文字目 · 32記号、検査文字なし、884組の5文字に繰り返しなし</a:t>
            </a:r>
            <a:endParaRPr lang="en-US" sz="1600" dirty="0"/>
          </a:p>
        </p:txBody>
      </p:sp>
      <p:sp>
        <p:nvSpPr>
          <p:cNvPr id="10" name="Text 8"/>
          <p:cNvSpPr/>
          <p:nvPr/>
        </p:nvSpPr>
        <p:spPr>
          <a:xfrm>
            <a:off x="733552" y="3052911"/>
            <a:ext cx="2720848"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Arial" pitchFamily="34" charset="0"/>
                <a:ea typeface="Arial" pitchFamily="34" charset="-122"/>
                <a:cs typeface="Arial" pitchFamily="34" charset="-120"/>
              </a:rPr>
              <a:t>位置</a:t>
            </a:r>
            <a:endParaRPr lang="en-US" sz="1200" dirty="0"/>
          </a:p>
        </p:txBody>
      </p:sp>
      <p:sp>
        <p:nvSpPr>
          <p:cNvPr id="11" name="Text 9"/>
          <p:cNvSpPr/>
          <p:nvPr/>
        </p:nvSpPr>
        <p:spPr>
          <a:xfrm>
            <a:off x="35560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12" name="Text 10"/>
          <p:cNvSpPr/>
          <p:nvPr/>
        </p:nvSpPr>
        <p:spPr>
          <a:xfrm>
            <a:off x="39116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13" name="Text 11"/>
          <p:cNvSpPr/>
          <p:nvPr/>
        </p:nvSpPr>
        <p:spPr>
          <a:xfrm>
            <a:off x="42672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14" name="Text 12"/>
          <p:cNvSpPr/>
          <p:nvPr/>
        </p:nvSpPr>
        <p:spPr>
          <a:xfrm>
            <a:off x="46228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15" name="Text 13"/>
          <p:cNvSpPr/>
          <p:nvPr/>
        </p:nvSpPr>
        <p:spPr>
          <a:xfrm>
            <a:off x="49784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16" name="Text 14"/>
          <p:cNvSpPr/>
          <p:nvPr/>
        </p:nvSpPr>
        <p:spPr>
          <a:xfrm>
            <a:off x="53340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6</a:t>
            </a:r>
            <a:endParaRPr lang="en-US" sz="1200" dirty="0"/>
          </a:p>
        </p:txBody>
      </p:sp>
      <p:sp>
        <p:nvSpPr>
          <p:cNvPr id="17" name="Text 15"/>
          <p:cNvSpPr/>
          <p:nvPr/>
        </p:nvSpPr>
        <p:spPr>
          <a:xfrm>
            <a:off x="56896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7</a:t>
            </a:r>
            <a:endParaRPr lang="en-US" sz="1200" dirty="0"/>
          </a:p>
        </p:txBody>
      </p:sp>
      <p:sp>
        <p:nvSpPr>
          <p:cNvPr id="18" name="Text 16"/>
          <p:cNvSpPr/>
          <p:nvPr/>
        </p:nvSpPr>
        <p:spPr>
          <a:xfrm>
            <a:off x="60452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8</a:t>
            </a:r>
            <a:endParaRPr lang="en-US" sz="1200" dirty="0"/>
          </a:p>
        </p:txBody>
      </p:sp>
      <p:sp>
        <p:nvSpPr>
          <p:cNvPr id="19" name="Text 17"/>
          <p:cNvSpPr/>
          <p:nvPr/>
        </p:nvSpPr>
        <p:spPr>
          <a:xfrm>
            <a:off x="64008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20" name="Text 18"/>
          <p:cNvSpPr/>
          <p:nvPr/>
        </p:nvSpPr>
        <p:spPr>
          <a:xfrm>
            <a:off x="67564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21" name="Text 19"/>
          <p:cNvSpPr/>
          <p:nvPr/>
        </p:nvSpPr>
        <p:spPr>
          <a:xfrm>
            <a:off x="71120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22" name="Text 20"/>
          <p:cNvSpPr/>
          <p:nvPr/>
        </p:nvSpPr>
        <p:spPr>
          <a:xfrm>
            <a:off x="74676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23" name="Text 21"/>
          <p:cNvSpPr/>
          <p:nvPr/>
        </p:nvSpPr>
        <p:spPr>
          <a:xfrm>
            <a:off x="78232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13</a:t>
            </a:r>
            <a:endParaRPr lang="en-US" sz="1200" dirty="0"/>
          </a:p>
        </p:txBody>
      </p:sp>
      <p:sp>
        <p:nvSpPr>
          <p:cNvPr id="24" name="Text 22"/>
          <p:cNvSpPr/>
          <p:nvPr/>
        </p:nvSpPr>
        <p:spPr>
          <a:xfrm>
            <a:off x="81788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14</a:t>
            </a:r>
            <a:endParaRPr lang="en-US" sz="1200" dirty="0"/>
          </a:p>
        </p:txBody>
      </p:sp>
      <p:sp>
        <p:nvSpPr>
          <p:cNvPr id="25" name="Text 23"/>
          <p:cNvSpPr/>
          <p:nvPr/>
        </p:nvSpPr>
        <p:spPr>
          <a:xfrm>
            <a:off x="85344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15</a:t>
            </a:r>
            <a:endParaRPr lang="en-US" sz="1200" dirty="0"/>
          </a:p>
        </p:txBody>
      </p:sp>
      <p:sp>
        <p:nvSpPr>
          <p:cNvPr id="26" name="Text 24"/>
          <p:cNvSpPr/>
          <p:nvPr/>
        </p:nvSpPr>
        <p:spPr>
          <a:xfrm>
            <a:off x="88900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16</a:t>
            </a:r>
            <a:endParaRPr lang="en-US" sz="1200" dirty="0"/>
          </a:p>
        </p:txBody>
      </p:sp>
      <p:sp>
        <p:nvSpPr>
          <p:cNvPr id="27" name="Text 25"/>
          <p:cNvSpPr/>
          <p:nvPr/>
        </p:nvSpPr>
        <p:spPr>
          <a:xfrm>
            <a:off x="92456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17</a:t>
            </a:r>
            <a:endParaRPr lang="en-US" sz="1200" dirty="0"/>
          </a:p>
        </p:txBody>
      </p:sp>
      <p:sp>
        <p:nvSpPr>
          <p:cNvPr id="28" name="Text 26"/>
          <p:cNvSpPr/>
          <p:nvPr/>
        </p:nvSpPr>
        <p:spPr>
          <a:xfrm>
            <a:off x="96012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18</a:t>
            </a:r>
            <a:endParaRPr lang="en-US" sz="1200" dirty="0"/>
          </a:p>
        </p:txBody>
      </p:sp>
      <p:sp>
        <p:nvSpPr>
          <p:cNvPr id="29" name="Text 27"/>
          <p:cNvSpPr/>
          <p:nvPr/>
        </p:nvSpPr>
        <p:spPr>
          <a:xfrm>
            <a:off x="99568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19</a:t>
            </a:r>
            <a:endParaRPr lang="en-US" sz="1200" dirty="0"/>
          </a:p>
        </p:txBody>
      </p:sp>
      <p:sp>
        <p:nvSpPr>
          <p:cNvPr id="30" name="Text 28"/>
          <p:cNvSpPr/>
          <p:nvPr/>
        </p:nvSpPr>
        <p:spPr>
          <a:xfrm>
            <a:off x="103124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20</a:t>
            </a:r>
            <a:endParaRPr lang="en-US" sz="1200" dirty="0"/>
          </a:p>
        </p:txBody>
      </p:sp>
      <p:sp>
        <p:nvSpPr>
          <p:cNvPr id="31" name="Text 29"/>
          <p:cNvSpPr/>
          <p:nvPr/>
        </p:nvSpPr>
        <p:spPr>
          <a:xfrm>
            <a:off x="106680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21</a:t>
            </a:r>
            <a:endParaRPr lang="en-US" sz="1200" dirty="0"/>
          </a:p>
        </p:txBody>
      </p:sp>
      <p:sp>
        <p:nvSpPr>
          <p:cNvPr id="32" name="Text 30"/>
          <p:cNvSpPr/>
          <p:nvPr/>
        </p:nvSpPr>
        <p:spPr>
          <a:xfrm>
            <a:off x="11023600" y="3052911"/>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22</a:t>
            </a:r>
            <a:endParaRPr lang="en-US" sz="1200" dirty="0"/>
          </a:p>
        </p:txBody>
      </p:sp>
      <p:sp>
        <p:nvSpPr>
          <p:cNvPr id="33" name="Text 31"/>
          <p:cNvSpPr/>
          <p:nvPr/>
        </p:nvSpPr>
        <p:spPr>
          <a:xfrm>
            <a:off x="733552" y="3280966"/>
            <a:ext cx="2720848" cy="356592"/>
          </a:xfrm>
          <a:prstGeom prst="rect">
            <a:avLst/>
          </a:prstGeom>
          <a:noFill/>
          <a:ln/>
        </p:spPr>
        <p:txBody>
          <a:bodyPr wrap="square" lIns="0" tIns="0" rIns="0" bIns="0" rtlCol="0" anchor="t">
            <a:normAutofit/>
          </a:bodyPr>
          <a:lstStyle/>
          <a:p>
            <a:pPr algn="r" indent="0" marL="0">
              <a:lnSpc>
                <a:spcPts val="1956"/>
              </a:lnSpc>
              <a:buNone/>
            </a:pPr>
            <a:r>
              <a:rPr lang="en-US" sz="1200" dirty="0">
                <a:solidFill>
                  <a:srgbClr val="A9B4BF"/>
                </a:solidFill>
                <a:latin typeface="Arial" pitchFamily="34" charset="0"/>
                <a:ea typeface="Arial" pitchFamily="34" charset="-122"/>
                <a:cs typeface="Arial" pitchFamily="34" charset="-120"/>
              </a:rPr>
              <a:t>MM-186 · 260901（火）· ブロック2</a:t>
            </a:r>
            <a:endParaRPr lang="en-US" sz="1200" dirty="0"/>
          </a:p>
        </p:txBody>
      </p:sp>
      <p:sp>
        <p:nvSpPr>
          <p:cNvPr id="34" name="Text 32"/>
          <p:cNvSpPr/>
          <p:nvPr/>
        </p:nvSpPr>
        <p:spPr>
          <a:xfrm>
            <a:off x="3581400" y="3280966"/>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V</a:t>
            </a:r>
            <a:endParaRPr lang="en-US" sz="1600" dirty="0"/>
          </a:p>
        </p:txBody>
      </p:sp>
      <p:sp>
        <p:nvSpPr>
          <p:cNvPr id="35" name="Text 33"/>
          <p:cNvSpPr/>
          <p:nvPr/>
        </p:nvSpPr>
        <p:spPr>
          <a:xfrm>
            <a:off x="3937000" y="3280966"/>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M</a:t>
            </a:r>
            <a:endParaRPr lang="en-US" sz="1600" dirty="0"/>
          </a:p>
        </p:txBody>
      </p:sp>
      <p:sp>
        <p:nvSpPr>
          <p:cNvPr id="36" name="Text 34"/>
          <p:cNvSpPr/>
          <p:nvPr/>
        </p:nvSpPr>
        <p:spPr>
          <a:xfrm>
            <a:off x="4292600" y="3280966"/>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V</a:t>
            </a:r>
            <a:endParaRPr lang="en-US" sz="1600" dirty="0"/>
          </a:p>
        </p:txBody>
      </p:sp>
      <p:sp>
        <p:nvSpPr>
          <p:cNvPr id="37" name="Text 35"/>
          <p:cNvSpPr/>
          <p:nvPr/>
        </p:nvSpPr>
        <p:spPr>
          <a:xfrm>
            <a:off x="4648200" y="3280966"/>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38" name="Text 36"/>
          <p:cNvSpPr/>
          <p:nvPr/>
        </p:nvSpPr>
        <p:spPr>
          <a:xfrm>
            <a:off x="5003800" y="3280966"/>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39" name="Text 37"/>
          <p:cNvSpPr/>
          <p:nvPr/>
        </p:nvSpPr>
        <p:spPr>
          <a:xfrm>
            <a:off x="53594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D</a:t>
            </a:r>
            <a:endParaRPr lang="en-US" sz="1600" dirty="0"/>
          </a:p>
        </p:txBody>
      </p:sp>
      <p:sp>
        <p:nvSpPr>
          <p:cNvPr id="40" name="Text 38"/>
          <p:cNvSpPr/>
          <p:nvPr/>
        </p:nvSpPr>
        <p:spPr>
          <a:xfrm>
            <a:off x="57150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E</a:t>
            </a:r>
            <a:endParaRPr lang="en-US" sz="1600" dirty="0"/>
          </a:p>
        </p:txBody>
      </p:sp>
      <p:sp>
        <p:nvSpPr>
          <p:cNvPr id="41" name="Text 39"/>
          <p:cNvSpPr/>
          <p:nvPr/>
        </p:nvSpPr>
        <p:spPr>
          <a:xfrm>
            <a:off x="60706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Z</a:t>
            </a:r>
            <a:endParaRPr lang="en-US" sz="1600" dirty="0"/>
          </a:p>
        </p:txBody>
      </p:sp>
      <p:sp>
        <p:nvSpPr>
          <p:cNvPr id="42" name="Text 40"/>
          <p:cNvSpPr/>
          <p:nvPr/>
        </p:nvSpPr>
        <p:spPr>
          <a:xfrm>
            <a:off x="64262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M</a:t>
            </a:r>
            <a:endParaRPr lang="en-US" sz="1600" dirty="0"/>
          </a:p>
        </p:txBody>
      </p:sp>
      <p:sp>
        <p:nvSpPr>
          <p:cNvPr id="43" name="Text 41"/>
          <p:cNvSpPr/>
          <p:nvPr/>
        </p:nvSpPr>
        <p:spPr>
          <a:xfrm>
            <a:off x="67818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7</a:t>
            </a:r>
            <a:endParaRPr lang="en-US" sz="1600" dirty="0"/>
          </a:p>
        </p:txBody>
      </p:sp>
      <p:sp>
        <p:nvSpPr>
          <p:cNvPr id="44" name="Text 42"/>
          <p:cNvSpPr/>
          <p:nvPr/>
        </p:nvSpPr>
        <p:spPr>
          <a:xfrm>
            <a:off x="7137400" y="3280966"/>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3</a:t>
            </a:r>
            <a:endParaRPr lang="en-US" sz="1600" dirty="0"/>
          </a:p>
        </p:txBody>
      </p:sp>
      <p:sp>
        <p:nvSpPr>
          <p:cNvPr id="45" name="Text 43"/>
          <p:cNvSpPr/>
          <p:nvPr/>
        </p:nvSpPr>
        <p:spPr>
          <a:xfrm>
            <a:off x="7493000" y="3280966"/>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46" name="Text 44"/>
          <p:cNvSpPr/>
          <p:nvPr/>
        </p:nvSpPr>
        <p:spPr>
          <a:xfrm>
            <a:off x="7848600" y="3280966"/>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X</a:t>
            </a:r>
            <a:endParaRPr lang="en-US" sz="1600" dirty="0"/>
          </a:p>
        </p:txBody>
      </p:sp>
      <p:sp>
        <p:nvSpPr>
          <p:cNvPr id="47" name="Text 45"/>
          <p:cNvSpPr/>
          <p:nvPr/>
        </p:nvSpPr>
        <p:spPr>
          <a:xfrm>
            <a:off x="82042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6</a:t>
            </a:r>
            <a:endParaRPr lang="en-US" sz="1600" dirty="0"/>
          </a:p>
        </p:txBody>
      </p:sp>
      <p:sp>
        <p:nvSpPr>
          <p:cNvPr id="48" name="Text 46"/>
          <p:cNvSpPr/>
          <p:nvPr/>
        </p:nvSpPr>
        <p:spPr>
          <a:xfrm>
            <a:off x="85598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A</a:t>
            </a:r>
            <a:endParaRPr lang="en-US" sz="1600" dirty="0"/>
          </a:p>
        </p:txBody>
      </p:sp>
      <p:sp>
        <p:nvSpPr>
          <p:cNvPr id="49" name="Text 47"/>
          <p:cNvSpPr/>
          <p:nvPr/>
        </p:nvSpPr>
        <p:spPr>
          <a:xfrm>
            <a:off x="89154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O</a:t>
            </a:r>
            <a:endParaRPr lang="en-US" sz="1600" dirty="0"/>
          </a:p>
        </p:txBody>
      </p:sp>
      <p:sp>
        <p:nvSpPr>
          <p:cNvPr id="50" name="Text 48"/>
          <p:cNvSpPr/>
          <p:nvPr/>
        </p:nvSpPr>
        <p:spPr>
          <a:xfrm>
            <a:off x="92710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6</a:t>
            </a:r>
            <a:endParaRPr lang="en-US" sz="1600" dirty="0"/>
          </a:p>
        </p:txBody>
      </p:sp>
      <p:sp>
        <p:nvSpPr>
          <p:cNvPr id="51" name="Text 49"/>
          <p:cNvSpPr/>
          <p:nvPr/>
        </p:nvSpPr>
        <p:spPr>
          <a:xfrm>
            <a:off x="9626600" y="3280966"/>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U</a:t>
            </a:r>
            <a:endParaRPr lang="en-US" sz="1600" dirty="0"/>
          </a:p>
        </p:txBody>
      </p:sp>
      <p:sp>
        <p:nvSpPr>
          <p:cNvPr id="52" name="Text 50"/>
          <p:cNvSpPr/>
          <p:nvPr/>
        </p:nvSpPr>
        <p:spPr>
          <a:xfrm>
            <a:off x="9982200" y="3280966"/>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53" name="Text 51"/>
          <p:cNvSpPr/>
          <p:nvPr/>
        </p:nvSpPr>
        <p:spPr>
          <a:xfrm>
            <a:off x="10337800" y="3280966"/>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54" name="Text 52"/>
          <p:cNvSpPr/>
          <p:nvPr/>
        </p:nvSpPr>
        <p:spPr>
          <a:xfrm>
            <a:off x="10693400" y="3280966"/>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55" name="Text 53"/>
          <p:cNvSpPr/>
          <p:nvPr/>
        </p:nvSpPr>
        <p:spPr>
          <a:xfrm>
            <a:off x="11049000" y="3280966"/>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56" name="Text 54"/>
          <p:cNvSpPr/>
          <p:nvPr/>
        </p:nvSpPr>
        <p:spPr>
          <a:xfrm>
            <a:off x="733552" y="3637558"/>
            <a:ext cx="2720848" cy="356592"/>
          </a:xfrm>
          <a:prstGeom prst="rect">
            <a:avLst/>
          </a:prstGeom>
          <a:noFill/>
          <a:ln/>
        </p:spPr>
        <p:txBody>
          <a:bodyPr wrap="square" lIns="0" tIns="0" rIns="0" bIns="0" rtlCol="0" anchor="t">
            <a:normAutofit/>
          </a:bodyPr>
          <a:lstStyle/>
          <a:p>
            <a:pPr algn="r" indent="0" marL="0">
              <a:lnSpc>
                <a:spcPts val="1956"/>
              </a:lnSpc>
              <a:buNone/>
            </a:pPr>
            <a:r>
              <a:rPr lang="en-US" sz="1200" dirty="0">
                <a:solidFill>
                  <a:srgbClr val="A9B4BF"/>
                </a:solidFill>
                <a:latin typeface="Arial" pitchFamily="34" charset="0"/>
                <a:ea typeface="Arial" pitchFamily="34" charset="-122"/>
                <a:cs typeface="Arial" pitchFamily="34" charset="-120"/>
              </a:rPr>
              <a:t>MM-224 · 260912（土）· ブロック4</a:t>
            </a:r>
            <a:endParaRPr lang="en-US" sz="1200" dirty="0"/>
          </a:p>
        </p:txBody>
      </p:sp>
      <p:sp>
        <p:nvSpPr>
          <p:cNvPr id="57" name="Text 55"/>
          <p:cNvSpPr/>
          <p:nvPr/>
        </p:nvSpPr>
        <p:spPr>
          <a:xfrm>
            <a:off x="3581400" y="3637558"/>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V</a:t>
            </a:r>
            <a:endParaRPr lang="en-US" sz="1600" dirty="0"/>
          </a:p>
        </p:txBody>
      </p:sp>
      <p:sp>
        <p:nvSpPr>
          <p:cNvPr id="58" name="Text 56"/>
          <p:cNvSpPr/>
          <p:nvPr/>
        </p:nvSpPr>
        <p:spPr>
          <a:xfrm>
            <a:off x="3937000" y="3637558"/>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M</a:t>
            </a:r>
            <a:endParaRPr lang="en-US" sz="1600" dirty="0"/>
          </a:p>
        </p:txBody>
      </p:sp>
      <p:sp>
        <p:nvSpPr>
          <p:cNvPr id="59" name="Text 57"/>
          <p:cNvSpPr/>
          <p:nvPr/>
        </p:nvSpPr>
        <p:spPr>
          <a:xfrm>
            <a:off x="4292600" y="3637558"/>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V</a:t>
            </a:r>
            <a:endParaRPr lang="en-US" sz="1600" dirty="0"/>
          </a:p>
        </p:txBody>
      </p:sp>
      <p:sp>
        <p:nvSpPr>
          <p:cNvPr id="60" name="Text 58"/>
          <p:cNvSpPr/>
          <p:nvPr/>
        </p:nvSpPr>
        <p:spPr>
          <a:xfrm>
            <a:off x="4648200" y="3637558"/>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61" name="Text 59"/>
          <p:cNvSpPr/>
          <p:nvPr/>
        </p:nvSpPr>
        <p:spPr>
          <a:xfrm>
            <a:off x="5003800" y="3637558"/>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62" name="Text 60"/>
          <p:cNvSpPr/>
          <p:nvPr/>
        </p:nvSpPr>
        <p:spPr>
          <a:xfrm>
            <a:off x="53594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7</a:t>
            </a:r>
            <a:endParaRPr lang="en-US" sz="1600" dirty="0"/>
          </a:p>
        </p:txBody>
      </p:sp>
      <p:sp>
        <p:nvSpPr>
          <p:cNvPr id="63" name="Text 61"/>
          <p:cNvSpPr/>
          <p:nvPr/>
        </p:nvSpPr>
        <p:spPr>
          <a:xfrm>
            <a:off x="57150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Z</a:t>
            </a:r>
            <a:endParaRPr lang="en-US" sz="1600" dirty="0"/>
          </a:p>
        </p:txBody>
      </p:sp>
      <p:sp>
        <p:nvSpPr>
          <p:cNvPr id="64" name="Text 62"/>
          <p:cNvSpPr/>
          <p:nvPr/>
        </p:nvSpPr>
        <p:spPr>
          <a:xfrm>
            <a:off x="60706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Z</a:t>
            </a:r>
            <a:endParaRPr lang="en-US" sz="1600" dirty="0"/>
          </a:p>
        </p:txBody>
      </p:sp>
      <p:sp>
        <p:nvSpPr>
          <p:cNvPr id="65" name="Text 63"/>
          <p:cNvSpPr/>
          <p:nvPr/>
        </p:nvSpPr>
        <p:spPr>
          <a:xfrm>
            <a:off x="64262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H</a:t>
            </a:r>
            <a:endParaRPr lang="en-US" sz="1600" dirty="0"/>
          </a:p>
        </p:txBody>
      </p:sp>
      <p:sp>
        <p:nvSpPr>
          <p:cNvPr id="66" name="Text 64"/>
          <p:cNvSpPr/>
          <p:nvPr/>
        </p:nvSpPr>
        <p:spPr>
          <a:xfrm>
            <a:off x="67818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E</a:t>
            </a:r>
            <a:endParaRPr lang="en-US" sz="1600" dirty="0"/>
          </a:p>
        </p:txBody>
      </p:sp>
      <p:sp>
        <p:nvSpPr>
          <p:cNvPr id="67" name="Text 65"/>
          <p:cNvSpPr/>
          <p:nvPr/>
        </p:nvSpPr>
        <p:spPr>
          <a:xfrm>
            <a:off x="7137400" y="3637558"/>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3</a:t>
            </a:r>
            <a:endParaRPr lang="en-US" sz="1600" dirty="0"/>
          </a:p>
        </p:txBody>
      </p:sp>
      <p:sp>
        <p:nvSpPr>
          <p:cNvPr id="68" name="Text 66"/>
          <p:cNvSpPr/>
          <p:nvPr/>
        </p:nvSpPr>
        <p:spPr>
          <a:xfrm>
            <a:off x="7493000" y="3637558"/>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69" name="Text 67"/>
          <p:cNvSpPr/>
          <p:nvPr/>
        </p:nvSpPr>
        <p:spPr>
          <a:xfrm>
            <a:off x="7848600" y="3637558"/>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X</a:t>
            </a:r>
            <a:endParaRPr lang="en-US" sz="1600" dirty="0"/>
          </a:p>
        </p:txBody>
      </p:sp>
      <p:sp>
        <p:nvSpPr>
          <p:cNvPr id="70" name="Text 68"/>
          <p:cNvSpPr/>
          <p:nvPr/>
        </p:nvSpPr>
        <p:spPr>
          <a:xfrm>
            <a:off x="82042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6</a:t>
            </a:r>
            <a:endParaRPr lang="en-US" sz="1600" dirty="0"/>
          </a:p>
        </p:txBody>
      </p:sp>
      <p:sp>
        <p:nvSpPr>
          <p:cNvPr id="71" name="Text 69"/>
          <p:cNvSpPr/>
          <p:nvPr/>
        </p:nvSpPr>
        <p:spPr>
          <a:xfrm>
            <a:off x="85598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6</a:t>
            </a:r>
            <a:endParaRPr lang="en-US" sz="1600" dirty="0"/>
          </a:p>
        </p:txBody>
      </p:sp>
      <p:sp>
        <p:nvSpPr>
          <p:cNvPr id="72" name="Text 70"/>
          <p:cNvSpPr/>
          <p:nvPr/>
        </p:nvSpPr>
        <p:spPr>
          <a:xfrm>
            <a:off x="89154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4</a:t>
            </a:r>
            <a:endParaRPr lang="en-US" sz="1600" dirty="0"/>
          </a:p>
        </p:txBody>
      </p:sp>
      <p:sp>
        <p:nvSpPr>
          <p:cNvPr id="73" name="Text 71"/>
          <p:cNvSpPr/>
          <p:nvPr/>
        </p:nvSpPr>
        <p:spPr>
          <a:xfrm>
            <a:off x="92710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A</a:t>
            </a:r>
            <a:endParaRPr lang="en-US" sz="1600" dirty="0"/>
          </a:p>
        </p:txBody>
      </p:sp>
      <p:sp>
        <p:nvSpPr>
          <p:cNvPr id="74" name="Text 72"/>
          <p:cNvSpPr/>
          <p:nvPr/>
        </p:nvSpPr>
        <p:spPr>
          <a:xfrm>
            <a:off x="9626600" y="3637558"/>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W</a:t>
            </a:r>
            <a:endParaRPr lang="en-US" sz="1600" dirty="0"/>
          </a:p>
        </p:txBody>
      </p:sp>
      <p:sp>
        <p:nvSpPr>
          <p:cNvPr id="75" name="Text 73"/>
          <p:cNvSpPr/>
          <p:nvPr/>
        </p:nvSpPr>
        <p:spPr>
          <a:xfrm>
            <a:off x="9982200" y="3637558"/>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76" name="Text 74"/>
          <p:cNvSpPr/>
          <p:nvPr/>
        </p:nvSpPr>
        <p:spPr>
          <a:xfrm>
            <a:off x="10337800" y="3637558"/>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77" name="Text 75"/>
          <p:cNvSpPr/>
          <p:nvPr/>
        </p:nvSpPr>
        <p:spPr>
          <a:xfrm>
            <a:off x="10693400" y="3637558"/>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78" name="Text 76"/>
          <p:cNvSpPr/>
          <p:nvPr/>
        </p:nvSpPr>
        <p:spPr>
          <a:xfrm>
            <a:off x="11049000" y="3637558"/>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79" name="Text 77"/>
          <p:cNvSpPr/>
          <p:nvPr/>
        </p:nvSpPr>
        <p:spPr>
          <a:xfrm>
            <a:off x="733552" y="3994150"/>
            <a:ext cx="2720848" cy="356592"/>
          </a:xfrm>
          <a:prstGeom prst="rect">
            <a:avLst/>
          </a:prstGeom>
          <a:noFill/>
          <a:ln/>
        </p:spPr>
        <p:txBody>
          <a:bodyPr wrap="square" lIns="0" tIns="0" rIns="0" bIns="0" rtlCol="0" anchor="t">
            <a:normAutofit/>
          </a:bodyPr>
          <a:lstStyle/>
          <a:p>
            <a:pPr algn="r" indent="0" marL="0">
              <a:lnSpc>
                <a:spcPts val="1956"/>
              </a:lnSpc>
              <a:buNone/>
            </a:pPr>
            <a:r>
              <a:rPr lang="en-US" sz="1200" dirty="0">
                <a:solidFill>
                  <a:srgbClr val="A9B4BF"/>
                </a:solidFill>
                <a:latin typeface="Arial" pitchFamily="34" charset="0"/>
                <a:ea typeface="Arial" pitchFamily="34" charset="-122"/>
                <a:cs typeface="Arial" pitchFamily="34" charset="-120"/>
              </a:rPr>
              <a:t>MM-246 · 261012（月）· ブロック4</a:t>
            </a:r>
            <a:endParaRPr lang="en-US" sz="1200" dirty="0"/>
          </a:p>
        </p:txBody>
      </p:sp>
      <p:sp>
        <p:nvSpPr>
          <p:cNvPr id="80" name="Text 78"/>
          <p:cNvSpPr/>
          <p:nvPr/>
        </p:nvSpPr>
        <p:spPr>
          <a:xfrm>
            <a:off x="3581400" y="3994150"/>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V</a:t>
            </a:r>
            <a:endParaRPr lang="en-US" sz="1600" dirty="0"/>
          </a:p>
        </p:txBody>
      </p:sp>
      <p:sp>
        <p:nvSpPr>
          <p:cNvPr id="81" name="Text 79"/>
          <p:cNvSpPr/>
          <p:nvPr/>
        </p:nvSpPr>
        <p:spPr>
          <a:xfrm>
            <a:off x="3937000" y="3994150"/>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M</a:t>
            </a:r>
            <a:endParaRPr lang="en-US" sz="1600" dirty="0"/>
          </a:p>
        </p:txBody>
      </p:sp>
      <p:sp>
        <p:nvSpPr>
          <p:cNvPr id="82" name="Text 80"/>
          <p:cNvSpPr/>
          <p:nvPr/>
        </p:nvSpPr>
        <p:spPr>
          <a:xfrm>
            <a:off x="4292600" y="3994150"/>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V</a:t>
            </a:r>
            <a:endParaRPr lang="en-US" sz="1600" dirty="0"/>
          </a:p>
        </p:txBody>
      </p:sp>
      <p:sp>
        <p:nvSpPr>
          <p:cNvPr id="83" name="Text 81"/>
          <p:cNvSpPr/>
          <p:nvPr/>
        </p:nvSpPr>
        <p:spPr>
          <a:xfrm>
            <a:off x="4648200" y="3994150"/>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84" name="Text 82"/>
          <p:cNvSpPr/>
          <p:nvPr/>
        </p:nvSpPr>
        <p:spPr>
          <a:xfrm>
            <a:off x="5003800" y="3994150"/>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85" name="Text 83"/>
          <p:cNvSpPr/>
          <p:nvPr/>
        </p:nvSpPr>
        <p:spPr>
          <a:xfrm>
            <a:off x="53594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F</a:t>
            </a:r>
            <a:endParaRPr lang="en-US" sz="1600" dirty="0"/>
          </a:p>
        </p:txBody>
      </p:sp>
      <p:sp>
        <p:nvSpPr>
          <p:cNvPr id="86" name="Text 84"/>
          <p:cNvSpPr/>
          <p:nvPr/>
        </p:nvSpPr>
        <p:spPr>
          <a:xfrm>
            <a:off x="57150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E</a:t>
            </a:r>
            <a:endParaRPr lang="en-US" sz="1600" dirty="0"/>
          </a:p>
        </p:txBody>
      </p:sp>
      <p:sp>
        <p:nvSpPr>
          <p:cNvPr id="87" name="Text 85"/>
          <p:cNvSpPr/>
          <p:nvPr/>
        </p:nvSpPr>
        <p:spPr>
          <a:xfrm>
            <a:off x="60706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M</a:t>
            </a:r>
            <a:endParaRPr lang="en-US" sz="1600" dirty="0"/>
          </a:p>
        </p:txBody>
      </p:sp>
      <p:sp>
        <p:nvSpPr>
          <p:cNvPr id="88" name="Text 86"/>
          <p:cNvSpPr/>
          <p:nvPr/>
        </p:nvSpPr>
        <p:spPr>
          <a:xfrm>
            <a:off x="64262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E</a:t>
            </a:r>
            <a:endParaRPr lang="en-US" sz="1600" dirty="0"/>
          </a:p>
        </p:txBody>
      </p:sp>
      <p:sp>
        <p:nvSpPr>
          <p:cNvPr id="89" name="Text 87"/>
          <p:cNvSpPr/>
          <p:nvPr/>
        </p:nvSpPr>
        <p:spPr>
          <a:xfrm>
            <a:off x="67818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B</a:t>
            </a:r>
            <a:endParaRPr lang="en-US" sz="1600" dirty="0"/>
          </a:p>
        </p:txBody>
      </p:sp>
      <p:sp>
        <p:nvSpPr>
          <p:cNvPr id="90" name="Text 88"/>
          <p:cNvSpPr/>
          <p:nvPr/>
        </p:nvSpPr>
        <p:spPr>
          <a:xfrm>
            <a:off x="7137400" y="3994150"/>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3</a:t>
            </a:r>
            <a:endParaRPr lang="en-US" sz="1600" dirty="0"/>
          </a:p>
        </p:txBody>
      </p:sp>
      <p:sp>
        <p:nvSpPr>
          <p:cNvPr id="91" name="Text 89"/>
          <p:cNvSpPr/>
          <p:nvPr/>
        </p:nvSpPr>
        <p:spPr>
          <a:xfrm>
            <a:off x="7493000" y="3994150"/>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92" name="Text 90"/>
          <p:cNvSpPr/>
          <p:nvPr/>
        </p:nvSpPr>
        <p:spPr>
          <a:xfrm>
            <a:off x="7848600" y="3994150"/>
            <a:ext cx="330200" cy="331192"/>
          </a:xfrm>
          <a:prstGeom prst="rect">
            <a:avLst/>
          </a:prstGeom>
          <a:solidFill>
            <a:srgbClr val="FF0467">
              <a:alpha val="40000"/>
            </a:srgbClr>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X</a:t>
            </a:r>
            <a:endParaRPr lang="en-US" sz="1600" dirty="0"/>
          </a:p>
        </p:txBody>
      </p:sp>
      <p:sp>
        <p:nvSpPr>
          <p:cNvPr id="93" name="Text 91"/>
          <p:cNvSpPr/>
          <p:nvPr/>
        </p:nvSpPr>
        <p:spPr>
          <a:xfrm>
            <a:off x="82042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U</a:t>
            </a:r>
            <a:endParaRPr lang="en-US" sz="1600" dirty="0"/>
          </a:p>
        </p:txBody>
      </p:sp>
      <p:sp>
        <p:nvSpPr>
          <p:cNvPr id="94" name="Text 92"/>
          <p:cNvSpPr/>
          <p:nvPr/>
        </p:nvSpPr>
        <p:spPr>
          <a:xfrm>
            <a:off x="85598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N</a:t>
            </a:r>
            <a:endParaRPr lang="en-US" sz="1600" dirty="0"/>
          </a:p>
        </p:txBody>
      </p:sp>
      <p:sp>
        <p:nvSpPr>
          <p:cNvPr id="95" name="Text 93"/>
          <p:cNvSpPr/>
          <p:nvPr/>
        </p:nvSpPr>
        <p:spPr>
          <a:xfrm>
            <a:off x="89154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N</a:t>
            </a:r>
            <a:endParaRPr lang="en-US" sz="1600" dirty="0"/>
          </a:p>
        </p:txBody>
      </p:sp>
      <p:sp>
        <p:nvSpPr>
          <p:cNvPr id="96" name="Text 94"/>
          <p:cNvSpPr/>
          <p:nvPr/>
        </p:nvSpPr>
        <p:spPr>
          <a:xfrm>
            <a:off x="92710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6</a:t>
            </a:r>
            <a:endParaRPr lang="en-US" sz="1600" dirty="0"/>
          </a:p>
        </p:txBody>
      </p:sp>
      <p:sp>
        <p:nvSpPr>
          <p:cNvPr id="97" name="Text 95"/>
          <p:cNvSpPr/>
          <p:nvPr/>
        </p:nvSpPr>
        <p:spPr>
          <a:xfrm>
            <a:off x="9626600" y="3994150"/>
            <a:ext cx="3302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A</a:t>
            </a:r>
            <a:endParaRPr lang="en-US" sz="1600" dirty="0"/>
          </a:p>
        </p:txBody>
      </p:sp>
      <p:sp>
        <p:nvSpPr>
          <p:cNvPr id="98" name="Text 96"/>
          <p:cNvSpPr/>
          <p:nvPr/>
        </p:nvSpPr>
        <p:spPr>
          <a:xfrm>
            <a:off x="9982200" y="3994150"/>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99" name="Text 97"/>
          <p:cNvSpPr/>
          <p:nvPr/>
        </p:nvSpPr>
        <p:spPr>
          <a:xfrm>
            <a:off x="10337800" y="3994150"/>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00" name="Text 98"/>
          <p:cNvSpPr/>
          <p:nvPr/>
        </p:nvSpPr>
        <p:spPr>
          <a:xfrm>
            <a:off x="10693400" y="3994150"/>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01" name="Text 99"/>
          <p:cNvSpPr/>
          <p:nvPr/>
        </p:nvSpPr>
        <p:spPr>
          <a:xfrm>
            <a:off x="11049000" y="3994150"/>
            <a:ext cx="3302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02" name="Shape 100"/>
          <p:cNvSpPr/>
          <p:nvPr/>
        </p:nvSpPr>
        <p:spPr>
          <a:xfrm>
            <a:off x="3581400" y="4357092"/>
            <a:ext cx="1752600" cy="0"/>
          </a:xfrm>
          <a:prstGeom prst="line">
            <a:avLst/>
          </a:prstGeom>
          <a:noFill/>
          <a:ln w="12700">
            <a:solidFill>
              <a:srgbClr val="FF0467"/>
            </a:solidFill>
            <a:prstDash val="solid"/>
          </a:ln>
        </p:spPr>
      </p:sp>
      <p:sp>
        <p:nvSpPr>
          <p:cNvPr id="103" name="Text 101"/>
          <p:cNvSpPr/>
          <p:nvPr/>
        </p:nvSpPr>
        <p:spPr>
          <a:xfrm>
            <a:off x="3555111" y="4388842"/>
            <a:ext cx="1805178"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9B4BF"/>
                </a:solidFill>
                <a:latin typeface="Arial" pitchFamily="34" charset="0"/>
                <a:ea typeface="Arial" pitchFamily="34" charset="-122"/>
                <a:cs typeface="Arial" pitchFamily="34" charset="-120"/>
              </a:rPr>
              <a:t>先頭</a:t>
            </a:r>
            <a:endParaRPr lang="en-US" sz="1200" dirty="0"/>
          </a:p>
        </p:txBody>
      </p:sp>
      <p:sp>
        <p:nvSpPr>
          <p:cNvPr id="104" name="Shape 102"/>
          <p:cNvSpPr/>
          <p:nvPr/>
        </p:nvSpPr>
        <p:spPr>
          <a:xfrm>
            <a:off x="5359400" y="4357092"/>
            <a:ext cx="1752600" cy="0"/>
          </a:xfrm>
          <a:prstGeom prst="line">
            <a:avLst/>
          </a:prstGeom>
          <a:noFill/>
          <a:ln w="12700">
            <a:solidFill>
              <a:srgbClr val="7D8894"/>
            </a:solidFill>
            <a:prstDash val="solid"/>
          </a:ln>
        </p:spPr>
      </p:sp>
      <p:sp>
        <p:nvSpPr>
          <p:cNvPr id="105" name="Text 103"/>
          <p:cNvSpPr/>
          <p:nvPr/>
        </p:nvSpPr>
        <p:spPr>
          <a:xfrm>
            <a:off x="5333111" y="4388842"/>
            <a:ext cx="1805178"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9B4BF"/>
                </a:solidFill>
                <a:latin typeface="Arial" pitchFamily="34" charset="0"/>
                <a:ea typeface="Arial" pitchFamily="34" charset="-122"/>
                <a:cs typeface="Arial" pitchFamily="34" charset="-120"/>
              </a:rPr>
              <a:t>値</a:t>
            </a:r>
            <a:endParaRPr lang="en-US" sz="1200" dirty="0"/>
          </a:p>
        </p:txBody>
      </p:sp>
      <p:sp>
        <p:nvSpPr>
          <p:cNvPr id="106" name="Shape 104"/>
          <p:cNvSpPr/>
          <p:nvPr/>
        </p:nvSpPr>
        <p:spPr>
          <a:xfrm>
            <a:off x="7137400" y="4357092"/>
            <a:ext cx="330200" cy="0"/>
          </a:xfrm>
          <a:prstGeom prst="line">
            <a:avLst/>
          </a:prstGeom>
          <a:noFill/>
          <a:ln w="12700">
            <a:solidFill>
              <a:srgbClr val="FF0467"/>
            </a:solidFill>
            <a:prstDash val="solid"/>
          </a:ln>
        </p:spPr>
      </p:sp>
      <p:sp>
        <p:nvSpPr>
          <p:cNvPr id="107" name="Shape 105"/>
          <p:cNvSpPr/>
          <p:nvPr/>
        </p:nvSpPr>
        <p:spPr>
          <a:xfrm>
            <a:off x="7493000" y="4357092"/>
            <a:ext cx="685800" cy="0"/>
          </a:xfrm>
          <a:prstGeom prst="line">
            <a:avLst/>
          </a:prstGeom>
          <a:noFill/>
          <a:ln w="12700">
            <a:solidFill>
              <a:srgbClr val="FF0467"/>
            </a:solidFill>
            <a:prstDash val="solid"/>
          </a:ln>
        </p:spPr>
      </p:sp>
      <p:sp>
        <p:nvSpPr>
          <p:cNvPr id="108" name="Text 106"/>
          <p:cNvSpPr/>
          <p:nvPr/>
        </p:nvSpPr>
        <p:spPr>
          <a:xfrm>
            <a:off x="7467600" y="4388842"/>
            <a:ext cx="73660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9B4BF"/>
                </a:solidFill>
                <a:latin typeface="Arial" pitchFamily="34" charset="0"/>
                <a:ea typeface="Arial" pitchFamily="34" charset="-122"/>
                <a:cs typeface="Arial" pitchFamily="34" charset="-120"/>
              </a:rPr>
              <a:t>版</a:t>
            </a:r>
            <a:endParaRPr lang="en-US" sz="1200" dirty="0"/>
          </a:p>
        </p:txBody>
      </p:sp>
      <p:sp>
        <p:nvSpPr>
          <p:cNvPr id="109" name="Shape 107"/>
          <p:cNvSpPr/>
          <p:nvPr/>
        </p:nvSpPr>
        <p:spPr>
          <a:xfrm>
            <a:off x="8204200" y="4357092"/>
            <a:ext cx="1752600" cy="0"/>
          </a:xfrm>
          <a:prstGeom prst="line">
            <a:avLst/>
          </a:prstGeom>
          <a:noFill/>
          <a:ln w="12700">
            <a:solidFill>
              <a:srgbClr val="7D8894"/>
            </a:solidFill>
            <a:prstDash val="solid"/>
          </a:ln>
        </p:spPr>
      </p:sp>
      <p:sp>
        <p:nvSpPr>
          <p:cNvPr id="110" name="Text 108"/>
          <p:cNvSpPr/>
          <p:nvPr/>
        </p:nvSpPr>
        <p:spPr>
          <a:xfrm>
            <a:off x="8177911" y="4388842"/>
            <a:ext cx="1805178"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9B4BF"/>
                </a:solidFill>
                <a:latin typeface="Arial" pitchFamily="34" charset="0"/>
                <a:ea typeface="Arial" pitchFamily="34" charset="-122"/>
                <a:cs typeface="Arial" pitchFamily="34" charset="-120"/>
              </a:rPr>
              <a:t>値</a:t>
            </a:r>
            <a:endParaRPr lang="en-US" sz="1200" dirty="0"/>
          </a:p>
        </p:txBody>
      </p:sp>
      <p:sp>
        <p:nvSpPr>
          <p:cNvPr id="111" name="Shape 109"/>
          <p:cNvSpPr/>
          <p:nvPr/>
        </p:nvSpPr>
        <p:spPr>
          <a:xfrm>
            <a:off x="9982200" y="4357092"/>
            <a:ext cx="1397000" cy="0"/>
          </a:xfrm>
          <a:prstGeom prst="line">
            <a:avLst/>
          </a:prstGeom>
          <a:noFill/>
          <a:ln w="12700">
            <a:solidFill>
              <a:srgbClr val="FF0467"/>
            </a:solidFill>
            <a:prstDash val="solid"/>
          </a:ln>
        </p:spPr>
      </p:sp>
      <p:sp>
        <p:nvSpPr>
          <p:cNvPr id="112" name="Text 110"/>
          <p:cNvSpPr/>
          <p:nvPr/>
        </p:nvSpPr>
        <p:spPr>
          <a:xfrm>
            <a:off x="9956800" y="4388842"/>
            <a:ext cx="144780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9B4BF"/>
                </a:solidFill>
                <a:latin typeface="Arial" pitchFamily="34" charset="0"/>
                <a:ea typeface="Arial" pitchFamily="34" charset="-122"/>
                <a:cs typeface="Arial" pitchFamily="34" charset="-120"/>
              </a:rPr>
              <a:t>4連文字</a:t>
            </a:r>
            <a:endParaRPr lang="en-US" sz="1200" dirty="0"/>
          </a:p>
        </p:txBody>
      </p:sp>
      <p:sp>
        <p:nvSpPr>
          <p:cNvPr id="113" name="Text 111"/>
          <p:cNvSpPr/>
          <p:nvPr/>
        </p:nvSpPr>
        <p:spPr>
          <a:xfrm>
            <a:off x="3556000" y="4612332"/>
            <a:ext cx="109220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9B4BF"/>
                </a:solidFill>
                <a:latin typeface="Arial" pitchFamily="34" charset="0"/>
                <a:ea typeface="Arial" pitchFamily="34" charset="-122"/>
                <a:cs typeface="Arial" pitchFamily="34" charset="-120"/>
              </a:rPr>
              <a:t>11文字目</a:t>
            </a:r>
            <a:endParaRPr lang="en-US" sz="1200" dirty="0"/>
          </a:p>
        </p:txBody>
      </p:sp>
      <p:sp>
        <p:nvSpPr>
          <p:cNvPr id="114" name="Text 112"/>
          <p:cNvSpPr/>
          <p:nvPr/>
        </p:nvSpPr>
        <p:spPr>
          <a:xfrm>
            <a:off x="733552" y="4942532"/>
            <a:ext cx="272084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A9B4BF"/>
                </a:solidFill>
                <a:latin typeface="Arial" pitchFamily="34" charset="0"/>
                <a:ea typeface="Arial" pitchFamily="34" charset="-122"/>
                <a:cs typeface="Arial" pitchFamily="34" charset="-120"/>
              </a:rPr>
              <a:t>一致率 %</a:t>
            </a:r>
            <a:endParaRPr lang="en-US" sz="1200" dirty="0"/>
          </a:p>
        </p:txBody>
      </p:sp>
      <p:sp>
        <p:nvSpPr>
          <p:cNvPr id="115" name="Shape 113"/>
          <p:cNvSpPr/>
          <p:nvPr/>
        </p:nvSpPr>
        <p:spPr>
          <a:xfrm>
            <a:off x="3581400" y="4835823"/>
            <a:ext cx="330200" cy="304800"/>
          </a:xfrm>
          <a:prstGeom prst="rect">
            <a:avLst/>
          </a:prstGeom>
          <a:gradFill rotWithShape="1">
            <a:gsLst>
              <a:gs pos="73000">
                <a:srgbClr val="FF0467"/>
              </a:gs>
              <a:gs pos="73000">
                <a:srgbClr val="141A20"/>
              </a:gs>
            </a:gsLst>
            <a:lin ang="16200000" scaled="0"/>
          </a:gradFill>
          <a:ln/>
        </p:spPr>
      </p:sp>
      <p:sp>
        <p:nvSpPr>
          <p:cNvPr id="116" name="Shape 114"/>
          <p:cNvSpPr/>
          <p:nvPr/>
        </p:nvSpPr>
        <p:spPr>
          <a:xfrm>
            <a:off x="3937000" y="4835823"/>
            <a:ext cx="330200" cy="304800"/>
          </a:xfrm>
          <a:prstGeom prst="rect">
            <a:avLst/>
          </a:prstGeom>
          <a:gradFill rotWithShape="1">
            <a:gsLst>
              <a:gs pos="81000">
                <a:srgbClr val="FF0467"/>
              </a:gs>
              <a:gs pos="81000">
                <a:srgbClr val="141A20"/>
              </a:gs>
            </a:gsLst>
            <a:lin ang="16200000" scaled="0"/>
          </a:gradFill>
          <a:ln/>
        </p:spPr>
      </p:sp>
      <p:sp>
        <p:nvSpPr>
          <p:cNvPr id="117" name="Shape 115"/>
          <p:cNvSpPr/>
          <p:nvPr/>
        </p:nvSpPr>
        <p:spPr>
          <a:xfrm>
            <a:off x="4292600" y="4835823"/>
            <a:ext cx="330200" cy="304800"/>
          </a:xfrm>
          <a:prstGeom prst="rect">
            <a:avLst/>
          </a:prstGeom>
          <a:gradFill rotWithShape="1">
            <a:gsLst>
              <a:gs pos="87000">
                <a:srgbClr val="FF0467"/>
              </a:gs>
              <a:gs pos="87000">
                <a:srgbClr val="141A20"/>
              </a:gs>
            </a:gsLst>
            <a:lin ang="16200000" scaled="0"/>
          </a:gradFill>
          <a:ln/>
        </p:spPr>
      </p:sp>
      <p:sp>
        <p:nvSpPr>
          <p:cNvPr id="118" name="Shape 116"/>
          <p:cNvSpPr/>
          <p:nvPr/>
        </p:nvSpPr>
        <p:spPr>
          <a:xfrm>
            <a:off x="4648200" y="4835823"/>
            <a:ext cx="330200" cy="304800"/>
          </a:xfrm>
          <a:prstGeom prst="rect">
            <a:avLst/>
          </a:prstGeom>
          <a:gradFill rotWithShape="1">
            <a:gsLst>
              <a:gs pos="100000">
                <a:srgbClr val="FF0467"/>
              </a:gs>
              <a:gs pos="100000">
                <a:srgbClr val="141A20"/>
              </a:gs>
            </a:gsLst>
            <a:lin ang="16200000" scaled="0"/>
          </a:gradFill>
          <a:ln/>
        </p:spPr>
      </p:sp>
      <p:sp>
        <p:nvSpPr>
          <p:cNvPr id="119" name="Shape 117"/>
          <p:cNvSpPr/>
          <p:nvPr/>
        </p:nvSpPr>
        <p:spPr>
          <a:xfrm>
            <a:off x="5003800" y="4835823"/>
            <a:ext cx="330200" cy="304800"/>
          </a:xfrm>
          <a:prstGeom prst="rect">
            <a:avLst/>
          </a:prstGeom>
          <a:gradFill rotWithShape="1">
            <a:gsLst>
              <a:gs pos="72000">
                <a:srgbClr val="FF0467"/>
              </a:gs>
              <a:gs pos="72000">
                <a:srgbClr val="141A20"/>
              </a:gs>
            </a:gsLst>
            <a:lin ang="16200000" scaled="0"/>
          </a:gradFill>
          <a:ln/>
        </p:spPr>
      </p:sp>
      <p:sp>
        <p:nvSpPr>
          <p:cNvPr id="120" name="Shape 118"/>
          <p:cNvSpPr/>
          <p:nvPr/>
        </p:nvSpPr>
        <p:spPr>
          <a:xfrm>
            <a:off x="5359400" y="4835823"/>
            <a:ext cx="330200" cy="304800"/>
          </a:xfrm>
          <a:prstGeom prst="rect">
            <a:avLst/>
          </a:prstGeom>
          <a:gradFill rotWithShape="1">
            <a:gsLst>
              <a:gs pos="19000">
                <a:srgbClr val="7D8894"/>
              </a:gs>
              <a:gs pos="19000">
                <a:srgbClr val="141A20"/>
              </a:gs>
            </a:gsLst>
            <a:lin ang="16200000" scaled="0"/>
          </a:gradFill>
          <a:ln/>
        </p:spPr>
      </p:sp>
      <p:sp>
        <p:nvSpPr>
          <p:cNvPr id="121" name="Shape 119"/>
          <p:cNvSpPr/>
          <p:nvPr/>
        </p:nvSpPr>
        <p:spPr>
          <a:xfrm>
            <a:off x="5715000" y="4835823"/>
            <a:ext cx="330200" cy="304800"/>
          </a:xfrm>
          <a:prstGeom prst="rect">
            <a:avLst/>
          </a:prstGeom>
          <a:gradFill rotWithShape="1">
            <a:gsLst>
              <a:gs pos="17000">
                <a:srgbClr val="7D8894"/>
              </a:gs>
              <a:gs pos="17000">
                <a:srgbClr val="141A20"/>
              </a:gs>
            </a:gsLst>
            <a:lin ang="16200000" scaled="0"/>
          </a:gradFill>
          <a:ln/>
        </p:spPr>
      </p:sp>
      <p:sp>
        <p:nvSpPr>
          <p:cNvPr id="122" name="Shape 120"/>
          <p:cNvSpPr/>
          <p:nvPr/>
        </p:nvSpPr>
        <p:spPr>
          <a:xfrm>
            <a:off x="6070600" y="4835823"/>
            <a:ext cx="330200" cy="304800"/>
          </a:xfrm>
          <a:prstGeom prst="rect">
            <a:avLst/>
          </a:prstGeom>
          <a:gradFill rotWithShape="1">
            <a:gsLst>
              <a:gs pos="8000">
                <a:srgbClr val="7D8894"/>
              </a:gs>
              <a:gs pos="8000">
                <a:srgbClr val="141A20"/>
              </a:gs>
            </a:gsLst>
            <a:lin ang="16200000" scaled="0"/>
          </a:gradFill>
          <a:ln/>
        </p:spPr>
      </p:sp>
      <p:sp>
        <p:nvSpPr>
          <p:cNvPr id="123" name="Shape 121"/>
          <p:cNvSpPr/>
          <p:nvPr/>
        </p:nvSpPr>
        <p:spPr>
          <a:xfrm>
            <a:off x="6426200" y="4835823"/>
            <a:ext cx="330200" cy="304800"/>
          </a:xfrm>
          <a:prstGeom prst="rect">
            <a:avLst/>
          </a:prstGeom>
          <a:gradFill rotWithShape="1">
            <a:gsLst>
              <a:gs pos="17000">
                <a:srgbClr val="7D8894"/>
              </a:gs>
              <a:gs pos="17000">
                <a:srgbClr val="141A20"/>
              </a:gs>
            </a:gsLst>
            <a:lin ang="16200000" scaled="0"/>
          </a:gradFill>
          <a:ln/>
        </p:spPr>
      </p:sp>
      <p:sp>
        <p:nvSpPr>
          <p:cNvPr id="124" name="Shape 122"/>
          <p:cNvSpPr/>
          <p:nvPr/>
        </p:nvSpPr>
        <p:spPr>
          <a:xfrm>
            <a:off x="6781800" y="4835823"/>
            <a:ext cx="330200" cy="304800"/>
          </a:xfrm>
          <a:prstGeom prst="rect">
            <a:avLst/>
          </a:prstGeom>
          <a:gradFill rotWithShape="1">
            <a:gsLst>
              <a:gs pos="11000">
                <a:srgbClr val="7D8894"/>
              </a:gs>
              <a:gs pos="11000">
                <a:srgbClr val="141A20"/>
              </a:gs>
            </a:gsLst>
            <a:lin ang="16200000" scaled="0"/>
          </a:gradFill>
          <a:ln/>
        </p:spPr>
      </p:sp>
      <p:sp>
        <p:nvSpPr>
          <p:cNvPr id="125" name="Shape 123"/>
          <p:cNvSpPr/>
          <p:nvPr/>
        </p:nvSpPr>
        <p:spPr>
          <a:xfrm>
            <a:off x="7137400" y="4835823"/>
            <a:ext cx="330200" cy="304800"/>
          </a:xfrm>
          <a:prstGeom prst="rect">
            <a:avLst/>
          </a:prstGeom>
          <a:gradFill rotWithShape="1">
            <a:gsLst>
              <a:gs pos="99000">
                <a:srgbClr val="FF0467"/>
              </a:gs>
              <a:gs pos="99000">
                <a:srgbClr val="141A20"/>
              </a:gs>
            </a:gsLst>
            <a:lin ang="16200000" scaled="0"/>
          </a:gradFill>
          <a:ln/>
        </p:spPr>
      </p:sp>
      <p:sp>
        <p:nvSpPr>
          <p:cNvPr id="126" name="Shape 124"/>
          <p:cNvSpPr/>
          <p:nvPr/>
        </p:nvSpPr>
        <p:spPr>
          <a:xfrm>
            <a:off x="7493000" y="4835823"/>
            <a:ext cx="330200" cy="304800"/>
          </a:xfrm>
          <a:prstGeom prst="rect">
            <a:avLst/>
          </a:prstGeom>
          <a:gradFill rotWithShape="1">
            <a:gsLst>
              <a:gs pos="66000">
                <a:srgbClr val="FF0467"/>
              </a:gs>
              <a:gs pos="66000">
                <a:srgbClr val="141A20"/>
              </a:gs>
            </a:gsLst>
            <a:lin ang="16200000" scaled="0"/>
          </a:gradFill>
          <a:ln/>
        </p:spPr>
      </p:sp>
      <p:sp>
        <p:nvSpPr>
          <p:cNvPr id="127" name="Shape 125"/>
          <p:cNvSpPr/>
          <p:nvPr/>
        </p:nvSpPr>
        <p:spPr>
          <a:xfrm>
            <a:off x="7848600" y="4835823"/>
            <a:ext cx="330200" cy="304800"/>
          </a:xfrm>
          <a:prstGeom prst="rect">
            <a:avLst/>
          </a:prstGeom>
          <a:gradFill rotWithShape="1">
            <a:gsLst>
              <a:gs pos="55000">
                <a:srgbClr val="FF0467"/>
              </a:gs>
              <a:gs pos="55000">
                <a:srgbClr val="141A20"/>
              </a:gs>
            </a:gsLst>
            <a:lin ang="16200000" scaled="0"/>
          </a:gradFill>
          <a:ln/>
        </p:spPr>
      </p:sp>
      <p:sp>
        <p:nvSpPr>
          <p:cNvPr id="128" name="Shape 126"/>
          <p:cNvSpPr/>
          <p:nvPr/>
        </p:nvSpPr>
        <p:spPr>
          <a:xfrm>
            <a:off x="8204200" y="4835823"/>
            <a:ext cx="330200" cy="304800"/>
          </a:xfrm>
          <a:prstGeom prst="rect">
            <a:avLst/>
          </a:prstGeom>
          <a:gradFill rotWithShape="1">
            <a:gsLst>
              <a:gs pos="18000">
                <a:srgbClr val="7D8894"/>
              </a:gs>
              <a:gs pos="18000">
                <a:srgbClr val="141A20"/>
              </a:gs>
            </a:gsLst>
            <a:lin ang="16200000" scaled="0"/>
          </a:gradFill>
          <a:ln/>
        </p:spPr>
      </p:sp>
      <p:sp>
        <p:nvSpPr>
          <p:cNvPr id="129" name="Shape 127"/>
          <p:cNvSpPr/>
          <p:nvPr/>
        </p:nvSpPr>
        <p:spPr>
          <a:xfrm>
            <a:off x="8559800" y="4835823"/>
            <a:ext cx="330200" cy="304800"/>
          </a:xfrm>
          <a:prstGeom prst="rect">
            <a:avLst/>
          </a:prstGeom>
          <a:gradFill rotWithShape="1">
            <a:gsLst>
              <a:gs pos="21000">
                <a:srgbClr val="7D8894"/>
              </a:gs>
              <a:gs pos="21000">
                <a:srgbClr val="141A20"/>
              </a:gs>
            </a:gsLst>
            <a:lin ang="16200000" scaled="0"/>
          </a:gradFill>
          <a:ln/>
        </p:spPr>
      </p:sp>
      <p:sp>
        <p:nvSpPr>
          <p:cNvPr id="130" name="Shape 128"/>
          <p:cNvSpPr/>
          <p:nvPr/>
        </p:nvSpPr>
        <p:spPr>
          <a:xfrm>
            <a:off x="8915400" y="4835823"/>
            <a:ext cx="330200" cy="304800"/>
          </a:xfrm>
          <a:prstGeom prst="rect">
            <a:avLst/>
          </a:prstGeom>
          <a:gradFill rotWithShape="1">
            <a:gsLst>
              <a:gs pos="12000">
                <a:srgbClr val="7D8894"/>
              </a:gs>
              <a:gs pos="12000">
                <a:srgbClr val="141A20"/>
              </a:gs>
            </a:gsLst>
            <a:lin ang="16200000" scaled="0"/>
          </a:gradFill>
          <a:ln/>
        </p:spPr>
      </p:sp>
      <p:sp>
        <p:nvSpPr>
          <p:cNvPr id="131" name="Shape 129"/>
          <p:cNvSpPr/>
          <p:nvPr/>
        </p:nvSpPr>
        <p:spPr>
          <a:xfrm>
            <a:off x="9271000" y="4835823"/>
            <a:ext cx="330200" cy="304800"/>
          </a:xfrm>
          <a:prstGeom prst="rect">
            <a:avLst/>
          </a:prstGeom>
          <a:gradFill rotWithShape="1">
            <a:gsLst>
              <a:gs pos="16000">
                <a:srgbClr val="7D8894"/>
              </a:gs>
              <a:gs pos="16000">
                <a:srgbClr val="141A20"/>
              </a:gs>
            </a:gsLst>
            <a:lin ang="16200000" scaled="0"/>
          </a:gradFill>
          <a:ln/>
        </p:spPr>
      </p:sp>
      <p:sp>
        <p:nvSpPr>
          <p:cNvPr id="132" name="Shape 130"/>
          <p:cNvSpPr/>
          <p:nvPr/>
        </p:nvSpPr>
        <p:spPr>
          <a:xfrm>
            <a:off x="9626600" y="4835823"/>
            <a:ext cx="330200" cy="304800"/>
          </a:xfrm>
          <a:prstGeom prst="rect">
            <a:avLst/>
          </a:prstGeom>
          <a:gradFill rotWithShape="1">
            <a:gsLst>
              <a:gs pos="11000">
                <a:srgbClr val="7D8894"/>
              </a:gs>
              <a:gs pos="11000">
                <a:srgbClr val="141A20"/>
              </a:gs>
            </a:gsLst>
            <a:lin ang="16200000" scaled="0"/>
          </a:gradFill>
          <a:ln/>
        </p:spPr>
      </p:sp>
      <p:sp>
        <p:nvSpPr>
          <p:cNvPr id="133" name="Shape 131"/>
          <p:cNvSpPr/>
          <p:nvPr/>
        </p:nvSpPr>
        <p:spPr>
          <a:xfrm>
            <a:off x="9982200" y="4835823"/>
            <a:ext cx="330200" cy="304800"/>
          </a:xfrm>
          <a:prstGeom prst="rect">
            <a:avLst/>
          </a:prstGeom>
          <a:gradFill rotWithShape="1">
            <a:gsLst>
              <a:gs pos="100000">
                <a:srgbClr val="FF0467"/>
              </a:gs>
              <a:gs pos="100000">
                <a:srgbClr val="141A20"/>
              </a:gs>
            </a:gsLst>
            <a:lin ang="16200000" scaled="0"/>
          </a:gradFill>
          <a:ln/>
        </p:spPr>
      </p:sp>
      <p:sp>
        <p:nvSpPr>
          <p:cNvPr id="134" name="Shape 132"/>
          <p:cNvSpPr/>
          <p:nvPr/>
        </p:nvSpPr>
        <p:spPr>
          <a:xfrm>
            <a:off x="10337800" y="4835823"/>
            <a:ext cx="330200" cy="304800"/>
          </a:xfrm>
          <a:prstGeom prst="rect">
            <a:avLst/>
          </a:prstGeom>
          <a:gradFill rotWithShape="1">
            <a:gsLst>
              <a:gs pos="100000">
                <a:srgbClr val="FF0467"/>
              </a:gs>
              <a:gs pos="100000">
                <a:srgbClr val="141A20"/>
              </a:gs>
            </a:gsLst>
            <a:lin ang="16200000" scaled="0"/>
          </a:gradFill>
          <a:ln/>
        </p:spPr>
      </p:sp>
      <p:sp>
        <p:nvSpPr>
          <p:cNvPr id="135" name="Shape 133"/>
          <p:cNvSpPr/>
          <p:nvPr/>
        </p:nvSpPr>
        <p:spPr>
          <a:xfrm>
            <a:off x="10693400" y="4835823"/>
            <a:ext cx="330200" cy="304800"/>
          </a:xfrm>
          <a:prstGeom prst="rect">
            <a:avLst/>
          </a:prstGeom>
          <a:gradFill rotWithShape="1">
            <a:gsLst>
              <a:gs pos="99000">
                <a:srgbClr val="FF0467"/>
              </a:gs>
              <a:gs pos="99000">
                <a:srgbClr val="141A20"/>
              </a:gs>
            </a:gsLst>
            <a:lin ang="16200000" scaled="0"/>
          </a:gradFill>
          <a:ln/>
        </p:spPr>
      </p:sp>
      <p:sp>
        <p:nvSpPr>
          <p:cNvPr id="136" name="Shape 134"/>
          <p:cNvSpPr/>
          <p:nvPr/>
        </p:nvSpPr>
        <p:spPr>
          <a:xfrm>
            <a:off x="11049000" y="4835823"/>
            <a:ext cx="330200" cy="304800"/>
          </a:xfrm>
          <a:prstGeom prst="rect">
            <a:avLst/>
          </a:prstGeom>
          <a:gradFill rotWithShape="1">
            <a:gsLst>
              <a:gs pos="99000">
                <a:srgbClr val="FF0467"/>
              </a:gs>
              <a:gs pos="99000">
                <a:srgbClr val="141A20"/>
              </a:gs>
            </a:gsLst>
            <a:lin ang="16200000" scaled="0"/>
          </a:gradFill>
          <a:ln/>
        </p:spPr>
      </p:sp>
      <p:sp>
        <p:nvSpPr>
          <p:cNvPr id="137" name="Text 135"/>
          <p:cNvSpPr/>
          <p:nvPr/>
        </p:nvSpPr>
        <p:spPr>
          <a:xfrm>
            <a:off x="35560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73</a:t>
            </a:r>
            <a:endParaRPr lang="en-US" sz="1200" dirty="0"/>
          </a:p>
        </p:txBody>
      </p:sp>
      <p:sp>
        <p:nvSpPr>
          <p:cNvPr id="138" name="Text 136"/>
          <p:cNvSpPr/>
          <p:nvPr/>
        </p:nvSpPr>
        <p:spPr>
          <a:xfrm>
            <a:off x="39116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81</a:t>
            </a:r>
            <a:endParaRPr lang="en-US" sz="1200" dirty="0"/>
          </a:p>
        </p:txBody>
      </p:sp>
      <p:sp>
        <p:nvSpPr>
          <p:cNvPr id="139" name="Text 137"/>
          <p:cNvSpPr/>
          <p:nvPr/>
        </p:nvSpPr>
        <p:spPr>
          <a:xfrm>
            <a:off x="42672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87</a:t>
            </a:r>
            <a:endParaRPr lang="en-US" sz="1200" dirty="0"/>
          </a:p>
        </p:txBody>
      </p:sp>
      <p:sp>
        <p:nvSpPr>
          <p:cNvPr id="140" name="Text 138"/>
          <p:cNvSpPr/>
          <p:nvPr/>
        </p:nvSpPr>
        <p:spPr>
          <a:xfrm>
            <a:off x="46228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100</a:t>
            </a:r>
            <a:endParaRPr lang="en-US" sz="1200" dirty="0"/>
          </a:p>
        </p:txBody>
      </p:sp>
      <p:sp>
        <p:nvSpPr>
          <p:cNvPr id="141" name="Text 139"/>
          <p:cNvSpPr/>
          <p:nvPr/>
        </p:nvSpPr>
        <p:spPr>
          <a:xfrm>
            <a:off x="49784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72</a:t>
            </a:r>
            <a:endParaRPr lang="en-US" sz="1200" dirty="0"/>
          </a:p>
        </p:txBody>
      </p:sp>
      <p:sp>
        <p:nvSpPr>
          <p:cNvPr id="142" name="Text 140"/>
          <p:cNvSpPr/>
          <p:nvPr/>
        </p:nvSpPr>
        <p:spPr>
          <a:xfrm>
            <a:off x="53340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19</a:t>
            </a:r>
            <a:endParaRPr lang="en-US" sz="1200" dirty="0"/>
          </a:p>
        </p:txBody>
      </p:sp>
      <p:sp>
        <p:nvSpPr>
          <p:cNvPr id="143" name="Text 141"/>
          <p:cNvSpPr/>
          <p:nvPr/>
        </p:nvSpPr>
        <p:spPr>
          <a:xfrm>
            <a:off x="56896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17</a:t>
            </a:r>
            <a:endParaRPr lang="en-US" sz="1200" dirty="0"/>
          </a:p>
        </p:txBody>
      </p:sp>
      <p:sp>
        <p:nvSpPr>
          <p:cNvPr id="144" name="Text 142"/>
          <p:cNvSpPr/>
          <p:nvPr/>
        </p:nvSpPr>
        <p:spPr>
          <a:xfrm>
            <a:off x="60452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8</a:t>
            </a:r>
            <a:endParaRPr lang="en-US" sz="1200" dirty="0"/>
          </a:p>
        </p:txBody>
      </p:sp>
      <p:sp>
        <p:nvSpPr>
          <p:cNvPr id="145" name="Text 143"/>
          <p:cNvSpPr/>
          <p:nvPr/>
        </p:nvSpPr>
        <p:spPr>
          <a:xfrm>
            <a:off x="64008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17</a:t>
            </a:r>
            <a:endParaRPr lang="en-US" sz="1200" dirty="0"/>
          </a:p>
        </p:txBody>
      </p:sp>
      <p:sp>
        <p:nvSpPr>
          <p:cNvPr id="146" name="Text 144"/>
          <p:cNvSpPr/>
          <p:nvPr/>
        </p:nvSpPr>
        <p:spPr>
          <a:xfrm>
            <a:off x="67564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11</a:t>
            </a:r>
            <a:endParaRPr lang="en-US" sz="1200" dirty="0"/>
          </a:p>
        </p:txBody>
      </p:sp>
      <p:sp>
        <p:nvSpPr>
          <p:cNvPr id="147" name="Text 145"/>
          <p:cNvSpPr/>
          <p:nvPr/>
        </p:nvSpPr>
        <p:spPr>
          <a:xfrm>
            <a:off x="71120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99</a:t>
            </a:r>
            <a:endParaRPr lang="en-US" sz="1200" dirty="0"/>
          </a:p>
        </p:txBody>
      </p:sp>
      <p:sp>
        <p:nvSpPr>
          <p:cNvPr id="148" name="Text 146"/>
          <p:cNvSpPr/>
          <p:nvPr/>
        </p:nvSpPr>
        <p:spPr>
          <a:xfrm>
            <a:off x="74676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66</a:t>
            </a:r>
            <a:endParaRPr lang="en-US" sz="1200" dirty="0"/>
          </a:p>
        </p:txBody>
      </p:sp>
      <p:sp>
        <p:nvSpPr>
          <p:cNvPr id="149" name="Text 147"/>
          <p:cNvSpPr/>
          <p:nvPr/>
        </p:nvSpPr>
        <p:spPr>
          <a:xfrm>
            <a:off x="78232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55</a:t>
            </a:r>
            <a:endParaRPr lang="en-US" sz="1200" dirty="0"/>
          </a:p>
        </p:txBody>
      </p:sp>
      <p:sp>
        <p:nvSpPr>
          <p:cNvPr id="150" name="Text 148"/>
          <p:cNvSpPr/>
          <p:nvPr/>
        </p:nvSpPr>
        <p:spPr>
          <a:xfrm>
            <a:off x="81788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18</a:t>
            </a:r>
            <a:endParaRPr lang="en-US" sz="1200" dirty="0"/>
          </a:p>
        </p:txBody>
      </p:sp>
      <p:sp>
        <p:nvSpPr>
          <p:cNvPr id="151" name="Text 149"/>
          <p:cNvSpPr/>
          <p:nvPr/>
        </p:nvSpPr>
        <p:spPr>
          <a:xfrm>
            <a:off x="85344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21</a:t>
            </a:r>
            <a:endParaRPr lang="en-US" sz="1200" dirty="0"/>
          </a:p>
        </p:txBody>
      </p:sp>
      <p:sp>
        <p:nvSpPr>
          <p:cNvPr id="152" name="Text 150"/>
          <p:cNvSpPr/>
          <p:nvPr/>
        </p:nvSpPr>
        <p:spPr>
          <a:xfrm>
            <a:off x="88900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12</a:t>
            </a:r>
            <a:endParaRPr lang="en-US" sz="1200" dirty="0"/>
          </a:p>
        </p:txBody>
      </p:sp>
      <p:sp>
        <p:nvSpPr>
          <p:cNvPr id="153" name="Text 151"/>
          <p:cNvSpPr/>
          <p:nvPr/>
        </p:nvSpPr>
        <p:spPr>
          <a:xfrm>
            <a:off x="92456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16</a:t>
            </a:r>
            <a:endParaRPr lang="en-US" sz="1200" dirty="0"/>
          </a:p>
        </p:txBody>
      </p:sp>
      <p:sp>
        <p:nvSpPr>
          <p:cNvPr id="154" name="Text 152"/>
          <p:cNvSpPr/>
          <p:nvPr/>
        </p:nvSpPr>
        <p:spPr>
          <a:xfrm>
            <a:off x="96012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11</a:t>
            </a:r>
            <a:endParaRPr lang="en-US" sz="1200" dirty="0"/>
          </a:p>
        </p:txBody>
      </p:sp>
      <p:sp>
        <p:nvSpPr>
          <p:cNvPr id="155" name="Text 153"/>
          <p:cNvSpPr/>
          <p:nvPr/>
        </p:nvSpPr>
        <p:spPr>
          <a:xfrm>
            <a:off x="99568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100</a:t>
            </a:r>
            <a:endParaRPr lang="en-US" sz="1200" dirty="0"/>
          </a:p>
        </p:txBody>
      </p:sp>
      <p:sp>
        <p:nvSpPr>
          <p:cNvPr id="156" name="Text 154"/>
          <p:cNvSpPr/>
          <p:nvPr/>
        </p:nvSpPr>
        <p:spPr>
          <a:xfrm>
            <a:off x="103124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100</a:t>
            </a:r>
            <a:endParaRPr lang="en-US" sz="1200" dirty="0"/>
          </a:p>
        </p:txBody>
      </p:sp>
      <p:sp>
        <p:nvSpPr>
          <p:cNvPr id="157" name="Text 155"/>
          <p:cNvSpPr/>
          <p:nvPr/>
        </p:nvSpPr>
        <p:spPr>
          <a:xfrm>
            <a:off x="106680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99</a:t>
            </a:r>
            <a:endParaRPr lang="en-US" sz="1200" dirty="0"/>
          </a:p>
        </p:txBody>
      </p:sp>
      <p:sp>
        <p:nvSpPr>
          <p:cNvPr id="158" name="Text 156"/>
          <p:cNvSpPr/>
          <p:nvPr/>
        </p:nvSpPr>
        <p:spPr>
          <a:xfrm>
            <a:off x="11023600" y="5166023"/>
            <a:ext cx="3810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99</a:t>
            </a:r>
            <a:endParaRPr lang="en-US" sz="1200" dirty="0"/>
          </a:p>
        </p:txBody>
      </p:sp>
      <p:sp>
        <p:nvSpPr>
          <p:cNvPr id="159" name="Text 157"/>
          <p:cNvSpPr/>
          <p:nvPr/>
        </p:nvSpPr>
        <p:spPr>
          <a:xfrm>
            <a:off x="812800" y="5546477"/>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894"/>
                </a:solidFill>
                <a:latin typeface="Arial" pitchFamily="34" charset="0"/>
                <a:ea typeface="Arial" pitchFamily="34" charset="-122"/>
                <a:cs typeface="Arial" pitchFamily="34" charset="-120"/>
              </a:rPr>
              <a:t>% ＝ 再利用ブロック442個で、再利用元と一致する割合（偶然なら3%）</a:t>
            </a:r>
            <a:endParaRPr lang="en-US" sz="1200" dirty="0"/>
          </a:p>
        </p:txBody>
      </p:sp>
      <p:sp>
        <p:nvSpPr>
          <p:cNvPr id="160" name="Text 15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61" name="Text 159"/>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G4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版は一斉に切り替わる</a:t>
            </a:r>
            <a:endParaRPr lang="en-US" sz="3600" dirty="0"/>
          </a:p>
        </p:txBody>
      </p:sp>
      <p:sp>
        <p:nvSpPr>
          <p:cNvPr id="4" name="Text 2"/>
          <p:cNvSpPr/>
          <p:nvPr/>
        </p:nvSpPr>
        <p:spPr>
          <a:xfrm>
            <a:off x="812800" y="19811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BVの3つのフィールド、5回の放送（241031〜250122）</a:t>
            </a:r>
            <a:endParaRPr lang="en-US" sz="1600" dirty="0"/>
          </a:p>
        </p:txBody>
      </p:sp>
      <p:sp>
        <p:nvSpPr>
          <p:cNvPr id="5" name="Text 3"/>
          <p:cNvSpPr/>
          <p:nvPr/>
        </p:nvSpPr>
        <p:spPr>
          <a:xfrm>
            <a:off x="812800" y="23367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241231までは13文字目だけが、1フィールドずつ変わる</a:t>
            </a:r>
            <a:endParaRPr lang="en-US" sz="1600" dirty="0"/>
          </a:p>
        </p:txBody>
      </p:sp>
      <p:sp>
        <p:nvSpPr>
          <p:cNvPr id="6" name="Text 4"/>
          <p:cNvSpPr/>
          <p:nvPr/>
        </p:nvSpPr>
        <p:spPr>
          <a:xfrm>
            <a:off x="812800" y="26923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0467"/>
                </a:solidFill>
                <a:latin typeface="Arial" pitchFamily="34" charset="0"/>
                <a:ea typeface="Arial" pitchFamily="34" charset="-122"/>
                <a:cs typeface="Arial" pitchFamily="34" charset="-120"/>
              </a:rPr>
              <a:t>250122：</a:t>
            </a:r>
            <a:r>
              <a:rPr lang="en-US" sz="1600" dirty="0">
                <a:solidFill>
                  <a:srgbClr val="E6EDF3"/>
                </a:solidFill>
                <a:latin typeface="Arial" pitchFamily="34" charset="0"/>
                <a:ea typeface="Arial" pitchFamily="34" charset="-122"/>
                <a:cs typeface="Arial" pitchFamily="34" charset="-120"/>
              </a:rPr>
              <a:t>3つのフィールドすべてで5、12、13文字目が同時に変わる</a:t>
            </a:r>
            <a:endParaRPr lang="en-US" sz="1600" dirty="0"/>
          </a:p>
        </p:txBody>
      </p:sp>
      <p:sp>
        <p:nvSpPr>
          <p:cNvPr id="7" name="Text 5"/>
          <p:cNvSpPr/>
          <p:nvPr/>
        </p:nvSpPr>
        <p:spPr>
          <a:xfrm>
            <a:off x="812800" y="30479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2つ以上のフィールドを共有する対：ほぼ必ず全部同じか全部違う</a:t>
            </a:r>
            <a:endParaRPr lang="en-US" sz="1600" dirty="0"/>
          </a:p>
        </p:txBody>
      </p:sp>
      <p:sp>
        <p:nvSpPr>
          <p:cNvPr id="8" name="Text 6"/>
          <p:cNvSpPr/>
          <p:nvPr/>
        </p:nvSpPr>
        <p:spPr>
          <a:xfrm>
            <a:off x="725170" y="3505150"/>
            <a:ext cx="3008630" cy="228600"/>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Arial" pitchFamily="34" charset="0"/>
                <a:ea typeface="Arial" pitchFamily="34" charset="-122"/>
                <a:cs typeface="Arial" pitchFamily="34" charset="-120"/>
              </a:rPr>
              <a:t>位置</a:t>
            </a:r>
            <a:endParaRPr lang="en-US" sz="1200" dirty="0"/>
          </a:p>
        </p:txBody>
      </p:sp>
      <p:sp>
        <p:nvSpPr>
          <p:cNvPr id="9" name="Text 7"/>
          <p:cNvSpPr/>
          <p:nvPr/>
        </p:nvSpPr>
        <p:spPr>
          <a:xfrm>
            <a:off x="725170" y="3733750"/>
            <a:ext cx="3008630" cy="304800"/>
          </a:xfrm>
          <a:prstGeom prst="rect">
            <a:avLst/>
          </a:prstGeom>
          <a:noFill/>
          <a:ln/>
        </p:spPr>
        <p:txBody>
          <a:bodyPr wrap="square" lIns="0" tIns="0" rIns="0" bIns="0" rtlCol="0" anchor="t">
            <a:normAutofit/>
          </a:bodyPr>
          <a:lstStyle/>
          <a:p>
            <a:pPr algn="r" indent="0" marL="0">
              <a:lnSpc>
                <a:spcPts val="2196"/>
              </a:lnSpc>
              <a:buNone/>
            </a:pPr>
            <a:r>
              <a:rPr lang="en-US" sz="1200" dirty="0">
                <a:solidFill>
                  <a:srgbClr val="A9B4BF"/>
                </a:solidFill>
                <a:latin typeface="Arial" pitchFamily="34" charset="0"/>
                <a:ea typeface="Arial" pitchFamily="34" charset="-122"/>
                <a:cs typeface="Arial" pitchFamily="34" charset="-120"/>
              </a:rPr>
              <a:t>BV-268 · 241031（木）· ブロック6〜8</a:t>
            </a:r>
            <a:endParaRPr lang="en-US" sz="1200" dirty="0"/>
          </a:p>
        </p:txBody>
      </p:sp>
      <p:sp>
        <p:nvSpPr>
          <p:cNvPr id="10" name="Text 8"/>
          <p:cNvSpPr/>
          <p:nvPr/>
        </p:nvSpPr>
        <p:spPr>
          <a:xfrm>
            <a:off x="725170" y="4038550"/>
            <a:ext cx="3008630" cy="304800"/>
          </a:xfrm>
          <a:prstGeom prst="rect">
            <a:avLst/>
          </a:prstGeom>
          <a:noFill/>
          <a:ln/>
        </p:spPr>
        <p:txBody>
          <a:bodyPr wrap="square" lIns="0" tIns="0" rIns="0" bIns="0" rtlCol="0" anchor="t">
            <a:normAutofit/>
          </a:bodyPr>
          <a:lstStyle/>
          <a:p>
            <a:pPr algn="r" indent="0" marL="0">
              <a:lnSpc>
                <a:spcPts val="2196"/>
              </a:lnSpc>
              <a:buNone/>
            </a:pPr>
            <a:r>
              <a:rPr lang="en-US" sz="1200" dirty="0">
                <a:solidFill>
                  <a:srgbClr val="A9B4BF"/>
                </a:solidFill>
                <a:latin typeface="Arial" pitchFamily="34" charset="0"/>
                <a:ea typeface="Arial" pitchFamily="34" charset="-122"/>
                <a:cs typeface="Arial" pitchFamily="34" charset="-120"/>
              </a:rPr>
              <a:t>BV-160 · 241117（日）· ブロック1〜3</a:t>
            </a:r>
            <a:endParaRPr lang="en-US" sz="1200" dirty="0"/>
          </a:p>
        </p:txBody>
      </p:sp>
      <p:sp>
        <p:nvSpPr>
          <p:cNvPr id="11" name="Text 9"/>
          <p:cNvSpPr/>
          <p:nvPr/>
        </p:nvSpPr>
        <p:spPr>
          <a:xfrm>
            <a:off x="725170" y="4343350"/>
            <a:ext cx="3008630" cy="304800"/>
          </a:xfrm>
          <a:prstGeom prst="rect">
            <a:avLst/>
          </a:prstGeom>
          <a:noFill/>
          <a:ln/>
        </p:spPr>
        <p:txBody>
          <a:bodyPr wrap="square" lIns="0" tIns="0" rIns="0" bIns="0" rtlCol="0" anchor="t">
            <a:normAutofit/>
          </a:bodyPr>
          <a:lstStyle/>
          <a:p>
            <a:pPr algn="r" indent="0" marL="0">
              <a:lnSpc>
                <a:spcPts val="2196"/>
              </a:lnSpc>
              <a:buNone/>
            </a:pPr>
            <a:r>
              <a:rPr lang="en-US" sz="1200" dirty="0">
                <a:solidFill>
                  <a:srgbClr val="A9B4BF"/>
                </a:solidFill>
                <a:latin typeface="Arial" pitchFamily="34" charset="0"/>
                <a:ea typeface="Arial" pitchFamily="34" charset="-122"/>
                <a:cs typeface="Arial" pitchFamily="34" charset="-120"/>
              </a:rPr>
              <a:t>BV-164 · 241214（土）</a:t>
            </a:r>
            <a:endParaRPr lang="en-US" sz="1200" dirty="0"/>
          </a:p>
        </p:txBody>
      </p:sp>
      <p:sp>
        <p:nvSpPr>
          <p:cNvPr id="12" name="Text 10"/>
          <p:cNvSpPr/>
          <p:nvPr/>
        </p:nvSpPr>
        <p:spPr>
          <a:xfrm>
            <a:off x="725170" y="4648150"/>
            <a:ext cx="3008630" cy="304800"/>
          </a:xfrm>
          <a:prstGeom prst="rect">
            <a:avLst/>
          </a:prstGeom>
          <a:noFill/>
          <a:ln/>
        </p:spPr>
        <p:txBody>
          <a:bodyPr wrap="square" lIns="0" tIns="0" rIns="0" bIns="0" rtlCol="0" anchor="t">
            <a:normAutofit/>
          </a:bodyPr>
          <a:lstStyle/>
          <a:p>
            <a:pPr algn="r" indent="0" marL="0">
              <a:lnSpc>
                <a:spcPts val="2196"/>
              </a:lnSpc>
              <a:buNone/>
            </a:pPr>
            <a:r>
              <a:rPr lang="en-US" sz="1200" dirty="0">
                <a:solidFill>
                  <a:srgbClr val="A9B4BF"/>
                </a:solidFill>
                <a:latin typeface="Arial" pitchFamily="34" charset="0"/>
                <a:ea typeface="Arial" pitchFamily="34" charset="-122"/>
                <a:cs typeface="Arial" pitchFamily="34" charset="-120"/>
              </a:rPr>
              <a:t>BV-142 · 241231（火）</a:t>
            </a:r>
            <a:endParaRPr lang="en-US" sz="1200" dirty="0"/>
          </a:p>
        </p:txBody>
      </p:sp>
      <p:sp>
        <p:nvSpPr>
          <p:cNvPr id="13" name="Text 11"/>
          <p:cNvSpPr/>
          <p:nvPr/>
        </p:nvSpPr>
        <p:spPr>
          <a:xfrm>
            <a:off x="725170" y="4952950"/>
            <a:ext cx="3008630" cy="304800"/>
          </a:xfrm>
          <a:prstGeom prst="rect">
            <a:avLst/>
          </a:prstGeom>
          <a:noFill/>
          <a:ln/>
        </p:spPr>
        <p:txBody>
          <a:bodyPr wrap="square" lIns="0" tIns="0" rIns="0" bIns="0" rtlCol="0" anchor="t">
            <a:normAutofit/>
          </a:bodyPr>
          <a:lstStyle/>
          <a:p>
            <a:pPr algn="r" indent="0" marL="0">
              <a:lnSpc>
                <a:spcPts val="2196"/>
              </a:lnSpc>
              <a:buNone/>
            </a:pPr>
            <a:r>
              <a:rPr lang="en-US" sz="1200" dirty="0">
                <a:solidFill>
                  <a:srgbClr val="A9B4BF"/>
                </a:solidFill>
                <a:latin typeface="Arial" pitchFamily="34" charset="0"/>
                <a:ea typeface="Arial" pitchFamily="34" charset="-122"/>
                <a:cs typeface="Arial" pitchFamily="34" charset="-120"/>
              </a:rPr>
              <a:t>BV-166 · 250122（水）</a:t>
            </a:r>
            <a:endParaRPr lang="en-US" sz="1200" dirty="0"/>
          </a:p>
        </p:txBody>
      </p:sp>
      <p:sp>
        <p:nvSpPr>
          <p:cNvPr id="14" name="Text 12"/>
          <p:cNvSpPr/>
          <p:nvPr/>
        </p:nvSpPr>
        <p:spPr>
          <a:xfrm>
            <a:off x="3886200" y="3505150"/>
            <a:ext cx="2563876" cy="228600"/>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E6EDF3"/>
                </a:solidFill>
                <a:latin typeface="Courier New" pitchFamily="49" charset="0"/>
                <a:ea typeface="Courier New" pitchFamily="49" charset="-122"/>
                <a:cs typeface="Courier New" pitchFamily="49" charset="-120"/>
              </a:rPr>
              <a:t>?UCV?</a:t>
            </a:r>
            <a:endParaRPr lang="en-US" sz="1200" dirty="0"/>
          </a:p>
        </p:txBody>
      </p:sp>
      <p:sp>
        <p:nvSpPr>
          <p:cNvPr id="15" name="Text 13"/>
          <p:cNvSpPr/>
          <p:nvPr/>
        </p:nvSpPr>
        <p:spPr>
          <a:xfrm>
            <a:off x="6400800" y="3505150"/>
            <a:ext cx="2563876" cy="228600"/>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E6EDF3"/>
                </a:solidFill>
                <a:latin typeface="Courier New" pitchFamily="49" charset="0"/>
                <a:ea typeface="Courier New" pitchFamily="49" charset="-122"/>
                <a:cs typeface="Courier New" pitchFamily="49" charset="-120"/>
              </a:rPr>
              <a:t>?MU6?</a:t>
            </a:r>
            <a:endParaRPr lang="en-US" sz="1200" dirty="0"/>
          </a:p>
        </p:txBody>
      </p:sp>
      <p:sp>
        <p:nvSpPr>
          <p:cNvPr id="16" name="Text 14"/>
          <p:cNvSpPr/>
          <p:nvPr/>
        </p:nvSpPr>
        <p:spPr>
          <a:xfrm>
            <a:off x="8915400" y="3505150"/>
            <a:ext cx="2354580" cy="228600"/>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E6EDF3"/>
                </a:solidFill>
                <a:latin typeface="Courier New" pitchFamily="49" charset="0"/>
                <a:ea typeface="Courier New" pitchFamily="49" charset="-122"/>
                <a:cs typeface="Courier New" pitchFamily="49" charset="-120"/>
              </a:rPr>
              <a:t>?4ZV?</a:t>
            </a:r>
            <a:endParaRPr lang="en-US" sz="1200" dirty="0"/>
          </a:p>
        </p:txBody>
      </p:sp>
      <p:sp>
        <p:nvSpPr>
          <p:cNvPr id="17" name="Text 15"/>
          <p:cNvSpPr/>
          <p:nvPr/>
        </p:nvSpPr>
        <p:spPr>
          <a:xfrm>
            <a:off x="38608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18" name="Text 16"/>
          <p:cNvSpPr/>
          <p:nvPr/>
        </p:nvSpPr>
        <p:spPr>
          <a:xfrm>
            <a:off x="41402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19" name="Text 17"/>
          <p:cNvSpPr/>
          <p:nvPr/>
        </p:nvSpPr>
        <p:spPr>
          <a:xfrm>
            <a:off x="44196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20" name="Text 18"/>
          <p:cNvSpPr/>
          <p:nvPr/>
        </p:nvSpPr>
        <p:spPr>
          <a:xfrm>
            <a:off x="46990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21" name="Text 19"/>
          <p:cNvSpPr/>
          <p:nvPr/>
        </p:nvSpPr>
        <p:spPr>
          <a:xfrm>
            <a:off x="49784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22" name="Text 20"/>
          <p:cNvSpPr/>
          <p:nvPr/>
        </p:nvSpPr>
        <p:spPr>
          <a:xfrm>
            <a:off x="53340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23" name="Text 21"/>
          <p:cNvSpPr/>
          <p:nvPr/>
        </p:nvSpPr>
        <p:spPr>
          <a:xfrm>
            <a:off x="56134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24" name="Text 22"/>
          <p:cNvSpPr/>
          <p:nvPr/>
        </p:nvSpPr>
        <p:spPr>
          <a:xfrm>
            <a:off x="58928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13</a:t>
            </a:r>
            <a:endParaRPr lang="en-US" sz="1200" dirty="0"/>
          </a:p>
        </p:txBody>
      </p:sp>
      <p:sp>
        <p:nvSpPr>
          <p:cNvPr id="25" name="Text 23"/>
          <p:cNvSpPr/>
          <p:nvPr/>
        </p:nvSpPr>
        <p:spPr>
          <a:xfrm>
            <a:off x="63754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26" name="Text 24"/>
          <p:cNvSpPr/>
          <p:nvPr/>
        </p:nvSpPr>
        <p:spPr>
          <a:xfrm>
            <a:off x="66548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27" name="Text 25"/>
          <p:cNvSpPr/>
          <p:nvPr/>
        </p:nvSpPr>
        <p:spPr>
          <a:xfrm>
            <a:off x="69342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28" name="Text 26"/>
          <p:cNvSpPr/>
          <p:nvPr/>
        </p:nvSpPr>
        <p:spPr>
          <a:xfrm>
            <a:off x="72136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29" name="Text 27"/>
          <p:cNvSpPr/>
          <p:nvPr/>
        </p:nvSpPr>
        <p:spPr>
          <a:xfrm>
            <a:off x="74930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30" name="Text 28"/>
          <p:cNvSpPr/>
          <p:nvPr/>
        </p:nvSpPr>
        <p:spPr>
          <a:xfrm>
            <a:off x="78486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31" name="Text 29"/>
          <p:cNvSpPr/>
          <p:nvPr/>
        </p:nvSpPr>
        <p:spPr>
          <a:xfrm>
            <a:off x="81280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32" name="Text 30"/>
          <p:cNvSpPr/>
          <p:nvPr/>
        </p:nvSpPr>
        <p:spPr>
          <a:xfrm>
            <a:off x="84074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13</a:t>
            </a:r>
            <a:endParaRPr lang="en-US" sz="1200" dirty="0"/>
          </a:p>
        </p:txBody>
      </p:sp>
      <p:sp>
        <p:nvSpPr>
          <p:cNvPr id="33" name="Text 31"/>
          <p:cNvSpPr/>
          <p:nvPr/>
        </p:nvSpPr>
        <p:spPr>
          <a:xfrm>
            <a:off x="88900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34" name="Text 32"/>
          <p:cNvSpPr/>
          <p:nvPr/>
        </p:nvSpPr>
        <p:spPr>
          <a:xfrm>
            <a:off x="91694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35" name="Text 33"/>
          <p:cNvSpPr/>
          <p:nvPr/>
        </p:nvSpPr>
        <p:spPr>
          <a:xfrm>
            <a:off x="94488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36" name="Text 34"/>
          <p:cNvSpPr/>
          <p:nvPr/>
        </p:nvSpPr>
        <p:spPr>
          <a:xfrm>
            <a:off x="97282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37" name="Text 35"/>
          <p:cNvSpPr/>
          <p:nvPr/>
        </p:nvSpPr>
        <p:spPr>
          <a:xfrm>
            <a:off x="100076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38" name="Text 36"/>
          <p:cNvSpPr/>
          <p:nvPr/>
        </p:nvSpPr>
        <p:spPr>
          <a:xfrm>
            <a:off x="103632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39" name="Text 37"/>
          <p:cNvSpPr/>
          <p:nvPr/>
        </p:nvSpPr>
        <p:spPr>
          <a:xfrm>
            <a:off x="106426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40" name="Text 38"/>
          <p:cNvSpPr/>
          <p:nvPr/>
        </p:nvSpPr>
        <p:spPr>
          <a:xfrm>
            <a:off x="10922000" y="3733750"/>
            <a:ext cx="304800" cy="228600"/>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13</a:t>
            </a:r>
            <a:endParaRPr lang="en-US" sz="1200" dirty="0"/>
          </a:p>
        </p:txBody>
      </p:sp>
      <p:sp>
        <p:nvSpPr>
          <p:cNvPr id="41" name="Text 39"/>
          <p:cNvSpPr/>
          <p:nvPr/>
        </p:nvSpPr>
        <p:spPr>
          <a:xfrm>
            <a:off x="38862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42" name="Text 40"/>
          <p:cNvSpPr/>
          <p:nvPr/>
        </p:nvSpPr>
        <p:spPr>
          <a:xfrm>
            <a:off x="41656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43" name="Text 41"/>
          <p:cNvSpPr/>
          <p:nvPr/>
        </p:nvSpPr>
        <p:spPr>
          <a:xfrm>
            <a:off x="44450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C</a:t>
            </a:r>
            <a:endParaRPr lang="en-US" sz="1600" dirty="0"/>
          </a:p>
        </p:txBody>
      </p:sp>
      <p:sp>
        <p:nvSpPr>
          <p:cNvPr id="44" name="Text 42"/>
          <p:cNvSpPr/>
          <p:nvPr/>
        </p:nvSpPr>
        <p:spPr>
          <a:xfrm>
            <a:off x="47244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45" name="Text 43"/>
          <p:cNvSpPr/>
          <p:nvPr/>
        </p:nvSpPr>
        <p:spPr>
          <a:xfrm>
            <a:off x="50038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F</a:t>
            </a:r>
            <a:endParaRPr lang="en-US" sz="1600" dirty="0"/>
          </a:p>
        </p:txBody>
      </p:sp>
      <p:sp>
        <p:nvSpPr>
          <p:cNvPr id="46" name="Text 44"/>
          <p:cNvSpPr/>
          <p:nvPr/>
        </p:nvSpPr>
        <p:spPr>
          <a:xfrm>
            <a:off x="53594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L</a:t>
            </a:r>
            <a:endParaRPr lang="en-US" sz="1600" dirty="0"/>
          </a:p>
        </p:txBody>
      </p:sp>
      <p:sp>
        <p:nvSpPr>
          <p:cNvPr id="47" name="Text 45"/>
          <p:cNvSpPr/>
          <p:nvPr/>
        </p:nvSpPr>
        <p:spPr>
          <a:xfrm>
            <a:off x="56388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48" name="Text 46"/>
          <p:cNvSpPr/>
          <p:nvPr/>
        </p:nvSpPr>
        <p:spPr>
          <a:xfrm>
            <a:off x="59182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Y</a:t>
            </a:r>
            <a:endParaRPr lang="en-US" sz="1600" dirty="0"/>
          </a:p>
        </p:txBody>
      </p:sp>
      <p:sp>
        <p:nvSpPr>
          <p:cNvPr id="49" name="Text 47"/>
          <p:cNvSpPr/>
          <p:nvPr/>
        </p:nvSpPr>
        <p:spPr>
          <a:xfrm>
            <a:off x="64008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50" name="Text 48"/>
          <p:cNvSpPr/>
          <p:nvPr/>
        </p:nvSpPr>
        <p:spPr>
          <a:xfrm>
            <a:off x="66802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M</a:t>
            </a:r>
            <a:endParaRPr lang="en-US" sz="1600" dirty="0"/>
          </a:p>
        </p:txBody>
      </p:sp>
      <p:sp>
        <p:nvSpPr>
          <p:cNvPr id="51" name="Text 49"/>
          <p:cNvSpPr/>
          <p:nvPr/>
        </p:nvSpPr>
        <p:spPr>
          <a:xfrm>
            <a:off x="69596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52" name="Text 50"/>
          <p:cNvSpPr/>
          <p:nvPr/>
        </p:nvSpPr>
        <p:spPr>
          <a:xfrm>
            <a:off x="72390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6</a:t>
            </a:r>
            <a:endParaRPr lang="en-US" sz="1600" dirty="0"/>
          </a:p>
        </p:txBody>
      </p:sp>
      <p:sp>
        <p:nvSpPr>
          <p:cNvPr id="53" name="Text 51"/>
          <p:cNvSpPr/>
          <p:nvPr/>
        </p:nvSpPr>
        <p:spPr>
          <a:xfrm>
            <a:off x="75184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54" name="Text 52"/>
          <p:cNvSpPr/>
          <p:nvPr/>
        </p:nvSpPr>
        <p:spPr>
          <a:xfrm>
            <a:off x="78740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3</a:t>
            </a:r>
            <a:endParaRPr lang="en-US" sz="1600" dirty="0"/>
          </a:p>
        </p:txBody>
      </p:sp>
      <p:sp>
        <p:nvSpPr>
          <p:cNvPr id="55" name="Text 53"/>
          <p:cNvSpPr/>
          <p:nvPr/>
        </p:nvSpPr>
        <p:spPr>
          <a:xfrm>
            <a:off x="81534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56" name="Text 54"/>
          <p:cNvSpPr/>
          <p:nvPr/>
        </p:nvSpPr>
        <p:spPr>
          <a:xfrm>
            <a:off x="84328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57" name="Text 55"/>
          <p:cNvSpPr/>
          <p:nvPr/>
        </p:nvSpPr>
        <p:spPr>
          <a:xfrm>
            <a:off x="89154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58" name="Text 56"/>
          <p:cNvSpPr/>
          <p:nvPr/>
        </p:nvSpPr>
        <p:spPr>
          <a:xfrm>
            <a:off x="91948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4</a:t>
            </a:r>
            <a:endParaRPr lang="en-US" sz="1600" dirty="0"/>
          </a:p>
        </p:txBody>
      </p:sp>
      <p:sp>
        <p:nvSpPr>
          <p:cNvPr id="59" name="Text 57"/>
          <p:cNvSpPr/>
          <p:nvPr/>
        </p:nvSpPr>
        <p:spPr>
          <a:xfrm>
            <a:off x="94742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Z</a:t>
            </a:r>
            <a:endParaRPr lang="en-US" sz="1600" dirty="0"/>
          </a:p>
        </p:txBody>
      </p:sp>
      <p:sp>
        <p:nvSpPr>
          <p:cNvPr id="60" name="Text 58"/>
          <p:cNvSpPr/>
          <p:nvPr/>
        </p:nvSpPr>
        <p:spPr>
          <a:xfrm>
            <a:off x="97536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61" name="Text 59"/>
          <p:cNvSpPr/>
          <p:nvPr/>
        </p:nvSpPr>
        <p:spPr>
          <a:xfrm>
            <a:off x="100330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T</a:t>
            </a:r>
            <a:endParaRPr lang="en-US" sz="1600" dirty="0"/>
          </a:p>
        </p:txBody>
      </p:sp>
      <p:sp>
        <p:nvSpPr>
          <p:cNvPr id="62" name="Text 60"/>
          <p:cNvSpPr/>
          <p:nvPr/>
        </p:nvSpPr>
        <p:spPr>
          <a:xfrm>
            <a:off x="10388600" y="39623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K</a:t>
            </a:r>
            <a:endParaRPr lang="en-US" sz="1600" dirty="0"/>
          </a:p>
        </p:txBody>
      </p:sp>
      <p:sp>
        <p:nvSpPr>
          <p:cNvPr id="63" name="Text 61"/>
          <p:cNvSpPr/>
          <p:nvPr/>
        </p:nvSpPr>
        <p:spPr>
          <a:xfrm>
            <a:off x="106680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64" name="Text 62"/>
          <p:cNvSpPr/>
          <p:nvPr/>
        </p:nvSpPr>
        <p:spPr>
          <a:xfrm>
            <a:off x="10947400" y="39623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65" name="Text 63"/>
          <p:cNvSpPr/>
          <p:nvPr/>
        </p:nvSpPr>
        <p:spPr>
          <a:xfrm>
            <a:off x="38862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66" name="Text 64"/>
          <p:cNvSpPr/>
          <p:nvPr/>
        </p:nvSpPr>
        <p:spPr>
          <a:xfrm>
            <a:off x="41656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67" name="Text 65"/>
          <p:cNvSpPr/>
          <p:nvPr/>
        </p:nvSpPr>
        <p:spPr>
          <a:xfrm>
            <a:off x="44450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C</a:t>
            </a:r>
            <a:endParaRPr lang="en-US" sz="1600" dirty="0"/>
          </a:p>
        </p:txBody>
      </p:sp>
      <p:sp>
        <p:nvSpPr>
          <p:cNvPr id="68" name="Text 66"/>
          <p:cNvSpPr/>
          <p:nvPr/>
        </p:nvSpPr>
        <p:spPr>
          <a:xfrm>
            <a:off x="47244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69" name="Text 67"/>
          <p:cNvSpPr/>
          <p:nvPr/>
        </p:nvSpPr>
        <p:spPr>
          <a:xfrm>
            <a:off x="50038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F</a:t>
            </a:r>
            <a:endParaRPr lang="en-US" sz="1600" dirty="0"/>
          </a:p>
        </p:txBody>
      </p:sp>
      <p:sp>
        <p:nvSpPr>
          <p:cNvPr id="70" name="Text 68"/>
          <p:cNvSpPr/>
          <p:nvPr/>
        </p:nvSpPr>
        <p:spPr>
          <a:xfrm>
            <a:off x="53594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L</a:t>
            </a:r>
            <a:endParaRPr lang="en-US" sz="1600" dirty="0"/>
          </a:p>
        </p:txBody>
      </p:sp>
      <p:sp>
        <p:nvSpPr>
          <p:cNvPr id="71" name="Text 69"/>
          <p:cNvSpPr/>
          <p:nvPr/>
        </p:nvSpPr>
        <p:spPr>
          <a:xfrm>
            <a:off x="56388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72" name="Text 70"/>
          <p:cNvSpPr/>
          <p:nvPr/>
        </p:nvSpPr>
        <p:spPr>
          <a:xfrm>
            <a:off x="59182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Y</a:t>
            </a:r>
            <a:endParaRPr lang="en-US" sz="1600" dirty="0"/>
          </a:p>
        </p:txBody>
      </p:sp>
      <p:sp>
        <p:nvSpPr>
          <p:cNvPr id="73" name="Text 71"/>
          <p:cNvSpPr/>
          <p:nvPr/>
        </p:nvSpPr>
        <p:spPr>
          <a:xfrm>
            <a:off x="64008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74" name="Text 72"/>
          <p:cNvSpPr/>
          <p:nvPr/>
        </p:nvSpPr>
        <p:spPr>
          <a:xfrm>
            <a:off x="66802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M</a:t>
            </a:r>
            <a:endParaRPr lang="en-US" sz="1600" dirty="0"/>
          </a:p>
        </p:txBody>
      </p:sp>
      <p:sp>
        <p:nvSpPr>
          <p:cNvPr id="75" name="Text 73"/>
          <p:cNvSpPr/>
          <p:nvPr/>
        </p:nvSpPr>
        <p:spPr>
          <a:xfrm>
            <a:off x="69596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76" name="Text 74"/>
          <p:cNvSpPr/>
          <p:nvPr/>
        </p:nvSpPr>
        <p:spPr>
          <a:xfrm>
            <a:off x="72390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6</a:t>
            </a:r>
            <a:endParaRPr lang="en-US" sz="1600" dirty="0"/>
          </a:p>
        </p:txBody>
      </p:sp>
      <p:sp>
        <p:nvSpPr>
          <p:cNvPr id="77" name="Text 75"/>
          <p:cNvSpPr/>
          <p:nvPr/>
        </p:nvSpPr>
        <p:spPr>
          <a:xfrm>
            <a:off x="75184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78" name="Text 76"/>
          <p:cNvSpPr/>
          <p:nvPr/>
        </p:nvSpPr>
        <p:spPr>
          <a:xfrm>
            <a:off x="78740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3</a:t>
            </a:r>
            <a:endParaRPr lang="en-US" sz="1600" dirty="0"/>
          </a:p>
        </p:txBody>
      </p:sp>
      <p:sp>
        <p:nvSpPr>
          <p:cNvPr id="79" name="Text 77"/>
          <p:cNvSpPr/>
          <p:nvPr/>
        </p:nvSpPr>
        <p:spPr>
          <a:xfrm>
            <a:off x="81534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80" name="Text 78"/>
          <p:cNvSpPr/>
          <p:nvPr/>
        </p:nvSpPr>
        <p:spPr>
          <a:xfrm>
            <a:off x="84328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H</a:t>
            </a:r>
            <a:endParaRPr lang="en-US" sz="1600" dirty="0"/>
          </a:p>
        </p:txBody>
      </p:sp>
      <p:sp>
        <p:nvSpPr>
          <p:cNvPr id="81" name="Text 79"/>
          <p:cNvSpPr/>
          <p:nvPr/>
        </p:nvSpPr>
        <p:spPr>
          <a:xfrm>
            <a:off x="89154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82" name="Text 80"/>
          <p:cNvSpPr/>
          <p:nvPr/>
        </p:nvSpPr>
        <p:spPr>
          <a:xfrm>
            <a:off x="91948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4</a:t>
            </a:r>
            <a:endParaRPr lang="en-US" sz="1600" dirty="0"/>
          </a:p>
        </p:txBody>
      </p:sp>
      <p:sp>
        <p:nvSpPr>
          <p:cNvPr id="83" name="Text 81"/>
          <p:cNvSpPr/>
          <p:nvPr/>
        </p:nvSpPr>
        <p:spPr>
          <a:xfrm>
            <a:off x="94742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Z</a:t>
            </a:r>
            <a:endParaRPr lang="en-US" sz="1600" dirty="0"/>
          </a:p>
        </p:txBody>
      </p:sp>
      <p:sp>
        <p:nvSpPr>
          <p:cNvPr id="84" name="Text 82"/>
          <p:cNvSpPr/>
          <p:nvPr/>
        </p:nvSpPr>
        <p:spPr>
          <a:xfrm>
            <a:off x="97536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85" name="Text 83"/>
          <p:cNvSpPr/>
          <p:nvPr/>
        </p:nvSpPr>
        <p:spPr>
          <a:xfrm>
            <a:off x="100330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T</a:t>
            </a:r>
            <a:endParaRPr lang="en-US" sz="1600" dirty="0"/>
          </a:p>
        </p:txBody>
      </p:sp>
      <p:sp>
        <p:nvSpPr>
          <p:cNvPr id="86" name="Text 84"/>
          <p:cNvSpPr/>
          <p:nvPr/>
        </p:nvSpPr>
        <p:spPr>
          <a:xfrm>
            <a:off x="10388600" y="42671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K</a:t>
            </a:r>
            <a:endParaRPr lang="en-US" sz="1600" dirty="0"/>
          </a:p>
        </p:txBody>
      </p:sp>
      <p:sp>
        <p:nvSpPr>
          <p:cNvPr id="87" name="Text 85"/>
          <p:cNvSpPr/>
          <p:nvPr/>
        </p:nvSpPr>
        <p:spPr>
          <a:xfrm>
            <a:off x="10668000" y="42671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88" name="Text 86"/>
          <p:cNvSpPr/>
          <p:nvPr/>
        </p:nvSpPr>
        <p:spPr>
          <a:xfrm>
            <a:off x="10947400" y="42671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X</a:t>
            </a:r>
            <a:endParaRPr lang="en-US" sz="1600" dirty="0"/>
          </a:p>
        </p:txBody>
      </p:sp>
      <p:sp>
        <p:nvSpPr>
          <p:cNvPr id="89" name="Text 87"/>
          <p:cNvSpPr/>
          <p:nvPr/>
        </p:nvSpPr>
        <p:spPr>
          <a:xfrm>
            <a:off x="38862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90" name="Text 88"/>
          <p:cNvSpPr/>
          <p:nvPr/>
        </p:nvSpPr>
        <p:spPr>
          <a:xfrm>
            <a:off x="41656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91" name="Text 89"/>
          <p:cNvSpPr/>
          <p:nvPr/>
        </p:nvSpPr>
        <p:spPr>
          <a:xfrm>
            <a:off x="44450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C</a:t>
            </a:r>
            <a:endParaRPr lang="en-US" sz="1600" dirty="0"/>
          </a:p>
        </p:txBody>
      </p:sp>
      <p:sp>
        <p:nvSpPr>
          <p:cNvPr id="92" name="Text 90"/>
          <p:cNvSpPr/>
          <p:nvPr/>
        </p:nvSpPr>
        <p:spPr>
          <a:xfrm>
            <a:off x="47244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93" name="Text 91"/>
          <p:cNvSpPr/>
          <p:nvPr/>
        </p:nvSpPr>
        <p:spPr>
          <a:xfrm>
            <a:off x="50038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F</a:t>
            </a:r>
            <a:endParaRPr lang="en-US" sz="1600" dirty="0"/>
          </a:p>
        </p:txBody>
      </p:sp>
      <p:sp>
        <p:nvSpPr>
          <p:cNvPr id="94" name="Text 92"/>
          <p:cNvSpPr/>
          <p:nvPr/>
        </p:nvSpPr>
        <p:spPr>
          <a:xfrm>
            <a:off x="53594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L</a:t>
            </a:r>
            <a:endParaRPr lang="en-US" sz="1600" dirty="0"/>
          </a:p>
        </p:txBody>
      </p:sp>
      <p:sp>
        <p:nvSpPr>
          <p:cNvPr id="95" name="Text 93"/>
          <p:cNvSpPr/>
          <p:nvPr/>
        </p:nvSpPr>
        <p:spPr>
          <a:xfrm>
            <a:off x="56388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96" name="Text 94"/>
          <p:cNvSpPr/>
          <p:nvPr/>
        </p:nvSpPr>
        <p:spPr>
          <a:xfrm>
            <a:off x="59182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Y</a:t>
            </a:r>
            <a:endParaRPr lang="en-US" sz="1600" dirty="0"/>
          </a:p>
        </p:txBody>
      </p:sp>
      <p:sp>
        <p:nvSpPr>
          <p:cNvPr id="97" name="Text 95"/>
          <p:cNvSpPr/>
          <p:nvPr/>
        </p:nvSpPr>
        <p:spPr>
          <a:xfrm>
            <a:off x="64008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98" name="Text 96"/>
          <p:cNvSpPr/>
          <p:nvPr/>
        </p:nvSpPr>
        <p:spPr>
          <a:xfrm>
            <a:off x="66802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M</a:t>
            </a:r>
            <a:endParaRPr lang="en-US" sz="1600" dirty="0"/>
          </a:p>
        </p:txBody>
      </p:sp>
      <p:sp>
        <p:nvSpPr>
          <p:cNvPr id="99" name="Text 97"/>
          <p:cNvSpPr/>
          <p:nvPr/>
        </p:nvSpPr>
        <p:spPr>
          <a:xfrm>
            <a:off x="69596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100" name="Text 98"/>
          <p:cNvSpPr/>
          <p:nvPr/>
        </p:nvSpPr>
        <p:spPr>
          <a:xfrm>
            <a:off x="72390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6</a:t>
            </a:r>
            <a:endParaRPr lang="en-US" sz="1600" dirty="0"/>
          </a:p>
        </p:txBody>
      </p:sp>
      <p:sp>
        <p:nvSpPr>
          <p:cNvPr id="101" name="Text 99"/>
          <p:cNvSpPr/>
          <p:nvPr/>
        </p:nvSpPr>
        <p:spPr>
          <a:xfrm>
            <a:off x="75184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102" name="Text 100"/>
          <p:cNvSpPr/>
          <p:nvPr/>
        </p:nvSpPr>
        <p:spPr>
          <a:xfrm>
            <a:off x="78740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3</a:t>
            </a:r>
            <a:endParaRPr lang="en-US" sz="1600" dirty="0"/>
          </a:p>
        </p:txBody>
      </p:sp>
      <p:sp>
        <p:nvSpPr>
          <p:cNvPr id="103" name="Text 101"/>
          <p:cNvSpPr/>
          <p:nvPr/>
        </p:nvSpPr>
        <p:spPr>
          <a:xfrm>
            <a:off x="81534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104" name="Text 102"/>
          <p:cNvSpPr/>
          <p:nvPr/>
        </p:nvSpPr>
        <p:spPr>
          <a:xfrm>
            <a:off x="8432800" y="45719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N</a:t>
            </a:r>
            <a:endParaRPr lang="en-US" sz="1600" dirty="0"/>
          </a:p>
        </p:txBody>
      </p:sp>
      <p:sp>
        <p:nvSpPr>
          <p:cNvPr id="105" name="Text 103"/>
          <p:cNvSpPr/>
          <p:nvPr/>
        </p:nvSpPr>
        <p:spPr>
          <a:xfrm>
            <a:off x="89154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106" name="Text 104"/>
          <p:cNvSpPr/>
          <p:nvPr/>
        </p:nvSpPr>
        <p:spPr>
          <a:xfrm>
            <a:off x="91948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4</a:t>
            </a:r>
            <a:endParaRPr lang="en-US" sz="1600" dirty="0"/>
          </a:p>
        </p:txBody>
      </p:sp>
      <p:sp>
        <p:nvSpPr>
          <p:cNvPr id="107" name="Text 105"/>
          <p:cNvSpPr/>
          <p:nvPr/>
        </p:nvSpPr>
        <p:spPr>
          <a:xfrm>
            <a:off x="94742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Z</a:t>
            </a:r>
            <a:endParaRPr lang="en-US" sz="1600" dirty="0"/>
          </a:p>
        </p:txBody>
      </p:sp>
      <p:sp>
        <p:nvSpPr>
          <p:cNvPr id="108" name="Text 106"/>
          <p:cNvSpPr/>
          <p:nvPr/>
        </p:nvSpPr>
        <p:spPr>
          <a:xfrm>
            <a:off x="97536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109" name="Text 107"/>
          <p:cNvSpPr/>
          <p:nvPr/>
        </p:nvSpPr>
        <p:spPr>
          <a:xfrm>
            <a:off x="100330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T</a:t>
            </a:r>
            <a:endParaRPr lang="en-US" sz="1600" dirty="0"/>
          </a:p>
        </p:txBody>
      </p:sp>
      <p:sp>
        <p:nvSpPr>
          <p:cNvPr id="110" name="Text 108"/>
          <p:cNvSpPr/>
          <p:nvPr/>
        </p:nvSpPr>
        <p:spPr>
          <a:xfrm>
            <a:off x="10388600" y="45719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K</a:t>
            </a:r>
            <a:endParaRPr lang="en-US" sz="1600" dirty="0"/>
          </a:p>
        </p:txBody>
      </p:sp>
      <p:sp>
        <p:nvSpPr>
          <p:cNvPr id="111" name="Text 109"/>
          <p:cNvSpPr/>
          <p:nvPr/>
        </p:nvSpPr>
        <p:spPr>
          <a:xfrm>
            <a:off x="106680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112" name="Text 110"/>
          <p:cNvSpPr/>
          <p:nvPr/>
        </p:nvSpPr>
        <p:spPr>
          <a:xfrm>
            <a:off x="10947400" y="45719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113" name="Text 111"/>
          <p:cNvSpPr/>
          <p:nvPr/>
        </p:nvSpPr>
        <p:spPr>
          <a:xfrm>
            <a:off x="38862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114" name="Text 112"/>
          <p:cNvSpPr/>
          <p:nvPr/>
        </p:nvSpPr>
        <p:spPr>
          <a:xfrm>
            <a:off x="41656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115" name="Text 113"/>
          <p:cNvSpPr/>
          <p:nvPr/>
        </p:nvSpPr>
        <p:spPr>
          <a:xfrm>
            <a:off x="44450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C</a:t>
            </a:r>
            <a:endParaRPr lang="en-US" sz="1600" dirty="0"/>
          </a:p>
        </p:txBody>
      </p:sp>
      <p:sp>
        <p:nvSpPr>
          <p:cNvPr id="116" name="Text 114"/>
          <p:cNvSpPr/>
          <p:nvPr/>
        </p:nvSpPr>
        <p:spPr>
          <a:xfrm>
            <a:off x="47244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117" name="Text 115"/>
          <p:cNvSpPr/>
          <p:nvPr/>
        </p:nvSpPr>
        <p:spPr>
          <a:xfrm>
            <a:off x="50038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F</a:t>
            </a:r>
            <a:endParaRPr lang="en-US" sz="1600" dirty="0"/>
          </a:p>
        </p:txBody>
      </p:sp>
      <p:sp>
        <p:nvSpPr>
          <p:cNvPr id="118" name="Text 116"/>
          <p:cNvSpPr/>
          <p:nvPr/>
        </p:nvSpPr>
        <p:spPr>
          <a:xfrm>
            <a:off x="53594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L</a:t>
            </a:r>
            <a:endParaRPr lang="en-US" sz="1600" dirty="0"/>
          </a:p>
        </p:txBody>
      </p:sp>
      <p:sp>
        <p:nvSpPr>
          <p:cNvPr id="119" name="Text 117"/>
          <p:cNvSpPr/>
          <p:nvPr/>
        </p:nvSpPr>
        <p:spPr>
          <a:xfrm>
            <a:off x="56388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S</a:t>
            </a:r>
            <a:endParaRPr lang="en-US" sz="1600" dirty="0"/>
          </a:p>
        </p:txBody>
      </p:sp>
      <p:sp>
        <p:nvSpPr>
          <p:cNvPr id="120" name="Text 118"/>
          <p:cNvSpPr/>
          <p:nvPr/>
        </p:nvSpPr>
        <p:spPr>
          <a:xfrm>
            <a:off x="59182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Y</a:t>
            </a:r>
            <a:endParaRPr lang="en-US" sz="1600" dirty="0"/>
          </a:p>
        </p:txBody>
      </p:sp>
      <p:sp>
        <p:nvSpPr>
          <p:cNvPr id="121" name="Text 119"/>
          <p:cNvSpPr/>
          <p:nvPr/>
        </p:nvSpPr>
        <p:spPr>
          <a:xfrm>
            <a:off x="64008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122" name="Text 120"/>
          <p:cNvSpPr/>
          <p:nvPr/>
        </p:nvSpPr>
        <p:spPr>
          <a:xfrm>
            <a:off x="66802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M</a:t>
            </a:r>
            <a:endParaRPr lang="en-US" sz="1600" dirty="0"/>
          </a:p>
        </p:txBody>
      </p:sp>
      <p:sp>
        <p:nvSpPr>
          <p:cNvPr id="123" name="Text 121"/>
          <p:cNvSpPr/>
          <p:nvPr/>
        </p:nvSpPr>
        <p:spPr>
          <a:xfrm>
            <a:off x="69596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124" name="Text 122"/>
          <p:cNvSpPr/>
          <p:nvPr/>
        </p:nvSpPr>
        <p:spPr>
          <a:xfrm>
            <a:off x="72390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6</a:t>
            </a:r>
            <a:endParaRPr lang="en-US" sz="1600" dirty="0"/>
          </a:p>
        </p:txBody>
      </p:sp>
      <p:sp>
        <p:nvSpPr>
          <p:cNvPr id="125" name="Text 123"/>
          <p:cNvSpPr/>
          <p:nvPr/>
        </p:nvSpPr>
        <p:spPr>
          <a:xfrm>
            <a:off x="75184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G</a:t>
            </a:r>
            <a:endParaRPr lang="en-US" sz="1600" dirty="0"/>
          </a:p>
        </p:txBody>
      </p:sp>
      <p:sp>
        <p:nvSpPr>
          <p:cNvPr id="126" name="Text 124"/>
          <p:cNvSpPr/>
          <p:nvPr/>
        </p:nvSpPr>
        <p:spPr>
          <a:xfrm>
            <a:off x="78740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3</a:t>
            </a:r>
            <a:endParaRPr lang="en-US" sz="1600" dirty="0"/>
          </a:p>
        </p:txBody>
      </p:sp>
      <p:sp>
        <p:nvSpPr>
          <p:cNvPr id="127" name="Text 125"/>
          <p:cNvSpPr/>
          <p:nvPr/>
        </p:nvSpPr>
        <p:spPr>
          <a:xfrm>
            <a:off x="81534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D</a:t>
            </a:r>
            <a:endParaRPr lang="en-US" sz="1600" dirty="0"/>
          </a:p>
        </p:txBody>
      </p:sp>
      <p:sp>
        <p:nvSpPr>
          <p:cNvPr id="128" name="Text 126"/>
          <p:cNvSpPr/>
          <p:nvPr/>
        </p:nvSpPr>
        <p:spPr>
          <a:xfrm>
            <a:off x="8432800" y="48767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N</a:t>
            </a:r>
            <a:endParaRPr lang="en-US" sz="1600" dirty="0"/>
          </a:p>
        </p:txBody>
      </p:sp>
      <p:sp>
        <p:nvSpPr>
          <p:cNvPr id="129" name="Text 127"/>
          <p:cNvSpPr/>
          <p:nvPr/>
        </p:nvSpPr>
        <p:spPr>
          <a:xfrm>
            <a:off x="89154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130" name="Text 128"/>
          <p:cNvSpPr/>
          <p:nvPr/>
        </p:nvSpPr>
        <p:spPr>
          <a:xfrm>
            <a:off x="91948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4</a:t>
            </a:r>
            <a:endParaRPr lang="en-US" sz="1600" dirty="0"/>
          </a:p>
        </p:txBody>
      </p:sp>
      <p:sp>
        <p:nvSpPr>
          <p:cNvPr id="131" name="Text 129"/>
          <p:cNvSpPr/>
          <p:nvPr/>
        </p:nvSpPr>
        <p:spPr>
          <a:xfrm>
            <a:off x="94742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Z</a:t>
            </a:r>
            <a:endParaRPr lang="en-US" sz="1600" dirty="0"/>
          </a:p>
        </p:txBody>
      </p:sp>
      <p:sp>
        <p:nvSpPr>
          <p:cNvPr id="132" name="Text 130"/>
          <p:cNvSpPr/>
          <p:nvPr/>
        </p:nvSpPr>
        <p:spPr>
          <a:xfrm>
            <a:off x="97536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133" name="Text 131"/>
          <p:cNvSpPr/>
          <p:nvPr/>
        </p:nvSpPr>
        <p:spPr>
          <a:xfrm>
            <a:off x="100330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T</a:t>
            </a:r>
            <a:endParaRPr lang="en-US" sz="1600" dirty="0"/>
          </a:p>
        </p:txBody>
      </p:sp>
      <p:sp>
        <p:nvSpPr>
          <p:cNvPr id="134" name="Text 132"/>
          <p:cNvSpPr/>
          <p:nvPr/>
        </p:nvSpPr>
        <p:spPr>
          <a:xfrm>
            <a:off x="10388600" y="48767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K</a:t>
            </a:r>
            <a:endParaRPr lang="en-US" sz="1600" dirty="0"/>
          </a:p>
        </p:txBody>
      </p:sp>
      <p:sp>
        <p:nvSpPr>
          <p:cNvPr id="135" name="Text 133"/>
          <p:cNvSpPr/>
          <p:nvPr/>
        </p:nvSpPr>
        <p:spPr>
          <a:xfrm>
            <a:off x="106680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U</a:t>
            </a:r>
            <a:endParaRPr lang="en-US" sz="1600" dirty="0"/>
          </a:p>
        </p:txBody>
      </p:sp>
      <p:sp>
        <p:nvSpPr>
          <p:cNvPr id="136" name="Text 134"/>
          <p:cNvSpPr/>
          <p:nvPr/>
        </p:nvSpPr>
        <p:spPr>
          <a:xfrm>
            <a:off x="10947400" y="48767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137" name="Text 135"/>
          <p:cNvSpPr/>
          <p:nvPr/>
        </p:nvSpPr>
        <p:spPr>
          <a:xfrm>
            <a:off x="3886200" y="51815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E</a:t>
            </a:r>
            <a:endParaRPr lang="en-US" sz="1600" dirty="0"/>
          </a:p>
        </p:txBody>
      </p:sp>
      <p:sp>
        <p:nvSpPr>
          <p:cNvPr id="138" name="Text 136"/>
          <p:cNvSpPr/>
          <p:nvPr/>
        </p:nvSpPr>
        <p:spPr>
          <a:xfrm>
            <a:off x="41656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139" name="Text 137"/>
          <p:cNvSpPr/>
          <p:nvPr/>
        </p:nvSpPr>
        <p:spPr>
          <a:xfrm>
            <a:off x="44450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C</a:t>
            </a:r>
            <a:endParaRPr lang="en-US" sz="1600" dirty="0"/>
          </a:p>
        </p:txBody>
      </p:sp>
      <p:sp>
        <p:nvSpPr>
          <p:cNvPr id="140" name="Text 138"/>
          <p:cNvSpPr/>
          <p:nvPr/>
        </p:nvSpPr>
        <p:spPr>
          <a:xfrm>
            <a:off x="47244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141" name="Text 139"/>
          <p:cNvSpPr/>
          <p:nvPr/>
        </p:nvSpPr>
        <p:spPr>
          <a:xfrm>
            <a:off x="5003800" y="51815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T</a:t>
            </a:r>
            <a:endParaRPr lang="en-US" sz="1600" dirty="0"/>
          </a:p>
        </p:txBody>
      </p:sp>
      <p:sp>
        <p:nvSpPr>
          <p:cNvPr id="142" name="Text 140"/>
          <p:cNvSpPr/>
          <p:nvPr/>
        </p:nvSpPr>
        <p:spPr>
          <a:xfrm>
            <a:off x="53594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L</a:t>
            </a:r>
            <a:endParaRPr lang="en-US" sz="1600" dirty="0"/>
          </a:p>
        </p:txBody>
      </p:sp>
      <p:sp>
        <p:nvSpPr>
          <p:cNvPr id="143" name="Text 141"/>
          <p:cNvSpPr/>
          <p:nvPr/>
        </p:nvSpPr>
        <p:spPr>
          <a:xfrm>
            <a:off x="5638800" y="51815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7</a:t>
            </a:r>
            <a:endParaRPr lang="en-US" sz="1600" dirty="0"/>
          </a:p>
        </p:txBody>
      </p:sp>
      <p:sp>
        <p:nvSpPr>
          <p:cNvPr id="144" name="Text 142"/>
          <p:cNvSpPr/>
          <p:nvPr/>
        </p:nvSpPr>
        <p:spPr>
          <a:xfrm>
            <a:off x="5918200" y="51815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3</a:t>
            </a:r>
            <a:endParaRPr lang="en-US" sz="1600" dirty="0"/>
          </a:p>
        </p:txBody>
      </p:sp>
      <p:sp>
        <p:nvSpPr>
          <p:cNvPr id="145" name="Text 143"/>
          <p:cNvSpPr/>
          <p:nvPr/>
        </p:nvSpPr>
        <p:spPr>
          <a:xfrm>
            <a:off x="6400800" y="51815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I</a:t>
            </a:r>
            <a:endParaRPr lang="en-US" sz="1600" dirty="0"/>
          </a:p>
        </p:txBody>
      </p:sp>
      <p:sp>
        <p:nvSpPr>
          <p:cNvPr id="146" name="Text 144"/>
          <p:cNvSpPr/>
          <p:nvPr/>
        </p:nvSpPr>
        <p:spPr>
          <a:xfrm>
            <a:off x="66802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M</a:t>
            </a:r>
            <a:endParaRPr lang="en-US" sz="1600" dirty="0"/>
          </a:p>
        </p:txBody>
      </p:sp>
      <p:sp>
        <p:nvSpPr>
          <p:cNvPr id="147" name="Text 145"/>
          <p:cNvSpPr/>
          <p:nvPr/>
        </p:nvSpPr>
        <p:spPr>
          <a:xfrm>
            <a:off x="69596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U</a:t>
            </a:r>
            <a:endParaRPr lang="en-US" sz="1600" dirty="0"/>
          </a:p>
        </p:txBody>
      </p:sp>
      <p:sp>
        <p:nvSpPr>
          <p:cNvPr id="148" name="Text 146"/>
          <p:cNvSpPr/>
          <p:nvPr/>
        </p:nvSpPr>
        <p:spPr>
          <a:xfrm>
            <a:off x="72390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6</a:t>
            </a:r>
            <a:endParaRPr lang="en-US" sz="1600" dirty="0"/>
          </a:p>
        </p:txBody>
      </p:sp>
      <p:sp>
        <p:nvSpPr>
          <p:cNvPr id="149" name="Text 147"/>
          <p:cNvSpPr/>
          <p:nvPr/>
        </p:nvSpPr>
        <p:spPr>
          <a:xfrm>
            <a:off x="7518400" y="51815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S</a:t>
            </a:r>
            <a:endParaRPr lang="en-US" sz="1600" dirty="0"/>
          </a:p>
        </p:txBody>
      </p:sp>
      <p:sp>
        <p:nvSpPr>
          <p:cNvPr id="150" name="Text 148"/>
          <p:cNvSpPr/>
          <p:nvPr/>
        </p:nvSpPr>
        <p:spPr>
          <a:xfrm>
            <a:off x="78740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3</a:t>
            </a:r>
            <a:endParaRPr lang="en-US" sz="1600" dirty="0"/>
          </a:p>
        </p:txBody>
      </p:sp>
      <p:sp>
        <p:nvSpPr>
          <p:cNvPr id="151" name="Text 149"/>
          <p:cNvSpPr/>
          <p:nvPr/>
        </p:nvSpPr>
        <p:spPr>
          <a:xfrm>
            <a:off x="8153400" y="51815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H</a:t>
            </a:r>
            <a:endParaRPr lang="en-US" sz="1600" dirty="0"/>
          </a:p>
        </p:txBody>
      </p:sp>
      <p:sp>
        <p:nvSpPr>
          <p:cNvPr id="152" name="Text 150"/>
          <p:cNvSpPr/>
          <p:nvPr/>
        </p:nvSpPr>
        <p:spPr>
          <a:xfrm>
            <a:off x="8432800" y="51815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B</a:t>
            </a:r>
            <a:endParaRPr lang="en-US" sz="1600" dirty="0"/>
          </a:p>
        </p:txBody>
      </p:sp>
      <p:sp>
        <p:nvSpPr>
          <p:cNvPr id="153" name="Text 151"/>
          <p:cNvSpPr/>
          <p:nvPr/>
        </p:nvSpPr>
        <p:spPr>
          <a:xfrm>
            <a:off x="8915400" y="5181550"/>
            <a:ext cx="254000" cy="279400"/>
          </a:xfrm>
          <a:prstGeom prst="rect">
            <a:avLst/>
          </a:prstGeom>
          <a:solidFill>
            <a:srgbClr val="FF0467">
              <a:alpha val="40000"/>
            </a:srgbClr>
          </a:solidFill>
          <a:ln/>
        </p:spPr>
        <p:txBody>
          <a:bodyPr wrap="square" lIns="0" tIns="0" rIns="0" bIns="0" rtlCol="0" anchor="t">
            <a:normAutofit/>
          </a:bodyPr>
          <a:lstStyle/>
          <a:p>
            <a:pPr algn="ctr" indent="0" marL="0">
              <a:lnSpc>
                <a:spcPts val="2208"/>
              </a:lnSpc>
              <a:buNone/>
            </a:pPr>
            <a:r>
              <a:rPr lang="en-US" sz="1600" dirty="0">
                <a:solidFill>
                  <a:srgbClr val="E6EDF3"/>
                </a:solidFill>
                <a:latin typeface="Courier New" pitchFamily="49" charset="0"/>
                <a:ea typeface="Courier New" pitchFamily="49" charset="-122"/>
                <a:cs typeface="Courier New" pitchFamily="49" charset="-120"/>
              </a:rPr>
              <a:t>B</a:t>
            </a:r>
            <a:endParaRPr lang="en-US" sz="1600" dirty="0"/>
          </a:p>
        </p:txBody>
      </p:sp>
      <p:sp>
        <p:nvSpPr>
          <p:cNvPr id="154" name="Text 152"/>
          <p:cNvSpPr/>
          <p:nvPr/>
        </p:nvSpPr>
        <p:spPr>
          <a:xfrm>
            <a:off x="91948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4</a:t>
            </a:r>
            <a:endParaRPr lang="en-US" sz="1600" dirty="0"/>
          </a:p>
        </p:txBody>
      </p:sp>
      <p:sp>
        <p:nvSpPr>
          <p:cNvPr id="155" name="Text 153"/>
          <p:cNvSpPr/>
          <p:nvPr/>
        </p:nvSpPr>
        <p:spPr>
          <a:xfrm>
            <a:off x="94742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Z</a:t>
            </a:r>
            <a:endParaRPr lang="en-US" sz="1600" dirty="0"/>
          </a:p>
        </p:txBody>
      </p:sp>
      <p:sp>
        <p:nvSpPr>
          <p:cNvPr id="156" name="Text 154"/>
          <p:cNvSpPr/>
          <p:nvPr/>
        </p:nvSpPr>
        <p:spPr>
          <a:xfrm>
            <a:off x="97536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V</a:t>
            </a:r>
            <a:endParaRPr lang="en-US" sz="1600" dirty="0"/>
          </a:p>
        </p:txBody>
      </p:sp>
      <p:sp>
        <p:nvSpPr>
          <p:cNvPr id="157" name="Text 155"/>
          <p:cNvSpPr/>
          <p:nvPr/>
        </p:nvSpPr>
        <p:spPr>
          <a:xfrm>
            <a:off x="10033000" y="51815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C</a:t>
            </a:r>
            <a:endParaRPr lang="en-US" sz="1600" dirty="0"/>
          </a:p>
        </p:txBody>
      </p:sp>
      <p:sp>
        <p:nvSpPr>
          <p:cNvPr id="158" name="Text 156"/>
          <p:cNvSpPr/>
          <p:nvPr/>
        </p:nvSpPr>
        <p:spPr>
          <a:xfrm>
            <a:off x="10388600" y="5181550"/>
            <a:ext cx="254000" cy="279400"/>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A9B4BF"/>
                </a:solidFill>
                <a:latin typeface="Courier New" pitchFamily="49" charset="0"/>
                <a:ea typeface="Courier New" pitchFamily="49" charset="-122"/>
                <a:cs typeface="Courier New" pitchFamily="49" charset="-120"/>
              </a:rPr>
              <a:t>K</a:t>
            </a:r>
            <a:endParaRPr lang="en-US" sz="1600" dirty="0"/>
          </a:p>
        </p:txBody>
      </p:sp>
      <p:sp>
        <p:nvSpPr>
          <p:cNvPr id="159" name="Text 157"/>
          <p:cNvSpPr/>
          <p:nvPr/>
        </p:nvSpPr>
        <p:spPr>
          <a:xfrm>
            <a:off x="10668000" y="51815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X</a:t>
            </a:r>
            <a:endParaRPr lang="en-US" sz="1600" dirty="0"/>
          </a:p>
        </p:txBody>
      </p:sp>
      <p:sp>
        <p:nvSpPr>
          <p:cNvPr id="160" name="Text 158"/>
          <p:cNvSpPr/>
          <p:nvPr/>
        </p:nvSpPr>
        <p:spPr>
          <a:xfrm>
            <a:off x="10947400" y="5181550"/>
            <a:ext cx="254000" cy="279400"/>
          </a:xfrm>
          <a:prstGeom prst="rect">
            <a:avLst/>
          </a:prstGeom>
          <a:solidFill>
            <a:srgbClr val="FF0467"/>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7</a:t>
            </a:r>
            <a:endParaRPr lang="en-US" sz="1600" dirty="0"/>
          </a:p>
        </p:txBody>
      </p:sp>
      <p:sp>
        <p:nvSpPr>
          <p:cNvPr id="161" name="Shape 159"/>
          <p:cNvSpPr/>
          <p:nvPr/>
        </p:nvSpPr>
        <p:spPr>
          <a:xfrm>
            <a:off x="812800" y="5610771"/>
            <a:ext cx="152400" cy="152400"/>
          </a:xfrm>
          <a:prstGeom prst="rect">
            <a:avLst/>
          </a:prstGeom>
          <a:solidFill>
            <a:srgbClr val="FF0467">
              <a:alpha val="40000"/>
            </a:srgbClr>
          </a:solidFill>
          <a:ln/>
        </p:spPr>
      </p:sp>
      <p:sp>
        <p:nvSpPr>
          <p:cNvPr id="162" name="Text 160"/>
          <p:cNvSpPr/>
          <p:nvPr/>
        </p:nvSpPr>
        <p:spPr>
          <a:xfrm>
            <a:off x="1041400" y="5587950"/>
            <a:ext cx="838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最初と同じ</a:t>
            </a:r>
            <a:endParaRPr lang="en-US" sz="1200" dirty="0"/>
          </a:p>
        </p:txBody>
      </p:sp>
      <p:sp>
        <p:nvSpPr>
          <p:cNvPr id="163" name="Shape 161"/>
          <p:cNvSpPr/>
          <p:nvPr/>
        </p:nvSpPr>
        <p:spPr>
          <a:xfrm>
            <a:off x="1879600" y="5610771"/>
            <a:ext cx="152400" cy="152400"/>
          </a:xfrm>
          <a:prstGeom prst="rect">
            <a:avLst/>
          </a:prstGeom>
          <a:solidFill>
            <a:srgbClr val="FF0467"/>
          </a:solidFill>
          <a:ln/>
        </p:spPr>
      </p:sp>
      <p:sp>
        <p:nvSpPr>
          <p:cNvPr id="164" name="Text 162"/>
          <p:cNvSpPr/>
          <p:nvPr/>
        </p:nvSpPr>
        <p:spPr>
          <a:xfrm>
            <a:off x="2108200" y="5587950"/>
            <a:ext cx="73152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変わった</a:t>
            </a:r>
            <a:endParaRPr lang="en-US" sz="1200" dirty="0"/>
          </a:p>
        </p:txBody>
      </p:sp>
      <p:sp>
        <p:nvSpPr>
          <p:cNvPr id="165" name="Text 163"/>
          <p:cNvSpPr/>
          <p:nvPr/>
        </p:nvSpPr>
        <p:spPr>
          <a:xfrm>
            <a:off x="3048000" y="5587950"/>
            <a:ext cx="290655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894"/>
                </a:solidFill>
                <a:latin typeface="Arial" pitchFamily="34" charset="0"/>
                <a:ea typeface="Arial" pitchFamily="34" charset="-122"/>
                <a:cs typeface="Arial" pitchFamily="34" charset="-120"/>
              </a:rPr>
              <a:t>値（6〜10、14〜18文字目）は省略</a:t>
            </a:r>
            <a:endParaRPr lang="en-US" sz="1200" dirty="0"/>
          </a:p>
        </p:txBody>
      </p:sp>
      <p:sp>
        <p:nvSpPr>
          <p:cNvPr id="166" name="Text 16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67" name="Text 16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G4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結尾は先を指す</a:t>
            </a:r>
            <a:endParaRPr lang="en-US" sz="3600" dirty="0"/>
          </a:p>
        </p:txBody>
      </p:sp>
      <p:sp>
        <p:nvSpPr>
          <p:cNvPr id="4" name="Text 2"/>
          <p:cNvSpPr/>
          <p:nvPr/>
        </p:nvSpPr>
        <p:spPr>
          <a:xfrm>
            <a:off x="812800" y="19811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結尾＝最後の9文字。その</a:t>
            </a:r>
            <a:r>
              <a:rPr lang="en-US" sz="1600" dirty="0">
                <a:solidFill>
                  <a:srgbClr val="FF0467"/>
                </a:solidFill>
                <a:latin typeface="Arial" pitchFamily="34" charset="0"/>
                <a:ea typeface="Arial" pitchFamily="34" charset="-122"/>
                <a:cs typeface="Arial" pitchFamily="34" charset="-120"/>
              </a:rPr>
              <a:t>最初の2文字</a:t>
            </a:r>
            <a:r>
              <a:rPr lang="en-US" sz="1600" dirty="0">
                <a:solidFill>
                  <a:srgbClr val="E6EDF3"/>
                </a:solidFill>
                <a:latin typeface="Arial" pitchFamily="34" charset="0"/>
                <a:ea typeface="Arial" pitchFamily="34" charset="-122"/>
                <a:cs typeface="Arial" pitchFamily="34" charset="-120"/>
              </a:rPr>
              <a:t>＝次のフィールドの先頭</a:t>
            </a:r>
            <a:endParaRPr lang="en-US" sz="1600" dirty="0"/>
          </a:p>
        </p:txBody>
      </p:sp>
      <p:sp>
        <p:nvSpPr>
          <p:cNvPr id="5" name="Text 3"/>
          <p:cNvSpPr/>
          <p:nvPr/>
        </p:nvSpPr>
        <p:spPr>
          <a:xfrm>
            <a:off x="812800" y="23367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4連文字で閉じたフィールドで終わる</a:t>
            </a:r>
            <a:r>
              <a:rPr lang="en-US" sz="1600" dirty="0">
                <a:solidFill>
                  <a:srgbClr val="FFCC00"/>
                </a:solidFill>
                <a:latin typeface="Arial" pitchFamily="34" charset="0"/>
                <a:ea typeface="Arial" pitchFamily="34" charset="-122"/>
                <a:cs typeface="Arial" pitchFamily="34" charset="-120"/>
              </a:rPr>
              <a:t>68件中62件</a:t>
            </a:r>
            <a:r>
              <a:rPr lang="en-US" sz="1600" dirty="0">
                <a:solidFill>
                  <a:srgbClr val="E6EDF3"/>
                </a:solidFill>
                <a:latin typeface="Arial" pitchFamily="34" charset="0"/>
                <a:ea typeface="Arial" pitchFamily="34" charset="-122"/>
                <a:cs typeface="Arial" pitchFamily="34" charset="-120"/>
              </a:rPr>
              <a:t>（偶然なら0.1%）</a:t>
            </a:r>
            <a:endParaRPr lang="en-US" sz="1600" dirty="0"/>
          </a:p>
        </p:txBody>
      </p:sp>
      <p:sp>
        <p:nvSpPr>
          <p:cNvPr id="6" name="Text 4"/>
          <p:cNvSpPr/>
          <p:nvPr/>
        </p:nvSpPr>
        <p:spPr>
          <a:xfrm>
            <a:off x="812800" y="26923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接頭辞内では、先頭2文字520通り中515通りが1つのフィールドを指す</a:t>
            </a:r>
            <a:endParaRPr lang="en-US" sz="1600" dirty="0"/>
          </a:p>
        </p:txBody>
      </p:sp>
      <p:sp>
        <p:nvSpPr>
          <p:cNvPr id="7" name="Text 5"/>
          <p:cNvSpPr/>
          <p:nvPr/>
        </p:nvSpPr>
        <p:spPr>
          <a:xfrm>
            <a:off x="812800" y="30479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結尾の残り7文字は、これまで調べたどれとも一致しない</a:t>
            </a:r>
            <a:endParaRPr lang="en-US" sz="1600" dirty="0"/>
          </a:p>
        </p:txBody>
      </p:sp>
      <p:sp>
        <p:nvSpPr>
          <p:cNvPr id="8" name="Text 6"/>
          <p:cNvSpPr/>
          <p:nvPr/>
        </p:nvSpPr>
        <p:spPr>
          <a:xfrm>
            <a:off x="812800" y="353055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894"/>
                </a:solidFill>
                <a:latin typeface="Arial" pitchFamily="34" charset="0"/>
                <a:ea typeface="Arial" pitchFamily="34" charset="-122"/>
                <a:cs typeface="Arial" pitchFamily="34" charset="-120"/>
              </a:rPr>
              <a:t>MMのフィールドの順序（最初の5文字）</a:t>
            </a:r>
            <a:endParaRPr lang="en-US" sz="1200" dirty="0"/>
          </a:p>
        </p:txBody>
      </p:sp>
      <p:sp>
        <p:nvSpPr>
          <p:cNvPr id="9" name="Text 7"/>
          <p:cNvSpPr/>
          <p:nvPr/>
        </p:nvSpPr>
        <p:spPr>
          <a:xfrm>
            <a:off x="812800" y="3779441"/>
            <a:ext cx="7620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VMV4O</a:t>
            </a:r>
            <a:endParaRPr lang="en-US" sz="1600" dirty="0"/>
          </a:p>
        </p:txBody>
      </p:sp>
      <p:pic>
        <p:nvPicPr>
          <p:cNvPr id="10" name="Image 0" descr="connector">    </p:cNvPr>
          <p:cNvPicPr>
            <a:picLocks noChangeAspect="1"/>
          </p:cNvPicPr>
          <p:nvPr/>
        </p:nvPicPr>
        <p:blipFill>
          <a:blip r:embed="rId1"/>
          <a:srcRect l="0" r="0" t="0" b="0"/>
          <a:stretch/>
        </p:blipFill>
        <p:spPr>
          <a:xfrm>
            <a:off x="1574800" y="3906937"/>
            <a:ext cx="165100" cy="76200"/>
          </a:xfrm>
          <a:prstGeom prst="rect">
            <a:avLst/>
          </a:prstGeom>
        </p:spPr>
      </p:pic>
      <p:sp>
        <p:nvSpPr>
          <p:cNvPr id="11" name="Text 8"/>
          <p:cNvSpPr/>
          <p:nvPr/>
        </p:nvSpPr>
        <p:spPr>
          <a:xfrm>
            <a:off x="1739900" y="3779441"/>
            <a:ext cx="7620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DSQ4I</a:t>
            </a:r>
            <a:endParaRPr lang="en-US" sz="1600" dirty="0"/>
          </a:p>
        </p:txBody>
      </p:sp>
      <p:pic>
        <p:nvPicPr>
          <p:cNvPr id="12" name="Image 1" descr="connector">    </p:cNvPr>
          <p:cNvPicPr>
            <a:picLocks noChangeAspect="1"/>
          </p:cNvPicPr>
          <p:nvPr/>
        </p:nvPicPr>
        <p:blipFill>
          <a:blip r:embed="rId2"/>
          <a:srcRect l="0" r="0" t="0" b="0"/>
          <a:stretch/>
        </p:blipFill>
        <p:spPr>
          <a:xfrm>
            <a:off x="2501900" y="3906937"/>
            <a:ext cx="165100" cy="76200"/>
          </a:xfrm>
          <a:prstGeom prst="rect">
            <a:avLst/>
          </a:prstGeom>
        </p:spPr>
      </p:pic>
      <p:sp>
        <p:nvSpPr>
          <p:cNvPr id="13" name="Text 9"/>
          <p:cNvSpPr/>
          <p:nvPr/>
        </p:nvSpPr>
        <p:spPr>
          <a:xfrm>
            <a:off x="2667000" y="3779441"/>
            <a:ext cx="7620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ZVZW7</a:t>
            </a:r>
            <a:endParaRPr lang="en-US" sz="1600" dirty="0"/>
          </a:p>
        </p:txBody>
      </p:sp>
      <p:pic>
        <p:nvPicPr>
          <p:cNvPr id="14" name="Image 2" descr="connector">    </p:cNvPr>
          <p:cNvPicPr>
            <a:picLocks noChangeAspect="1"/>
          </p:cNvPicPr>
          <p:nvPr/>
        </p:nvPicPr>
        <p:blipFill>
          <a:blip r:embed="rId3"/>
          <a:srcRect l="0" r="0" t="0" b="0"/>
          <a:stretch/>
        </p:blipFill>
        <p:spPr>
          <a:xfrm>
            <a:off x="3429000" y="3906937"/>
            <a:ext cx="165100" cy="76200"/>
          </a:xfrm>
          <a:prstGeom prst="rect">
            <a:avLst/>
          </a:prstGeom>
        </p:spPr>
      </p:pic>
      <p:sp>
        <p:nvSpPr>
          <p:cNvPr id="15" name="Text 10"/>
          <p:cNvSpPr/>
          <p:nvPr/>
        </p:nvSpPr>
        <p:spPr>
          <a:xfrm>
            <a:off x="3594100" y="3779441"/>
            <a:ext cx="762000" cy="331192"/>
          </a:xfrm>
          <a:prstGeom prst="rect">
            <a:avLst/>
          </a:prstGeom>
          <a:solidFill>
            <a:srgbClr val="232B33"/>
          </a:solidFill>
          <a:ln/>
          <a:effectLst>
            <a:outerShdw sx="100000" sy="100000" kx="0" ky="0" algn="bl" rotWithShape="0" blurRad="19050" dist="0" dir="60000">
              <a:srgbClr val="FF0467">
                <a:alpha val="100000"/>
              </a:srgbClr>
            </a:outerShdw>
          </a:effectLst>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E7YTJ</a:t>
            </a:r>
            <a:endParaRPr lang="en-US" sz="1600" dirty="0"/>
          </a:p>
        </p:txBody>
      </p:sp>
      <p:pic>
        <p:nvPicPr>
          <p:cNvPr id="16" name="Image 3" descr="connector">    </p:cNvPr>
          <p:cNvPicPr>
            <a:picLocks noChangeAspect="1"/>
          </p:cNvPicPr>
          <p:nvPr/>
        </p:nvPicPr>
        <p:blipFill>
          <a:blip r:embed="rId4"/>
          <a:srcRect l="0" r="0" t="0" b="0"/>
          <a:stretch/>
        </p:blipFill>
        <p:spPr>
          <a:xfrm>
            <a:off x="4356100" y="3906937"/>
            <a:ext cx="165100" cy="76200"/>
          </a:xfrm>
          <a:prstGeom prst="rect">
            <a:avLst/>
          </a:prstGeom>
        </p:spPr>
      </p:pic>
      <p:sp>
        <p:nvSpPr>
          <p:cNvPr id="17" name="Text 11"/>
          <p:cNvSpPr/>
          <p:nvPr/>
        </p:nvSpPr>
        <p:spPr>
          <a:xfrm>
            <a:off x="4521200" y="3779441"/>
            <a:ext cx="762000" cy="331192"/>
          </a:xfrm>
          <a:prstGeom prst="rect">
            <a:avLst/>
          </a:prstGeom>
          <a:solidFill>
            <a:srgbClr val="232B33"/>
          </a:solidFill>
          <a:ln/>
          <a:effectLst>
            <a:outerShdw sx="100000" sy="100000" kx="0" ky="0" algn="bl" rotWithShape="0" blurRad="19050" dist="0" dir="60000">
              <a:srgbClr val="FF0467">
                <a:alpha val="100000"/>
              </a:srgbClr>
            </a:outerShdw>
          </a:effectLst>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SNDNS</a:t>
            </a:r>
            <a:endParaRPr lang="en-US" sz="1600" dirty="0"/>
          </a:p>
        </p:txBody>
      </p:sp>
      <p:pic>
        <p:nvPicPr>
          <p:cNvPr id="18" name="Image 4" descr="connector">    </p:cNvPr>
          <p:cNvPicPr>
            <a:picLocks noChangeAspect="1"/>
          </p:cNvPicPr>
          <p:nvPr/>
        </p:nvPicPr>
        <p:blipFill>
          <a:blip r:embed="rId5"/>
          <a:srcRect l="0" r="0" t="0" b="0"/>
          <a:stretch/>
        </p:blipFill>
        <p:spPr>
          <a:xfrm>
            <a:off x="5283200" y="3906937"/>
            <a:ext cx="165100" cy="76200"/>
          </a:xfrm>
          <a:prstGeom prst="rect">
            <a:avLst/>
          </a:prstGeom>
        </p:spPr>
      </p:pic>
      <p:sp>
        <p:nvSpPr>
          <p:cNvPr id="19" name="Text 12"/>
          <p:cNvSpPr/>
          <p:nvPr/>
        </p:nvSpPr>
        <p:spPr>
          <a:xfrm>
            <a:off x="5448300" y="3779441"/>
            <a:ext cx="762000" cy="331192"/>
          </a:xfrm>
          <a:prstGeom prst="rect">
            <a:avLst/>
          </a:prstGeom>
          <a:solidFill>
            <a:srgbClr val="232B33"/>
          </a:solidFill>
          <a:ln/>
          <a:effectLst>
            <a:outerShdw sx="100000" sy="100000" kx="0" ky="0" algn="bl" rotWithShape="0" blurRad="19050" dist="0" dir="60000">
              <a:srgbClr val="FF0467">
                <a:alpha val="100000"/>
              </a:srgbClr>
            </a:outerShdw>
          </a:effectLst>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7NILZ</a:t>
            </a:r>
            <a:endParaRPr lang="en-US" sz="1600" dirty="0"/>
          </a:p>
        </p:txBody>
      </p:sp>
      <p:pic>
        <p:nvPicPr>
          <p:cNvPr id="20" name="Image 5" descr="connector">    </p:cNvPr>
          <p:cNvPicPr>
            <a:picLocks noChangeAspect="1"/>
          </p:cNvPicPr>
          <p:nvPr/>
        </p:nvPicPr>
        <p:blipFill>
          <a:blip r:embed="rId6"/>
          <a:srcRect l="0" r="0" t="0" b="0"/>
          <a:stretch/>
        </p:blipFill>
        <p:spPr>
          <a:xfrm>
            <a:off x="6210300" y="3906937"/>
            <a:ext cx="165100" cy="76200"/>
          </a:xfrm>
          <a:prstGeom prst="rect">
            <a:avLst/>
          </a:prstGeom>
        </p:spPr>
      </p:pic>
      <p:sp>
        <p:nvSpPr>
          <p:cNvPr id="21" name="Text 13"/>
          <p:cNvSpPr/>
          <p:nvPr/>
        </p:nvSpPr>
        <p:spPr>
          <a:xfrm>
            <a:off x="6375400" y="3779441"/>
            <a:ext cx="7620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CPPCS</a:t>
            </a:r>
            <a:endParaRPr lang="en-US" sz="1600" dirty="0"/>
          </a:p>
        </p:txBody>
      </p:sp>
      <p:pic>
        <p:nvPicPr>
          <p:cNvPr id="22" name="Image 6" descr="connector">    </p:cNvPr>
          <p:cNvPicPr>
            <a:picLocks noChangeAspect="1"/>
          </p:cNvPicPr>
          <p:nvPr/>
        </p:nvPicPr>
        <p:blipFill>
          <a:blip r:embed="rId7"/>
          <a:srcRect l="0" r="0" t="0" b="0"/>
          <a:stretch/>
        </p:blipFill>
        <p:spPr>
          <a:xfrm>
            <a:off x="7137400" y="3906937"/>
            <a:ext cx="165100" cy="76200"/>
          </a:xfrm>
          <a:prstGeom prst="rect">
            <a:avLst/>
          </a:prstGeom>
        </p:spPr>
      </p:pic>
      <p:sp>
        <p:nvSpPr>
          <p:cNvPr id="23" name="Text 14"/>
          <p:cNvSpPr/>
          <p:nvPr/>
        </p:nvSpPr>
        <p:spPr>
          <a:xfrm>
            <a:off x="7302500" y="3779441"/>
            <a:ext cx="7620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SG7F2</a:t>
            </a:r>
            <a:endParaRPr lang="en-US" sz="1600" dirty="0"/>
          </a:p>
        </p:txBody>
      </p:sp>
      <p:pic>
        <p:nvPicPr>
          <p:cNvPr id="24" name="Image 7" descr="connector">    </p:cNvPr>
          <p:cNvPicPr>
            <a:picLocks noChangeAspect="1"/>
          </p:cNvPicPr>
          <p:nvPr/>
        </p:nvPicPr>
        <p:blipFill>
          <a:blip r:embed="rId8"/>
          <a:srcRect l="0" r="0" t="0" b="0"/>
          <a:stretch/>
        </p:blipFill>
        <p:spPr>
          <a:xfrm>
            <a:off x="8064500" y="3906937"/>
            <a:ext cx="165100" cy="76200"/>
          </a:xfrm>
          <a:prstGeom prst="rect">
            <a:avLst/>
          </a:prstGeom>
        </p:spPr>
      </p:pic>
      <p:sp>
        <p:nvSpPr>
          <p:cNvPr id="25" name="Text 15"/>
          <p:cNvSpPr/>
          <p:nvPr/>
        </p:nvSpPr>
        <p:spPr>
          <a:xfrm>
            <a:off x="8229600" y="3779441"/>
            <a:ext cx="7620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X75B7</a:t>
            </a:r>
            <a:endParaRPr lang="en-US" sz="1600" dirty="0"/>
          </a:p>
        </p:txBody>
      </p:sp>
      <p:pic>
        <p:nvPicPr>
          <p:cNvPr id="26" name="Image 8" descr="connector">    </p:cNvPr>
          <p:cNvPicPr>
            <a:picLocks noChangeAspect="1"/>
          </p:cNvPicPr>
          <p:nvPr/>
        </p:nvPicPr>
        <p:blipFill>
          <a:blip r:embed="rId9"/>
          <a:srcRect l="0" r="0" t="0" b="0"/>
          <a:stretch/>
        </p:blipFill>
        <p:spPr>
          <a:xfrm>
            <a:off x="8991600" y="3906937"/>
            <a:ext cx="165100" cy="76200"/>
          </a:xfrm>
          <a:prstGeom prst="rect">
            <a:avLst/>
          </a:prstGeom>
        </p:spPr>
      </p:pic>
      <p:sp>
        <p:nvSpPr>
          <p:cNvPr id="27" name="Text 16"/>
          <p:cNvSpPr/>
          <p:nvPr/>
        </p:nvSpPr>
        <p:spPr>
          <a:xfrm>
            <a:off x="9156700" y="3779441"/>
            <a:ext cx="762000" cy="331192"/>
          </a:xfrm>
          <a:prstGeom prst="rect">
            <a:avLst/>
          </a:prstGeom>
          <a:solidFill>
            <a:srgbClr val="232B33"/>
          </a:solidFill>
          <a:ln/>
          <a:effectLst>
            <a:outerShdw sx="100000" sy="100000" kx="0" ky="0" algn="bl" rotWithShape="0" blurRad="19050" dist="0" dir="60000">
              <a:srgbClr val="FF0467">
                <a:alpha val="100000"/>
              </a:srgbClr>
            </a:outerShdw>
          </a:effectLst>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2SNCT</a:t>
            </a:r>
            <a:endParaRPr lang="en-US" sz="1600" dirty="0"/>
          </a:p>
        </p:txBody>
      </p:sp>
      <p:sp>
        <p:nvSpPr>
          <p:cNvPr id="28" name="Text 17"/>
          <p:cNvSpPr/>
          <p:nvPr/>
        </p:nvSpPr>
        <p:spPr>
          <a:xfrm>
            <a:off x="812800" y="4237633"/>
            <a:ext cx="762000" cy="331192"/>
          </a:xfrm>
          <a:prstGeom prst="rect">
            <a:avLst/>
          </a:prstGeom>
          <a:solidFill>
            <a:srgbClr val="141A20"/>
          </a:solidFill>
          <a:ln/>
        </p:spPr>
        <p:txBody>
          <a:bodyPr wrap="square" lIns="0" tIns="0" rIns="0" bIns="0" rtlCol="0" anchor="t">
            <a:normAutofit/>
          </a:bodyPr>
          <a:lstStyle/>
          <a:p>
            <a:pPr algn="ctr" indent="0" marL="0">
              <a:lnSpc>
                <a:spcPts val="2608"/>
              </a:lnSpc>
              <a:buNone/>
            </a:pPr>
            <a:r>
              <a:rPr lang="en-US" sz="1600" dirty="0">
                <a:solidFill>
                  <a:srgbClr val="A9B4BF"/>
                </a:solidFill>
                <a:latin typeface="Courier New" pitchFamily="49" charset="0"/>
                <a:ea typeface="Courier New" pitchFamily="49" charset="-122"/>
                <a:cs typeface="Courier New" pitchFamily="49" charset="-120"/>
              </a:rPr>
              <a:t>ZVZW7</a:t>
            </a:r>
            <a:endParaRPr lang="en-US" sz="1600" dirty="0"/>
          </a:p>
        </p:txBody>
      </p:sp>
      <p:sp>
        <p:nvSpPr>
          <p:cNvPr id="29" name="Text 18"/>
          <p:cNvSpPr/>
          <p:nvPr/>
        </p:nvSpPr>
        <p:spPr>
          <a:xfrm>
            <a:off x="1739900" y="4237633"/>
            <a:ext cx="2286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E</a:t>
            </a:r>
            <a:endParaRPr lang="en-US" sz="1600" dirty="0"/>
          </a:p>
        </p:txBody>
      </p:sp>
      <p:sp>
        <p:nvSpPr>
          <p:cNvPr id="30" name="Text 19"/>
          <p:cNvSpPr/>
          <p:nvPr/>
        </p:nvSpPr>
        <p:spPr>
          <a:xfrm>
            <a:off x="1981200" y="4237633"/>
            <a:ext cx="2286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7</a:t>
            </a:r>
            <a:endParaRPr lang="en-US" sz="1600" dirty="0"/>
          </a:p>
        </p:txBody>
      </p:sp>
      <p:sp>
        <p:nvSpPr>
          <p:cNvPr id="31" name="Text 20"/>
          <p:cNvSpPr/>
          <p:nvPr/>
        </p:nvSpPr>
        <p:spPr>
          <a:xfrm>
            <a:off x="2222500" y="4237633"/>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C</a:t>
            </a:r>
            <a:endParaRPr lang="en-US" sz="1600" dirty="0"/>
          </a:p>
        </p:txBody>
      </p:sp>
      <p:sp>
        <p:nvSpPr>
          <p:cNvPr id="32" name="Text 21"/>
          <p:cNvSpPr/>
          <p:nvPr/>
        </p:nvSpPr>
        <p:spPr>
          <a:xfrm>
            <a:off x="2463800" y="4237633"/>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I</a:t>
            </a:r>
            <a:endParaRPr lang="en-US" sz="1600" dirty="0"/>
          </a:p>
        </p:txBody>
      </p:sp>
      <p:sp>
        <p:nvSpPr>
          <p:cNvPr id="33" name="Text 22"/>
          <p:cNvSpPr/>
          <p:nvPr/>
        </p:nvSpPr>
        <p:spPr>
          <a:xfrm>
            <a:off x="2705100" y="4237633"/>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W</a:t>
            </a:r>
            <a:endParaRPr lang="en-US" sz="1600" dirty="0"/>
          </a:p>
        </p:txBody>
      </p:sp>
      <p:sp>
        <p:nvSpPr>
          <p:cNvPr id="34" name="Text 23"/>
          <p:cNvSpPr/>
          <p:nvPr/>
        </p:nvSpPr>
        <p:spPr>
          <a:xfrm>
            <a:off x="2946400" y="4237633"/>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O</a:t>
            </a:r>
            <a:endParaRPr lang="en-US" sz="1600" dirty="0"/>
          </a:p>
        </p:txBody>
      </p:sp>
      <p:sp>
        <p:nvSpPr>
          <p:cNvPr id="35" name="Text 24"/>
          <p:cNvSpPr/>
          <p:nvPr/>
        </p:nvSpPr>
        <p:spPr>
          <a:xfrm>
            <a:off x="3187700" y="4237633"/>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6</a:t>
            </a:r>
            <a:endParaRPr lang="en-US" sz="1600" dirty="0"/>
          </a:p>
        </p:txBody>
      </p:sp>
      <p:sp>
        <p:nvSpPr>
          <p:cNvPr id="36" name="Text 25"/>
          <p:cNvSpPr/>
          <p:nvPr/>
        </p:nvSpPr>
        <p:spPr>
          <a:xfrm>
            <a:off x="3429000" y="4237633"/>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N</a:t>
            </a:r>
            <a:endParaRPr lang="en-US" sz="1600" dirty="0"/>
          </a:p>
        </p:txBody>
      </p:sp>
      <p:sp>
        <p:nvSpPr>
          <p:cNvPr id="37" name="Text 26"/>
          <p:cNvSpPr/>
          <p:nvPr/>
        </p:nvSpPr>
        <p:spPr>
          <a:xfrm>
            <a:off x="3670300" y="4237633"/>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3</a:t>
            </a:r>
            <a:endParaRPr lang="en-US" sz="1600" dirty="0"/>
          </a:p>
        </p:txBody>
      </p:sp>
      <p:sp>
        <p:nvSpPr>
          <p:cNvPr id="38" name="Text 27"/>
          <p:cNvSpPr/>
          <p:nvPr/>
        </p:nvSpPr>
        <p:spPr>
          <a:xfrm>
            <a:off x="4064000" y="4279007"/>
            <a:ext cx="3139440" cy="273794"/>
          </a:xfrm>
          <a:prstGeom prst="rect">
            <a:avLst/>
          </a:prstGeom>
          <a:noFill/>
          <a:ln/>
        </p:spPr>
        <p:txBody>
          <a:bodyPr wrap="square" lIns="0" tIns="0" rIns="0" bIns="0" rtlCol="0" anchor="t">
            <a:normAutofit/>
          </a:bodyPr>
          <a:lstStyle/>
          <a:p>
            <a:pPr algn="l" indent="0" marL="0">
              <a:lnSpc>
                <a:spcPts val="1956"/>
              </a:lnSpc>
              <a:buNone/>
            </a:pPr>
            <a:r>
              <a:rPr lang="en-US" sz="1200" dirty="0">
                <a:solidFill>
                  <a:srgbClr val="A9B4BF"/>
                </a:solidFill>
                <a:latin typeface="Arial" pitchFamily="34" charset="0"/>
                <a:ea typeface="Arial" pitchFamily="34" charset="-122"/>
                <a:cs typeface="Arial" pitchFamily="34" charset="-120"/>
              </a:rPr>
              <a:t>MM-224 · 260912（土）16:51 UTC</a:t>
            </a:r>
            <a:endParaRPr lang="en-US" sz="1200" dirty="0"/>
          </a:p>
        </p:txBody>
      </p:sp>
      <p:sp>
        <p:nvSpPr>
          <p:cNvPr id="39" name="Text 28"/>
          <p:cNvSpPr/>
          <p:nvPr/>
        </p:nvSpPr>
        <p:spPr>
          <a:xfrm>
            <a:off x="812800" y="4619625"/>
            <a:ext cx="762000" cy="331192"/>
          </a:xfrm>
          <a:prstGeom prst="rect">
            <a:avLst/>
          </a:prstGeom>
          <a:solidFill>
            <a:srgbClr val="141A20"/>
          </a:solidFill>
          <a:ln/>
        </p:spPr>
        <p:txBody>
          <a:bodyPr wrap="square" lIns="0" tIns="0" rIns="0" bIns="0" rtlCol="0" anchor="t">
            <a:normAutofit/>
          </a:bodyPr>
          <a:lstStyle/>
          <a:p>
            <a:pPr algn="ctr" indent="0" marL="0">
              <a:lnSpc>
                <a:spcPts val="2608"/>
              </a:lnSpc>
              <a:buNone/>
            </a:pPr>
            <a:r>
              <a:rPr lang="en-US" sz="1600" dirty="0">
                <a:solidFill>
                  <a:srgbClr val="A9B4BF"/>
                </a:solidFill>
                <a:latin typeface="Courier New" pitchFamily="49" charset="0"/>
                <a:ea typeface="Courier New" pitchFamily="49" charset="-122"/>
                <a:cs typeface="Courier New" pitchFamily="49" charset="-120"/>
              </a:rPr>
              <a:t>E7YTJ</a:t>
            </a:r>
            <a:endParaRPr lang="en-US" sz="1600" dirty="0"/>
          </a:p>
        </p:txBody>
      </p:sp>
      <p:sp>
        <p:nvSpPr>
          <p:cNvPr id="40" name="Text 29"/>
          <p:cNvSpPr/>
          <p:nvPr/>
        </p:nvSpPr>
        <p:spPr>
          <a:xfrm>
            <a:off x="1739900" y="4619625"/>
            <a:ext cx="2286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S</a:t>
            </a:r>
            <a:endParaRPr lang="en-US" sz="1600" dirty="0"/>
          </a:p>
        </p:txBody>
      </p:sp>
      <p:sp>
        <p:nvSpPr>
          <p:cNvPr id="41" name="Text 30"/>
          <p:cNvSpPr/>
          <p:nvPr/>
        </p:nvSpPr>
        <p:spPr>
          <a:xfrm>
            <a:off x="1981200" y="4619625"/>
            <a:ext cx="2286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N</a:t>
            </a:r>
            <a:endParaRPr lang="en-US" sz="1600" dirty="0"/>
          </a:p>
        </p:txBody>
      </p:sp>
      <p:sp>
        <p:nvSpPr>
          <p:cNvPr id="42" name="Text 31"/>
          <p:cNvSpPr/>
          <p:nvPr/>
        </p:nvSpPr>
        <p:spPr>
          <a:xfrm>
            <a:off x="2222500" y="4619625"/>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X</a:t>
            </a:r>
            <a:endParaRPr lang="en-US" sz="1600" dirty="0"/>
          </a:p>
        </p:txBody>
      </p:sp>
      <p:sp>
        <p:nvSpPr>
          <p:cNvPr id="43" name="Text 32"/>
          <p:cNvSpPr/>
          <p:nvPr/>
        </p:nvSpPr>
        <p:spPr>
          <a:xfrm>
            <a:off x="2463800" y="4619625"/>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Q</a:t>
            </a:r>
            <a:endParaRPr lang="en-US" sz="1600" dirty="0"/>
          </a:p>
        </p:txBody>
      </p:sp>
      <p:sp>
        <p:nvSpPr>
          <p:cNvPr id="44" name="Text 33"/>
          <p:cNvSpPr/>
          <p:nvPr/>
        </p:nvSpPr>
        <p:spPr>
          <a:xfrm>
            <a:off x="2705100" y="4619625"/>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Q</a:t>
            </a:r>
            <a:endParaRPr lang="en-US" sz="1600" dirty="0"/>
          </a:p>
        </p:txBody>
      </p:sp>
      <p:sp>
        <p:nvSpPr>
          <p:cNvPr id="45" name="Text 34"/>
          <p:cNvSpPr/>
          <p:nvPr/>
        </p:nvSpPr>
        <p:spPr>
          <a:xfrm>
            <a:off x="2946400" y="4619625"/>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V</a:t>
            </a:r>
            <a:endParaRPr lang="en-US" sz="1600" dirty="0"/>
          </a:p>
        </p:txBody>
      </p:sp>
      <p:sp>
        <p:nvSpPr>
          <p:cNvPr id="46" name="Text 35"/>
          <p:cNvSpPr/>
          <p:nvPr/>
        </p:nvSpPr>
        <p:spPr>
          <a:xfrm>
            <a:off x="3187700" y="4619625"/>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T</a:t>
            </a:r>
            <a:endParaRPr lang="en-US" sz="1600" dirty="0"/>
          </a:p>
        </p:txBody>
      </p:sp>
      <p:sp>
        <p:nvSpPr>
          <p:cNvPr id="47" name="Text 36"/>
          <p:cNvSpPr/>
          <p:nvPr/>
        </p:nvSpPr>
        <p:spPr>
          <a:xfrm>
            <a:off x="3429000" y="4619625"/>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C</a:t>
            </a:r>
            <a:endParaRPr lang="en-US" sz="1600" dirty="0"/>
          </a:p>
        </p:txBody>
      </p:sp>
      <p:sp>
        <p:nvSpPr>
          <p:cNvPr id="48" name="Text 37"/>
          <p:cNvSpPr/>
          <p:nvPr/>
        </p:nvSpPr>
        <p:spPr>
          <a:xfrm>
            <a:off x="3670300" y="4619625"/>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Z</a:t>
            </a:r>
            <a:endParaRPr lang="en-US" sz="1600" dirty="0"/>
          </a:p>
        </p:txBody>
      </p:sp>
      <p:sp>
        <p:nvSpPr>
          <p:cNvPr id="49" name="Text 38"/>
          <p:cNvSpPr/>
          <p:nvPr/>
        </p:nvSpPr>
        <p:spPr>
          <a:xfrm>
            <a:off x="4064000" y="4660999"/>
            <a:ext cx="3139440" cy="273794"/>
          </a:xfrm>
          <a:prstGeom prst="rect">
            <a:avLst/>
          </a:prstGeom>
          <a:noFill/>
          <a:ln/>
        </p:spPr>
        <p:txBody>
          <a:bodyPr wrap="square" lIns="0" tIns="0" rIns="0" bIns="0" rtlCol="0" anchor="t">
            <a:normAutofit/>
          </a:bodyPr>
          <a:lstStyle/>
          <a:p>
            <a:pPr algn="l" indent="0" marL="0">
              <a:lnSpc>
                <a:spcPts val="1956"/>
              </a:lnSpc>
              <a:buNone/>
            </a:pPr>
            <a:r>
              <a:rPr lang="en-US" sz="1200" dirty="0">
                <a:solidFill>
                  <a:srgbClr val="A9B4BF"/>
                </a:solidFill>
                <a:latin typeface="Arial" pitchFamily="34" charset="0"/>
                <a:ea typeface="Arial" pitchFamily="34" charset="-122"/>
                <a:cs typeface="Arial" pitchFamily="34" charset="-120"/>
              </a:rPr>
              <a:t>MM-246 · 261012（月）17:05 UTC</a:t>
            </a:r>
            <a:endParaRPr lang="en-US" sz="1200" dirty="0"/>
          </a:p>
        </p:txBody>
      </p:sp>
      <p:sp>
        <p:nvSpPr>
          <p:cNvPr id="50" name="Text 39"/>
          <p:cNvSpPr/>
          <p:nvPr/>
        </p:nvSpPr>
        <p:spPr>
          <a:xfrm>
            <a:off x="812800" y="5001617"/>
            <a:ext cx="762000" cy="331192"/>
          </a:xfrm>
          <a:prstGeom prst="rect">
            <a:avLst/>
          </a:prstGeom>
          <a:solidFill>
            <a:srgbClr val="141A20"/>
          </a:solidFill>
          <a:ln/>
        </p:spPr>
        <p:txBody>
          <a:bodyPr wrap="square" lIns="0" tIns="0" rIns="0" bIns="0" rtlCol="0" anchor="t">
            <a:normAutofit/>
          </a:bodyPr>
          <a:lstStyle/>
          <a:p>
            <a:pPr algn="ctr" indent="0" marL="0">
              <a:lnSpc>
                <a:spcPts val="2608"/>
              </a:lnSpc>
              <a:buNone/>
            </a:pPr>
            <a:r>
              <a:rPr lang="en-US" sz="1600" dirty="0">
                <a:solidFill>
                  <a:srgbClr val="A9B4BF"/>
                </a:solidFill>
                <a:latin typeface="Courier New" pitchFamily="49" charset="0"/>
                <a:ea typeface="Courier New" pitchFamily="49" charset="-122"/>
                <a:cs typeface="Courier New" pitchFamily="49" charset="-120"/>
              </a:rPr>
              <a:t>SNDNS</a:t>
            </a:r>
            <a:endParaRPr lang="en-US" sz="1600" dirty="0"/>
          </a:p>
        </p:txBody>
      </p:sp>
      <p:sp>
        <p:nvSpPr>
          <p:cNvPr id="51" name="Text 40"/>
          <p:cNvSpPr/>
          <p:nvPr/>
        </p:nvSpPr>
        <p:spPr>
          <a:xfrm>
            <a:off x="1739900" y="5001617"/>
            <a:ext cx="2286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7</a:t>
            </a:r>
            <a:endParaRPr lang="en-US" sz="1600" dirty="0"/>
          </a:p>
        </p:txBody>
      </p:sp>
      <p:sp>
        <p:nvSpPr>
          <p:cNvPr id="52" name="Text 41"/>
          <p:cNvSpPr/>
          <p:nvPr/>
        </p:nvSpPr>
        <p:spPr>
          <a:xfrm>
            <a:off x="1981200" y="5001617"/>
            <a:ext cx="2286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N</a:t>
            </a:r>
            <a:endParaRPr lang="en-US" sz="1600" dirty="0"/>
          </a:p>
        </p:txBody>
      </p:sp>
      <p:sp>
        <p:nvSpPr>
          <p:cNvPr id="53" name="Text 42"/>
          <p:cNvSpPr/>
          <p:nvPr/>
        </p:nvSpPr>
        <p:spPr>
          <a:xfrm>
            <a:off x="2222500" y="5001617"/>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7</a:t>
            </a:r>
            <a:endParaRPr lang="en-US" sz="1600" dirty="0"/>
          </a:p>
        </p:txBody>
      </p:sp>
      <p:sp>
        <p:nvSpPr>
          <p:cNvPr id="54" name="Text 43"/>
          <p:cNvSpPr/>
          <p:nvPr/>
        </p:nvSpPr>
        <p:spPr>
          <a:xfrm>
            <a:off x="2463800" y="5001617"/>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V</a:t>
            </a:r>
            <a:endParaRPr lang="en-US" sz="1600" dirty="0"/>
          </a:p>
        </p:txBody>
      </p:sp>
      <p:sp>
        <p:nvSpPr>
          <p:cNvPr id="55" name="Text 44"/>
          <p:cNvSpPr/>
          <p:nvPr/>
        </p:nvSpPr>
        <p:spPr>
          <a:xfrm>
            <a:off x="2705100" y="5001617"/>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I</a:t>
            </a:r>
            <a:endParaRPr lang="en-US" sz="1600" dirty="0"/>
          </a:p>
        </p:txBody>
      </p:sp>
      <p:sp>
        <p:nvSpPr>
          <p:cNvPr id="56" name="Text 45"/>
          <p:cNvSpPr/>
          <p:nvPr/>
        </p:nvSpPr>
        <p:spPr>
          <a:xfrm>
            <a:off x="2946400" y="5001617"/>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D</a:t>
            </a:r>
            <a:endParaRPr lang="en-US" sz="1600" dirty="0"/>
          </a:p>
        </p:txBody>
      </p:sp>
      <p:sp>
        <p:nvSpPr>
          <p:cNvPr id="57" name="Text 46"/>
          <p:cNvSpPr/>
          <p:nvPr/>
        </p:nvSpPr>
        <p:spPr>
          <a:xfrm>
            <a:off x="3187700" y="5001617"/>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G</a:t>
            </a:r>
            <a:endParaRPr lang="en-US" sz="1600" dirty="0"/>
          </a:p>
        </p:txBody>
      </p:sp>
      <p:sp>
        <p:nvSpPr>
          <p:cNvPr id="58" name="Text 47"/>
          <p:cNvSpPr/>
          <p:nvPr/>
        </p:nvSpPr>
        <p:spPr>
          <a:xfrm>
            <a:off x="3429000" y="5001617"/>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B</a:t>
            </a:r>
            <a:endParaRPr lang="en-US" sz="1600" dirty="0"/>
          </a:p>
        </p:txBody>
      </p:sp>
      <p:sp>
        <p:nvSpPr>
          <p:cNvPr id="59" name="Text 48"/>
          <p:cNvSpPr/>
          <p:nvPr/>
        </p:nvSpPr>
        <p:spPr>
          <a:xfrm>
            <a:off x="3670300" y="5001617"/>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X</a:t>
            </a:r>
            <a:endParaRPr lang="en-US" sz="1600" dirty="0"/>
          </a:p>
        </p:txBody>
      </p:sp>
      <p:sp>
        <p:nvSpPr>
          <p:cNvPr id="60" name="Text 49"/>
          <p:cNvSpPr/>
          <p:nvPr/>
        </p:nvSpPr>
        <p:spPr>
          <a:xfrm>
            <a:off x="4064000" y="5042991"/>
            <a:ext cx="3139440" cy="273794"/>
          </a:xfrm>
          <a:prstGeom prst="rect">
            <a:avLst/>
          </a:prstGeom>
          <a:noFill/>
          <a:ln/>
        </p:spPr>
        <p:txBody>
          <a:bodyPr wrap="square" lIns="0" tIns="0" rIns="0" bIns="0" rtlCol="0" anchor="t">
            <a:normAutofit/>
          </a:bodyPr>
          <a:lstStyle/>
          <a:p>
            <a:pPr algn="l" indent="0" marL="0">
              <a:lnSpc>
                <a:spcPts val="1956"/>
              </a:lnSpc>
              <a:buNone/>
            </a:pPr>
            <a:r>
              <a:rPr lang="en-US" sz="1200" dirty="0">
                <a:solidFill>
                  <a:srgbClr val="A9B4BF"/>
                </a:solidFill>
                <a:latin typeface="Arial" pitchFamily="34" charset="0"/>
                <a:ea typeface="Arial" pitchFamily="34" charset="-122"/>
                <a:cs typeface="Arial" pitchFamily="34" charset="-120"/>
              </a:rPr>
              <a:t>MM-186 · 260901（火）21:08 UTC</a:t>
            </a:r>
            <a:endParaRPr lang="en-US" sz="1200" dirty="0"/>
          </a:p>
        </p:txBody>
      </p:sp>
      <p:sp>
        <p:nvSpPr>
          <p:cNvPr id="61" name="Text 50"/>
          <p:cNvSpPr/>
          <p:nvPr/>
        </p:nvSpPr>
        <p:spPr>
          <a:xfrm>
            <a:off x="595249" y="5424984"/>
            <a:ext cx="7469251" cy="273794"/>
          </a:xfrm>
          <a:prstGeom prst="rect">
            <a:avLst/>
          </a:prstGeom>
          <a:noFill/>
          <a:ln/>
        </p:spPr>
        <p:txBody>
          <a:bodyPr wrap="square" lIns="0" tIns="0" rIns="0" bIns="0" rtlCol="0" anchor="t">
            <a:normAutofit/>
          </a:bodyPr>
          <a:lstStyle/>
          <a:p>
            <a:pPr algn="r" indent="0" marL="0">
              <a:lnSpc>
                <a:spcPts val="1956"/>
              </a:lnSpc>
              <a:buNone/>
            </a:pPr>
            <a:r>
              <a:rPr lang="en-US" sz="1200" dirty="0">
                <a:solidFill>
                  <a:srgbClr val="A9B4BF"/>
                </a:solidFill>
                <a:latin typeface="Arial" pitchFamily="34" charset="0"/>
                <a:ea typeface="Arial" pitchFamily="34" charset="-122"/>
                <a:cs typeface="Arial" pitchFamily="34" charset="-120"/>
              </a:rPr>
              <a:t>MM-164 · 261004（日）21:38 UTC</a:t>
            </a:r>
            <a:endParaRPr lang="en-US" sz="1200" dirty="0"/>
          </a:p>
        </p:txBody>
      </p:sp>
      <p:sp>
        <p:nvSpPr>
          <p:cNvPr id="62" name="Text 51"/>
          <p:cNvSpPr/>
          <p:nvPr/>
        </p:nvSpPr>
        <p:spPr>
          <a:xfrm>
            <a:off x="8229600" y="5383609"/>
            <a:ext cx="762000" cy="331192"/>
          </a:xfrm>
          <a:prstGeom prst="rect">
            <a:avLst/>
          </a:prstGeom>
          <a:solidFill>
            <a:srgbClr val="141A20"/>
          </a:solidFill>
          <a:ln/>
        </p:spPr>
        <p:txBody>
          <a:bodyPr wrap="square" lIns="0" tIns="0" rIns="0" bIns="0" rtlCol="0" anchor="t">
            <a:normAutofit/>
          </a:bodyPr>
          <a:lstStyle/>
          <a:p>
            <a:pPr algn="ctr" indent="0" marL="0">
              <a:lnSpc>
                <a:spcPts val="2608"/>
              </a:lnSpc>
              <a:buNone/>
            </a:pPr>
            <a:r>
              <a:rPr lang="en-US" sz="1600" dirty="0">
                <a:solidFill>
                  <a:srgbClr val="A9B4BF"/>
                </a:solidFill>
                <a:latin typeface="Courier New" pitchFamily="49" charset="0"/>
                <a:ea typeface="Courier New" pitchFamily="49" charset="-122"/>
                <a:cs typeface="Courier New" pitchFamily="49" charset="-120"/>
              </a:rPr>
              <a:t>X75B7</a:t>
            </a:r>
            <a:endParaRPr lang="en-US" sz="1600" dirty="0"/>
          </a:p>
        </p:txBody>
      </p:sp>
      <p:sp>
        <p:nvSpPr>
          <p:cNvPr id="63" name="Text 52"/>
          <p:cNvSpPr/>
          <p:nvPr/>
        </p:nvSpPr>
        <p:spPr>
          <a:xfrm>
            <a:off x="9156700" y="5383609"/>
            <a:ext cx="2286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2</a:t>
            </a:r>
            <a:endParaRPr lang="en-US" sz="1600" dirty="0"/>
          </a:p>
        </p:txBody>
      </p:sp>
      <p:sp>
        <p:nvSpPr>
          <p:cNvPr id="64" name="Text 53"/>
          <p:cNvSpPr/>
          <p:nvPr/>
        </p:nvSpPr>
        <p:spPr>
          <a:xfrm>
            <a:off x="9398000" y="5383609"/>
            <a:ext cx="228600" cy="331192"/>
          </a:xfrm>
          <a:prstGeom prst="rect">
            <a:avLst/>
          </a:prstGeom>
          <a:solidFill>
            <a:srgbClr val="FF0467"/>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S</a:t>
            </a:r>
            <a:endParaRPr lang="en-US" sz="1600" dirty="0"/>
          </a:p>
        </p:txBody>
      </p:sp>
      <p:sp>
        <p:nvSpPr>
          <p:cNvPr id="65" name="Text 54"/>
          <p:cNvSpPr/>
          <p:nvPr/>
        </p:nvSpPr>
        <p:spPr>
          <a:xfrm>
            <a:off x="9639300" y="5383609"/>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Y</a:t>
            </a:r>
            <a:endParaRPr lang="en-US" sz="1600" dirty="0"/>
          </a:p>
        </p:txBody>
      </p:sp>
      <p:sp>
        <p:nvSpPr>
          <p:cNvPr id="66" name="Text 55"/>
          <p:cNvSpPr/>
          <p:nvPr/>
        </p:nvSpPr>
        <p:spPr>
          <a:xfrm>
            <a:off x="9880600" y="5383609"/>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L</a:t>
            </a:r>
            <a:endParaRPr lang="en-US" sz="1600" dirty="0"/>
          </a:p>
        </p:txBody>
      </p:sp>
      <p:sp>
        <p:nvSpPr>
          <p:cNvPr id="67" name="Text 56"/>
          <p:cNvSpPr/>
          <p:nvPr/>
        </p:nvSpPr>
        <p:spPr>
          <a:xfrm>
            <a:off x="10121900" y="5383609"/>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5</a:t>
            </a:r>
            <a:endParaRPr lang="en-US" sz="1600" dirty="0"/>
          </a:p>
        </p:txBody>
      </p:sp>
      <p:sp>
        <p:nvSpPr>
          <p:cNvPr id="68" name="Text 57"/>
          <p:cNvSpPr/>
          <p:nvPr/>
        </p:nvSpPr>
        <p:spPr>
          <a:xfrm>
            <a:off x="10363200" y="5383609"/>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K</a:t>
            </a:r>
            <a:endParaRPr lang="en-US" sz="1600" dirty="0"/>
          </a:p>
        </p:txBody>
      </p:sp>
      <p:sp>
        <p:nvSpPr>
          <p:cNvPr id="69" name="Text 58"/>
          <p:cNvSpPr/>
          <p:nvPr/>
        </p:nvSpPr>
        <p:spPr>
          <a:xfrm>
            <a:off x="10604500" y="5383609"/>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T</a:t>
            </a:r>
            <a:endParaRPr lang="en-US" sz="1600" dirty="0"/>
          </a:p>
        </p:txBody>
      </p:sp>
      <p:sp>
        <p:nvSpPr>
          <p:cNvPr id="70" name="Text 59"/>
          <p:cNvSpPr/>
          <p:nvPr/>
        </p:nvSpPr>
        <p:spPr>
          <a:xfrm>
            <a:off x="10845800" y="5383609"/>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F</a:t>
            </a:r>
            <a:endParaRPr lang="en-US" sz="1600" dirty="0"/>
          </a:p>
        </p:txBody>
      </p:sp>
      <p:sp>
        <p:nvSpPr>
          <p:cNvPr id="71" name="Text 60"/>
          <p:cNvSpPr/>
          <p:nvPr/>
        </p:nvSpPr>
        <p:spPr>
          <a:xfrm>
            <a:off x="11087100" y="5383609"/>
            <a:ext cx="228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H</a:t>
            </a:r>
            <a:endParaRPr lang="en-US" sz="1600" dirty="0"/>
          </a:p>
        </p:txBody>
      </p:sp>
      <p:sp>
        <p:nvSpPr>
          <p:cNvPr id="72" name="Text 6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フィールドの順序：MM-186 260901、MM-164 261004、MM-180 260902（g4_structure.html）</a:t>
            </a:r>
            <a:endParaRPr lang="en-US" sz="1200" dirty="0"/>
          </a:p>
        </p:txBody>
      </p:sp>
      <p:sp>
        <p:nvSpPr>
          <p:cNvPr id="73" name="Text 62"/>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G4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接頭辞内の複製</a:t>
            </a:r>
            <a:endParaRPr lang="en-US" sz="3600" dirty="0"/>
          </a:p>
        </p:txBody>
      </p:sp>
      <p:sp>
        <p:nvSpPr>
          <p:cNvPr id="4" name="Text 2"/>
          <p:cNvSpPr/>
          <p:nvPr/>
        </p:nvSpPr>
        <p:spPr>
          <a:xfrm>
            <a:off x="812800" y="1981150"/>
            <a:ext cx="287782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CC00"/>
                </a:solidFill>
                <a:latin typeface="Arial" pitchFamily="34" charset="0"/>
                <a:ea typeface="Arial" pitchFamily="34" charset="-122"/>
                <a:cs typeface="Arial" pitchFamily="34" charset="-120"/>
              </a:rPr>
              <a:t>145</a:t>
            </a:r>
            <a:endParaRPr lang="en-US" sz="8000" dirty="0"/>
          </a:p>
        </p:txBody>
      </p:sp>
      <p:sp>
        <p:nvSpPr>
          <p:cNvPr id="5" name="Text 3"/>
          <p:cNvSpPr/>
          <p:nvPr/>
        </p:nvSpPr>
        <p:spPr>
          <a:xfrm>
            <a:off x="812800" y="3047950"/>
            <a:ext cx="2877820"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z ≥ 15の複製の対</a:t>
            </a:r>
            <a:endParaRPr lang="en-US" sz="1600" dirty="0"/>
          </a:p>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すべて同じ接頭辞</a:t>
            </a:r>
            <a:endParaRPr lang="en-US" sz="1600" dirty="0"/>
          </a:p>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切り替えをまたぐもの0</a:t>
            </a:r>
            <a:endParaRPr lang="en-US" sz="1600" dirty="0"/>
          </a:p>
        </p:txBody>
      </p:sp>
      <p:sp>
        <p:nvSpPr>
          <p:cNvPr id="6" name="Shape 4"/>
          <p:cNvSpPr/>
          <p:nvPr/>
        </p:nvSpPr>
        <p:spPr>
          <a:xfrm>
            <a:off x="812800" y="4016325"/>
            <a:ext cx="2794000" cy="0"/>
          </a:xfrm>
          <a:prstGeom prst="line">
            <a:avLst/>
          </a:prstGeom>
          <a:noFill/>
          <a:ln w="6350">
            <a:solidFill>
              <a:srgbClr val="222A35"/>
            </a:solidFill>
            <a:prstDash val="solid"/>
          </a:ln>
        </p:spPr>
      </p:sp>
      <p:sp>
        <p:nvSpPr>
          <p:cNvPr id="7" name="Text 5"/>
          <p:cNvSpPr/>
          <p:nvPr/>
        </p:nvSpPr>
        <p:spPr>
          <a:xfrm>
            <a:off x="812800" y="4121100"/>
            <a:ext cx="287782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A行は複製されないが、</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結尾は複製される</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025900" y="1993850"/>
          <a:ext cx="7353300" cy="2636044"/>
        </p:xfrm>
        <a:graphic>
          <a:graphicData uri="http://schemas.openxmlformats.org/drawingml/2006/table">
            <a:tbl>
              <a:tblPr/>
              <a:tblGrid>
                <a:gridCol w="882396"/>
                <a:gridCol w="1691259"/>
                <a:gridCol w="1691259"/>
                <a:gridCol w="1250061"/>
                <a:gridCol w="1323594"/>
                <a:gridCol w="514731"/>
              </a:tblGrid>
              <a:tr h="43934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接頭辞</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前のメッセージ</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後のメッセージ</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一致</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オフセット</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z</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MM</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224 @ 260912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246 @ 261012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120 / 224</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LO</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172 @ 240131</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194 @ 240210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96 / 172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BV</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222 @ 241113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166 @ 241229</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90 / 166</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38</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RO</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216 @ 240825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166 @ 240918</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85 / 166</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−44</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36</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BV</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160 @ 241117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166 @ 250122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82 / 160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35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9" name="Text 6"/>
          <p:cNvSpPr/>
          <p:nvPr/>
        </p:nvSpPr>
        <p:spPr>
          <a:xfrm>
            <a:off x="4013200" y="4782294"/>
            <a:ext cx="758698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オフセットはほとんどが</a:t>
            </a:r>
            <a:r>
              <a:rPr lang="en-US" sz="1600" dirty="0">
                <a:solidFill>
                  <a:srgbClr val="FFCC00"/>
                </a:solidFill>
                <a:latin typeface="Arial" pitchFamily="34" charset="0"/>
                <a:ea typeface="Arial" pitchFamily="34" charset="-122"/>
                <a:cs typeface="Arial" pitchFamily="34" charset="-120"/>
              </a:rPr>
              <a:t>0、±22、±44</a:t>
            </a:r>
            <a:r>
              <a:rPr lang="en-US" sz="1600" dirty="0">
                <a:solidFill>
                  <a:srgbClr val="E6EDF3"/>
                </a:solidFill>
                <a:latin typeface="Arial" pitchFamily="34" charset="0"/>
                <a:ea typeface="Arial" pitchFamily="34" charset="-122"/>
                <a:cs typeface="Arial" pitchFamily="34" charset="-120"/>
              </a:rPr>
              <a:t>（ブロック単位）か</a:t>
            </a:r>
            <a:r>
              <a:rPr lang="en-US" sz="1600" dirty="0">
                <a:solidFill>
                  <a:srgbClr val="FFCC00"/>
                </a:solidFill>
                <a:latin typeface="Arial" pitchFamily="34" charset="0"/>
                <a:ea typeface="Arial" pitchFamily="34" charset="-122"/>
                <a:cs typeface="Arial" pitchFamily="34" charset="-120"/>
              </a:rPr>
              <a:t>40</a:t>
            </a:r>
            <a:r>
              <a:rPr lang="en-US" sz="1600" dirty="0">
                <a:solidFill>
                  <a:srgbClr val="E6EDF3"/>
                </a:solidFill>
                <a:latin typeface="Arial" pitchFamily="34" charset="0"/>
                <a:ea typeface="Arial" pitchFamily="34" charset="-122"/>
                <a:cs typeface="Arial" pitchFamily="34" charset="-120"/>
              </a:rPr>
              <a:t>（延長）</a:t>
            </a:r>
            <a:endParaRPr lang="en-US" sz="16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1" name="Text 8"/>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G4ブロックの構成と再利用</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ブロックを扱う3つのページ</a:t>
            </a:r>
            <a:endParaRPr lang="en-US" sz="3600" dirty="0"/>
          </a:p>
        </p:txBody>
      </p:sp>
      <p:sp>
        <p:nvSpPr>
          <p:cNvPr id="4" name="Shape 2"/>
          <p:cNvSpPr/>
          <p:nvPr/>
        </p:nvSpPr>
        <p:spPr>
          <a:xfrm>
            <a:off x="815975" y="1984325"/>
            <a:ext cx="3414167" cy="2543770"/>
          </a:xfrm>
          <a:prstGeom prst="roundRect">
            <a:avLst>
              <a:gd name="adj" fmla="val 2871"/>
            </a:avLst>
          </a:prstGeom>
          <a:solidFill>
            <a:srgbClr val="0E141B"/>
          </a:solidFill>
          <a:ln w="6350">
            <a:solidFill>
              <a:srgbClr val="222A35"/>
            </a:solidFill>
            <a:prstDash val="solid"/>
          </a:ln>
        </p:spPr>
      </p:sp>
      <p:sp>
        <p:nvSpPr>
          <p:cNvPr id="5" name="Text 3"/>
          <p:cNvSpPr/>
          <p:nvPr/>
        </p:nvSpPr>
        <p:spPr>
          <a:xfrm>
            <a:off x="1022350" y="2190700"/>
            <a:ext cx="3091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CC00"/>
                </a:solidFill>
                <a:latin typeface="Courier New" pitchFamily="49" charset="0"/>
                <a:ea typeface="Courier New" pitchFamily="49" charset="-122"/>
                <a:cs typeface="Courier New" pitchFamily="49" charset="-120"/>
              </a:rPr>
              <a:t>block_structure_explainer.html</a:t>
            </a:r>
            <a:endParaRPr lang="en-US" sz="1200" dirty="0"/>
          </a:p>
        </p:txBody>
      </p:sp>
      <p:sp>
        <p:nvSpPr>
          <p:cNvPr id="6" name="Text 4"/>
          <p:cNvSpPr/>
          <p:nvPr/>
        </p:nvSpPr>
        <p:spPr>
          <a:xfrm>
            <a:off x="1022350" y="2480221"/>
            <a:ext cx="309145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3"/>
                </a:solidFill>
                <a:latin typeface="Arial" pitchFamily="34" charset="0"/>
                <a:ea typeface="Arial" pitchFamily="34" charset="-122"/>
                <a:cs typeface="Arial" pitchFamily="34" charset="-120"/>
              </a:rPr>
              <a:t>長文G4メッセージ</a:t>
            </a:r>
            <a:endParaRPr lang="en-US" sz="2000" dirty="0"/>
          </a:p>
        </p:txBody>
      </p:sp>
      <p:sp>
        <p:nvSpPr>
          <p:cNvPr id="7" name="Shape 5"/>
          <p:cNvSpPr/>
          <p:nvPr/>
        </p:nvSpPr>
        <p:spPr>
          <a:xfrm>
            <a:off x="1022350" y="2864396"/>
            <a:ext cx="3001417" cy="0"/>
          </a:xfrm>
          <a:prstGeom prst="line">
            <a:avLst/>
          </a:prstGeom>
          <a:noFill/>
          <a:ln w="6350">
            <a:solidFill>
              <a:srgbClr val="222A35"/>
            </a:solidFill>
            <a:prstDash val="solid"/>
          </a:ln>
        </p:spPr>
      </p:sp>
      <p:sp>
        <p:nvSpPr>
          <p:cNvPr id="8" name="Text 6"/>
          <p:cNvSpPr/>
          <p:nvPr/>
        </p:nvSpPr>
        <p:spPr>
          <a:xfrm>
            <a:off x="1022350" y="2943771"/>
            <a:ext cx="3091459"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5つの部分、1件の実例</a:t>
            </a:r>
            <a:endParaRPr lang="en-US" sz="1600" dirty="0"/>
          </a:p>
        </p:txBody>
      </p:sp>
      <p:sp>
        <p:nvSpPr>
          <p:cNvPr id="9" name="Shape 7"/>
          <p:cNvSpPr/>
          <p:nvPr/>
        </p:nvSpPr>
        <p:spPr>
          <a:xfrm>
            <a:off x="1022350" y="3327946"/>
            <a:ext cx="3001417" cy="0"/>
          </a:xfrm>
          <a:prstGeom prst="line">
            <a:avLst/>
          </a:prstGeom>
          <a:noFill/>
          <a:ln w="6350">
            <a:solidFill>
              <a:srgbClr val="222A35"/>
            </a:solidFill>
            <a:prstDash val="solid"/>
          </a:ln>
        </p:spPr>
      </p:sp>
      <p:sp>
        <p:nvSpPr>
          <p:cNvPr id="10" name="Text 8"/>
          <p:cNvSpPr/>
          <p:nvPr/>
        </p:nvSpPr>
        <p:spPr>
          <a:xfrm>
            <a:off x="1022350" y="3407321"/>
            <a:ext cx="3091459"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211件中93件がブロックを再利用 · 一致170件はすべて同じ接頭辞、奇数のオフセットなし</a:t>
            </a:r>
            <a:endParaRPr lang="en-US" sz="1600" dirty="0"/>
          </a:p>
        </p:txBody>
      </p:sp>
      <p:sp>
        <p:nvSpPr>
          <p:cNvPr id="11" name="Shape 9"/>
          <p:cNvSpPr/>
          <p:nvPr/>
        </p:nvSpPr>
        <p:spPr>
          <a:xfrm>
            <a:off x="4388892" y="1984325"/>
            <a:ext cx="3414167" cy="2543770"/>
          </a:xfrm>
          <a:prstGeom prst="roundRect">
            <a:avLst>
              <a:gd name="adj" fmla="val 2871"/>
            </a:avLst>
          </a:prstGeom>
          <a:solidFill>
            <a:srgbClr val="0E141B"/>
          </a:solidFill>
          <a:ln w="6350">
            <a:solidFill>
              <a:srgbClr val="222A35"/>
            </a:solidFill>
            <a:prstDash val="solid"/>
          </a:ln>
        </p:spPr>
      </p:sp>
      <p:sp>
        <p:nvSpPr>
          <p:cNvPr id="12" name="Text 10"/>
          <p:cNvSpPr/>
          <p:nvPr/>
        </p:nvSpPr>
        <p:spPr>
          <a:xfrm>
            <a:off x="4595267" y="2190700"/>
            <a:ext cx="3091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CC00"/>
                </a:solidFill>
                <a:latin typeface="Courier New" pitchFamily="49" charset="0"/>
                <a:ea typeface="Courier New" pitchFamily="49" charset="-122"/>
                <a:cs typeface="Courier New" pitchFamily="49" charset="-120"/>
              </a:rPr>
              <a:t>block_structure.html</a:t>
            </a:r>
            <a:endParaRPr lang="en-US" sz="1200" dirty="0"/>
          </a:p>
        </p:txBody>
      </p:sp>
      <p:sp>
        <p:nvSpPr>
          <p:cNvPr id="13" name="Text 11"/>
          <p:cNvSpPr/>
          <p:nvPr/>
        </p:nvSpPr>
        <p:spPr>
          <a:xfrm>
            <a:off x="4595267" y="2480221"/>
            <a:ext cx="309145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3"/>
                </a:solidFill>
                <a:latin typeface="Arial" pitchFamily="34" charset="0"/>
                <a:ea typeface="Arial" pitchFamily="34" charset="-122"/>
                <a:cs typeface="Arial" pitchFamily="34" charset="-120"/>
              </a:rPr>
              <a:t>長文G4のブロック構成</a:t>
            </a:r>
            <a:endParaRPr lang="en-US" sz="2000" dirty="0"/>
          </a:p>
        </p:txBody>
      </p:sp>
      <p:sp>
        <p:nvSpPr>
          <p:cNvPr id="14" name="Shape 12"/>
          <p:cNvSpPr/>
          <p:nvPr/>
        </p:nvSpPr>
        <p:spPr>
          <a:xfrm>
            <a:off x="4595267" y="2864396"/>
            <a:ext cx="3001417" cy="0"/>
          </a:xfrm>
          <a:prstGeom prst="line">
            <a:avLst/>
          </a:prstGeom>
          <a:noFill/>
          <a:ln w="6350">
            <a:solidFill>
              <a:srgbClr val="222A35"/>
            </a:solidFill>
            <a:prstDash val="solid"/>
          </a:ln>
        </p:spPr>
      </p:sp>
      <p:sp>
        <p:nvSpPr>
          <p:cNvPr id="15" name="Text 13"/>
          <p:cNvSpPr/>
          <p:nvPr/>
        </p:nvSpPr>
        <p:spPr>
          <a:xfrm>
            <a:off x="4595267" y="2943771"/>
            <a:ext cx="3091459"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21〜24のX??X：204件中179件 · 42〜45の4連文字：162件</a:t>
            </a:r>
            <a:endParaRPr lang="en-US" sz="1600" dirty="0"/>
          </a:p>
        </p:txBody>
      </p:sp>
      <p:sp>
        <p:nvSpPr>
          <p:cNvPr id="16" name="Shape 14"/>
          <p:cNvSpPr/>
          <p:nvPr/>
        </p:nvSpPr>
        <p:spPr>
          <a:xfrm>
            <a:off x="4595267" y="3632746"/>
            <a:ext cx="3001417" cy="0"/>
          </a:xfrm>
          <a:prstGeom prst="line">
            <a:avLst/>
          </a:prstGeom>
          <a:noFill/>
          <a:ln w="6350">
            <a:solidFill>
              <a:srgbClr val="222A35"/>
            </a:solidFill>
            <a:prstDash val="solid"/>
          </a:ln>
        </p:spPr>
      </p:sp>
      <p:sp>
        <p:nvSpPr>
          <p:cNvPr id="17" name="Text 15"/>
          <p:cNvSpPr/>
          <p:nvPr/>
        </p:nvSpPr>
        <p:spPr>
          <a:xfrm>
            <a:off x="4595267" y="3712121"/>
            <a:ext cx="3091459"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複製はブロック単位：153件中95件が3〜4ブロック連続</a:t>
            </a:r>
            <a:endParaRPr lang="en-US" sz="1600" dirty="0"/>
          </a:p>
        </p:txBody>
      </p:sp>
      <p:sp>
        <p:nvSpPr>
          <p:cNvPr id="18" name="Shape 16"/>
          <p:cNvSpPr/>
          <p:nvPr/>
        </p:nvSpPr>
        <p:spPr>
          <a:xfrm>
            <a:off x="7961809" y="1984325"/>
            <a:ext cx="3414216" cy="2543770"/>
          </a:xfrm>
          <a:prstGeom prst="roundRect">
            <a:avLst>
              <a:gd name="adj" fmla="val 2871"/>
            </a:avLst>
          </a:prstGeom>
          <a:solidFill>
            <a:srgbClr val="0E141B"/>
          </a:solidFill>
          <a:ln w="6350">
            <a:solidFill>
              <a:srgbClr val="222A35"/>
            </a:solidFill>
            <a:prstDash val="solid"/>
          </a:ln>
        </p:spPr>
      </p:sp>
      <p:sp>
        <p:nvSpPr>
          <p:cNvPr id="19" name="Text 17"/>
          <p:cNvSpPr/>
          <p:nvPr/>
        </p:nvSpPr>
        <p:spPr>
          <a:xfrm>
            <a:off x="8168184" y="2190700"/>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CC00"/>
                </a:solidFill>
                <a:latin typeface="Courier New" pitchFamily="49" charset="0"/>
                <a:ea typeface="Courier New" pitchFamily="49" charset="-122"/>
                <a:cs typeface="Courier New" pitchFamily="49" charset="-120"/>
              </a:rPr>
              <a:t>block_vocabulary.html</a:t>
            </a:r>
            <a:endParaRPr lang="en-US" sz="1200" dirty="0"/>
          </a:p>
        </p:txBody>
      </p:sp>
      <p:sp>
        <p:nvSpPr>
          <p:cNvPr id="20" name="Text 18"/>
          <p:cNvSpPr/>
          <p:nvPr/>
        </p:nvSpPr>
        <p:spPr>
          <a:xfrm>
            <a:off x="8168184" y="2480221"/>
            <a:ext cx="30915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3"/>
                </a:solidFill>
                <a:latin typeface="Arial" pitchFamily="34" charset="0"/>
                <a:ea typeface="Arial" pitchFamily="34" charset="-122"/>
                <a:cs typeface="Arial" pitchFamily="34" charset="-120"/>
              </a:rPr>
              <a:t>長文G4のブロック再利用</a:t>
            </a:r>
            <a:endParaRPr lang="en-US" sz="2000" dirty="0"/>
          </a:p>
        </p:txBody>
      </p:sp>
      <p:sp>
        <p:nvSpPr>
          <p:cNvPr id="21" name="Shape 19"/>
          <p:cNvSpPr/>
          <p:nvPr/>
        </p:nvSpPr>
        <p:spPr>
          <a:xfrm>
            <a:off x="8168184" y="2864396"/>
            <a:ext cx="3001466" cy="0"/>
          </a:xfrm>
          <a:prstGeom prst="line">
            <a:avLst/>
          </a:prstGeom>
          <a:noFill/>
          <a:ln w="6350">
            <a:solidFill>
              <a:srgbClr val="222A35"/>
            </a:solidFill>
            <a:prstDash val="solid"/>
          </a:ln>
        </p:spPr>
      </p:sp>
      <p:sp>
        <p:nvSpPr>
          <p:cNvPr id="22" name="Text 20"/>
          <p:cNvSpPr/>
          <p:nvPr/>
        </p:nvSpPr>
        <p:spPr>
          <a:xfrm>
            <a:off x="8168184" y="2943771"/>
            <a:ext cx="309151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2件目は29件中2件が再利用 · 8件目以降は75件中52件</a:t>
            </a:r>
            <a:endParaRPr lang="en-US" sz="1600" dirty="0"/>
          </a:p>
        </p:txBody>
      </p:sp>
      <p:sp>
        <p:nvSpPr>
          <p:cNvPr id="23" name="Shape 21"/>
          <p:cNvSpPr/>
          <p:nvPr/>
        </p:nvSpPr>
        <p:spPr>
          <a:xfrm>
            <a:off x="8168184" y="3632746"/>
            <a:ext cx="3001466" cy="0"/>
          </a:xfrm>
          <a:prstGeom prst="line">
            <a:avLst/>
          </a:prstGeom>
          <a:noFill/>
          <a:ln w="6350">
            <a:solidFill>
              <a:srgbClr val="222A35"/>
            </a:solidFill>
            <a:prstDash val="solid"/>
          </a:ln>
        </p:spPr>
      </p:sp>
      <p:sp>
        <p:nvSpPr>
          <p:cNvPr id="24" name="Text 22"/>
          <p:cNvSpPr/>
          <p:nvPr/>
        </p:nvSpPr>
        <p:spPr>
          <a:xfrm>
            <a:off x="8168184" y="3712121"/>
            <a:ext cx="309151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接頭辞をまたぐ27,955対で一致0件</a:t>
            </a:r>
            <a:endParaRPr lang="en-US" sz="1600" dirty="0"/>
          </a:p>
        </p:txBody>
      </p:sp>
      <p:sp>
        <p:nvSpPr>
          <p:cNvPr id="25" name="Shape 23"/>
          <p:cNvSpPr/>
          <p:nvPr/>
        </p:nvSpPr>
        <p:spPr>
          <a:xfrm>
            <a:off x="812800" y="4686846"/>
            <a:ext cx="10566400" cy="0"/>
          </a:xfrm>
          <a:prstGeom prst="line">
            <a:avLst/>
          </a:prstGeom>
          <a:noFill/>
          <a:ln w="6350">
            <a:solidFill>
              <a:srgbClr val="222A35"/>
            </a:solidFill>
            <a:prstDash val="solid"/>
          </a:ln>
        </p:spPr>
      </p:sp>
      <p:sp>
        <p:nvSpPr>
          <p:cNvPr id="26" name="Text 24"/>
          <p:cNvSpPr/>
          <p:nvPr/>
        </p:nvSpPr>
        <p:spPr>
          <a:xfrm>
            <a:off x="812800" y="4766221"/>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長文G4 242件（60文字以上）、接頭辞31個、221116〜261012 · 構造のページの257件とは別</a:t>
            </a:r>
            <a:endParaRPr lang="en-US" sz="1600" dirty="0"/>
          </a:p>
        </p:txBody>
      </p:sp>
      <p:sp>
        <p:nvSpPr>
          <p:cNvPr id="27" name="Text 2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28" name="Text 26"/>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G2・G3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G3の枠組みは1つ</a:t>
            </a:r>
            <a:endParaRPr lang="en-US" sz="3600" dirty="0"/>
          </a:p>
        </p:txBody>
      </p:sp>
      <p:sp>
        <p:nvSpPr>
          <p:cNvPr id="4" name="Text 2"/>
          <p:cNvSpPr/>
          <p:nvPr/>
        </p:nvSpPr>
        <p:spPr>
          <a:xfrm>
            <a:off x="812800" y="1981150"/>
            <a:ext cx="10883392"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E6EDF3"/>
                </a:solidFill>
                <a:latin typeface="Arial" pitchFamily="34" charset="0"/>
                <a:ea typeface="Arial" pitchFamily="34" charset="-122"/>
                <a:cs typeface="Arial" pitchFamily="34" charset="-120"/>
              </a:rPr>
              <a:t>長さ = 接頭辞 + ブロック1 + </a:t>
            </a:r>
            <a:r>
              <a:rPr lang="en-US" sz="2200" dirty="0">
                <a:solidFill>
                  <a:srgbClr val="FFCC00"/>
                </a:solidFill>
                <a:latin typeface="Arial" pitchFamily="34" charset="0"/>
                <a:ea typeface="Arial" pitchFamily="34" charset="-122"/>
                <a:cs typeface="Arial" pitchFamily="34" charset="-120"/>
              </a:rPr>
              <a:t>繰り返しのブロックK個</a:t>
            </a:r>
            <a:r>
              <a:rPr lang="en-US" sz="2200" dirty="0">
                <a:solidFill>
                  <a:srgbClr val="E6EDF3"/>
                </a:solidFill>
                <a:latin typeface="Arial" pitchFamily="34" charset="0"/>
                <a:ea typeface="Arial" pitchFamily="34" charset="-122"/>
                <a:cs typeface="Arial" pitchFamily="34" charset="-120"/>
              </a:rPr>
              <a:t> + 末尾</a:t>
            </a:r>
            <a:endParaRPr lang="en-US" sz="2200" dirty="0"/>
          </a:p>
        </p:txBody>
      </p:sp>
      <p:sp>
        <p:nvSpPr>
          <p:cNvPr id="5" name="Text 3"/>
          <p:cNvSpPr/>
          <p:nvPr/>
        </p:nvSpPr>
        <p:spPr>
          <a:xfrm>
            <a:off x="812800" y="2501850"/>
            <a:ext cx="316021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A9B4BF"/>
                </a:solidFill>
                <a:latin typeface="Courier New" pitchFamily="49" charset="0"/>
                <a:ea typeface="Courier New" pitchFamily="49" charset="-122"/>
                <a:cs typeface="Courier New" pitchFamily="49" charset="-120"/>
              </a:rPr>
              <a:t>32 = 2 + 14 + </a:t>
            </a:r>
            <a:r>
              <a:rPr lang="en-US" sz="1600" dirty="0">
                <a:solidFill>
                  <a:srgbClr val="FFCC00"/>
                </a:solidFill>
                <a:latin typeface="Courier New" pitchFamily="49" charset="0"/>
                <a:ea typeface="Courier New" pitchFamily="49" charset="-122"/>
                <a:cs typeface="Courier New" pitchFamily="49" charset="-120"/>
              </a:rPr>
              <a:t>3 × 5</a:t>
            </a:r>
            <a:r>
              <a:rPr lang="en-US" sz="1600" dirty="0">
                <a:solidFill>
                  <a:srgbClr val="A9B4BF"/>
                </a:solidFill>
                <a:latin typeface="Courier New" pitchFamily="49" charset="0"/>
                <a:ea typeface="Courier New" pitchFamily="49" charset="-122"/>
                <a:cs typeface="Courier New" pitchFamily="49" charset="-120"/>
              </a:rPr>
              <a:t> + 1</a:t>
            </a:r>
            <a:endParaRPr lang="en-US" sz="1600" dirty="0"/>
          </a:p>
        </p:txBody>
      </p:sp>
      <p:sp>
        <p:nvSpPr>
          <p:cNvPr id="6" name="Text 4"/>
          <p:cNvSpPr/>
          <p:nvPr/>
        </p:nvSpPr>
        <p:spPr>
          <a:xfrm>
            <a:off x="3973016" y="2501850"/>
            <a:ext cx="328215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A9B4BF"/>
                </a:solidFill>
                <a:latin typeface="Courier New" pitchFamily="49" charset="0"/>
                <a:ea typeface="Courier New" pitchFamily="49" charset="-122"/>
                <a:cs typeface="Courier New" pitchFamily="49" charset="-120"/>
              </a:rPr>
              <a:t>45 = 2 + 14 + </a:t>
            </a:r>
            <a:r>
              <a:rPr lang="en-US" sz="1600" dirty="0">
                <a:solidFill>
                  <a:srgbClr val="FFCC00"/>
                </a:solidFill>
                <a:latin typeface="Courier New" pitchFamily="49" charset="0"/>
                <a:ea typeface="Courier New" pitchFamily="49" charset="-122"/>
                <a:cs typeface="Courier New" pitchFamily="49" charset="-120"/>
              </a:rPr>
              <a:t>2 × 14</a:t>
            </a:r>
            <a:r>
              <a:rPr lang="en-US" sz="1600" dirty="0">
                <a:solidFill>
                  <a:srgbClr val="A9B4BF"/>
                </a:solidFill>
                <a:latin typeface="Courier New" pitchFamily="49" charset="0"/>
                <a:ea typeface="Courier New" pitchFamily="49" charset="-122"/>
                <a:cs typeface="Courier New" pitchFamily="49" charset="-120"/>
              </a:rPr>
              <a:t> + 1</a:t>
            </a:r>
            <a:endParaRPr lang="en-US" sz="1600" dirty="0"/>
          </a:p>
        </p:txBody>
      </p:sp>
      <p:sp>
        <p:nvSpPr>
          <p:cNvPr id="7" name="Text 5"/>
          <p:cNvSpPr/>
          <p:nvPr/>
        </p:nvSpPr>
        <p:spPr>
          <a:xfrm>
            <a:off x="7255173" y="2501850"/>
            <a:ext cx="3511867"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A9B4BF"/>
                </a:solidFill>
                <a:latin typeface="Courier New" pitchFamily="49" charset="0"/>
                <a:ea typeface="Courier New" pitchFamily="49" charset="-122"/>
                <a:cs typeface="Courier New" pitchFamily="49" charset="-120"/>
              </a:rPr>
              <a:t>63 = 2 + 14 + </a:t>
            </a:r>
            <a:r>
              <a:rPr lang="en-US" sz="1600" dirty="0">
                <a:solidFill>
                  <a:srgbClr val="FFCC00"/>
                </a:solidFill>
                <a:latin typeface="Courier New" pitchFamily="49" charset="0"/>
                <a:ea typeface="Courier New" pitchFamily="49" charset="-122"/>
                <a:cs typeface="Courier New" pitchFamily="49" charset="-120"/>
              </a:rPr>
              <a:t>2 × 23</a:t>
            </a:r>
            <a:r>
              <a:rPr lang="en-US" sz="1600" dirty="0">
                <a:solidFill>
                  <a:srgbClr val="A9B4BF"/>
                </a:solidFill>
                <a:latin typeface="Courier New" pitchFamily="49" charset="0"/>
                <a:ea typeface="Courier New" pitchFamily="49" charset="-122"/>
                <a:cs typeface="Courier New" pitchFamily="49" charset="-120"/>
              </a:rPr>
              <a:t> + 1</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981871"/>
          <a:ext cx="10553700" cy="2041823"/>
        </p:xfrm>
        <a:graphic>
          <a:graphicData uri="http://schemas.openxmlformats.org/drawingml/2006/table">
            <a:tbl>
              <a:tblPr/>
              <a:tblGrid>
                <a:gridCol w="1055370"/>
                <a:gridCol w="1477518"/>
                <a:gridCol w="3377184"/>
                <a:gridCol w="2955036"/>
                <a:gridCol w="1688592"/>
              </a:tblGrid>
              <a:tr h="72380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ブロック</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件数</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長さ</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ブロック1（多い順）</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初出</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56</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32〜82、10種類</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14 ×40 · 17 ×7 · 19 ×6</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230120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14</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30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45 · 48 · 54 · 59</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14 ×23 · 17 ×7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241003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23</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18</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54 · 57 · 59 · 63 · 67 · 68</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14 ×12 · 19 ×4 · 17 ×1</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230601</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9" name="Shape 6"/>
          <p:cNvSpPr/>
          <p:nvPr/>
        </p:nvSpPr>
        <p:spPr>
          <a:xfrm>
            <a:off x="812800" y="5230068"/>
            <a:ext cx="10566400" cy="0"/>
          </a:xfrm>
          <a:prstGeom prst="line">
            <a:avLst/>
          </a:prstGeom>
          <a:noFill/>
          <a:ln w="6350">
            <a:solidFill>
              <a:srgbClr val="222A35"/>
            </a:solidFill>
            <a:prstDash val="solid"/>
          </a:ln>
        </p:spPr>
      </p:sp>
      <p:sp>
        <p:nvSpPr>
          <p:cNvPr id="10" name="Text 7"/>
          <p:cNvSpPr/>
          <p:nvPr/>
        </p:nvSpPr>
        <p:spPr>
          <a:xfrm>
            <a:off x="812800" y="5334843"/>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異なるG3メッセージ103件（DQ-54の1件が2つの一覧に入る） · 末尾はほぼ必ず1文字</a:t>
            </a:r>
            <a:endParaRPr lang="en-US" sz="16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2" name="Text 9"/>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G2・G3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5文字のブロック</a:t>
            </a:r>
            <a:endParaRPr lang="en-US" sz="3600" dirty="0"/>
          </a:p>
        </p:txBody>
      </p:sp>
      <p:sp>
        <p:nvSpPr>
          <p:cNvPr id="4" name="Text 2"/>
          <p:cNvSpPr/>
          <p:nvPr/>
        </p:nvSpPr>
        <p:spPr>
          <a:xfrm>
            <a:off x="812800" y="1981150"/>
            <a:ext cx="284510"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VQ</a:t>
            </a:r>
            <a:endParaRPr lang="en-US" sz="1200" dirty="0"/>
          </a:p>
        </p:txBody>
      </p:sp>
      <p:sp>
        <p:nvSpPr>
          <p:cNvPr id="5" name="Text 3"/>
          <p:cNvSpPr/>
          <p:nvPr/>
        </p:nvSpPr>
        <p:spPr>
          <a:xfrm>
            <a:off x="1173510" y="1981150"/>
            <a:ext cx="1381968"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ATN6VAEDYSIAZS</a:t>
            </a:r>
            <a:endParaRPr lang="en-US" sz="1200" dirty="0"/>
          </a:p>
        </p:txBody>
      </p:sp>
      <p:sp>
        <p:nvSpPr>
          <p:cNvPr id="6" name="Text 4"/>
          <p:cNvSpPr/>
          <p:nvPr/>
        </p:nvSpPr>
        <p:spPr>
          <a:xfrm>
            <a:off x="2631678" y="1981150"/>
            <a:ext cx="725331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DF3"/>
                </a:solidFill>
                <a:latin typeface="Courier New" pitchFamily="49" charset="0"/>
                <a:ea typeface="Courier New" pitchFamily="49" charset="-122"/>
                <a:cs typeface="Courier New" pitchFamily="49" charset="-120"/>
              </a:rPr>
              <a:t>OROLD OROED ORO4D OROTD OROGD OROND OROCD OROJD ORHFD ORE4D OROYD OROMD OROOG</a:t>
            </a:r>
            <a:endParaRPr lang="en-US" sz="1200" dirty="0"/>
          </a:p>
        </p:txBody>
      </p:sp>
      <p:sp>
        <p:nvSpPr>
          <p:cNvPr id="7" name="Text 5"/>
          <p:cNvSpPr/>
          <p:nvPr/>
        </p:nvSpPr>
        <p:spPr>
          <a:xfrm>
            <a:off x="9749929" y="1981150"/>
            <a:ext cx="193080"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I</a:t>
            </a:r>
            <a:endParaRPr lang="en-US" sz="1200" dirty="0"/>
          </a:p>
        </p:txBody>
      </p:sp>
      <p:sp>
        <p:nvSpPr>
          <p:cNvPr id="8" name="Shape 6"/>
          <p:cNvSpPr/>
          <p:nvPr/>
        </p:nvSpPr>
        <p:spPr>
          <a:xfrm>
            <a:off x="812800" y="2390725"/>
            <a:ext cx="7543800" cy="0"/>
          </a:xfrm>
          <a:prstGeom prst="line">
            <a:avLst/>
          </a:prstGeom>
          <a:noFill/>
          <a:ln w="6350">
            <a:solidFill>
              <a:srgbClr val="222A35"/>
            </a:solidFill>
            <a:prstDash val="solid"/>
          </a:ln>
        </p:spPr>
      </p:sp>
      <p:sp>
        <p:nvSpPr>
          <p:cNvPr id="9" name="Text 7"/>
          <p:cNvSpPr/>
          <p:nvPr/>
        </p:nvSpPr>
        <p:spPr>
          <a:xfrm>
            <a:off x="812800" y="2495500"/>
            <a:ext cx="7770114"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VQ-82 · 261006（火）</a:t>
            </a:r>
            <a:r>
              <a:rPr lang="en-US" sz="1600" dirty="0">
                <a:solidFill>
                  <a:srgbClr val="E6EDF3"/>
                </a:solidFill>
                <a:latin typeface="Arial" pitchFamily="34" charset="0"/>
                <a:ea typeface="Arial" pitchFamily="34" charset="-122"/>
                <a:cs typeface="Arial" pitchFamily="34" charset="-120"/>
              </a:rPr>
              <a:t> · 82 = 2 + 14 + 13 × 5 + 1</a:t>
            </a:r>
            <a:endParaRPr lang="en-US" sz="1600" dirty="0"/>
          </a:p>
        </p:txBody>
      </p:sp>
      <p:sp>
        <p:nvSpPr>
          <p:cNvPr id="10" name="Shape 8"/>
          <p:cNvSpPr/>
          <p:nvPr/>
        </p:nvSpPr>
        <p:spPr>
          <a:xfrm>
            <a:off x="812800" y="2905075"/>
            <a:ext cx="7543800" cy="0"/>
          </a:xfrm>
          <a:prstGeom prst="line">
            <a:avLst/>
          </a:prstGeom>
          <a:noFill/>
          <a:ln w="6350">
            <a:solidFill>
              <a:srgbClr val="222A35"/>
            </a:solidFill>
            <a:prstDash val="solid"/>
          </a:ln>
        </p:spPr>
      </p:sp>
      <p:sp>
        <p:nvSpPr>
          <p:cNvPr id="11" name="Text 9"/>
          <p:cNvSpPr/>
          <p:nvPr/>
        </p:nvSpPr>
        <p:spPr>
          <a:xfrm>
            <a:off x="812800" y="3009850"/>
            <a:ext cx="7770114"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枠1・2・3・5はほぼO・R・O・Dで、枠4はブロックごとに変わる</a:t>
            </a:r>
            <a:endParaRPr lang="en-US" sz="1600" dirty="0"/>
          </a:p>
        </p:txBody>
      </p:sp>
      <p:sp>
        <p:nvSpPr>
          <p:cNvPr id="12" name="Shape 10"/>
          <p:cNvSpPr/>
          <p:nvPr/>
        </p:nvSpPr>
        <p:spPr>
          <a:xfrm>
            <a:off x="812800" y="3419425"/>
            <a:ext cx="7543800" cy="0"/>
          </a:xfrm>
          <a:prstGeom prst="line">
            <a:avLst/>
          </a:prstGeom>
          <a:noFill/>
          <a:ln w="6350">
            <a:solidFill>
              <a:srgbClr val="222A35"/>
            </a:solidFill>
            <a:prstDash val="solid"/>
          </a:ln>
        </p:spPr>
      </p:sp>
      <p:sp>
        <p:nvSpPr>
          <p:cNvPr id="13" name="Text 11"/>
          <p:cNvSpPr/>
          <p:nvPr/>
        </p:nvSpPr>
        <p:spPr>
          <a:xfrm>
            <a:off x="812800" y="3524200"/>
            <a:ext cx="7770114"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56件全体で枠が一定：枠1 98% · 枠2 84% · 枠3 66% · 枠5 57%</a:t>
            </a:r>
            <a:endParaRPr lang="en-US" sz="1600" dirty="0"/>
          </a:p>
        </p:txBody>
      </p:sp>
      <p:sp>
        <p:nvSpPr>
          <p:cNvPr id="14" name="Shape 12"/>
          <p:cNvSpPr/>
          <p:nvPr/>
        </p:nvSpPr>
        <p:spPr>
          <a:xfrm>
            <a:off x="812800" y="3933775"/>
            <a:ext cx="7543800" cy="0"/>
          </a:xfrm>
          <a:prstGeom prst="line">
            <a:avLst/>
          </a:prstGeom>
          <a:noFill/>
          <a:ln w="6350">
            <a:solidFill>
              <a:srgbClr val="222A35"/>
            </a:solidFill>
            <a:prstDash val="solid"/>
          </a:ln>
        </p:spPr>
      </p:sp>
      <p:sp>
        <p:nvSpPr>
          <p:cNvPr id="15" name="Text 13"/>
          <p:cNvSpPr/>
          <p:nvPr/>
        </p:nvSpPr>
        <p:spPr>
          <a:xfrm>
            <a:off x="812800" y="4038550"/>
            <a:ext cx="7770114"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17文字目か20文字目から始まる47件では、枠4は一度も一定にならない</a:t>
            </a:r>
            <a:endParaRPr lang="en-US" sz="1600" dirty="0"/>
          </a:p>
        </p:txBody>
      </p:sp>
      <p:sp>
        <p:nvSpPr>
          <p:cNvPr id="16" name="Shape 14"/>
          <p:cNvSpPr/>
          <p:nvPr/>
        </p:nvSpPr>
        <p:spPr>
          <a:xfrm>
            <a:off x="812800" y="4518571"/>
            <a:ext cx="152400" cy="152400"/>
          </a:xfrm>
          <a:prstGeom prst="rect">
            <a:avLst/>
          </a:prstGeom>
          <a:solidFill>
            <a:srgbClr val="FFCC00"/>
          </a:solidFill>
          <a:ln/>
        </p:spPr>
      </p:sp>
      <p:sp>
        <p:nvSpPr>
          <p:cNvPr id="17" name="Text 15"/>
          <p:cNvSpPr/>
          <p:nvPr/>
        </p:nvSpPr>
        <p:spPr>
          <a:xfrm>
            <a:off x="1016000" y="4495750"/>
            <a:ext cx="232613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どのブロックでも同じ文字の枠</a:t>
            </a:r>
            <a:endParaRPr lang="en-US" sz="1200" dirty="0"/>
          </a:p>
        </p:txBody>
      </p:sp>
      <p:sp>
        <p:nvSpPr>
          <p:cNvPr id="18" name="Shape 16"/>
          <p:cNvSpPr/>
          <p:nvPr/>
        </p:nvSpPr>
        <p:spPr>
          <a:xfrm>
            <a:off x="3342134" y="4518571"/>
            <a:ext cx="152400" cy="152400"/>
          </a:xfrm>
          <a:prstGeom prst="rect">
            <a:avLst/>
          </a:prstGeom>
          <a:solidFill>
            <a:srgbClr val="7A6320"/>
          </a:solidFill>
          <a:ln/>
        </p:spPr>
      </p:sp>
      <p:sp>
        <p:nvSpPr>
          <p:cNvPr id="19" name="Text 17"/>
          <p:cNvSpPr/>
          <p:nvPr/>
        </p:nvSpPr>
        <p:spPr>
          <a:xfrm>
            <a:off x="3545334" y="4495750"/>
            <a:ext cx="232310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同じ枠で、このブロックは違う</a:t>
            </a:r>
            <a:endParaRPr lang="en-US" sz="1200" dirty="0"/>
          </a:p>
        </p:txBody>
      </p:sp>
      <p:sp>
        <p:nvSpPr>
          <p:cNvPr id="20" name="Shape 18"/>
          <p:cNvSpPr/>
          <p:nvPr/>
        </p:nvSpPr>
        <p:spPr>
          <a:xfrm>
            <a:off x="5868442" y="4518571"/>
            <a:ext cx="152400" cy="152400"/>
          </a:xfrm>
          <a:prstGeom prst="rect">
            <a:avLst/>
          </a:prstGeom>
          <a:solidFill>
            <a:srgbClr val="232B33"/>
          </a:solidFill>
          <a:ln/>
        </p:spPr>
      </p:sp>
      <p:sp>
        <p:nvSpPr>
          <p:cNvPr id="21" name="Text 19"/>
          <p:cNvSpPr/>
          <p:nvPr/>
        </p:nvSpPr>
        <p:spPr>
          <a:xfrm>
            <a:off x="6071642" y="4495750"/>
            <a:ext cx="73152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変わる枠</a:t>
            </a:r>
            <a:endParaRPr lang="en-US" sz="1200" dirty="0"/>
          </a:p>
        </p:txBody>
      </p:sp>
      <p:sp>
        <p:nvSpPr>
          <p:cNvPr id="22" name="Text 20"/>
          <p:cNvSpPr/>
          <p:nvPr/>
        </p:nvSpPr>
        <p:spPr>
          <a:xfrm>
            <a:off x="812800" y="4795441"/>
            <a:ext cx="777011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894"/>
                </a:solidFill>
                <a:latin typeface="Arial" pitchFamily="34" charset="0"/>
                <a:ea typeface="Arial" pitchFamily="34" charset="-122"/>
                <a:cs typeface="Arial" pitchFamily="34" charset="-120"/>
              </a:rPr>
              <a:t>枠がそろうように縦に積んで表示（ページでは1行に横並び）</a:t>
            </a:r>
            <a:endParaRPr lang="en-US" sz="1200" dirty="0"/>
          </a:p>
        </p:txBody>
      </p:sp>
      <p:sp>
        <p:nvSpPr>
          <p:cNvPr id="23" name="Text 21"/>
          <p:cNvSpPr/>
          <p:nvPr/>
        </p:nvSpPr>
        <p:spPr>
          <a:xfrm>
            <a:off x="8712200" y="2387550"/>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Arial" pitchFamily="34" charset="0"/>
                <a:ea typeface="Arial" pitchFamily="34" charset="-122"/>
                <a:cs typeface="Arial" pitchFamily="34" charset="-120"/>
              </a:rPr>
              <a:t>枠</a:t>
            </a:r>
            <a:endParaRPr lang="en-US" sz="1200" dirty="0"/>
          </a:p>
        </p:txBody>
      </p:sp>
      <p:sp>
        <p:nvSpPr>
          <p:cNvPr id="24" name="Text 22"/>
          <p:cNvSpPr/>
          <p:nvPr/>
        </p:nvSpPr>
        <p:spPr>
          <a:xfrm>
            <a:off x="9220200" y="2387550"/>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25" name="Text 23"/>
          <p:cNvSpPr/>
          <p:nvPr/>
        </p:nvSpPr>
        <p:spPr>
          <a:xfrm>
            <a:off x="9652000" y="2387550"/>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26" name="Text 24"/>
          <p:cNvSpPr/>
          <p:nvPr/>
        </p:nvSpPr>
        <p:spPr>
          <a:xfrm>
            <a:off x="10083800" y="2387550"/>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27" name="Text 25"/>
          <p:cNvSpPr/>
          <p:nvPr/>
        </p:nvSpPr>
        <p:spPr>
          <a:xfrm>
            <a:off x="10515600" y="2387550"/>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28" name="Text 26"/>
          <p:cNvSpPr/>
          <p:nvPr/>
        </p:nvSpPr>
        <p:spPr>
          <a:xfrm>
            <a:off x="10947400" y="2387550"/>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29" name="Text 27"/>
          <p:cNvSpPr/>
          <p:nvPr/>
        </p:nvSpPr>
        <p:spPr>
          <a:xfrm>
            <a:off x="8712200" y="2609255"/>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a:t>
            </a:r>
            <a:endParaRPr lang="en-US" sz="1200" dirty="0"/>
          </a:p>
        </p:txBody>
      </p:sp>
      <p:sp>
        <p:nvSpPr>
          <p:cNvPr id="30" name="Text 28"/>
          <p:cNvSpPr/>
          <p:nvPr/>
        </p:nvSpPr>
        <p:spPr>
          <a:xfrm>
            <a:off x="9220200" y="260925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98</a:t>
            </a:r>
            <a:endParaRPr lang="en-US" sz="1200" dirty="0"/>
          </a:p>
        </p:txBody>
      </p:sp>
      <p:sp>
        <p:nvSpPr>
          <p:cNvPr id="31" name="Text 29"/>
          <p:cNvSpPr/>
          <p:nvPr/>
        </p:nvSpPr>
        <p:spPr>
          <a:xfrm>
            <a:off x="9652000" y="260925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84</a:t>
            </a:r>
            <a:endParaRPr lang="en-US" sz="1200" dirty="0"/>
          </a:p>
        </p:txBody>
      </p:sp>
      <p:sp>
        <p:nvSpPr>
          <p:cNvPr id="32" name="Text 30"/>
          <p:cNvSpPr/>
          <p:nvPr/>
        </p:nvSpPr>
        <p:spPr>
          <a:xfrm>
            <a:off x="10083800" y="260925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66</a:t>
            </a:r>
            <a:endParaRPr lang="en-US" sz="1200" dirty="0"/>
          </a:p>
        </p:txBody>
      </p:sp>
      <p:sp>
        <p:nvSpPr>
          <p:cNvPr id="33" name="Text 31"/>
          <p:cNvSpPr/>
          <p:nvPr/>
        </p:nvSpPr>
        <p:spPr>
          <a:xfrm>
            <a:off x="10515600" y="260925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a:t>
            </a:r>
            <a:endParaRPr lang="en-US" sz="1200" dirty="0"/>
          </a:p>
        </p:txBody>
      </p:sp>
      <p:sp>
        <p:nvSpPr>
          <p:cNvPr id="34" name="Text 32"/>
          <p:cNvSpPr/>
          <p:nvPr/>
        </p:nvSpPr>
        <p:spPr>
          <a:xfrm>
            <a:off x="10947400" y="2609255"/>
            <a:ext cx="457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57</a:t>
            </a:r>
            <a:endParaRPr lang="en-US" sz="1200" dirty="0"/>
          </a:p>
        </p:txBody>
      </p:sp>
      <p:sp>
        <p:nvSpPr>
          <p:cNvPr id="35" name="Text 33"/>
          <p:cNvSpPr/>
          <p:nvPr/>
        </p:nvSpPr>
        <p:spPr>
          <a:xfrm>
            <a:off x="8712200" y="2830959"/>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36" name="Text 34"/>
          <p:cNvSpPr/>
          <p:nvPr/>
        </p:nvSpPr>
        <p:spPr>
          <a:xfrm>
            <a:off x="9245600" y="2830959"/>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37" name="Text 35"/>
          <p:cNvSpPr/>
          <p:nvPr/>
        </p:nvSpPr>
        <p:spPr>
          <a:xfrm>
            <a:off x="9677400" y="2830959"/>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38" name="Text 36"/>
          <p:cNvSpPr/>
          <p:nvPr/>
        </p:nvSpPr>
        <p:spPr>
          <a:xfrm>
            <a:off x="10109200" y="2830959"/>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39" name="Text 37"/>
          <p:cNvSpPr/>
          <p:nvPr/>
        </p:nvSpPr>
        <p:spPr>
          <a:xfrm>
            <a:off x="10541000" y="2830959"/>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L</a:t>
            </a:r>
            <a:endParaRPr lang="en-US" sz="1200" dirty="0"/>
          </a:p>
        </p:txBody>
      </p:sp>
      <p:sp>
        <p:nvSpPr>
          <p:cNvPr id="40" name="Text 38"/>
          <p:cNvSpPr/>
          <p:nvPr/>
        </p:nvSpPr>
        <p:spPr>
          <a:xfrm>
            <a:off x="10972800" y="2830959"/>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41" name="Text 39"/>
          <p:cNvSpPr/>
          <p:nvPr/>
        </p:nvSpPr>
        <p:spPr>
          <a:xfrm>
            <a:off x="8712200" y="3052663"/>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42" name="Text 40"/>
          <p:cNvSpPr/>
          <p:nvPr/>
        </p:nvSpPr>
        <p:spPr>
          <a:xfrm>
            <a:off x="9245600" y="3052663"/>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43" name="Text 41"/>
          <p:cNvSpPr/>
          <p:nvPr/>
        </p:nvSpPr>
        <p:spPr>
          <a:xfrm>
            <a:off x="9677400" y="3052663"/>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44" name="Text 42"/>
          <p:cNvSpPr/>
          <p:nvPr/>
        </p:nvSpPr>
        <p:spPr>
          <a:xfrm>
            <a:off x="10109200" y="3052663"/>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45" name="Text 43"/>
          <p:cNvSpPr/>
          <p:nvPr/>
        </p:nvSpPr>
        <p:spPr>
          <a:xfrm>
            <a:off x="10541000" y="3052663"/>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E</a:t>
            </a:r>
            <a:endParaRPr lang="en-US" sz="1200" dirty="0"/>
          </a:p>
        </p:txBody>
      </p:sp>
      <p:sp>
        <p:nvSpPr>
          <p:cNvPr id="46" name="Text 44"/>
          <p:cNvSpPr/>
          <p:nvPr/>
        </p:nvSpPr>
        <p:spPr>
          <a:xfrm>
            <a:off x="10972800" y="3052663"/>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47" name="Text 45"/>
          <p:cNvSpPr/>
          <p:nvPr/>
        </p:nvSpPr>
        <p:spPr>
          <a:xfrm>
            <a:off x="8712200" y="3274368"/>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48" name="Text 46"/>
          <p:cNvSpPr/>
          <p:nvPr/>
        </p:nvSpPr>
        <p:spPr>
          <a:xfrm>
            <a:off x="9245600" y="3274368"/>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49" name="Text 47"/>
          <p:cNvSpPr/>
          <p:nvPr/>
        </p:nvSpPr>
        <p:spPr>
          <a:xfrm>
            <a:off x="9677400" y="3274368"/>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50" name="Text 48"/>
          <p:cNvSpPr/>
          <p:nvPr/>
        </p:nvSpPr>
        <p:spPr>
          <a:xfrm>
            <a:off x="10109200" y="3274368"/>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51" name="Text 49"/>
          <p:cNvSpPr/>
          <p:nvPr/>
        </p:nvSpPr>
        <p:spPr>
          <a:xfrm>
            <a:off x="10541000" y="3274368"/>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4</a:t>
            </a:r>
            <a:endParaRPr lang="en-US" sz="1200" dirty="0"/>
          </a:p>
        </p:txBody>
      </p:sp>
      <p:sp>
        <p:nvSpPr>
          <p:cNvPr id="52" name="Text 50"/>
          <p:cNvSpPr/>
          <p:nvPr/>
        </p:nvSpPr>
        <p:spPr>
          <a:xfrm>
            <a:off x="10972800" y="3274368"/>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53" name="Text 51"/>
          <p:cNvSpPr/>
          <p:nvPr/>
        </p:nvSpPr>
        <p:spPr>
          <a:xfrm>
            <a:off x="8712200" y="3496072"/>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54" name="Text 52"/>
          <p:cNvSpPr/>
          <p:nvPr/>
        </p:nvSpPr>
        <p:spPr>
          <a:xfrm>
            <a:off x="9245600" y="3496072"/>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55" name="Text 53"/>
          <p:cNvSpPr/>
          <p:nvPr/>
        </p:nvSpPr>
        <p:spPr>
          <a:xfrm>
            <a:off x="9677400" y="3496072"/>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56" name="Text 54"/>
          <p:cNvSpPr/>
          <p:nvPr/>
        </p:nvSpPr>
        <p:spPr>
          <a:xfrm>
            <a:off x="10109200" y="3496072"/>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57" name="Text 55"/>
          <p:cNvSpPr/>
          <p:nvPr/>
        </p:nvSpPr>
        <p:spPr>
          <a:xfrm>
            <a:off x="10541000" y="3496072"/>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T</a:t>
            </a:r>
            <a:endParaRPr lang="en-US" sz="1200" dirty="0"/>
          </a:p>
        </p:txBody>
      </p:sp>
      <p:sp>
        <p:nvSpPr>
          <p:cNvPr id="58" name="Text 56"/>
          <p:cNvSpPr/>
          <p:nvPr/>
        </p:nvSpPr>
        <p:spPr>
          <a:xfrm>
            <a:off x="10972800" y="3496072"/>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59" name="Text 57"/>
          <p:cNvSpPr/>
          <p:nvPr/>
        </p:nvSpPr>
        <p:spPr>
          <a:xfrm>
            <a:off x="8712200" y="3717776"/>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60" name="Text 58"/>
          <p:cNvSpPr/>
          <p:nvPr/>
        </p:nvSpPr>
        <p:spPr>
          <a:xfrm>
            <a:off x="9245600" y="3717776"/>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61" name="Text 59"/>
          <p:cNvSpPr/>
          <p:nvPr/>
        </p:nvSpPr>
        <p:spPr>
          <a:xfrm>
            <a:off x="9677400" y="3717776"/>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62" name="Text 60"/>
          <p:cNvSpPr/>
          <p:nvPr/>
        </p:nvSpPr>
        <p:spPr>
          <a:xfrm>
            <a:off x="10109200" y="3717776"/>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63" name="Text 61"/>
          <p:cNvSpPr/>
          <p:nvPr/>
        </p:nvSpPr>
        <p:spPr>
          <a:xfrm>
            <a:off x="10541000" y="3717776"/>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G</a:t>
            </a:r>
            <a:endParaRPr lang="en-US" sz="1200" dirty="0"/>
          </a:p>
        </p:txBody>
      </p:sp>
      <p:sp>
        <p:nvSpPr>
          <p:cNvPr id="64" name="Text 62"/>
          <p:cNvSpPr/>
          <p:nvPr/>
        </p:nvSpPr>
        <p:spPr>
          <a:xfrm>
            <a:off x="10972800" y="3717776"/>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65" name="Text 63"/>
          <p:cNvSpPr/>
          <p:nvPr/>
        </p:nvSpPr>
        <p:spPr>
          <a:xfrm>
            <a:off x="8712200" y="3939480"/>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6</a:t>
            </a:r>
            <a:endParaRPr lang="en-US" sz="1200" dirty="0"/>
          </a:p>
        </p:txBody>
      </p:sp>
      <p:sp>
        <p:nvSpPr>
          <p:cNvPr id="66" name="Text 64"/>
          <p:cNvSpPr/>
          <p:nvPr/>
        </p:nvSpPr>
        <p:spPr>
          <a:xfrm>
            <a:off x="9245600" y="3939480"/>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67" name="Text 65"/>
          <p:cNvSpPr/>
          <p:nvPr/>
        </p:nvSpPr>
        <p:spPr>
          <a:xfrm>
            <a:off x="9677400" y="3939480"/>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68" name="Text 66"/>
          <p:cNvSpPr/>
          <p:nvPr/>
        </p:nvSpPr>
        <p:spPr>
          <a:xfrm>
            <a:off x="10109200" y="3939480"/>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69" name="Text 67"/>
          <p:cNvSpPr/>
          <p:nvPr/>
        </p:nvSpPr>
        <p:spPr>
          <a:xfrm>
            <a:off x="10541000" y="3939480"/>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N</a:t>
            </a:r>
            <a:endParaRPr lang="en-US" sz="1200" dirty="0"/>
          </a:p>
        </p:txBody>
      </p:sp>
      <p:sp>
        <p:nvSpPr>
          <p:cNvPr id="70" name="Text 68"/>
          <p:cNvSpPr/>
          <p:nvPr/>
        </p:nvSpPr>
        <p:spPr>
          <a:xfrm>
            <a:off x="10972800" y="3939480"/>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71" name="Text 69"/>
          <p:cNvSpPr/>
          <p:nvPr/>
        </p:nvSpPr>
        <p:spPr>
          <a:xfrm>
            <a:off x="8712200" y="4161185"/>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7</a:t>
            </a:r>
            <a:endParaRPr lang="en-US" sz="1200" dirty="0"/>
          </a:p>
        </p:txBody>
      </p:sp>
      <p:sp>
        <p:nvSpPr>
          <p:cNvPr id="72" name="Text 70"/>
          <p:cNvSpPr/>
          <p:nvPr/>
        </p:nvSpPr>
        <p:spPr>
          <a:xfrm>
            <a:off x="9245600" y="4161185"/>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73" name="Text 71"/>
          <p:cNvSpPr/>
          <p:nvPr/>
        </p:nvSpPr>
        <p:spPr>
          <a:xfrm>
            <a:off x="9677400" y="4161185"/>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74" name="Text 72"/>
          <p:cNvSpPr/>
          <p:nvPr/>
        </p:nvSpPr>
        <p:spPr>
          <a:xfrm>
            <a:off x="10109200" y="4161185"/>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75" name="Text 73"/>
          <p:cNvSpPr/>
          <p:nvPr/>
        </p:nvSpPr>
        <p:spPr>
          <a:xfrm>
            <a:off x="10541000" y="4161185"/>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C</a:t>
            </a:r>
            <a:endParaRPr lang="en-US" sz="1200" dirty="0"/>
          </a:p>
        </p:txBody>
      </p:sp>
      <p:sp>
        <p:nvSpPr>
          <p:cNvPr id="76" name="Text 74"/>
          <p:cNvSpPr/>
          <p:nvPr/>
        </p:nvSpPr>
        <p:spPr>
          <a:xfrm>
            <a:off x="10972800" y="4161185"/>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77" name="Text 75"/>
          <p:cNvSpPr/>
          <p:nvPr/>
        </p:nvSpPr>
        <p:spPr>
          <a:xfrm>
            <a:off x="8712200" y="4382889"/>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8</a:t>
            </a:r>
            <a:endParaRPr lang="en-US" sz="1200" dirty="0"/>
          </a:p>
        </p:txBody>
      </p:sp>
      <p:sp>
        <p:nvSpPr>
          <p:cNvPr id="78" name="Text 76"/>
          <p:cNvSpPr/>
          <p:nvPr/>
        </p:nvSpPr>
        <p:spPr>
          <a:xfrm>
            <a:off x="9245600" y="4382889"/>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79" name="Text 77"/>
          <p:cNvSpPr/>
          <p:nvPr/>
        </p:nvSpPr>
        <p:spPr>
          <a:xfrm>
            <a:off x="9677400" y="4382889"/>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80" name="Text 78"/>
          <p:cNvSpPr/>
          <p:nvPr/>
        </p:nvSpPr>
        <p:spPr>
          <a:xfrm>
            <a:off x="10109200" y="4382889"/>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81" name="Text 79"/>
          <p:cNvSpPr/>
          <p:nvPr/>
        </p:nvSpPr>
        <p:spPr>
          <a:xfrm>
            <a:off x="10541000" y="4382889"/>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J</a:t>
            </a:r>
            <a:endParaRPr lang="en-US" sz="1200" dirty="0"/>
          </a:p>
        </p:txBody>
      </p:sp>
      <p:sp>
        <p:nvSpPr>
          <p:cNvPr id="82" name="Text 80"/>
          <p:cNvSpPr/>
          <p:nvPr/>
        </p:nvSpPr>
        <p:spPr>
          <a:xfrm>
            <a:off x="10972800" y="4382889"/>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83" name="Text 81"/>
          <p:cNvSpPr/>
          <p:nvPr/>
        </p:nvSpPr>
        <p:spPr>
          <a:xfrm>
            <a:off x="8712200" y="4604593"/>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84" name="Text 82"/>
          <p:cNvSpPr/>
          <p:nvPr/>
        </p:nvSpPr>
        <p:spPr>
          <a:xfrm>
            <a:off x="9245600" y="4604593"/>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85" name="Text 83"/>
          <p:cNvSpPr/>
          <p:nvPr/>
        </p:nvSpPr>
        <p:spPr>
          <a:xfrm>
            <a:off x="9677400" y="4604593"/>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86" name="Text 84"/>
          <p:cNvSpPr/>
          <p:nvPr/>
        </p:nvSpPr>
        <p:spPr>
          <a:xfrm>
            <a:off x="10109200" y="4604593"/>
            <a:ext cx="406400" cy="202654"/>
          </a:xfrm>
          <a:prstGeom prst="rect">
            <a:avLst/>
          </a:prstGeom>
          <a:solidFill>
            <a:srgbClr val="7A6320"/>
          </a:solidFill>
          <a:ln/>
        </p:spPr>
        <p:txBody>
          <a:bodyPr wrap="square" lIns="0" tIns="0" rIns="0" bIns="0" rtlCol="0" anchor="t">
            <a:normAutofit/>
          </a:bodyPr>
          <a:lstStyle/>
          <a:p>
            <a:pPr algn="ctr" indent="0" marL="0">
              <a:lnSpc>
                <a:spcPts val="1596"/>
              </a:lnSpc>
              <a:buNone/>
            </a:pPr>
            <a:r>
              <a:rPr lang="en-US" sz="1200" dirty="0">
                <a:solidFill>
                  <a:srgbClr val="E6EDF3"/>
                </a:solidFill>
                <a:latin typeface="Courier New" pitchFamily="49" charset="0"/>
                <a:ea typeface="Courier New" pitchFamily="49" charset="-122"/>
                <a:cs typeface="Courier New" pitchFamily="49" charset="-120"/>
              </a:rPr>
              <a:t>H</a:t>
            </a:r>
            <a:endParaRPr lang="en-US" sz="1200" dirty="0"/>
          </a:p>
        </p:txBody>
      </p:sp>
      <p:sp>
        <p:nvSpPr>
          <p:cNvPr id="87" name="Text 85"/>
          <p:cNvSpPr/>
          <p:nvPr/>
        </p:nvSpPr>
        <p:spPr>
          <a:xfrm>
            <a:off x="10541000" y="4604593"/>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F</a:t>
            </a:r>
            <a:endParaRPr lang="en-US" sz="1200" dirty="0"/>
          </a:p>
        </p:txBody>
      </p:sp>
      <p:sp>
        <p:nvSpPr>
          <p:cNvPr id="88" name="Text 86"/>
          <p:cNvSpPr/>
          <p:nvPr/>
        </p:nvSpPr>
        <p:spPr>
          <a:xfrm>
            <a:off x="10972800" y="4604593"/>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89" name="Text 87"/>
          <p:cNvSpPr/>
          <p:nvPr/>
        </p:nvSpPr>
        <p:spPr>
          <a:xfrm>
            <a:off x="8712200" y="4826298"/>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90" name="Text 88"/>
          <p:cNvSpPr/>
          <p:nvPr/>
        </p:nvSpPr>
        <p:spPr>
          <a:xfrm>
            <a:off x="9245600" y="4826298"/>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91" name="Text 89"/>
          <p:cNvSpPr/>
          <p:nvPr/>
        </p:nvSpPr>
        <p:spPr>
          <a:xfrm>
            <a:off x="9677400" y="4826298"/>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92" name="Text 90"/>
          <p:cNvSpPr/>
          <p:nvPr/>
        </p:nvSpPr>
        <p:spPr>
          <a:xfrm>
            <a:off x="10109200" y="4826298"/>
            <a:ext cx="406400" cy="202654"/>
          </a:xfrm>
          <a:prstGeom prst="rect">
            <a:avLst/>
          </a:prstGeom>
          <a:solidFill>
            <a:srgbClr val="7A6320"/>
          </a:solidFill>
          <a:ln/>
        </p:spPr>
        <p:txBody>
          <a:bodyPr wrap="square" lIns="0" tIns="0" rIns="0" bIns="0" rtlCol="0" anchor="t">
            <a:normAutofit/>
          </a:bodyPr>
          <a:lstStyle/>
          <a:p>
            <a:pPr algn="ctr" indent="0" marL="0">
              <a:lnSpc>
                <a:spcPts val="1596"/>
              </a:lnSpc>
              <a:buNone/>
            </a:pPr>
            <a:r>
              <a:rPr lang="en-US" sz="1200" dirty="0">
                <a:solidFill>
                  <a:srgbClr val="E6EDF3"/>
                </a:solidFill>
                <a:latin typeface="Courier New" pitchFamily="49" charset="0"/>
                <a:ea typeface="Courier New" pitchFamily="49" charset="-122"/>
                <a:cs typeface="Courier New" pitchFamily="49" charset="-120"/>
              </a:rPr>
              <a:t>E</a:t>
            </a:r>
            <a:endParaRPr lang="en-US" sz="1200" dirty="0"/>
          </a:p>
        </p:txBody>
      </p:sp>
      <p:sp>
        <p:nvSpPr>
          <p:cNvPr id="93" name="Text 91"/>
          <p:cNvSpPr/>
          <p:nvPr/>
        </p:nvSpPr>
        <p:spPr>
          <a:xfrm>
            <a:off x="10541000" y="4826298"/>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4</a:t>
            </a:r>
            <a:endParaRPr lang="en-US" sz="1200" dirty="0"/>
          </a:p>
        </p:txBody>
      </p:sp>
      <p:sp>
        <p:nvSpPr>
          <p:cNvPr id="94" name="Text 92"/>
          <p:cNvSpPr/>
          <p:nvPr/>
        </p:nvSpPr>
        <p:spPr>
          <a:xfrm>
            <a:off x="10972800" y="4826298"/>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95" name="Text 93"/>
          <p:cNvSpPr/>
          <p:nvPr/>
        </p:nvSpPr>
        <p:spPr>
          <a:xfrm>
            <a:off x="8712200" y="5048002"/>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96" name="Text 94"/>
          <p:cNvSpPr/>
          <p:nvPr/>
        </p:nvSpPr>
        <p:spPr>
          <a:xfrm>
            <a:off x="9245600" y="5048002"/>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97" name="Text 95"/>
          <p:cNvSpPr/>
          <p:nvPr/>
        </p:nvSpPr>
        <p:spPr>
          <a:xfrm>
            <a:off x="9677400" y="5048002"/>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98" name="Text 96"/>
          <p:cNvSpPr/>
          <p:nvPr/>
        </p:nvSpPr>
        <p:spPr>
          <a:xfrm>
            <a:off x="10109200" y="5048002"/>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99" name="Text 97"/>
          <p:cNvSpPr/>
          <p:nvPr/>
        </p:nvSpPr>
        <p:spPr>
          <a:xfrm>
            <a:off x="10541000" y="5048002"/>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Y</a:t>
            </a:r>
            <a:endParaRPr lang="en-US" sz="1200" dirty="0"/>
          </a:p>
        </p:txBody>
      </p:sp>
      <p:sp>
        <p:nvSpPr>
          <p:cNvPr id="100" name="Text 98"/>
          <p:cNvSpPr/>
          <p:nvPr/>
        </p:nvSpPr>
        <p:spPr>
          <a:xfrm>
            <a:off x="10972800" y="5048002"/>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101" name="Text 99"/>
          <p:cNvSpPr/>
          <p:nvPr/>
        </p:nvSpPr>
        <p:spPr>
          <a:xfrm>
            <a:off x="8712200" y="5269706"/>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102" name="Text 100"/>
          <p:cNvSpPr/>
          <p:nvPr/>
        </p:nvSpPr>
        <p:spPr>
          <a:xfrm>
            <a:off x="9245600" y="5269706"/>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103" name="Text 101"/>
          <p:cNvSpPr/>
          <p:nvPr/>
        </p:nvSpPr>
        <p:spPr>
          <a:xfrm>
            <a:off x="9677400" y="5269706"/>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104" name="Text 102"/>
          <p:cNvSpPr/>
          <p:nvPr/>
        </p:nvSpPr>
        <p:spPr>
          <a:xfrm>
            <a:off x="10109200" y="5269706"/>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105" name="Text 103"/>
          <p:cNvSpPr/>
          <p:nvPr/>
        </p:nvSpPr>
        <p:spPr>
          <a:xfrm>
            <a:off x="10541000" y="5269706"/>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M</a:t>
            </a:r>
            <a:endParaRPr lang="en-US" sz="1200" dirty="0"/>
          </a:p>
        </p:txBody>
      </p:sp>
      <p:sp>
        <p:nvSpPr>
          <p:cNvPr id="106" name="Text 104"/>
          <p:cNvSpPr/>
          <p:nvPr/>
        </p:nvSpPr>
        <p:spPr>
          <a:xfrm>
            <a:off x="10972800" y="5269706"/>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D</a:t>
            </a:r>
            <a:endParaRPr lang="en-US" sz="1200" dirty="0"/>
          </a:p>
        </p:txBody>
      </p:sp>
      <p:sp>
        <p:nvSpPr>
          <p:cNvPr id="107" name="Text 105"/>
          <p:cNvSpPr/>
          <p:nvPr/>
        </p:nvSpPr>
        <p:spPr>
          <a:xfrm>
            <a:off x="8712200" y="5491411"/>
            <a:ext cx="5080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13</a:t>
            </a:r>
            <a:endParaRPr lang="en-US" sz="1200" dirty="0"/>
          </a:p>
        </p:txBody>
      </p:sp>
      <p:sp>
        <p:nvSpPr>
          <p:cNvPr id="108" name="Text 106"/>
          <p:cNvSpPr/>
          <p:nvPr/>
        </p:nvSpPr>
        <p:spPr>
          <a:xfrm>
            <a:off x="9245600" y="5491411"/>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109" name="Text 107"/>
          <p:cNvSpPr/>
          <p:nvPr/>
        </p:nvSpPr>
        <p:spPr>
          <a:xfrm>
            <a:off x="9677400" y="5491411"/>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R</a:t>
            </a:r>
            <a:endParaRPr lang="en-US" sz="1200" dirty="0"/>
          </a:p>
        </p:txBody>
      </p:sp>
      <p:sp>
        <p:nvSpPr>
          <p:cNvPr id="110" name="Text 108"/>
          <p:cNvSpPr/>
          <p:nvPr/>
        </p:nvSpPr>
        <p:spPr>
          <a:xfrm>
            <a:off x="10109200" y="5491411"/>
            <a:ext cx="406400" cy="202654"/>
          </a:xfrm>
          <a:prstGeom prst="rect">
            <a:avLst/>
          </a:prstGeom>
          <a:solidFill>
            <a:srgbClr val="FFCC00"/>
          </a:solidFill>
          <a:ln/>
        </p:spPr>
        <p:txBody>
          <a:bodyPr wrap="square" lIns="0" tIns="0" rIns="0" bIns="0" rtlCol="0" anchor="t">
            <a:normAutofit/>
          </a:bodyPr>
          <a:lstStyle/>
          <a:p>
            <a:pPr algn="ctr" indent="0" marL="0">
              <a:lnSpc>
                <a:spcPts val="1596"/>
              </a:lnSpc>
              <a:buNone/>
            </a:pPr>
            <a:r>
              <a:rPr lang="en-US" sz="1200" b="1" dirty="0">
                <a:solidFill>
                  <a:srgbClr val="14110A"/>
                </a:solidFill>
                <a:latin typeface="Courier New" pitchFamily="49" charset="0"/>
                <a:ea typeface="Courier New" pitchFamily="49" charset="-122"/>
                <a:cs typeface="Courier New" pitchFamily="49" charset="-120"/>
              </a:rPr>
              <a:t>O</a:t>
            </a:r>
            <a:endParaRPr lang="en-US" sz="1200" dirty="0"/>
          </a:p>
        </p:txBody>
      </p:sp>
      <p:sp>
        <p:nvSpPr>
          <p:cNvPr id="111" name="Text 109"/>
          <p:cNvSpPr/>
          <p:nvPr/>
        </p:nvSpPr>
        <p:spPr>
          <a:xfrm>
            <a:off x="10541000" y="5491411"/>
            <a:ext cx="406400" cy="202654"/>
          </a:xfrm>
          <a:prstGeom prst="rect">
            <a:avLst/>
          </a:prstGeom>
          <a:solidFill>
            <a:srgbClr val="232B33"/>
          </a:solidFill>
          <a:ln/>
        </p:spPr>
        <p:txBody>
          <a:bodyPr wrap="square" lIns="0" tIns="0" rIns="0" bIns="0" rtlCol="0" anchor="t">
            <a:normAutofit/>
          </a:bodyPr>
          <a:lstStyle/>
          <a:p>
            <a:pPr algn="ctr" indent="0" marL="0">
              <a:lnSpc>
                <a:spcPts val="1596"/>
              </a:lnSpc>
              <a:buNone/>
            </a:pPr>
            <a:r>
              <a:rPr lang="en-US" sz="1200" dirty="0">
                <a:solidFill>
                  <a:srgbClr val="C9D1D9"/>
                </a:solidFill>
                <a:latin typeface="Courier New" pitchFamily="49" charset="0"/>
                <a:ea typeface="Courier New" pitchFamily="49" charset="-122"/>
                <a:cs typeface="Courier New" pitchFamily="49" charset="-120"/>
              </a:rPr>
              <a:t>O</a:t>
            </a:r>
            <a:endParaRPr lang="en-US" sz="1200" dirty="0"/>
          </a:p>
        </p:txBody>
      </p:sp>
      <p:sp>
        <p:nvSpPr>
          <p:cNvPr id="112" name="Text 110"/>
          <p:cNvSpPr/>
          <p:nvPr/>
        </p:nvSpPr>
        <p:spPr>
          <a:xfrm>
            <a:off x="10972800" y="5491411"/>
            <a:ext cx="406400" cy="202654"/>
          </a:xfrm>
          <a:prstGeom prst="rect">
            <a:avLst/>
          </a:prstGeom>
          <a:solidFill>
            <a:srgbClr val="7A6320"/>
          </a:solidFill>
          <a:ln/>
        </p:spPr>
        <p:txBody>
          <a:bodyPr wrap="square" lIns="0" tIns="0" rIns="0" bIns="0" rtlCol="0" anchor="t">
            <a:normAutofit/>
          </a:bodyPr>
          <a:lstStyle/>
          <a:p>
            <a:pPr algn="ctr" indent="0" marL="0">
              <a:lnSpc>
                <a:spcPts val="1596"/>
              </a:lnSpc>
              <a:buNone/>
            </a:pPr>
            <a:r>
              <a:rPr lang="en-US" sz="1200" dirty="0">
                <a:solidFill>
                  <a:srgbClr val="E6EDF3"/>
                </a:solidFill>
                <a:latin typeface="Courier New" pitchFamily="49" charset="0"/>
                <a:ea typeface="Courier New" pitchFamily="49" charset="-122"/>
                <a:cs typeface="Courier New" pitchFamily="49" charset="-120"/>
              </a:rPr>
              <a:t>G</a:t>
            </a:r>
            <a:endParaRPr lang="en-US" sz="1200" dirty="0"/>
          </a:p>
        </p:txBody>
      </p:sp>
      <p:sp>
        <p:nvSpPr>
          <p:cNvPr id="113" name="Text 1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14" name="Text 112"/>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G2・G3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G3の長いブロック</a:t>
            </a:r>
            <a:endParaRPr lang="en-US" sz="3600" dirty="0"/>
          </a:p>
        </p:txBody>
      </p:sp>
      <p:sp>
        <p:nvSpPr>
          <p:cNvPr id="4" name="Shape 2"/>
          <p:cNvSpPr/>
          <p:nvPr/>
        </p:nvSpPr>
        <p:spPr>
          <a:xfrm>
            <a:off x="812800" y="1984325"/>
            <a:ext cx="3276600" cy="0"/>
          </a:xfrm>
          <a:prstGeom prst="line">
            <a:avLst/>
          </a:prstGeom>
          <a:noFill/>
          <a:ln w="6350">
            <a:solidFill>
              <a:srgbClr val="222A35"/>
            </a:solidFill>
            <a:prstDash val="solid"/>
          </a:ln>
        </p:spPr>
      </p:sp>
      <p:sp>
        <p:nvSpPr>
          <p:cNvPr id="5" name="Text 3"/>
          <p:cNvSpPr/>
          <p:nvPr/>
        </p:nvSpPr>
        <p:spPr>
          <a:xfrm>
            <a:off x="812800" y="2063700"/>
            <a:ext cx="337489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14文字：</a:t>
            </a:r>
            <a:r>
              <a:rPr lang="en-US" sz="1600" dirty="0">
                <a:solidFill>
                  <a:srgbClr val="E6EDF3"/>
                </a:solidFill>
                <a:latin typeface="Arial" pitchFamily="34" charset="0"/>
                <a:ea typeface="Arial" pitchFamily="34" charset="-122"/>
                <a:cs typeface="Arial" pitchFamily="34" charset="-120"/>
              </a:rPr>
              <a:t>30件、初出241003</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すべて切り替わり以降</a:t>
            </a:r>
            <a:endParaRPr lang="en-US" sz="1600" dirty="0"/>
          </a:p>
        </p:txBody>
      </p:sp>
      <p:sp>
        <p:nvSpPr>
          <p:cNvPr id="6" name="Shape 4"/>
          <p:cNvSpPr/>
          <p:nvPr/>
        </p:nvSpPr>
        <p:spPr>
          <a:xfrm>
            <a:off x="812800" y="2752675"/>
            <a:ext cx="3276600" cy="0"/>
          </a:xfrm>
          <a:prstGeom prst="line">
            <a:avLst/>
          </a:prstGeom>
          <a:noFill/>
          <a:ln w="6350">
            <a:solidFill>
              <a:srgbClr val="222A35"/>
            </a:solidFill>
            <a:prstDash val="solid"/>
          </a:ln>
        </p:spPr>
      </p:sp>
      <p:sp>
        <p:nvSpPr>
          <p:cNvPr id="7" name="Text 5"/>
          <p:cNvSpPr/>
          <p:nvPr/>
        </p:nvSpPr>
        <p:spPr>
          <a:xfrm>
            <a:off x="812800" y="2832050"/>
            <a:ext cx="3374898"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切り替わり以降のG3の</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45文字20件と48文字7件すべて</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48文字は3文字ずらした45文字</a:t>
            </a:r>
            <a:endParaRPr lang="en-US" sz="1600" dirty="0"/>
          </a:p>
        </p:txBody>
      </p:sp>
      <p:sp>
        <p:nvSpPr>
          <p:cNvPr id="8" name="Text 6"/>
          <p:cNvSpPr/>
          <p:nvPr/>
        </p:nvSpPr>
        <p:spPr>
          <a:xfrm>
            <a:off x="4394200" y="1981150"/>
            <a:ext cx="164326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CC00"/>
                </a:solidFill>
                <a:latin typeface="Arial" pitchFamily="34" charset="0"/>
                <a:ea typeface="Arial" pitchFamily="34" charset="-122"/>
                <a:cs typeface="Arial" pitchFamily="34" charset="-120"/>
              </a:rPr>
              <a:t>VQ-45 · 260923（水）</a:t>
            </a:r>
            <a:endParaRPr lang="en-US" sz="1200" dirty="0"/>
          </a:p>
        </p:txBody>
      </p:sp>
      <p:sp>
        <p:nvSpPr>
          <p:cNvPr id="9" name="Text 7"/>
          <p:cNvSpPr/>
          <p:nvPr/>
        </p:nvSpPr>
        <p:spPr>
          <a:xfrm>
            <a:off x="6037461" y="1981150"/>
            <a:ext cx="284510"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VQ</a:t>
            </a:r>
            <a:endParaRPr lang="en-US" sz="1200" dirty="0"/>
          </a:p>
        </p:txBody>
      </p:sp>
      <p:sp>
        <p:nvSpPr>
          <p:cNvPr id="10" name="Text 8"/>
          <p:cNvSpPr/>
          <p:nvPr/>
        </p:nvSpPr>
        <p:spPr>
          <a:xfrm>
            <a:off x="6372771" y="1981150"/>
            <a:ext cx="1381968"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TMAKX46542NQ6U</a:t>
            </a:r>
            <a:endParaRPr lang="en-US" sz="1200" dirty="0"/>
          </a:p>
        </p:txBody>
      </p:sp>
      <p:sp>
        <p:nvSpPr>
          <p:cNvPr id="11" name="Text 9"/>
          <p:cNvSpPr/>
          <p:nvPr/>
        </p:nvSpPr>
        <p:spPr>
          <a:xfrm>
            <a:off x="7805539" y="1981150"/>
            <a:ext cx="1422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a:t>
            </a:r>
            <a:endParaRPr lang="en-US" sz="1200" dirty="0"/>
          </a:p>
        </p:txBody>
      </p:sp>
      <p:sp>
        <p:nvSpPr>
          <p:cNvPr id="12" name="Text 10"/>
          <p:cNvSpPr/>
          <p:nvPr/>
        </p:nvSpPr>
        <p:spPr>
          <a:xfrm>
            <a:off x="7947819" y="1981150"/>
            <a:ext cx="193080"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Y</a:t>
            </a:r>
            <a:endParaRPr lang="en-US" sz="1200" dirty="0"/>
          </a:p>
        </p:txBody>
      </p:sp>
      <p:sp>
        <p:nvSpPr>
          <p:cNvPr id="13" name="Text 11"/>
          <p:cNvSpPr/>
          <p:nvPr/>
        </p:nvSpPr>
        <p:spPr>
          <a:xfrm>
            <a:off x="43688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100</a:t>
            </a:r>
            <a:endParaRPr lang="en-US" sz="1200" dirty="0"/>
          </a:p>
        </p:txBody>
      </p:sp>
      <p:sp>
        <p:nvSpPr>
          <p:cNvPr id="14" name="Text 12"/>
          <p:cNvSpPr/>
          <p:nvPr/>
        </p:nvSpPr>
        <p:spPr>
          <a:xfrm>
            <a:off x="46736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100</a:t>
            </a:r>
            <a:endParaRPr lang="en-US" sz="1200" dirty="0"/>
          </a:p>
        </p:txBody>
      </p:sp>
      <p:sp>
        <p:nvSpPr>
          <p:cNvPr id="15" name="Text 13"/>
          <p:cNvSpPr/>
          <p:nvPr/>
        </p:nvSpPr>
        <p:spPr>
          <a:xfrm>
            <a:off x="49784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63</a:t>
            </a:r>
            <a:endParaRPr lang="en-US" sz="1200" dirty="0"/>
          </a:p>
        </p:txBody>
      </p:sp>
      <p:sp>
        <p:nvSpPr>
          <p:cNvPr id="16" name="Text 14"/>
          <p:cNvSpPr/>
          <p:nvPr/>
        </p:nvSpPr>
        <p:spPr>
          <a:xfrm>
            <a:off x="52832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17" name="Text 15"/>
          <p:cNvSpPr/>
          <p:nvPr/>
        </p:nvSpPr>
        <p:spPr>
          <a:xfrm>
            <a:off x="55880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97</a:t>
            </a:r>
            <a:endParaRPr lang="en-US" sz="1200" dirty="0"/>
          </a:p>
        </p:txBody>
      </p:sp>
      <p:sp>
        <p:nvSpPr>
          <p:cNvPr id="18" name="Text 16"/>
          <p:cNvSpPr/>
          <p:nvPr/>
        </p:nvSpPr>
        <p:spPr>
          <a:xfrm>
            <a:off x="58928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100</a:t>
            </a:r>
            <a:endParaRPr lang="en-US" sz="1200" dirty="0"/>
          </a:p>
        </p:txBody>
      </p:sp>
      <p:sp>
        <p:nvSpPr>
          <p:cNvPr id="19" name="Text 17"/>
          <p:cNvSpPr/>
          <p:nvPr/>
        </p:nvSpPr>
        <p:spPr>
          <a:xfrm>
            <a:off x="61976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100</a:t>
            </a:r>
            <a:endParaRPr lang="en-US" sz="1200" dirty="0"/>
          </a:p>
        </p:txBody>
      </p:sp>
      <p:sp>
        <p:nvSpPr>
          <p:cNvPr id="20" name="Text 18"/>
          <p:cNvSpPr/>
          <p:nvPr/>
        </p:nvSpPr>
        <p:spPr>
          <a:xfrm>
            <a:off x="65024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63</a:t>
            </a:r>
            <a:endParaRPr lang="en-US" sz="1200" dirty="0"/>
          </a:p>
        </p:txBody>
      </p:sp>
      <p:sp>
        <p:nvSpPr>
          <p:cNvPr id="21" name="Text 19"/>
          <p:cNvSpPr/>
          <p:nvPr/>
        </p:nvSpPr>
        <p:spPr>
          <a:xfrm>
            <a:off x="68072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22" name="Text 20"/>
          <p:cNvSpPr/>
          <p:nvPr/>
        </p:nvSpPr>
        <p:spPr>
          <a:xfrm>
            <a:off x="71120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40</a:t>
            </a:r>
            <a:endParaRPr lang="en-US" sz="1200" dirty="0"/>
          </a:p>
        </p:txBody>
      </p:sp>
      <p:sp>
        <p:nvSpPr>
          <p:cNvPr id="23" name="Text 21"/>
          <p:cNvSpPr/>
          <p:nvPr/>
        </p:nvSpPr>
        <p:spPr>
          <a:xfrm>
            <a:off x="74168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97</a:t>
            </a:r>
            <a:endParaRPr lang="en-US" sz="1200" dirty="0"/>
          </a:p>
        </p:txBody>
      </p:sp>
      <p:sp>
        <p:nvSpPr>
          <p:cNvPr id="24" name="Text 22"/>
          <p:cNvSpPr/>
          <p:nvPr/>
        </p:nvSpPr>
        <p:spPr>
          <a:xfrm>
            <a:off x="77216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25" name="Text 23"/>
          <p:cNvSpPr/>
          <p:nvPr/>
        </p:nvSpPr>
        <p:spPr>
          <a:xfrm>
            <a:off x="80264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30</a:t>
            </a:r>
            <a:endParaRPr lang="en-US" sz="1200" dirty="0"/>
          </a:p>
        </p:txBody>
      </p:sp>
      <p:sp>
        <p:nvSpPr>
          <p:cNvPr id="26" name="Text 24"/>
          <p:cNvSpPr/>
          <p:nvPr/>
        </p:nvSpPr>
        <p:spPr>
          <a:xfrm>
            <a:off x="8331200" y="2235150"/>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4394200" y="2463205"/>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P</a:t>
            </a:r>
            <a:endParaRPr lang="en-US" sz="1600" dirty="0"/>
          </a:p>
        </p:txBody>
      </p:sp>
      <p:sp>
        <p:nvSpPr>
          <p:cNvPr id="28" name="Text 26"/>
          <p:cNvSpPr/>
          <p:nvPr/>
        </p:nvSpPr>
        <p:spPr>
          <a:xfrm>
            <a:off x="4699000" y="2463205"/>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29" name="Text 27"/>
          <p:cNvSpPr/>
          <p:nvPr/>
        </p:nvSpPr>
        <p:spPr>
          <a:xfrm>
            <a:off x="5003800" y="2463205"/>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30" name="Text 28"/>
          <p:cNvSpPr/>
          <p:nvPr/>
        </p:nvSpPr>
        <p:spPr>
          <a:xfrm>
            <a:off x="5308600" y="2463205"/>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V</a:t>
            </a:r>
            <a:endParaRPr lang="en-US" sz="1600" dirty="0"/>
          </a:p>
        </p:txBody>
      </p:sp>
      <p:sp>
        <p:nvSpPr>
          <p:cNvPr id="31" name="Text 29"/>
          <p:cNvSpPr/>
          <p:nvPr/>
        </p:nvSpPr>
        <p:spPr>
          <a:xfrm>
            <a:off x="5613400" y="2463205"/>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J</a:t>
            </a:r>
            <a:endParaRPr lang="en-US" sz="1600" dirty="0"/>
          </a:p>
        </p:txBody>
      </p:sp>
      <p:sp>
        <p:nvSpPr>
          <p:cNvPr id="32" name="Text 30"/>
          <p:cNvSpPr/>
          <p:nvPr/>
        </p:nvSpPr>
        <p:spPr>
          <a:xfrm>
            <a:off x="5918200" y="2463205"/>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T</a:t>
            </a:r>
            <a:endParaRPr lang="en-US" sz="1600" dirty="0"/>
          </a:p>
        </p:txBody>
      </p:sp>
      <p:sp>
        <p:nvSpPr>
          <p:cNvPr id="33" name="Text 31"/>
          <p:cNvSpPr/>
          <p:nvPr/>
        </p:nvSpPr>
        <p:spPr>
          <a:xfrm>
            <a:off x="6223000" y="2463205"/>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P</a:t>
            </a:r>
            <a:endParaRPr lang="en-US" sz="1600" dirty="0"/>
          </a:p>
        </p:txBody>
      </p:sp>
      <p:sp>
        <p:nvSpPr>
          <p:cNvPr id="34" name="Text 32"/>
          <p:cNvSpPr/>
          <p:nvPr/>
        </p:nvSpPr>
        <p:spPr>
          <a:xfrm>
            <a:off x="6527800" y="2463205"/>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Z</a:t>
            </a:r>
            <a:endParaRPr lang="en-US" sz="1600" dirty="0"/>
          </a:p>
        </p:txBody>
      </p:sp>
      <p:sp>
        <p:nvSpPr>
          <p:cNvPr id="35" name="Text 33"/>
          <p:cNvSpPr/>
          <p:nvPr/>
        </p:nvSpPr>
        <p:spPr>
          <a:xfrm>
            <a:off x="6832600" y="2463205"/>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L</a:t>
            </a:r>
            <a:endParaRPr lang="en-US" sz="1600" dirty="0"/>
          </a:p>
        </p:txBody>
      </p:sp>
      <p:sp>
        <p:nvSpPr>
          <p:cNvPr id="36" name="Text 34"/>
          <p:cNvSpPr/>
          <p:nvPr/>
        </p:nvSpPr>
        <p:spPr>
          <a:xfrm>
            <a:off x="7137400" y="2463205"/>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5</a:t>
            </a:r>
            <a:endParaRPr lang="en-US" sz="1600" dirty="0"/>
          </a:p>
        </p:txBody>
      </p:sp>
      <p:sp>
        <p:nvSpPr>
          <p:cNvPr id="37" name="Text 35"/>
          <p:cNvSpPr/>
          <p:nvPr/>
        </p:nvSpPr>
        <p:spPr>
          <a:xfrm>
            <a:off x="7442200" y="2463205"/>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F</a:t>
            </a:r>
            <a:endParaRPr lang="en-US" sz="1600" dirty="0"/>
          </a:p>
        </p:txBody>
      </p:sp>
      <p:sp>
        <p:nvSpPr>
          <p:cNvPr id="38" name="Text 36"/>
          <p:cNvSpPr/>
          <p:nvPr/>
        </p:nvSpPr>
        <p:spPr>
          <a:xfrm>
            <a:off x="7747000" y="2463205"/>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P</a:t>
            </a:r>
            <a:endParaRPr lang="en-US" sz="1600" dirty="0"/>
          </a:p>
        </p:txBody>
      </p:sp>
      <p:sp>
        <p:nvSpPr>
          <p:cNvPr id="39" name="Text 37"/>
          <p:cNvSpPr/>
          <p:nvPr/>
        </p:nvSpPr>
        <p:spPr>
          <a:xfrm>
            <a:off x="8051800" y="2463205"/>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A</a:t>
            </a:r>
            <a:endParaRPr lang="en-US" sz="1600" dirty="0"/>
          </a:p>
        </p:txBody>
      </p:sp>
      <p:sp>
        <p:nvSpPr>
          <p:cNvPr id="40" name="Text 38"/>
          <p:cNvSpPr/>
          <p:nvPr/>
        </p:nvSpPr>
        <p:spPr>
          <a:xfrm>
            <a:off x="8356600" y="2463205"/>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U</a:t>
            </a:r>
            <a:endParaRPr lang="en-US" sz="1600" dirty="0"/>
          </a:p>
        </p:txBody>
      </p:sp>
      <p:sp>
        <p:nvSpPr>
          <p:cNvPr id="41" name="Text 39"/>
          <p:cNvSpPr/>
          <p:nvPr/>
        </p:nvSpPr>
        <p:spPr>
          <a:xfrm>
            <a:off x="4394200" y="2768997"/>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P</a:t>
            </a:r>
            <a:endParaRPr lang="en-US" sz="1600" dirty="0"/>
          </a:p>
        </p:txBody>
      </p:sp>
      <p:sp>
        <p:nvSpPr>
          <p:cNvPr id="42" name="Text 40"/>
          <p:cNvSpPr/>
          <p:nvPr/>
        </p:nvSpPr>
        <p:spPr>
          <a:xfrm>
            <a:off x="4699000" y="2768997"/>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43" name="Text 41"/>
          <p:cNvSpPr/>
          <p:nvPr/>
        </p:nvSpPr>
        <p:spPr>
          <a:xfrm>
            <a:off x="5003800" y="2768997"/>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44" name="Text 42"/>
          <p:cNvSpPr/>
          <p:nvPr/>
        </p:nvSpPr>
        <p:spPr>
          <a:xfrm>
            <a:off x="5308600" y="2768997"/>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I</a:t>
            </a:r>
            <a:endParaRPr lang="en-US" sz="1600" dirty="0"/>
          </a:p>
        </p:txBody>
      </p:sp>
      <p:sp>
        <p:nvSpPr>
          <p:cNvPr id="45" name="Text 43"/>
          <p:cNvSpPr/>
          <p:nvPr/>
        </p:nvSpPr>
        <p:spPr>
          <a:xfrm>
            <a:off x="5613400" y="2768997"/>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J</a:t>
            </a:r>
            <a:endParaRPr lang="en-US" sz="1600" dirty="0"/>
          </a:p>
        </p:txBody>
      </p:sp>
      <p:sp>
        <p:nvSpPr>
          <p:cNvPr id="46" name="Text 44"/>
          <p:cNvSpPr/>
          <p:nvPr/>
        </p:nvSpPr>
        <p:spPr>
          <a:xfrm>
            <a:off x="5918200" y="2768997"/>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T</a:t>
            </a:r>
            <a:endParaRPr lang="en-US" sz="1600" dirty="0"/>
          </a:p>
        </p:txBody>
      </p:sp>
      <p:sp>
        <p:nvSpPr>
          <p:cNvPr id="47" name="Text 45"/>
          <p:cNvSpPr/>
          <p:nvPr/>
        </p:nvSpPr>
        <p:spPr>
          <a:xfrm>
            <a:off x="6223000" y="2768997"/>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P</a:t>
            </a:r>
            <a:endParaRPr lang="en-US" sz="1600" dirty="0"/>
          </a:p>
        </p:txBody>
      </p:sp>
      <p:sp>
        <p:nvSpPr>
          <p:cNvPr id="48" name="Text 46"/>
          <p:cNvSpPr/>
          <p:nvPr/>
        </p:nvSpPr>
        <p:spPr>
          <a:xfrm>
            <a:off x="6527800" y="2768997"/>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Z</a:t>
            </a:r>
            <a:endParaRPr lang="en-US" sz="1600" dirty="0"/>
          </a:p>
        </p:txBody>
      </p:sp>
      <p:sp>
        <p:nvSpPr>
          <p:cNvPr id="49" name="Text 47"/>
          <p:cNvSpPr/>
          <p:nvPr/>
        </p:nvSpPr>
        <p:spPr>
          <a:xfrm>
            <a:off x="6832600" y="2768997"/>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Z</a:t>
            </a:r>
            <a:endParaRPr lang="en-US" sz="1600" dirty="0"/>
          </a:p>
        </p:txBody>
      </p:sp>
      <p:sp>
        <p:nvSpPr>
          <p:cNvPr id="50" name="Text 48"/>
          <p:cNvSpPr/>
          <p:nvPr/>
        </p:nvSpPr>
        <p:spPr>
          <a:xfrm>
            <a:off x="7137400" y="2768997"/>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T</a:t>
            </a:r>
            <a:endParaRPr lang="en-US" sz="1600" dirty="0"/>
          </a:p>
        </p:txBody>
      </p:sp>
      <p:sp>
        <p:nvSpPr>
          <p:cNvPr id="51" name="Text 49"/>
          <p:cNvSpPr/>
          <p:nvPr/>
        </p:nvSpPr>
        <p:spPr>
          <a:xfrm>
            <a:off x="7442200" y="2768997"/>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F</a:t>
            </a:r>
            <a:endParaRPr lang="en-US" sz="1600" dirty="0"/>
          </a:p>
        </p:txBody>
      </p:sp>
      <p:sp>
        <p:nvSpPr>
          <p:cNvPr id="52" name="Text 50"/>
          <p:cNvSpPr/>
          <p:nvPr/>
        </p:nvSpPr>
        <p:spPr>
          <a:xfrm>
            <a:off x="7747000" y="2768997"/>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P</a:t>
            </a:r>
            <a:endParaRPr lang="en-US" sz="1600" dirty="0"/>
          </a:p>
        </p:txBody>
      </p:sp>
      <p:sp>
        <p:nvSpPr>
          <p:cNvPr id="53" name="Text 51"/>
          <p:cNvSpPr/>
          <p:nvPr/>
        </p:nvSpPr>
        <p:spPr>
          <a:xfrm>
            <a:off x="8051800" y="2768997"/>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H</a:t>
            </a:r>
            <a:endParaRPr lang="en-US" sz="1600" dirty="0"/>
          </a:p>
        </p:txBody>
      </p:sp>
      <p:sp>
        <p:nvSpPr>
          <p:cNvPr id="54" name="Text 52"/>
          <p:cNvSpPr/>
          <p:nvPr/>
        </p:nvSpPr>
        <p:spPr>
          <a:xfrm>
            <a:off x="8356600" y="2768997"/>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P</a:t>
            </a:r>
            <a:endParaRPr lang="en-US" sz="1600" dirty="0"/>
          </a:p>
        </p:txBody>
      </p:sp>
      <p:sp>
        <p:nvSpPr>
          <p:cNvPr id="55" name="Shape 53"/>
          <p:cNvSpPr/>
          <p:nvPr/>
        </p:nvSpPr>
        <p:spPr>
          <a:xfrm>
            <a:off x="812800" y="3902025"/>
            <a:ext cx="3276600" cy="0"/>
          </a:xfrm>
          <a:prstGeom prst="line">
            <a:avLst/>
          </a:prstGeom>
          <a:noFill/>
          <a:ln w="6350">
            <a:solidFill>
              <a:srgbClr val="222A35"/>
            </a:solidFill>
            <a:prstDash val="solid"/>
          </a:ln>
        </p:spPr>
      </p:sp>
      <p:sp>
        <p:nvSpPr>
          <p:cNvPr id="56" name="Text 54"/>
          <p:cNvSpPr/>
          <p:nvPr/>
        </p:nvSpPr>
        <p:spPr>
          <a:xfrm>
            <a:off x="812800" y="3981400"/>
            <a:ext cx="337489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23文字：</a:t>
            </a:r>
            <a:r>
              <a:rPr lang="en-US" sz="1600" dirty="0">
                <a:solidFill>
                  <a:srgbClr val="E6EDF3"/>
                </a:solidFill>
                <a:latin typeface="Arial" pitchFamily="34" charset="0"/>
                <a:ea typeface="Arial" pitchFamily="34" charset="-122"/>
                <a:cs typeface="Arial" pitchFamily="34" charset="-120"/>
              </a:rPr>
              <a:t>230601以降の18件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切り替わりをまたぐ</a:t>
            </a:r>
            <a:endParaRPr lang="en-US" sz="1600" dirty="0"/>
          </a:p>
        </p:txBody>
      </p:sp>
      <p:sp>
        <p:nvSpPr>
          <p:cNvPr id="57" name="Shape 55"/>
          <p:cNvSpPr/>
          <p:nvPr/>
        </p:nvSpPr>
        <p:spPr>
          <a:xfrm>
            <a:off x="812800" y="4670375"/>
            <a:ext cx="3276600" cy="0"/>
          </a:xfrm>
          <a:prstGeom prst="line">
            <a:avLst/>
          </a:prstGeom>
          <a:noFill/>
          <a:ln w="6350">
            <a:solidFill>
              <a:srgbClr val="222A35"/>
            </a:solidFill>
            <a:prstDash val="solid"/>
          </a:ln>
        </p:spPr>
      </p:sp>
      <p:sp>
        <p:nvSpPr>
          <p:cNvPr id="58" name="Text 56"/>
          <p:cNvSpPr/>
          <p:nvPr/>
        </p:nvSpPr>
        <p:spPr>
          <a:xfrm>
            <a:off x="812800" y="4749750"/>
            <a:ext cx="3374898"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23文字では、枠6〜11が</a:t>
            </a:r>
            <a:endParaRPr lang="en-US" sz="1600" dirty="0"/>
          </a:p>
          <a:p>
            <a:pPr algn="l" indent="0" marL="0">
              <a:lnSpc>
                <a:spcPts val="2400"/>
              </a:lnSpc>
              <a:buNone/>
            </a:pPr>
            <a:r>
              <a:rPr lang="en-US" sz="1600" dirty="0">
                <a:solidFill>
                  <a:srgbClr val="4EA8DE"/>
                </a:solidFill>
                <a:latin typeface="Arial" pitchFamily="34" charset="0"/>
                <a:ea typeface="Arial" pitchFamily="34" charset="-122"/>
                <a:cs typeface="Arial" pitchFamily="34" charset="-120"/>
              </a:rPr>
              <a:t>9文字あと</a:t>
            </a:r>
            <a:r>
              <a:rPr lang="en-US" sz="1600" dirty="0">
                <a:solidFill>
                  <a:srgbClr val="E6EDF3"/>
                </a:solidFill>
                <a:latin typeface="Arial" pitchFamily="34" charset="0"/>
                <a:ea typeface="Arial" pitchFamily="34" charset="-122"/>
                <a:cs typeface="Arial" pitchFamily="34" charset="-120"/>
              </a:rPr>
              <a:t>の枠15〜20で繰り返す</a:t>
            </a:r>
            <a:endParaRPr lang="en-US" sz="1600" dirty="0"/>
          </a:p>
        </p:txBody>
      </p:sp>
      <p:sp>
        <p:nvSpPr>
          <p:cNvPr id="59" name="Text 57"/>
          <p:cNvSpPr/>
          <p:nvPr/>
        </p:nvSpPr>
        <p:spPr>
          <a:xfrm>
            <a:off x="4394200" y="3898850"/>
            <a:ext cx="15925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CC00"/>
                </a:solidFill>
                <a:latin typeface="Arial" pitchFamily="34" charset="0"/>
                <a:ea typeface="Arial" pitchFamily="34" charset="-122"/>
                <a:cs typeface="Arial" pitchFamily="34" charset="-120"/>
              </a:rPr>
              <a:t>43-63 · 260422（水）</a:t>
            </a:r>
            <a:endParaRPr lang="en-US" sz="1200" dirty="0"/>
          </a:p>
        </p:txBody>
      </p:sp>
      <p:sp>
        <p:nvSpPr>
          <p:cNvPr id="60" name="Text 58"/>
          <p:cNvSpPr/>
          <p:nvPr/>
        </p:nvSpPr>
        <p:spPr>
          <a:xfrm>
            <a:off x="5986760" y="3898850"/>
            <a:ext cx="284510"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43</a:t>
            </a:r>
            <a:endParaRPr lang="en-US" sz="1200" dirty="0"/>
          </a:p>
        </p:txBody>
      </p:sp>
      <p:sp>
        <p:nvSpPr>
          <p:cNvPr id="61" name="Text 59"/>
          <p:cNvSpPr/>
          <p:nvPr/>
        </p:nvSpPr>
        <p:spPr>
          <a:xfrm>
            <a:off x="6322070" y="3898850"/>
            <a:ext cx="1381968"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CQHTXWYH3UIZVW</a:t>
            </a:r>
            <a:endParaRPr lang="en-US" sz="1200" dirty="0"/>
          </a:p>
        </p:txBody>
      </p:sp>
      <p:sp>
        <p:nvSpPr>
          <p:cNvPr id="62" name="Text 60"/>
          <p:cNvSpPr/>
          <p:nvPr/>
        </p:nvSpPr>
        <p:spPr>
          <a:xfrm>
            <a:off x="7754838" y="3898850"/>
            <a:ext cx="1422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a:t>
            </a:r>
            <a:endParaRPr lang="en-US" sz="1200" dirty="0"/>
          </a:p>
        </p:txBody>
      </p:sp>
      <p:sp>
        <p:nvSpPr>
          <p:cNvPr id="63" name="Text 61"/>
          <p:cNvSpPr/>
          <p:nvPr/>
        </p:nvSpPr>
        <p:spPr>
          <a:xfrm>
            <a:off x="7897118" y="3898850"/>
            <a:ext cx="193080"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A</a:t>
            </a:r>
            <a:endParaRPr lang="en-US" sz="1200" dirty="0"/>
          </a:p>
        </p:txBody>
      </p:sp>
      <p:sp>
        <p:nvSpPr>
          <p:cNvPr id="64" name="Shape 62"/>
          <p:cNvSpPr/>
          <p:nvPr/>
        </p:nvSpPr>
        <p:spPr>
          <a:xfrm>
            <a:off x="4394200" y="4374555"/>
            <a:ext cx="1803400" cy="0"/>
          </a:xfrm>
          <a:prstGeom prst="line">
            <a:avLst/>
          </a:prstGeom>
          <a:noFill/>
          <a:ln w="12700">
            <a:solidFill>
              <a:srgbClr val="4EA8DE"/>
            </a:solidFill>
            <a:prstDash val="solid"/>
          </a:ln>
        </p:spPr>
      </p:sp>
      <p:sp>
        <p:nvSpPr>
          <p:cNvPr id="65" name="Text 63"/>
          <p:cNvSpPr/>
          <p:nvPr/>
        </p:nvSpPr>
        <p:spPr>
          <a:xfrm>
            <a:off x="4367149" y="4152850"/>
            <a:ext cx="1857502"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単位</a:t>
            </a:r>
            <a:endParaRPr lang="en-US" sz="1200" dirty="0"/>
          </a:p>
        </p:txBody>
      </p:sp>
      <p:sp>
        <p:nvSpPr>
          <p:cNvPr id="66" name="Shape 64"/>
          <p:cNvSpPr/>
          <p:nvPr/>
        </p:nvSpPr>
        <p:spPr>
          <a:xfrm>
            <a:off x="6223000" y="4374555"/>
            <a:ext cx="1803400" cy="0"/>
          </a:xfrm>
          <a:prstGeom prst="line">
            <a:avLst/>
          </a:prstGeom>
          <a:noFill/>
          <a:ln w="12700">
            <a:solidFill>
              <a:srgbClr val="4EA8DE"/>
            </a:solidFill>
            <a:prstDash val="solid"/>
          </a:ln>
        </p:spPr>
      </p:sp>
      <p:sp>
        <p:nvSpPr>
          <p:cNvPr id="67" name="Text 65"/>
          <p:cNvSpPr/>
          <p:nvPr/>
        </p:nvSpPr>
        <p:spPr>
          <a:xfrm>
            <a:off x="6195949" y="4152850"/>
            <a:ext cx="1857502"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単位、9文字あと</a:t>
            </a:r>
            <a:endParaRPr lang="en-US" sz="1200" dirty="0"/>
          </a:p>
        </p:txBody>
      </p:sp>
      <p:sp>
        <p:nvSpPr>
          <p:cNvPr id="68" name="Text 66"/>
          <p:cNvSpPr/>
          <p:nvPr/>
        </p:nvSpPr>
        <p:spPr>
          <a:xfrm>
            <a:off x="43688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83</a:t>
            </a:r>
            <a:endParaRPr lang="en-US" sz="1200" dirty="0"/>
          </a:p>
        </p:txBody>
      </p:sp>
      <p:sp>
        <p:nvSpPr>
          <p:cNvPr id="69" name="Text 67"/>
          <p:cNvSpPr/>
          <p:nvPr/>
        </p:nvSpPr>
        <p:spPr>
          <a:xfrm>
            <a:off x="46736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78</a:t>
            </a:r>
            <a:endParaRPr lang="en-US" sz="1200" dirty="0"/>
          </a:p>
        </p:txBody>
      </p:sp>
      <p:sp>
        <p:nvSpPr>
          <p:cNvPr id="70" name="Text 68"/>
          <p:cNvSpPr/>
          <p:nvPr/>
        </p:nvSpPr>
        <p:spPr>
          <a:xfrm>
            <a:off x="49784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72</a:t>
            </a:r>
            <a:endParaRPr lang="en-US" sz="1200" dirty="0"/>
          </a:p>
        </p:txBody>
      </p:sp>
      <p:sp>
        <p:nvSpPr>
          <p:cNvPr id="71" name="Text 69"/>
          <p:cNvSpPr/>
          <p:nvPr/>
        </p:nvSpPr>
        <p:spPr>
          <a:xfrm>
            <a:off x="52832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72" name="Text 70"/>
          <p:cNvSpPr/>
          <p:nvPr/>
        </p:nvSpPr>
        <p:spPr>
          <a:xfrm>
            <a:off x="55880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100</a:t>
            </a:r>
            <a:endParaRPr lang="en-US" sz="1200" dirty="0"/>
          </a:p>
        </p:txBody>
      </p:sp>
      <p:sp>
        <p:nvSpPr>
          <p:cNvPr id="73" name="Text 71"/>
          <p:cNvSpPr/>
          <p:nvPr/>
        </p:nvSpPr>
        <p:spPr>
          <a:xfrm>
            <a:off x="58928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100</a:t>
            </a:r>
            <a:endParaRPr lang="en-US" sz="1200" dirty="0"/>
          </a:p>
        </p:txBody>
      </p:sp>
      <p:sp>
        <p:nvSpPr>
          <p:cNvPr id="74" name="Text 72"/>
          <p:cNvSpPr/>
          <p:nvPr/>
        </p:nvSpPr>
        <p:spPr>
          <a:xfrm>
            <a:off x="61976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100</a:t>
            </a:r>
            <a:endParaRPr lang="en-US" sz="1200" dirty="0"/>
          </a:p>
        </p:txBody>
      </p:sp>
      <p:sp>
        <p:nvSpPr>
          <p:cNvPr id="75" name="Text 73"/>
          <p:cNvSpPr/>
          <p:nvPr/>
        </p:nvSpPr>
        <p:spPr>
          <a:xfrm>
            <a:off x="65024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76" name="Text 74"/>
          <p:cNvSpPr/>
          <p:nvPr/>
        </p:nvSpPr>
        <p:spPr>
          <a:xfrm>
            <a:off x="68072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77" name="Text 75"/>
          <p:cNvSpPr/>
          <p:nvPr/>
        </p:nvSpPr>
        <p:spPr>
          <a:xfrm>
            <a:off x="71120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78" name="Text 76"/>
          <p:cNvSpPr/>
          <p:nvPr/>
        </p:nvSpPr>
        <p:spPr>
          <a:xfrm>
            <a:off x="74168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100</a:t>
            </a:r>
            <a:endParaRPr lang="en-US" sz="1200" dirty="0"/>
          </a:p>
        </p:txBody>
      </p:sp>
      <p:sp>
        <p:nvSpPr>
          <p:cNvPr id="79" name="Text 77"/>
          <p:cNvSpPr/>
          <p:nvPr/>
        </p:nvSpPr>
        <p:spPr>
          <a:xfrm>
            <a:off x="77216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80" name="Text 78"/>
          <p:cNvSpPr/>
          <p:nvPr/>
        </p:nvSpPr>
        <p:spPr>
          <a:xfrm>
            <a:off x="80264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81" name="Text 79"/>
          <p:cNvSpPr/>
          <p:nvPr/>
        </p:nvSpPr>
        <p:spPr>
          <a:xfrm>
            <a:off x="83312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39</a:t>
            </a:r>
            <a:endParaRPr lang="en-US" sz="1200" dirty="0"/>
          </a:p>
        </p:txBody>
      </p:sp>
      <p:sp>
        <p:nvSpPr>
          <p:cNvPr id="82" name="Text 80"/>
          <p:cNvSpPr/>
          <p:nvPr/>
        </p:nvSpPr>
        <p:spPr>
          <a:xfrm>
            <a:off x="86360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39</a:t>
            </a:r>
            <a:endParaRPr lang="en-US" sz="1200" dirty="0"/>
          </a:p>
        </p:txBody>
      </p:sp>
      <p:sp>
        <p:nvSpPr>
          <p:cNvPr id="83" name="Text 81"/>
          <p:cNvSpPr/>
          <p:nvPr/>
        </p:nvSpPr>
        <p:spPr>
          <a:xfrm>
            <a:off x="89408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39</a:t>
            </a:r>
            <a:endParaRPr lang="en-US" sz="1200" dirty="0"/>
          </a:p>
        </p:txBody>
      </p:sp>
      <p:sp>
        <p:nvSpPr>
          <p:cNvPr id="84" name="Text 82"/>
          <p:cNvSpPr/>
          <p:nvPr/>
        </p:nvSpPr>
        <p:spPr>
          <a:xfrm>
            <a:off x="92456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85" name="Text 83"/>
          <p:cNvSpPr/>
          <p:nvPr/>
        </p:nvSpPr>
        <p:spPr>
          <a:xfrm>
            <a:off x="95504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86" name="Text 84"/>
          <p:cNvSpPr/>
          <p:nvPr/>
        </p:nvSpPr>
        <p:spPr>
          <a:xfrm>
            <a:off x="98552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87" name="Text 85"/>
          <p:cNvSpPr/>
          <p:nvPr/>
        </p:nvSpPr>
        <p:spPr>
          <a:xfrm>
            <a:off x="101600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39</a:t>
            </a:r>
            <a:endParaRPr lang="en-US" sz="1200" dirty="0"/>
          </a:p>
        </p:txBody>
      </p:sp>
      <p:sp>
        <p:nvSpPr>
          <p:cNvPr id="88" name="Text 86"/>
          <p:cNvSpPr/>
          <p:nvPr/>
        </p:nvSpPr>
        <p:spPr>
          <a:xfrm>
            <a:off x="104648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89" name="Text 87"/>
          <p:cNvSpPr/>
          <p:nvPr/>
        </p:nvSpPr>
        <p:spPr>
          <a:xfrm>
            <a:off x="107696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90" name="Text 88"/>
          <p:cNvSpPr/>
          <p:nvPr/>
        </p:nvSpPr>
        <p:spPr>
          <a:xfrm>
            <a:off x="11074400" y="4406305"/>
            <a:ext cx="3302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Arial" pitchFamily="34" charset="0"/>
                <a:ea typeface="Arial" pitchFamily="34" charset="-122"/>
                <a:cs typeface="Arial" pitchFamily="34" charset="-120"/>
              </a:rPr>
              <a:t>–</a:t>
            </a:r>
            <a:endParaRPr lang="en-US" sz="1200" dirty="0"/>
          </a:p>
        </p:txBody>
      </p:sp>
      <p:sp>
        <p:nvSpPr>
          <p:cNvPr id="91" name="Text 89"/>
          <p:cNvSpPr/>
          <p:nvPr/>
        </p:nvSpPr>
        <p:spPr>
          <a:xfrm>
            <a:off x="43942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H</a:t>
            </a:r>
            <a:endParaRPr lang="en-US" sz="1600" dirty="0"/>
          </a:p>
        </p:txBody>
      </p:sp>
      <p:sp>
        <p:nvSpPr>
          <p:cNvPr id="92" name="Text 90"/>
          <p:cNvSpPr/>
          <p:nvPr/>
        </p:nvSpPr>
        <p:spPr>
          <a:xfrm>
            <a:off x="46990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2</a:t>
            </a:r>
            <a:endParaRPr lang="en-US" sz="1600" dirty="0"/>
          </a:p>
        </p:txBody>
      </p:sp>
      <p:sp>
        <p:nvSpPr>
          <p:cNvPr id="93" name="Text 91"/>
          <p:cNvSpPr/>
          <p:nvPr/>
        </p:nvSpPr>
        <p:spPr>
          <a:xfrm>
            <a:off x="50038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M</a:t>
            </a:r>
            <a:endParaRPr lang="en-US" sz="1600" dirty="0"/>
          </a:p>
        </p:txBody>
      </p:sp>
      <p:sp>
        <p:nvSpPr>
          <p:cNvPr id="94" name="Text 92"/>
          <p:cNvSpPr/>
          <p:nvPr/>
        </p:nvSpPr>
        <p:spPr>
          <a:xfrm>
            <a:off x="5308600" y="4634359"/>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M</a:t>
            </a:r>
            <a:endParaRPr lang="en-US" sz="1600" dirty="0"/>
          </a:p>
        </p:txBody>
      </p:sp>
      <p:sp>
        <p:nvSpPr>
          <p:cNvPr id="95" name="Text 93"/>
          <p:cNvSpPr/>
          <p:nvPr/>
        </p:nvSpPr>
        <p:spPr>
          <a:xfrm>
            <a:off x="56134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X</a:t>
            </a:r>
            <a:endParaRPr lang="en-US" sz="1600" dirty="0"/>
          </a:p>
        </p:txBody>
      </p:sp>
      <p:sp>
        <p:nvSpPr>
          <p:cNvPr id="96" name="Text 94"/>
          <p:cNvSpPr/>
          <p:nvPr/>
        </p:nvSpPr>
        <p:spPr>
          <a:xfrm>
            <a:off x="59182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X</a:t>
            </a:r>
            <a:endParaRPr lang="en-US" sz="1600" dirty="0"/>
          </a:p>
        </p:txBody>
      </p:sp>
      <p:sp>
        <p:nvSpPr>
          <p:cNvPr id="97" name="Text 95"/>
          <p:cNvSpPr/>
          <p:nvPr/>
        </p:nvSpPr>
        <p:spPr>
          <a:xfrm>
            <a:off x="62230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B</a:t>
            </a:r>
            <a:endParaRPr lang="en-US" sz="1600" dirty="0"/>
          </a:p>
        </p:txBody>
      </p:sp>
      <p:sp>
        <p:nvSpPr>
          <p:cNvPr id="98" name="Text 96"/>
          <p:cNvSpPr/>
          <p:nvPr/>
        </p:nvSpPr>
        <p:spPr>
          <a:xfrm>
            <a:off x="6527800" y="4634359"/>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T</a:t>
            </a:r>
            <a:endParaRPr lang="en-US" sz="1600" dirty="0"/>
          </a:p>
        </p:txBody>
      </p:sp>
      <p:sp>
        <p:nvSpPr>
          <p:cNvPr id="99" name="Text 97"/>
          <p:cNvSpPr/>
          <p:nvPr/>
        </p:nvSpPr>
        <p:spPr>
          <a:xfrm>
            <a:off x="6832600" y="4634359"/>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T</a:t>
            </a:r>
            <a:endParaRPr lang="en-US" sz="1600" dirty="0"/>
          </a:p>
        </p:txBody>
      </p:sp>
      <p:sp>
        <p:nvSpPr>
          <p:cNvPr id="100" name="Text 98"/>
          <p:cNvSpPr/>
          <p:nvPr/>
        </p:nvSpPr>
        <p:spPr>
          <a:xfrm>
            <a:off x="7137400" y="4634359"/>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7</a:t>
            </a:r>
            <a:endParaRPr lang="en-US" sz="1600" dirty="0"/>
          </a:p>
        </p:txBody>
      </p:sp>
      <p:sp>
        <p:nvSpPr>
          <p:cNvPr id="101" name="Text 99"/>
          <p:cNvSpPr/>
          <p:nvPr/>
        </p:nvSpPr>
        <p:spPr>
          <a:xfrm>
            <a:off x="74422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A</a:t>
            </a:r>
            <a:endParaRPr lang="en-US" sz="1600" dirty="0"/>
          </a:p>
        </p:txBody>
      </p:sp>
      <p:sp>
        <p:nvSpPr>
          <p:cNvPr id="102" name="Text 100"/>
          <p:cNvSpPr/>
          <p:nvPr/>
        </p:nvSpPr>
        <p:spPr>
          <a:xfrm>
            <a:off x="7747000" y="4634359"/>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A</a:t>
            </a:r>
            <a:endParaRPr lang="en-US" sz="1600" dirty="0"/>
          </a:p>
        </p:txBody>
      </p:sp>
      <p:sp>
        <p:nvSpPr>
          <p:cNvPr id="103" name="Text 101"/>
          <p:cNvSpPr/>
          <p:nvPr/>
        </p:nvSpPr>
        <p:spPr>
          <a:xfrm>
            <a:off x="8051800" y="4634359"/>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Y</a:t>
            </a:r>
            <a:endParaRPr lang="en-US" sz="1600" dirty="0"/>
          </a:p>
        </p:txBody>
      </p:sp>
      <p:sp>
        <p:nvSpPr>
          <p:cNvPr id="104" name="Text 102"/>
          <p:cNvSpPr/>
          <p:nvPr/>
        </p:nvSpPr>
        <p:spPr>
          <a:xfrm>
            <a:off x="83566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6</a:t>
            </a:r>
            <a:endParaRPr lang="en-US" sz="1600" dirty="0"/>
          </a:p>
        </p:txBody>
      </p:sp>
      <p:sp>
        <p:nvSpPr>
          <p:cNvPr id="105" name="Text 103"/>
          <p:cNvSpPr/>
          <p:nvPr/>
        </p:nvSpPr>
        <p:spPr>
          <a:xfrm>
            <a:off x="86614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X</a:t>
            </a:r>
            <a:endParaRPr lang="en-US" sz="1600" dirty="0"/>
          </a:p>
        </p:txBody>
      </p:sp>
      <p:sp>
        <p:nvSpPr>
          <p:cNvPr id="106" name="Text 104"/>
          <p:cNvSpPr/>
          <p:nvPr/>
        </p:nvSpPr>
        <p:spPr>
          <a:xfrm>
            <a:off x="89662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B</a:t>
            </a:r>
            <a:endParaRPr lang="en-US" sz="1600" dirty="0"/>
          </a:p>
        </p:txBody>
      </p:sp>
      <p:sp>
        <p:nvSpPr>
          <p:cNvPr id="107" name="Text 105"/>
          <p:cNvSpPr/>
          <p:nvPr/>
        </p:nvSpPr>
        <p:spPr>
          <a:xfrm>
            <a:off x="9271000" y="4634359"/>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T</a:t>
            </a:r>
            <a:endParaRPr lang="en-US" sz="1600" dirty="0"/>
          </a:p>
        </p:txBody>
      </p:sp>
      <p:sp>
        <p:nvSpPr>
          <p:cNvPr id="108" name="Text 106"/>
          <p:cNvSpPr/>
          <p:nvPr/>
        </p:nvSpPr>
        <p:spPr>
          <a:xfrm>
            <a:off x="9575800" y="4634359"/>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T</a:t>
            </a:r>
            <a:endParaRPr lang="en-US" sz="1600" dirty="0"/>
          </a:p>
        </p:txBody>
      </p:sp>
      <p:sp>
        <p:nvSpPr>
          <p:cNvPr id="109" name="Text 107"/>
          <p:cNvSpPr/>
          <p:nvPr/>
        </p:nvSpPr>
        <p:spPr>
          <a:xfrm>
            <a:off x="9880600" y="4634359"/>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B</a:t>
            </a:r>
            <a:endParaRPr lang="en-US" sz="1600" dirty="0"/>
          </a:p>
        </p:txBody>
      </p:sp>
      <p:sp>
        <p:nvSpPr>
          <p:cNvPr id="110" name="Text 108"/>
          <p:cNvSpPr/>
          <p:nvPr/>
        </p:nvSpPr>
        <p:spPr>
          <a:xfrm>
            <a:off x="10185400" y="4634359"/>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A</a:t>
            </a:r>
            <a:endParaRPr lang="en-US" sz="1600" dirty="0"/>
          </a:p>
        </p:txBody>
      </p:sp>
      <p:sp>
        <p:nvSpPr>
          <p:cNvPr id="111" name="Text 109"/>
          <p:cNvSpPr/>
          <p:nvPr/>
        </p:nvSpPr>
        <p:spPr>
          <a:xfrm>
            <a:off x="10490200" y="4634359"/>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E</a:t>
            </a:r>
            <a:endParaRPr lang="en-US" sz="1600" dirty="0"/>
          </a:p>
        </p:txBody>
      </p:sp>
      <p:sp>
        <p:nvSpPr>
          <p:cNvPr id="112" name="Text 110"/>
          <p:cNvSpPr/>
          <p:nvPr/>
        </p:nvSpPr>
        <p:spPr>
          <a:xfrm>
            <a:off x="10795000" y="4634359"/>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G</a:t>
            </a:r>
            <a:endParaRPr lang="en-US" sz="1600" dirty="0"/>
          </a:p>
        </p:txBody>
      </p:sp>
      <p:sp>
        <p:nvSpPr>
          <p:cNvPr id="113" name="Text 111"/>
          <p:cNvSpPr/>
          <p:nvPr/>
        </p:nvSpPr>
        <p:spPr>
          <a:xfrm>
            <a:off x="11099800" y="4634359"/>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S</a:t>
            </a:r>
            <a:endParaRPr lang="en-US" sz="1600" dirty="0"/>
          </a:p>
        </p:txBody>
      </p:sp>
      <p:sp>
        <p:nvSpPr>
          <p:cNvPr id="114" name="Text 112"/>
          <p:cNvSpPr/>
          <p:nvPr/>
        </p:nvSpPr>
        <p:spPr>
          <a:xfrm>
            <a:off x="43942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H</a:t>
            </a:r>
            <a:endParaRPr lang="en-US" sz="1600" dirty="0"/>
          </a:p>
        </p:txBody>
      </p:sp>
      <p:sp>
        <p:nvSpPr>
          <p:cNvPr id="115" name="Text 113"/>
          <p:cNvSpPr/>
          <p:nvPr/>
        </p:nvSpPr>
        <p:spPr>
          <a:xfrm>
            <a:off x="46990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2</a:t>
            </a:r>
            <a:endParaRPr lang="en-US" sz="1600" dirty="0"/>
          </a:p>
        </p:txBody>
      </p:sp>
      <p:sp>
        <p:nvSpPr>
          <p:cNvPr id="116" name="Text 114"/>
          <p:cNvSpPr/>
          <p:nvPr/>
        </p:nvSpPr>
        <p:spPr>
          <a:xfrm>
            <a:off x="50038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M</a:t>
            </a:r>
            <a:endParaRPr lang="en-US" sz="1600" dirty="0"/>
          </a:p>
        </p:txBody>
      </p:sp>
      <p:sp>
        <p:nvSpPr>
          <p:cNvPr id="117" name="Text 115"/>
          <p:cNvSpPr/>
          <p:nvPr/>
        </p:nvSpPr>
        <p:spPr>
          <a:xfrm>
            <a:off x="5308600" y="4940151"/>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V</a:t>
            </a:r>
            <a:endParaRPr lang="en-US" sz="1600" dirty="0"/>
          </a:p>
        </p:txBody>
      </p:sp>
      <p:sp>
        <p:nvSpPr>
          <p:cNvPr id="118" name="Text 116"/>
          <p:cNvSpPr/>
          <p:nvPr/>
        </p:nvSpPr>
        <p:spPr>
          <a:xfrm>
            <a:off x="56134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X</a:t>
            </a:r>
            <a:endParaRPr lang="en-US" sz="1600" dirty="0"/>
          </a:p>
        </p:txBody>
      </p:sp>
      <p:sp>
        <p:nvSpPr>
          <p:cNvPr id="119" name="Text 117"/>
          <p:cNvSpPr/>
          <p:nvPr/>
        </p:nvSpPr>
        <p:spPr>
          <a:xfrm>
            <a:off x="59182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X</a:t>
            </a:r>
            <a:endParaRPr lang="en-US" sz="1600" dirty="0"/>
          </a:p>
        </p:txBody>
      </p:sp>
      <p:sp>
        <p:nvSpPr>
          <p:cNvPr id="120" name="Text 118"/>
          <p:cNvSpPr/>
          <p:nvPr/>
        </p:nvSpPr>
        <p:spPr>
          <a:xfrm>
            <a:off x="62230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B</a:t>
            </a:r>
            <a:endParaRPr lang="en-US" sz="1600" dirty="0"/>
          </a:p>
        </p:txBody>
      </p:sp>
      <p:sp>
        <p:nvSpPr>
          <p:cNvPr id="121" name="Text 119"/>
          <p:cNvSpPr/>
          <p:nvPr/>
        </p:nvSpPr>
        <p:spPr>
          <a:xfrm>
            <a:off x="6527800" y="4940151"/>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L</a:t>
            </a:r>
            <a:endParaRPr lang="en-US" sz="1600" dirty="0"/>
          </a:p>
        </p:txBody>
      </p:sp>
      <p:sp>
        <p:nvSpPr>
          <p:cNvPr id="122" name="Text 120"/>
          <p:cNvSpPr/>
          <p:nvPr/>
        </p:nvSpPr>
        <p:spPr>
          <a:xfrm>
            <a:off x="6832600" y="4940151"/>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6</a:t>
            </a:r>
            <a:endParaRPr lang="en-US" sz="1600" dirty="0"/>
          </a:p>
        </p:txBody>
      </p:sp>
      <p:sp>
        <p:nvSpPr>
          <p:cNvPr id="123" name="Text 121"/>
          <p:cNvSpPr/>
          <p:nvPr/>
        </p:nvSpPr>
        <p:spPr>
          <a:xfrm>
            <a:off x="7137400" y="4940151"/>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J</a:t>
            </a:r>
            <a:endParaRPr lang="en-US" sz="1600" dirty="0"/>
          </a:p>
        </p:txBody>
      </p:sp>
      <p:sp>
        <p:nvSpPr>
          <p:cNvPr id="124" name="Text 122"/>
          <p:cNvSpPr/>
          <p:nvPr/>
        </p:nvSpPr>
        <p:spPr>
          <a:xfrm>
            <a:off x="74422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A</a:t>
            </a:r>
            <a:endParaRPr lang="en-US" sz="1600" dirty="0"/>
          </a:p>
        </p:txBody>
      </p:sp>
      <p:sp>
        <p:nvSpPr>
          <p:cNvPr id="125" name="Text 123"/>
          <p:cNvSpPr/>
          <p:nvPr/>
        </p:nvSpPr>
        <p:spPr>
          <a:xfrm>
            <a:off x="7747000" y="4940151"/>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N</a:t>
            </a:r>
            <a:endParaRPr lang="en-US" sz="1600" dirty="0"/>
          </a:p>
        </p:txBody>
      </p:sp>
      <p:sp>
        <p:nvSpPr>
          <p:cNvPr id="126" name="Text 124"/>
          <p:cNvSpPr/>
          <p:nvPr/>
        </p:nvSpPr>
        <p:spPr>
          <a:xfrm>
            <a:off x="8051800" y="4940151"/>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7</a:t>
            </a:r>
            <a:endParaRPr lang="en-US" sz="1600" dirty="0"/>
          </a:p>
        </p:txBody>
      </p:sp>
      <p:sp>
        <p:nvSpPr>
          <p:cNvPr id="127" name="Text 125"/>
          <p:cNvSpPr/>
          <p:nvPr/>
        </p:nvSpPr>
        <p:spPr>
          <a:xfrm>
            <a:off x="83566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6</a:t>
            </a:r>
            <a:endParaRPr lang="en-US" sz="1600" dirty="0"/>
          </a:p>
        </p:txBody>
      </p:sp>
      <p:sp>
        <p:nvSpPr>
          <p:cNvPr id="128" name="Text 126"/>
          <p:cNvSpPr/>
          <p:nvPr/>
        </p:nvSpPr>
        <p:spPr>
          <a:xfrm>
            <a:off x="86614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X</a:t>
            </a:r>
            <a:endParaRPr lang="en-US" sz="1600" dirty="0"/>
          </a:p>
        </p:txBody>
      </p:sp>
      <p:sp>
        <p:nvSpPr>
          <p:cNvPr id="129" name="Text 127"/>
          <p:cNvSpPr/>
          <p:nvPr/>
        </p:nvSpPr>
        <p:spPr>
          <a:xfrm>
            <a:off x="89662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B</a:t>
            </a:r>
            <a:endParaRPr lang="en-US" sz="1600" dirty="0"/>
          </a:p>
        </p:txBody>
      </p:sp>
      <p:sp>
        <p:nvSpPr>
          <p:cNvPr id="130" name="Text 128"/>
          <p:cNvSpPr/>
          <p:nvPr/>
        </p:nvSpPr>
        <p:spPr>
          <a:xfrm>
            <a:off x="9271000" y="4940151"/>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L</a:t>
            </a:r>
            <a:endParaRPr lang="en-US" sz="1600" dirty="0"/>
          </a:p>
        </p:txBody>
      </p:sp>
      <p:sp>
        <p:nvSpPr>
          <p:cNvPr id="131" name="Text 129"/>
          <p:cNvSpPr/>
          <p:nvPr/>
        </p:nvSpPr>
        <p:spPr>
          <a:xfrm>
            <a:off x="9575800" y="4940151"/>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6</a:t>
            </a:r>
            <a:endParaRPr lang="en-US" sz="1600" dirty="0"/>
          </a:p>
        </p:txBody>
      </p:sp>
      <p:sp>
        <p:nvSpPr>
          <p:cNvPr id="132" name="Text 130"/>
          <p:cNvSpPr/>
          <p:nvPr/>
        </p:nvSpPr>
        <p:spPr>
          <a:xfrm>
            <a:off x="9880600" y="4940151"/>
            <a:ext cx="279400" cy="280392"/>
          </a:xfrm>
          <a:prstGeom prst="rect">
            <a:avLst/>
          </a:prstGeom>
          <a:solidFill>
            <a:srgbClr val="4EA8DE"/>
          </a:solidFill>
          <a:ln/>
        </p:spPr>
        <p:txBody>
          <a:bodyPr wrap="square" lIns="0" tIns="0" rIns="0" bIns="0" rtlCol="0" anchor="t">
            <a:normAutofit/>
          </a:bodyPr>
          <a:lstStyle/>
          <a:p>
            <a:pPr algn="ctr" indent="0" marL="0">
              <a:lnSpc>
                <a:spcPts val="2208"/>
              </a:lnSpc>
              <a:buNone/>
            </a:pPr>
            <a:r>
              <a:rPr lang="en-US" sz="1600" b="1" dirty="0">
                <a:solidFill>
                  <a:srgbClr val="0A1A26"/>
                </a:solidFill>
                <a:latin typeface="Courier New" pitchFamily="49" charset="0"/>
                <a:ea typeface="Courier New" pitchFamily="49" charset="-122"/>
                <a:cs typeface="Courier New" pitchFamily="49" charset="-120"/>
              </a:rPr>
              <a:t>J</a:t>
            </a:r>
            <a:endParaRPr lang="en-US" sz="1600" dirty="0"/>
          </a:p>
        </p:txBody>
      </p:sp>
      <p:sp>
        <p:nvSpPr>
          <p:cNvPr id="133" name="Text 131"/>
          <p:cNvSpPr/>
          <p:nvPr/>
        </p:nvSpPr>
        <p:spPr>
          <a:xfrm>
            <a:off x="10185400" y="4940151"/>
            <a:ext cx="279400" cy="280392"/>
          </a:xfrm>
          <a:prstGeom prst="rect">
            <a:avLst/>
          </a:prstGeom>
          <a:solidFill>
            <a:srgbClr val="FFCC00"/>
          </a:solidFill>
          <a:ln/>
        </p:spPr>
        <p:txBody>
          <a:bodyPr wrap="square" lIns="0" tIns="0" rIns="0" bIns="0" rtlCol="0" anchor="t">
            <a:normAutofit/>
          </a:bodyPr>
          <a:lstStyle/>
          <a:p>
            <a:pPr algn="ctr" indent="0" marL="0">
              <a:lnSpc>
                <a:spcPts val="2208"/>
              </a:lnSpc>
              <a:buNone/>
            </a:pPr>
            <a:r>
              <a:rPr lang="en-US" sz="1600" b="1" dirty="0">
                <a:solidFill>
                  <a:srgbClr val="14110A"/>
                </a:solidFill>
                <a:latin typeface="Courier New" pitchFamily="49" charset="0"/>
                <a:ea typeface="Courier New" pitchFamily="49" charset="-122"/>
                <a:cs typeface="Courier New" pitchFamily="49" charset="-120"/>
              </a:rPr>
              <a:t>A</a:t>
            </a:r>
            <a:endParaRPr lang="en-US" sz="1600" dirty="0"/>
          </a:p>
        </p:txBody>
      </p:sp>
      <p:sp>
        <p:nvSpPr>
          <p:cNvPr id="134" name="Text 132"/>
          <p:cNvSpPr/>
          <p:nvPr/>
        </p:nvSpPr>
        <p:spPr>
          <a:xfrm>
            <a:off x="10490200" y="4940151"/>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I</a:t>
            </a:r>
            <a:endParaRPr lang="en-US" sz="1600" dirty="0"/>
          </a:p>
        </p:txBody>
      </p:sp>
      <p:sp>
        <p:nvSpPr>
          <p:cNvPr id="135" name="Text 133"/>
          <p:cNvSpPr/>
          <p:nvPr/>
        </p:nvSpPr>
        <p:spPr>
          <a:xfrm>
            <a:off x="10795000" y="4940151"/>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J</a:t>
            </a:r>
            <a:endParaRPr lang="en-US" sz="1600" dirty="0"/>
          </a:p>
        </p:txBody>
      </p:sp>
      <p:sp>
        <p:nvSpPr>
          <p:cNvPr id="136" name="Text 134"/>
          <p:cNvSpPr/>
          <p:nvPr/>
        </p:nvSpPr>
        <p:spPr>
          <a:xfrm>
            <a:off x="11099800" y="4940151"/>
            <a:ext cx="279400" cy="280392"/>
          </a:xfrm>
          <a:prstGeom prst="rect">
            <a:avLst/>
          </a:prstGeom>
          <a:solidFill>
            <a:srgbClr val="232B33"/>
          </a:solidFill>
          <a:ln/>
        </p:spPr>
        <p:txBody>
          <a:bodyPr wrap="square" lIns="0" tIns="0" rIns="0" bIns="0" rtlCol="0" anchor="t">
            <a:normAutofit/>
          </a:bodyPr>
          <a:lstStyle/>
          <a:p>
            <a:pPr algn="ctr" indent="0" marL="0">
              <a:lnSpc>
                <a:spcPts val="2208"/>
              </a:lnSpc>
              <a:buNone/>
            </a:pPr>
            <a:r>
              <a:rPr lang="en-US" sz="1600" dirty="0">
                <a:solidFill>
                  <a:srgbClr val="C9D1D9"/>
                </a:solidFill>
                <a:latin typeface="Courier New" pitchFamily="49" charset="0"/>
                <a:ea typeface="Courier New" pitchFamily="49" charset="-122"/>
                <a:cs typeface="Courier New" pitchFamily="49" charset="-120"/>
              </a:rPr>
              <a:t>3</a:t>
            </a:r>
            <a:endParaRPr lang="en-US" sz="1600" dirty="0"/>
          </a:p>
        </p:txBody>
      </p:sp>
      <p:sp>
        <p:nvSpPr>
          <p:cNvPr id="137" name="Shape 135"/>
          <p:cNvSpPr/>
          <p:nvPr/>
        </p:nvSpPr>
        <p:spPr>
          <a:xfrm>
            <a:off x="812800" y="5534571"/>
            <a:ext cx="152400" cy="152400"/>
          </a:xfrm>
          <a:prstGeom prst="rect">
            <a:avLst/>
          </a:prstGeom>
          <a:solidFill>
            <a:srgbClr val="FFCC00"/>
          </a:solidFill>
          <a:ln/>
        </p:spPr>
      </p:sp>
      <p:sp>
        <p:nvSpPr>
          <p:cNvPr id="138" name="Text 136"/>
          <p:cNvSpPr/>
          <p:nvPr/>
        </p:nvSpPr>
        <p:spPr>
          <a:xfrm>
            <a:off x="1016000" y="5511750"/>
            <a:ext cx="232613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どのブロックでも同じ文字の枠</a:t>
            </a:r>
            <a:endParaRPr lang="en-US" sz="1200" dirty="0"/>
          </a:p>
        </p:txBody>
      </p:sp>
      <p:sp>
        <p:nvSpPr>
          <p:cNvPr id="139" name="Shape 137"/>
          <p:cNvSpPr/>
          <p:nvPr/>
        </p:nvSpPr>
        <p:spPr>
          <a:xfrm>
            <a:off x="3342134" y="5534571"/>
            <a:ext cx="152400" cy="152400"/>
          </a:xfrm>
          <a:prstGeom prst="rect">
            <a:avLst/>
          </a:prstGeom>
          <a:solidFill>
            <a:srgbClr val="4EA8DE"/>
          </a:solidFill>
          <a:ln/>
        </p:spPr>
      </p:sp>
      <p:sp>
        <p:nvSpPr>
          <p:cNvPr id="140" name="Text 138"/>
          <p:cNvSpPr/>
          <p:nvPr/>
        </p:nvSpPr>
        <p:spPr>
          <a:xfrm>
            <a:off x="3545334" y="5511750"/>
            <a:ext cx="165958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9文字あとに同じ文字</a:t>
            </a:r>
            <a:endParaRPr lang="en-US" sz="1200" dirty="0"/>
          </a:p>
        </p:txBody>
      </p:sp>
      <p:sp>
        <p:nvSpPr>
          <p:cNvPr id="141" name="Shape 139"/>
          <p:cNvSpPr/>
          <p:nvPr/>
        </p:nvSpPr>
        <p:spPr>
          <a:xfrm>
            <a:off x="5204916" y="5534571"/>
            <a:ext cx="152400" cy="152400"/>
          </a:xfrm>
          <a:prstGeom prst="rect">
            <a:avLst/>
          </a:prstGeom>
          <a:solidFill>
            <a:srgbClr val="232B33"/>
          </a:solidFill>
          <a:ln/>
        </p:spPr>
      </p:sp>
      <p:sp>
        <p:nvSpPr>
          <p:cNvPr id="142" name="Text 140"/>
          <p:cNvSpPr/>
          <p:nvPr/>
        </p:nvSpPr>
        <p:spPr>
          <a:xfrm>
            <a:off x="5408116" y="5511750"/>
            <a:ext cx="73152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変わる枠</a:t>
            </a:r>
            <a:endParaRPr lang="en-US" sz="1200" dirty="0"/>
          </a:p>
        </p:txBody>
      </p:sp>
      <p:sp>
        <p:nvSpPr>
          <p:cNvPr id="143" name="Text 141"/>
          <p:cNvSpPr/>
          <p:nvPr/>
        </p:nvSpPr>
        <p:spPr>
          <a:xfrm>
            <a:off x="6322516" y="5511750"/>
            <a:ext cx="395275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894"/>
                </a:solidFill>
                <a:latin typeface="Arial" pitchFamily="34" charset="0"/>
                <a:ea typeface="Arial" pitchFamily="34" charset="-122"/>
                <a:cs typeface="Arial" pitchFamily="34" charset="-120"/>
              </a:rPr>
              <a:t>数字は枠が一定の割合（%）、30件と18件で集計</a:t>
            </a:r>
            <a:endParaRPr lang="en-US" sz="1200" dirty="0"/>
          </a:p>
        </p:txBody>
      </p:sp>
      <p:sp>
        <p:nvSpPr>
          <p:cNvPr id="144" name="Text 14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45" name="Text 14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G2・G3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15文字ブロックの複製</a:t>
            </a:r>
            <a:endParaRPr lang="en-US" sz="3600" dirty="0"/>
          </a:p>
        </p:txBody>
      </p:sp>
      <p:sp>
        <p:nvSpPr>
          <p:cNvPr id="4" name="Text 2"/>
          <p:cNvSpPr/>
          <p:nvPr/>
        </p:nvSpPr>
        <p:spPr>
          <a:xfrm>
            <a:off x="812800" y="19811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D7D32"/>
                </a:solidFill>
                <a:latin typeface="Arial" pitchFamily="34" charset="0"/>
                <a:ea typeface="Arial" pitchFamily="34" charset="-122"/>
                <a:cs typeface="Arial" pitchFamily="34" charset="-120"/>
              </a:rPr>
              <a:t>K7-85 · 260903（木）</a:t>
            </a:r>
            <a:r>
              <a:rPr lang="en-US" sz="1600" dirty="0">
                <a:solidFill>
                  <a:srgbClr val="E6EDF3"/>
                </a:solidFill>
                <a:latin typeface="Arial" pitchFamily="34" charset="0"/>
                <a:ea typeface="Arial" pitchFamily="34" charset="-122"/>
                <a:cs typeface="Arial" pitchFamily="34" charset="-120"/>
              </a:rPr>
              <a:t> · 85 = 2 + 22 + 4 × 15 + 1</a:t>
            </a:r>
            <a:endParaRPr lang="en-US" sz="1600" dirty="0"/>
          </a:p>
        </p:txBody>
      </p:sp>
      <p:sp>
        <p:nvSpPr>
          <p:cNvPr id="5" name="Text 3"/>
          <p:cNvSpPr/>
          <p:nvPr/>
        </p:nvSpPr>
        <p:spPr>
          <a:xfrm>
            <a:off x="812800" y="2336750"/>
            <a:ext cx="284510"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K7</a:t>
            </a:r>
            <a:endParaRPr lang="en-US" sz="1200" dirty="0"/>
          </a:p>
        </p:txBody>
      </p:sp>
      <p:sp>
        <p:nvSpPr>
          <p:cNvPr id="6" name="Text 4"/>
          <p:cNvSpPr/>
          <p:nvPr/>
        </p:nvSpPr>
        <p:spPr>
          <a:xfrm>
            <a:off x="1173510" y="2336750"/>
            <a:ext cx="2113607"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CKKXRQSMRA3LKODTOMODTW</a:t>
            </a:r>
            <a:endParaRPr lang="en-US" sz="1200" dirty="0"/>
          </a:p>
        </p:txBody>
      </p:sp>
      <p:sp>
        <p:nvSpPr>
          <p:cNvPr id="7" name="Text 5"/>
          <p:cNvSpPr/>
          <p:nvPr/>
        </p:nvSpPr>
        <p:spPr>
          <a:xfrm>
            <a:off x="3363317" y="2336750"/>
            <a:ext cx="5934533"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DF3"/>
                </a:solidFill>
                <a:latin typeface="Courier New" pitchFamily="49" charset="0"/>
                <a:ea typeface="Courier New" pitchFamily="49" charset="-122"/>
                <a:cs typeface="Courier New" pitchFamily="49" charset="-120"/>
              </a:rPr>
              <a:t>QLH4M5OTV6CQKAO ZEN425OTV6CQKAO ZENQI5OTV6CQKAO ZCU4L5OTV6CQKAO</a:t>
            </a:r>
            <a:endParaRPr lang="en-US" sz="1200" dirty="0"/>
          </a:p>
        </p:txBody>
      </p:sp>
      <p:sp>
        <p:nvSpPr>
          <p:cNvPr id="8" name="Text 6"/>
          <p:cNvSpPr/>
          <p:nvPr/>
        </p:nvSpPr>
        <p:spPr>
          <a:xfrm>
            <a:off x="9201200" y="2336750"/>
            <a:ext cx="193080" cy="228600"/>
          </a:xfrm>
          <a:prstGeom prst="rect">
            <a:avLst/>
          </a:prstGeom>
          <a:solidFill>
            <a:srgbClr val="141A20"/>
          </a:solidFill>
          <a:ln/>
        </p:spPr>
        <p:txBody>
          <a:bodyPr wrap="none" lIns="0" tIns="0" rIns="0" bIns="0" rtlCol="0" anchor="ctr">
            <a:normAutofit/>
          </a:bodyPr>
          <a:lstStyle/>
          <a:p>
            <a:pPr algn="ctr" indent="0" marL="0">
              <a:lnSpc>
                <a:spcPts val="1800"/>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9" name="Shape 7"/>
          <p:cNvSpPr/>
          <p:nvPr/>
        </p:nvSpPr>
        <p:spPr>
          <a:xfrm>
            <a:off x="812800" y="2746325"/>
            <a:ext cx="3810000" cy="0"/>
          </a:xfrm>
          <a:prstGeom prst="line">
            <a:avLst/>
          </a:prstGeom>
          <a:noFill/>
          <a:ln w="6350">
            <a:solidFill>
              <a:srgbClr val="222A35"/>
            </a:solidFill>
            <a:prstDash val="solid"/>
          </a:ln>
        </p:spPr>
      </p:sp>
      <p:sp>
        <p:nvSpPr>
          <p:cNvPr id="10" name="Text 8"/>
          <p:cNvSpPr/>
          <p:nvPr/>
        </p:nvSpPr>
        <p:spPr>
          <a:xfrm>
            <a:off x="812800" y="2851100"/>
            <a:ext cx="39243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長いG2メッセージ</a:t>
            </a:r>
            <a:r>
              <a:rPr lang="en-US" sz="1600" dirty="0">
                <a:solidFill>
                  <a:srgbClr val="ED7D32"/>
                </a:solidFill>
                <a:latin typeface="Arial" pitchFamily="34" charset="0"/>
                <a:ea typeface="Arial" pitchFamily="34" charset="-122"/>
                <a:cs typeface="Arial" pitchFamily="34" charset="-120"/>
              </a:rPr>
              <a:t>73</a:t>
            </a:r>
            <a:r>
              <a:rPr lang="en-US" sz="1600" dirty="0">
                <a:solidFill>
                  <a:srgbClr val="E6EDF3"/>
                </a:solidFill>
                <a:latin typeface="Arial" pitchFamily="34" charset="0"/>
                <a:ea typeface="Arial" pitchFamily="34" charset="-122"/>
                <a:cs typeface="Arial" pitchFamily="34" charset="-120"/>
              </a:rPr>
              <a:t>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すべて切り替わり以降 · 長さ50〜89</a:t>
            </a:r>
            <a:endParaRPr lang="en-US" sz="1600" dirty="0"/>
          </a:p>
        </p:txBody>
      </p:sp>
      <p:sp>
        <p:nvSpPr>
          <p:cNvPr id="11" name="Shape 9"/>
          <p:cNvSpPr/>
          <p:nvPr/>
        </p:nvSpPr>
        <p:spPr>
          <a:xfrm>
            <a:off x="812800" y="3565475"/>
            <a:ext cx="3810000" cy="0"/>
          </a:xfrm>
          <a:prstGeom prst="line">
            <a:avLst/>
          </a:prstGeom>
          <a:noFill/>
          <a:ln w="6350">
            <a:solidFill>
              <a:srgbClr val="222A35"/>
            </a:solidFill>
            <a:prstDash val="solid"/>
          </a:ln>
        </p:spPr>
      </p:sp>
      <p:sp>
        <p:nvSpPr>
          <p:cNvPr id="12" name="Text 10"/>
          <p:cNvSpPr/>
          <p:nvPr/>
        </p:nvSpPr>
        <p:spPr>
          <a:xfrm>
            <a:off x="812800" y="3670250"/>
            <a:ext cx="39243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15文字のブロック1つを</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2〜4回並べ、最後に1文字</a:t>
            </a:r>
            <a:endParaRPr lang="en-US" sz="1600" dirty="0"/>
          </a:p>
        </p:txBody>
      </p:sp>
      <p:sp>
        <p:nvSpPr>
          <p:cNvPr id="13" name="Shape 11"/>
          <p:cNvSpPr/>
          <p:nvPr/>
        </p:nvSpPr>
        <p:spPr>
          <a:xfrm>
            <a:off x="812800" y="4384625"/>
            <a:ext cx="3810000" cy="0"/>
          </a:xfrm>
          <a:prstGeom prst="line">
            <a:avLst/>
          </a:prstGeom>
          <a:noFill/>
          <a:ln w="6350">
            <a:solidFill>
              <a:srgbClr val="222A35"/>
            </a:solidFill>
            <a:prstDash val="solid"/>
          </a:ln>
        </p:spPr>
      </p:sp>
      <p:sp>
        <p:nvSpPr>
          <p:cNvPr id="14" name="Text 12"/>
          <p:cNvSpPr/>
          <p:nvPr/>
        </p:nvSpPr>
        <p:spPr>
          <a:xfrm>
            <a:off x="812800" y="4489400"/>
            <a:ext cx="39243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枠6〜15は95〜100%の</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メッセージで一定、枠1〜5は変わる</a:t>
            </a:r>
            <a:endParaRPr lang="en-US" sz="1600" dirty="0"/>
          </a:p>
        </p:txBody>
      </p:sp>
      <p:sp>
        <p:nvSpPr>
          <p:cNvPr id="15" name="Text 13"/>
          <p:cNvSpPr/>
          <p:nvPr/>
        </p:nvSpPr>
        <p:spPr>
          <a:xfrm>
            <a:off x="4978400" y="2743150"/>
            <a:ext cx="685800" cy="203696"/>
          </a:xfrm>
          <a:prstGeom prst="rect">
            <a:avLst/>
          </a:prstGeom>
          <a:noFill/>
          <a:ln/>
        </p:spPr>
        <p:txBody>
          <a:bodyPr wrap="square" lIns="0" tIns="0" rIns="0" bIns="0" rtlCol="0" anchor="t">
            <a:normAutofit/>
          </a:bodyPr>
          <a:lstStyle/>
          <a:p>
            <a:pPr algn="r" indent="0" marL="0">
              <a:lnSpc>
                <a:spcPts val="1404"/>
              </a:lnSpc>
              <a:buNone/>
            </a:pPr>
            <a:r>
              <a:rPr lang="en-US" sz="1200" dirty="0">
                <a:solidFill>
                  <a:srgbClr val="7D8894"/>
                </a:solidFill>
                <a:latin typeface="Arial" pitchFamily="34" charset="0"/>
                <a:ea typeface="Arial" pitchFamily="34" charset="-122"/>
                <a:cs typeface="Arial" pitchFamily="34" charset="-120"/>
              </a:rPr>
              <a:t>枠</a:t>
            </a:r>
            <a:endParaRPr lang="en-US" sz="1200" dirty="0"/>
          </a:p>
        </p:txBody>
      </p:sp>
      <p:sp>
        <p:nvSpPr>
          <p:cNvPr id="16" name="Text 14"/>
          <p:cNvSpPr/>
          <p:nvPr/>
        </p:nvSpPr>
        <p:spPr>
          <a:xfrm>
            <a:off x="5664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1</a:t>
            </a:r>
            <a:endParaRPr lang="en-US" sz="1200" dirty="0"/>
          </a:p>
        </p:txBody>
      </p:sp>
      <p:sp>
        <p:nvSpPr>
          <p:cNvPr id="17" name="Text 15"/>
          <p:cNvSpPr/>
          <p:nvPr/>
        </p:nvSpPr>
        <p:spPr>
          <a:xfrm>
            <a:off x="6045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2</a:t>
            </a:r>
            <a:endParaRPr lang="en-US" sz="1200" dirty="0"/>
          </a:p>
        </p:txBody>
      </p:sp>
      <p:sp>
        <p:nvSpPr>
          <p:cNvPr id="18" name="Text 16"/>
          <p:cNvSpPr/>
          <p:nvPr/>
        </p:nvSpPr>
        <p:spPr>
          <a:xfrm>
            <a:off x="6426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3</a:t>
            </a:r>
            <a:endParaRPr lang="en-US" sz="1200" dirty="0"/>
          </a:p>
        </p:txBody>
      </p:sp>
      <p:sp>
        <p:nvSpPr>
          <p:cNvPr id="19" name="Text 17"/>
          <p:cNvSpPr/>
          <p:nvPr/>
        </p:nvSpPr>
        <p:spPr>
          <a:xfrm>
            <a:off x="6807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4</a:t>
            </a:r>
            <a:endParaRPr lang="en-US" sz="1200" dirty="0"/>
          </a:p>
        </p:txBody>
      </p:sp>
      <p:sp>
        <p:nvSpPr>
          <p:cNvPr id="20" name="Text 18"/>
          <p:cNvSpPr/>
          <p:nvPr/>
        </p:nvSpPr>
        <p:spPr>
          <a:xfrm>
            <a:off x="7188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5</a:t>
            </a:r>
            <a:endParaRPr lang="en-US" sz="1200" dirty="0"/>
          </a:p>
        </p:txBody>
      </p:sp>
      <p:sp>
        <p:nvSpPr>
          <p:cNvPr id="21" name="Text 19"/>
          <p:cNvSpPr/>
          <p:nvPr/>
        </p:nvSpPr>
        <p:spPr>
          <a:xfrm>
            <a:off x="7569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6</a:t>
            </a:r>
            <a:endParaRPr lang="en-US" sz="1200" dirty="0"/>
          </a:p>
        </p:txBody>
      </p:sp>
      <p:sp>
        <p:nvSpPr>
          <p:cNvPr id="22" name="Text 20"/>
          <p:cNvSpPr/>
          <p:nvPr/>
        </p:nvSpPr>
        <p:spPr>
          <a:xfrm>
            <a:off x="7950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7</a:t>
            </a:r>
            <a:endParaRPr lang="en-US" sz="1200" dirty="0"/>
          </a:p>
        </p:txBody>
      </p:sp>
      <p:sp>
        <p:nvSpPr>
          <p:cNvPr id="23" name="Text 21"/>
          <p:cNvSpPr/>
          <p:nvPr/>
        </p:nvSpPr>
        <p:spPr>
          <a:xfrm>
            <a:off x="8331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8</a:t>
            </a:r>
            <a:endParaRPr lang="en-US" sz="1200" dirty="0"/>
          </a:p>
        </p:txBody>
      </p:sp>
      <p:sp>
        <p:nvSpPr>
          <p:cNvPr id="24" name="Text 22"/>
          <p:cNvSpPr/>
          <p:nvPr/>
        </p:nvSpPr>
        <p:spPr>
          <a:xfrm>
            <a:off x="8712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25" name="Text 23"/>
          <p:cNvSpPr/>
          <p:nvPr/>
        </p:nvSpPr>
        <p:spPr>
          <a:xfrm>
            <a:off x="9093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10</a:t>
            </a:r>
            <a:endParaRPr lang="en-US" sz="1200" dirty="0"/>
          </a:p>
        </p:txBody>
      </p:sp>
      <p:sp>
        <p:nvSpPr>
          <p:cNvPr id="26" name="Text 24"/>
          <p:cNvSpPr/>
          <p:nvPr/>
        </p:nvSpPr>
        <p:spPr>
          <a:xfrm>
            <a:off x="9474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11</a:t>
            </a:r>
            <a:endParaRPr lang="en-US" sz="1200" dirty="0"/>
          </a:p>
        </p:txBody>
      </p:sp>
      <p:sp>
        <p:nvSpPr>
          <p:cNvPr id="27" name="Text 25"/>
          <p:cNvSpPr/>
          <p:nvPr/>
        </p:nvSpPr>
        <p:spPr>
          <a:xfrm>
            <a:off x="9855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12</a:t>
            </a:r>
            <a:endParaRPr lang="en-US" sz="1200" dirty="0"/>
          </a:p>
        </p:txBody>
      </p:sp>
      <p:sp>
        <p:nvSpPr>
          <p:cNvPr id="28" name="Text 26"/>
          <p:cNvSpPr/>
          <p:nvPr/>
        </p:nvSpPr>
        <p:spPr>
          <a:xfrm>
            <a:off x="10236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13</a:t>
            </a:r>
            <a:endParaRPr lang="en-US" sz="1200" dirty="0"/>
          </a:p>
        </p:txBody>
      </p:sp>
      <p:sp>
        <p:nvSpPr>
          <p:cNvPr id="29" name="Text 27"/>
          <p:cNvSpPr/>
          <p:nvPr/>
        </p:nvSpPr>
        <p:spPr>
          <a:xfrm>
            <a:off x="10617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14</a:t>
            </a:r>
            <a:endParaRPr lang="en-US" sz="1200" dirty="0"/>
          </a:p>
        </p:txBody>
      </p:sp>
      <p:sp>
        <p:nvSpPr>
          <p:cNvPr id="30" name="Text 28"/>
          <p:cNvSpPr/>
          <p:nvPr/>
        </p:nvSpPr>
        <p:spPr>
          <a:xfrm>
            <a:off x="10998200" y="2743150"/>
            <a:ext cx="406400" cy="203696"/>
          </a:xfrm>
          <a:prstGeom prst="rect">
            <a:avLst/>
          </a:prstGeom>
          <a:noFill/>
          <a:ln/>
        </p:spPr>
        <p:txBody>
          <a:bodyPr wrap="square" lIns="0" tIns="0" rIns="0" bIns="0" rtlCol="0" anchor="t">
            <a:normAutofit/>
          </a:bodyPr>
          <a:lstStyle/>
          <a:p>
            <a:pPr algn="ctr" indent="0" marL="0">
              <a:lnSpc>
                <a:spcPts val="1404"/>
              </a:lnSpc>
              <a:buNone/>
            </a:pPr>
            <a:r>
              <a:rPr lang="en-US" sz="1200" dirty="0">
                <a:solidFill>
                  <a:srgbClr val="7D8894"/>
                </a:solidFill>
                <a:latin typeface="Courier New" pitchFamily="49" charset="0"/>
                <a:ea typeface="Courier New" pitchFamily="49" charset="-122"/>
                <a:cs typeface="Courier New" pitchFamily="49" charset="-120"/>
              </a:rPr>
              <a:t>15</a:t>
            </a:r>
            <a:endParaRPr lang="en-US" sz="1200" dirty="0"/>
          </a:p>
        </p:txBody>
      </p:sp>
      <p:sp>
        <p:nvSpPr>
          <p:cNvPr id="31" name="Text 29"/>
          <p:cNvSpPr/>
          <p:nvPr/>
        </p:nvSpPr>
        <p:spPr>
          <a:xfrm>
            <a:off x="4978400" y="2946846"/>
            <a:ext cx="685800" cy="228054"/>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7D8894"/>
                </a:solidFill>
                <a:latin typeface="Courier New" pitchFamily="49" charset="0"/>
                <a:ea typeface="Courier New" pitchFamily="49" charset="-122"/>
                <a:cs typeface="Courier New" pitchFamily="49" charset="-120"/>
              </a:rPr>
              <a:t>%</a:t>
            </a:r>
            <a:endParaRPr lang="en-US" sz="1200" dirty="0"/>
          </a:p>
        </p:txBody>
      </p:sp>
      <p:sp>
        <p:nvSpPr>
          <p:cNvPr id="32" name="Text 30"/>
          <p:cNvSpPr/>
          <p:nvPr/>
        </p:nvSpPr>
        <p:spPr>
          <a:xfrm>
            <a:off x="5664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a:t>
            </a:r>
            <a:endParaRPr lang="en-US" sz="1200" dirty="0"/>
          </a:p>
        </p:txBody>
      </p:sp>
      <p:sp>
        <p:nvSpPr>
          <p:cNvPr id="33" name="Text 31"/>
          <p:cNvSpPr/>
          <p:nvPr/>
        </p:nvSpPr>
        <p:spPr>
          <a:xfrm>
            <a:off x="6045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60</a:t>
            </a:r>
            <a:endParaRPr lang="en-US" sz="1200" dirty="0"/>
          </a:p>
        </p:txBody>
      </p:sp>
      <p:sp>
        <p:nvSpPr>
          <p:cNvPr id="34" name="Text 32"/>
          <p:cNvSpPr/>
          <p:nvPr/>
        </p:nvSpPr>
        <p:spPr>
          <a:xfrm>
            <a:off x="6426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56</a:t>
            </a:r>
            <a:endParaRPr lang="en-US" sz="1200" dirty="0"/>
          </a:p>
        </p:txBody>
      </p:sp>
      <p:sp>
        <p:nvSpPr>
          <p:cNvPr id="35" name="Text 33"/>
          <p:cNvSpPr/>
          <p:nvPr/>
        </p:nvSpPr>
        <p:spPr>
          <a:xfrm>
            <a:off x="6807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a:t>
            </a:r>
            <a:endParaRPr lang="en-US" sz="1200" dirty="0"/>
          </a:p>
        </p:txBody>
      </p:sp>
      <p:sp>
        <p:nvSpPr>
          <p:cNvPr id="36" name="Text 34"/>
          <p:cNvSpPr/>
          <p:nvPr/>
        </p:nvSpPr>
        <p:spPr>
          <a:xfrm>
            <a:off x="7188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a:t>
            </a:r>
            <a:endParaRPr lang="en-US" sz="1200" dirty="0"/>
          </a:p>
        </p:txBody>
      </p:sp>
      <p:sp>
        <p:nvSpPr>
          <p:cNvPr id="37" name="Text 35"/>
          <p:cNvSpPr/>
          <p:nvPr/>
        </p:nvSpPr>
        <p:spPr>
          <a:xfrm>
            <a:off x="7569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99</a:t>
            </a:r>
            <a:endParaRPr lang="en-US" sz="1200" dirty="0"/>
          </a:p>
        </p:txBody>
      </p:sp>
      <p:sp>
        <p:nvSpPr>
          <p:cNvPr id="38" name="Text 36"/>
          <p:cNvSpPr/>
          <p:nvPr/>
        </p:nvSpPr>
        <p:spPr>
          <a:xfrm>
            <a:off x="7950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99</a:t>
            </a:r>
            <a:endParaRPr lang="en-US" sz="1200" dirty="0"/>
          </a:p>
        </p:txBody>
      </p:sp>
      <p:sp>
        <p:nvSpPr>
          <p:cNvPr id="39" name="Text 37"/>
          <p:cNvSpPr/>
          <p:nvPr/>
        </p:nvSpPr>
        <p:spPr>
          <a:xfrm>
            <a:off x="8331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95</a:t>
            </a:r>
            <a:endParaRPr lang="en-US" sz="1200" dirty="0"/>
          </a:p>
        </p:txBody>
      </p:sp>
      <p:sp>
        <p:nvSpPr>
          <p:cNvPr id="40" name="Text 38"/>
          <p:cNvSpPr/>
          <p:nvPr/>
        </p:nvSpPr>
        <p:spPr>
          <a:xfrm>
            <a:off x="8712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97</a:t>
            </a:r>
            <a:endParaRPr lang="en-US" sz="1200" dirty="0"/>
          </a:p>
        </p:txBody>
      </p:sp>
      <p:sp>
        <p:nvSpPr>
          <p:cNvPr id="41" name="Text 39"/>
          <p:cNvSpPr/>
          <p:nvPr/>
        </p:nvSpPr>
        <p:spPr>
          <a:xfrm>
            <a:off x="9093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100</a:t>
            </a:r>
            <a:endParaRPr lang="en-US" sz="1200" dirty="0"/>
          </a:p>
        </p:txBody>
      </p:sp>
      <p:sp>
        <p:nvSpPr>
          <p:cNvPr id="42" name="Text 40"/>
          <p:cNvSpPr/>
          <p:nvPr/>
        </p:nvSpPr>
        <p:spPr>
          <a:xfrm>
            <a:off x="9474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100</a:t>
            </a:r>
            <a:endParaRPr lang="en-US" sz="1200" dirty="0"/>
          </a:p>
        </p:txBody>
      </p:sp>
      <p:sp>
        <p:nvSpPr>
          <p:cNvPr id="43" name="Text 41"/>
          <p:cNvSpPr/>
          <p:nvPr/>
        </p:nvSpPr>
        <p:spPr>
          <a:xfrm>
            <a:off x="9855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100</a:t>
            </a:r>
            <a:endParaRPr lang="en-US" sz="1200" dirty="0"/>
          </a:p>
        </p:txBody>
      </p:sp>
      <p:sp>
        <p:nvSpPr>
          <p:cNvPr id="44" name="Text 42"/>
          <p:cNvSpPr/>
          <p:nvPr/>
        </p:nvSpPr>
        <p:spPr>
          <a:xfrm>
            <a:off x="10236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100</a:t>
            </a:r>
            <a:endParaRPr lang="en-US" sz="1200" dirty="0"/>
          </a:p>
        </p:txBody>
      </p:sp>
      <p:sp>
        <p:nvSpPr>
          <p:cNvPr id="45" name="Text 43"/>
          <p:cNvSpPr/>
          <p:nvPr/>
        </p:nvSpPr>
        <p:spPr>
          <a:xfrm>
            <a:off x="10617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100</a:t>
            </a:r>
            <a:endParaRPr lang="en-US" sz="1200" dirty="0"/>
          </a:p>
        </p:txBody>
      </p:sp>
      <p:sp>
        <p:nvSpPr>
          <p:cNvPr id="46" name="Text 44"/>
          <p:cNvSpPr/>
          <p:nvPr/>
        </p:nvSpPr>
        <p:spPr>
          <a:xfrm>
            <a:off x="10998200" y="2946846"/>
            <a:ext cx="406400" cy="228054"/>
          </a:xfrm>
          <a:prstGeom prst="rect">
            <a:avLst/>
          </a:prstGeom>
          <a:noFill/>
          <a:ln/>
        </p:spPr>
        <p:txBody>
          <a:bodyPr wrap="square" lIns="0" tIns="0" rIns="0" bIns="0" rtlCol="0" anchor="t">
            <a:normAutofit/>
          </a:bodyPr>
          <a:lstStyle/>
          <a:p>
            <a:pPr algn="ctr" indent="0" marL="0">
              <a:lnSpc>
                <a:spcPts val="1596"/>
              </a:lnSpc>
              <a:buNone/>
            </a:pPr>
            <a:r>
              <a:rPr lang="en-US" sz="1200" dirty="0">
                <a:solidFill>
                  <a:srgbClr val="A9B4BF"/>
                </a:solidFill>
                <a:latin typeface="Courier New" pitchFamily="49" charset="0"/>
                <a:ea typeface="Courier New" pitchFamily="49" charset="-122"/>
                <a:cs typeface="Courier New" pitchFamily="49" charset="-120"/>
              </a:rPr>
              <a:t>100</a:t>
            </a:r>
            <a:endParaRPr lang="en-US" sz="1200" dirty="0"/>
          </a:p>
        </p:txBody>
      </p:sp>
      <p:sp>
        <p:nvSpPr>
          <p:cNvPr id="47" name="Text 45"/>
          <p:cNvSpPr/>
          <p:nvPr/>
        </p:nvSpPr>
        <p:spPr>
          <a:xfrm>
            <a:off x="4978400" y="3174901"/>
            <a:ext cx="685800" cy="356592"/>
          </a:xfrm>
          <a:prstGeom prst="rect">
            <a:avLst/>
          </a:prstGeom>
          <a:noFill/>
          <a:ln/>
        </p:spPr>
        <p:txBody>
          <a:bodyPr wrap="square" lIns="0" tIns="0" rIns="0" bIns="0" rtlCol="0" anchor="t">
            <a:normAutofit/>
          </a:bodyPr>
          <a:lstStyle/>
          <a:p>
            <a:pPr algn="r" indent="0" marL="0">
              <a:lnSpc>
                <a:spcPts val="1956"/>
              </a:lnSpc>
              <a:buNone/>
            </a:pPr>
            <a:r>
              <a:rPr lang="en-US" sz="1200" dirty="0">
                <a:solidFill>
                  <a:srgbClr val="A9B4BF"/>
                </a:solidFill>
                <a:latin typeface="Arial" pitchFamily="34" charset="0"/>
                <a:ea typeface="Arial" pitchFamily="34" charset="-122"/>
                <a:cs typeface="Arial" pitchFamily="34" charset="-120"/>
              </a:rPr>
              <a:t>1回目</a:t>
            </a:r>
            <a:endParaRPr lang="en-US" sz="1200" dirty="0"/>
          </a:p>
        </p:txBody>
      </p:sp>
      <p:sp>
        <p:nvSpPr>
          <p:cNvPr id="48" name="Text 46"/>
          <p:cNvSpPr/>
          <p:nvPr/>
        </p:nvSpPr>
        <p:spPr>
          <a:xfrm>
            <a:off x="5689600" y="3174901"/>
            <a:ext cx="355600" cy="331192"/>
          </a:xfrm>
          <a:prstGeom prst="rect">
            <a:avLst/>
          </a:prstGeom>
          <a:solidFill>
            <a:srgbClr val="7A4520"/>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Q</a:t>
            </a:r>
            <a:endParaRPr lang="en-US" sz="1600" dirty="0"/>
          </a:p>
        </p:txBody>
      </p:sp>
      <p:sp>
        <p:nvSpPr>
          <p:cNvPr id="49" name="Text 47"/>
          <p:cNvSpPr/>
          <p:nvPr/>
        </p:nvSpPr>
        <p:spPr>
          <a:xfrm>
            <a:off x="6070600" y="3174901"/>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L</a:t>
            </a:r>
            <a:endParaRPr lang="en-US" sz="1600" dirty="0"/>
          </a:p>
        </p:txBody>
      </p:sp>
      <p:sp>
        <p:nvSpPr>
          <p:cNvPr id="50" name="Text 48"/>
          <p:cNvSpPr/>
          <p:nvPr/>
        </p:nvSpPr>
        <p:spPr>
          <a:xfrm>
            <a:off x="6451600" y="3174901"/>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H</a:t>
            </a:r>
            <a:endParaRPr lang="en-US" sz="1600" dirty="0"/>
          </a:p>
        </p:txBody>
      </p:sp>
      <p:sp>
        <p:nvSpPr>
          <p:cNvPr id="51" name="Text 49"/>
          <p:cNvSpPr/>
          <p:nvPr/>
        </p:nvSpPr>
        <p:spPr>
          <a:xfrm>
            <a:off x="6832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52" name="Text 50"/>
          <p:cNvSpPr/>
          <p:nvPr/>
        </p:nvSpPr>
        <p:spPr>
          <a:xfrm>
            <a:off x="7213600" y="3174901"/>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M</a:t>
            </a:r>
            <a:endParaRPr lang="en-US" sz="1600" dirty="0"/>
          </a:p>
        </p:txBody>
      </p:sp>
      <p:sp>
        <p:nvSpPr>
          <p:cNvPr id="53" name="Text 51"/>
          <p:cNvSpPr/>
          <p:nvPr/>
        </p:nvSpPr>
        <p:spPr>
          <a:xfrm>
            <a:off x="7594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5</a:t>
            </a:r>
            <a:endParaRPr lang="en-US" sz="1600" dirty="0"/>
          </a:p>
        </p:txBody>
      </p:sp>
      <p:sp>
        <p:nvSpPr>
          <p:cNvPr id="54" name="Text 52"/>
          <p:cNvSpPr/>
          <p:nvPr/>
        </p:nvSpPr>
        <p:spPr>
          <a:xfrm>
            <a:off x="7975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O</a:t>
            </a:r>
            <a:endParaRPr lang="en-US" sz="1600" dirty="0"/>
          </a:p>
        </p:txBody>
      </p:sp>
      <p:sp>
        <p:nvSpPr>
          <p:cNvPr id="55" name="Text 53"/>
          <p:cNvSpPr/>
          <p:nvPr/>
        </p:nvSpPr>
        <p:spPr>
          <a:xfrm>
            <a:off x="8356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T</a:t>
            </a:r>
            <a:endParaRPr lang="en-US" sz="1600" dirty="0"/>
          </a:p>
        </p:txBody>
      </p:sp>
      <p:sp>
        <p:nvSpPr>
          <p:cNvPr id="56" name="Text 54"/>
          <p:cNvSpPr/>
          <p:nvPr/>
        </p:nvSpPr>
        <p:spPr>
          <a:xfrm>
            <a:off x="8737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V</a:t>
            </a:r>
            <a:endParaRPr lang="en-US" sz="1600" dirty="0"/>
          </a:p>
        </p:txBody>
      </p:sp>
      <p:sp>
        <p:nvSpPr>
          <p:cNvPr id="57" name="Text 55"/>
          <p:cNvSpPr/>
          <p:nvPr/>
        </p:nvSpPr>
        <p:spPr>
          <a:xfrm>
            <a:off x="9118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6</a:t>
            </a:r>
            <a:endParaRPr lang="en-US" sz="1600" dirty="0"/>
          </a:p>
        </p:txBody>
      </p:sp>
      <p:sp>
        <p:nvSpPr>
          <p:cNvPr id="58" name="Text 56"/>
          <p:cNvSpPr/>
          <p:nvPr/>
        </p:nvSpPr>
        <p:spPr>
          <a:xfrm>
            <a:off x="9499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C</a:t>
            </a:r>
            <a:endParaRPr lang="en-US" sz="1600" dirty="0"/>
          </a:p>
        </p:txBody>
      </p:sp>
      <p:sp>
        <p:nvSpPr>
          <p:cNvPr id="59" name="Text 57"/>
          <p:cNvSpPr/>
          <p:nvPr/>
        </p:nvSpPr>
        <p:spPr>
          <a:xfrm>
            <a:off x="9880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60" name="Text 58"/>
          <p:cNvSpPr/>
          <p:nvPr/>
        </p:nvSpPr>
        <p:spPr>
          <a:xfrm>
            <a:off x="10261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K</a:t>
            </a:r>
            <a:endParaRPr lang="en-US" sz="1600" dirty="0"/>
          </a:p>
        </p:txBody>
      </p:sp>
      <p:sp>
        <p:nvSpPr>
          <p:cNvPr id="61" name="Text 59"/>
          <p:cNvSpPr/>
          <p:nvPr/>
        </p:nvSpPr>
        <p:spPr>
          <a:xfrm>
            <a:off x="10642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A</a:t>
            </a:r>
            <a:endParaRPr lang="en-US" sz="1600" dirty="0"/>
          </a:p>
        </p:txBody>
      </p:sp>
      <p:sp>
        <p:nvSpPr>
          <p:cNvPr id="62" name="Text 60"/>
          <p:cNvSpPr/>
          <p:nvPr/>
        </p:nvSpPr>
        <p:spPr>
          <a:xfrm>
            <a:off x="11023600" y="3174901"/>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O</a:t>
            </a:r>
            <a:endParaRPr lang="en-US" sz="1600" dirty="0"/>
          </a:p>
        </p:txBody>
      </p:sp>
      <p:sp>
        <p:nvSpPr>
          <p:cNvPr id="63" name="Text 61"/>
          <p:cNvSpPr/>
          <p:nvPr/>
        </p:nvSpPr>
        <p:spPr>
          <a:xfrm>
            <a:off x="4978400" y="3531493"/>
            <a:ext cx="685800" cy="356592"/>
          </a:xfrm>
          <a:prstGeom prst="rect">
            <a:avLst/>
          </a:prstGeom>
          <a:noFill/>
          <a:ln/>
        </p:spPr>
        <p:txBody>
          <a:bodyPr wrap="square" lIns="0" tIns="0" rIns="0" bIns="0" rtlCol="0" anchor="t">
            <a:normAutofit/>
          </a:bodyPr>
          <a:lstStyle/>
          <a:p>
            <a:pPr algn="r" indent="0" marL="0">
              <a:lnSpc>
                <a:spcPts val="1956"/>
              </a:lnSpc>
              <a:buNone/>
            </a:pPr>
            <a:r>
              <a:rPr lang="en-US" sz="1200" dirty="0">
                <a:solidFill>
                  <a:srgbClr val="A9B4BF"/>
                </a:solidFill>
                <a:latin typeface="Arial" pitchFamily="34" charset="0"/>
                <a:ea typeface="Arial" pitchFamily="34" charset="-122"/>
                <a:cs typeface="Arial" pitchFamily="34" charset="-120"/>
              </a:rPr>
              <a:t>2回目</a:t>
            </a:r>
            <a:endParaRPr lang="en-US" sz="1200" dirty="0"/>
          </a:p>
        </p:txBody>
      </p:sp>
      <p:sp>
        <p:nvSpPr>
          <p:cNvPr id="64" name="Text 62"/>
          <p:cNvSpPr/>
          <p:nvPr/>
        </p:nvSpPr>
        <p:spPr>
          <a:xfrm>
            <a:off x="5689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Z</a:t>
            </a:r>
            <a:endParaRPr lang="en-US" sz="1600" dirty="0"/>
          </a:p>
        </p:txBody>
      </p:sp>
      <p:sp>
        <p:nvSpPr>
          <p:cNvPr id="65" name="Text 63"/>
          <p:cNvSpPr/>
          <p:nvPr/>
        </p:nvSpPr>
        <p:spPr>
          <a:xfrm>
            <a:off x="6070600" y="3531493"/>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E</a:t>
            </a:r>
            <a:endParaRPr lang="en-US" sz="1600" dirty="0"/>
          </a:p>
        </p:txBody>
      </p:sp>
      <p:sp>
        <p:nvSpPr>
          <p:cNvPr id="66" name="Text 64"/>
          <p:cNvSpPr/>
          <p:nvPr/>
        </p:nvSpPr>
        <p:spPr>
          <a:xfrm>
            <a:off x="6451600" y="3531493"/>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N</a:t>
            </a:r>
            <a:endParaRPr lang="en-US" sz="1600" dirty="0"/>
          </a:p>
        </p:txBody>
      </p:sp>
      <p:sp>
        <p:nvSpPr>
          <p:cNvPr id="67" name="Text 65"/>
          <p:cNvSpPr/>
          <p:nvPr/>
        </p:nvSpPr>
        <p:spPr>
          <a:xfrm>
            <a:off x="6832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68" name="Text 66"/>
          <p:cNvSpPr/>
          <p:nvPr/>
        </p:nvSpPr>
        <p:spPr>
          <a:xfrm>
            <a:off x="7213600" y="3531493"/>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2</a:t>
            </a:r>
            <a:endParaRPr lang="en-US" sz="1600" dirty="0"/>
          </a:p>
        </p:txBody>
      </p:sp>
      <p:sp>
        <p:nvSpPr>
          <p:cNvPr id="69" name="Text 67"/>
          <p:cNvSpPr/>
          <p:nvPr/>
        </p:nvSpPr>
        <p:spPr>
          <a:xfrm>
            <a:off x="7594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5</a:t>
            </a:r>
            <a:endParaRPr lang="en-US" sz="1600" dirty="0"/>
          </a:p>
        </p:txBody>
      </p:sp>
      <p:sp>
        <p:nvSpPr>
          <p:cNvPr id="70" name="Text 68"/>
          <p:cNvSpPr/>
          <p:nvPr/>
        </p:nvSpPr>
        <p:spPr>
          <a:xfrm>
            <a:off x="7975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O</a:t>
            </a:r>
            <a:endParaRPr lang="en-US" sz="1600" dirty="0"/>
          </a:p>
        </p:txBody>
      </p:sp>
      <p:sp>
        <p:nvSpPr>
          <p:cNvPr id="71" name="Text 69"/>
          <p:cNvSpPr/>
          <p:nvPr/>
        </p:nvSpPr>
        <p:spPr>
          <a:xfrm>
            <a:off x="8356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T</a:t>
            </a:r>
            <a:endParaRPr lang="en-US" sz="1600" dirty="0"/>
          </a:p>
        </p:txBody>
      </p:sp>
      <p:sp>
        <p:nvSpPr>
          <p:cNvPr id="72" name="Text 70"/>
          <p:cNvSpPr/>
          <p:nvPr/>
        </p:nvSpPr>
        <p:spPr>
          <a:xfrm>
            <a:off x="8737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V</a:t>
            </a:r>
            <a:endParaRPr lang="en-US" sz="1600" dirty="0"/>
          </a:p>
        </p:txBody>
      </p:sp>
      <p:sp>
        <p:nvSpPr>
          <p:cNvPr id="73" name="Text 71"/>
          <p:cNvSpPr/>
          <p:nvPr/>
        </p:nvSpPr>
        <p:spPr>
          <a:xfrm>
            <a:off x="9118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6</a:t>
            </a:r>
            <a:endParaRPr lang="en-US" sz="1600" dirty="0"/>
          </a:p>
        </p:txBody>
      </p:sp>
      <p:sp>
        <p:nvSpPr>
          <p:cNvPr id="74" name="Text 72"/>
          <p:cNvSpPr/>
          <p:nvPr/>
        </p:nvSpPr>
        <p:spPr>
          <a:xfrm>
            <a:off x="9499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C</a:t>
            </a:r>
            <a:endParaRPr lang="en-US" sz="1600" dirty="0"/>
          </a:p>
        </p:txBody>
      </p:sp>
      <p:sp>
        <p:nvSpPr>
          <p:cNvPr id="75" name="Text 73"/>
          <p:cNvSpPr/>
          <p:nvPr/>
        </p:nvSpPr>
        <p:spPr>
          <a:xfrm>
            <a:off x="9880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76" name="Text 74"/>
          <p:cNvSpPr/>
          <p:nvPr/>
        </p:nvSpPr>
        <p:spPr>
          <a:xfrm>
            <a:off x="10261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K</a:t>
            </a:r>
            <a:endParaRPr lang="en-US" sz="1600" dirty="0"/>
          </a:p>
        </p:txBody>
      </p:sp>
      <p:sp>
        <p:nvSpPr>
          <p:cNvPr id="77" name="Text 75"/>
          <p:cNvSpPr/>
          <p:nvPr/>
        </p:nvSpPr>
        <p:spPr>
          <a:xfrm>
            <a:off x="10642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A</a:t>
            </a:r>
            <a:endParaRPr lang="en-US" sz="1600" dirty="0"/>
          </a:p>
        </p:txBody>
      </p:sp>
      <p:sp>
        <p:nvSpPr>
          <p:cNvPr id="78" name="Text 76"/>
          <p:cNvSpPr/>
          <p:nvPr/>
        </p:nvSpPr>
        <p:spPr>
          <a:xfrm>
            <a:off x="11023600" y="3531493"/>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O</a:t>
            </a:r>
            <a:endParaRPr lang="en-US" sz="1600" dirty="0"/>
          </a:p>
        </p:txBody>
      </p:sp>
      <p:sp>
        <p:nvSpPr>
          <p:cNvPr id="79" name="Text 77"/>
          <p:cNvSpPr/>
          <p:nvPr/>
        </p:nvSpPr>
        <p:spPr>
          <a:xfrm>
            <a:off x="4978400" y="3888085"/>
            <a:ext cx="685800" cy="356592"/>
          </a:xfrm>
          <a:prstGeom prst="rect">
            <a:avLst/>
          </a:prstGeom>
          <a:noFill/>
          <a:ln/>
        </p:spPr>
        <p:txBody>
          <a:bodyPr wrap="square" lIns="0" tIns="0" rIns="0" bIns="0" rtlCol="0" anchor="t">
            <a:normAutofit/>
          </a:bodyPr>
          <a:lstStyle/>
          <a:p>
            <a:pPr algn="r" indent="0" marL="0">
              <a:lnSpc>
                <a:spcPts val="1956"/>
              </a:lnSpc>
              <a:buNone/>
            </a:pPr>
            <a:r>
              <a:rPr lang="en-US" sz="1200" dirty="0">
                <a:solidFill>
                  <a:srgbClr val="A9B4BF"/>
                </a:solidFill>
                <a:latin typeface="Arial" pitchFamily="34" charset="0"/>
                <a:ea typeface="Arial" pitchFamily="34" charset="-122"/>
                <a:cs typeface="Arial" pitchFamily="34" charset="-120"/>
              </a:rPr>
              <a:t>3回目</a:t>
            </a:r>
            <a:endParaRPr lang="en-US" sz="1200" dirty="0"/>
          </a:p>
        </p:txBody>
      </p:sp>
      <p:sp>
        <p:nvSpPr>
          <p:cNvPr id="80" name="Text 78"/>
          <p:cNvSpPr/>
          <p:nvPr/>
        </p:nvSpPr>
        <p:spPr>
          <a:xfrm>
            <a:off x="5689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Z</a:t>
            </a:r>
            <a:endParaRPr lang="en-US" sz="1600" dirty="0"/>
          </a:p>
        </p:txBody>
      </p:sp>
      <p:sp>
        <p:nvSpPr>
          <p:cNvPr id="81" name="Text 79"/>
          <p:cNvSpPr/>
          <p:nvPr/>
        </p:nvSpPr>
        <p:spPr>
          <a:xfrm>
            <a:off x="6070600" y="3888085"/>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E</a:t>
            </a:r>
            <a:endParaRPr lang="en-US" sz="1600" dirty="0"/>
          </a:p>
        </p:txBody>
      </p:sp>
      <p:sp>
        <p:nvSpPr>
          <p:cNvPr id="82" name="Text 80"/>
          <p:cNvSpPr/>
          <p:nvPr/>
        </p:nvSpPr>
        <p:spPr>
          <a:xfrm>
            <a:off x="6451600" y="3888085"/>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N</a:t>
            </a:r>
            <a:endParaRPr lang="en-US" sz="1600" dirty="0"/>
          </a:p>
        </p:txBody>
      </p:sp>
      <p:sp>
        <p:nvSpPr>
          <p:cNvPr id="83" name="Text 81"/>
          <p:cNvSpPr/>
          <p:nvPr/>
        </p:nvSpPr>
        <p:spPr>
          <a:xfrm>
            <a:off x="6832600" y="3888085"/>
            <a:ext cx="355600" cy="331192"/>
          </a:xfrm>
          <a:prstGeom prst="rect">
            <a:avLst/>
          </a:prstGeom>
          <a:solidFill>
            <a:srgbClr val="7A4520"/>
          </a:solidFill>
          <a:ln/>
        </p:spPr>
        <p:txBody>
          <a:bodyPr wrap="square" lIns="0" tIns="0" rIns="0" bIns="0" rtlCol="0" anchor="t">
            <a:normAutofit/>
          </a:bodyPr>
          <a:lstStyle/>
          <a:p>
            <a:pPr algn="ctr" indent="0" marL="0">
              <a:lnSpc>
                <a:spcPts val="2608"/>
              </a:lnSpc>
              <a:buNone/>
            </a:pPr>
            <a:r>
              <a:rPr lang="en-US" sz="1600" dirty="0">
                <a:solidFill>
                  <a:srgbClr val="E6EDF3"/>
                </a:solidFill>
                <a:latin typeface="Courier New" pitchFamily="49" charset="0"/>
                <a:ea typeface="Courier New" pitchFamily="49" charset="-122"/>
                <a:cs typeface="Courier New" pitchFamily="49" charset="-120"/>
              </a:rPr>
              <a:t>Q</a:t>
            </a:r>
            <a:endParaRPr lang="en-US" sz="1600" dirty="0"/>
          </a:p>
        </p:txBody>
      </p:sp>
      <p:sp>
        <p:nvSpPr>
          <p:cNvPr id="84" name="Text 82"/>
          <p:cNvSpPr/>
          <p:nvPr/>
        </p:nvSpPr>
        <p:spPr>
          <a:xfrm>
            <a:off x="7213600" y="3888085"/>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I</a:t>
            </a:r>
            <a:endParaRPr lang="en-US" sz="1600" dirty="0"/>
          </a:p>
        </p:txBody>
      </p:sp>
      <p:sp>
        <p:nvSpPr>
          <p:cNvPr id="85" name="Text 83"/>
          <p:cNvSpPr/>
          <p:nvPr/>
        </p:nvSpPr>
        <p:spPr>
          <a:xfrm>
            <a:off x="7594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5</a:t>
            </a:r>
            <a:endParaRPr lang="en-US" sz="1600" dirty="0"/>
          </a:p>
        </p:txBody>
      </p:sp>
      <p:sp>
        <p:nvSpPr>
          <p:cNvPr id="86" name="Text 84"/>
          <p:cNvSpPr/>
          <p:nvPr/>
        </p:nvSpPr>
        <p:spPr>
          <a:xfrm>
            <a:off x="7975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O</a:t>
            </a:r>
            <a:endParaRPr lang="en-US" sz="1600" dirty="0"/>
          </a:p>
        </p:txBody>
      </p:sp>
      <p:sp>
        <p:nvSpPr>
          <p:cNvPr id="87" name="Text 85"/>
          <p:cNvSpPr/>
          <p:nvPr/>
        </p:nvSpPr>
        <p:spPr>
          <a:xfrm>
            <a:off x="8356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T</a:t>
            </a:r>
            <a:endParaRPr lang="en-US" sz="1600" dirty="0"/>
          </a:p>
        </p:txBody>
      </p:sp>
      <p:sp>
        <p:nvSpPr>
          <p:cNvPr id="88" name="Text 86"/>
          <p:cNvSpPr/>
          <p:nvPr/>
        </p:nvSpPr>
        <p:spPr>
          <a:xfrm>
            <a:off x="8737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V</a:t>
            </a:r>
            <a:endParaRPr lang="en-US" sz="1600" dirty="0"/>
          </a:p>
        </p:txBody>
      </p:sp>
      <p:sp>
        <p:nvSpPr>
          <p:cNvPr id="89" name="Text 87"/>
          <p:cNvSpPr/>
          <p:nvPr/>
        </p:nvSpPr>
        <p:spPr>
          <a:xfrm>
            <a:off x="9118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6</a:t>
            </a:r>
            <a:endParaRPr lang="en-US" sz="1600" dirty="0"/>
          </a:p>
        </p:txBody>
      </p:sp>
      <p:sp>
        <p:nvSpPr>
          <p:cNvPr id="90" name="Text 88"/>
          <p:cNvSpPr/>
          <p:nvPr/>
        </p:nvSpPr>
        <p:spPr>
          <a:xfrm>
            <a:off x="9499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C</a:t>
            </a:r>
            <a:endParaRPr lang="en-US" sz="1600" dirty="0"/>
          </a:p>
        </p:txBody>
      </p:sp>
      <p:sp>
        <p:nvSpPr>
          <p:cNvPr id="91" name="Text 89"/>
          <p:cNvSpPr/>
          <p:nvPr/>
        </p:nvSpPr>
        <p:spPr>
          <a:xfrm>
            <a:off x="9880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92" name="Text 90"/>
          <p:cNvSpPr/>
          <p:nvPr/>
        </p:nvSpPr>
        <p:spPr>
          <a:xfrm>
            <a:off x="10261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K</a:t>
            </a:r>
            <a:endParaRPr lang="en-US" sz="1600" dirty="0"/>
          </a:p>
        </p:txBody>
      </p:sp>
      <p:sp>
        <p:nvSpPr>
          <p:cNvPr id="93" name="Text 91"/>
          <p:cNvSpPr/>
          <p:nvPr/>
        </p:nvSpPr>
        <p:spPr>
          <a:xfrm>
            <a:off x="10642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A</a:t>
            </a:r>
            <a:endParaRPr lang="en-US" sz="1600" dirty="0"/>
          </a:p>
        </p:txBody>
      </p:sp>
      <p:sp>
        <p:nvSpPr>
          <p:cNvPr id="94" name="Text 92"/>
          <p:cNvSpPr/>
          <p:nvPr/>
        </p:nvSpPr>
        <p:spPr>
          <a:xfrm>
            <a:off x="11023600" y="3888085"/>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O</a:t>
            </a:r>
            <a:endParaRPr lang="en-US" sz="1600" dirty="0"/>
          </a:p>
        </p:txBody>
      </p:sp>
      <p:sp>
        <p:nvSpPr>
          <p:cNvPr id="95" name="Text 93"/>
          <p:cNvSpPr/>
          <p:nvPr/>
        </p:nvSpPr>
        <p:spPr>
          <a:xfrm>
            <a:off x="4978400" y="4244677"/>
            <a:ext cx="685800" cy="356592"/>
          </a:xfrm>
          <a:prstGeom prst="rect">
            <a:avLst/>
          </a:prstGeom>
          <a:noFill/>
          <a:ln/>
        </p:spPr>
        <p:txBody>
          <a:bodyPr wrap="square" lIns="0" tIns="0" rIns="0" bIns="0" rtlCol="0" anchor="t">
            <a:normAutofit/>
          </a:bodyPr>
          <a:lstStyle/>
          <a:p>
            <a:pPr algn="r" indent="0" marL="0">
              <a:lnSpc>
                <a:spcPts val="1956"/>
              </a:lnSpc>
              <a:buNone/>
            </a:pPr>
            <a:r>
              <a:rPr lang="en-US" sz="1200" dirty="0">
                <a:solidFill>
                  <a:srgbClr val="A9B4BF"/>
                </a:solidFill>
                <a:latin typeface="Arial" pitchFamily="34" charset="0"/>
                <a:ea typeface="Arial" pitchFamily="34" charset="-122"/>
                <a:cs typeface="Arial" pitchFamily="34" charset="-120"/>
              </a:rPr>
              <a:t>4回目</a:t>
            </a:r>
            <a:endParaRPr lang="en-US" sz="1200" dirty="0"/>
          </a:p>
        </p:txBody>
      </p:sp>
      <p:sp>
        <p:nvSpPr>
          <p:cNvPr id="96" name="Text 94"/>
          <p:cNvSpPr/>
          <p:nvPr/>
        </p:nvSpPr>
        <p:spPr>
          <a:xfrm>
            <a:off x="5689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Z</a:t>
            </a:r>
            <a:endParaRPr lang="en-US" sz="1600" dirty="0"/>
          </a:p>
        </p:txBody>
      </p:sp>
      <p:sp>
        <p:nvSpPr>
          <p:cNvPr id="97" name="Text 95"/>
          <p:cNvSpPr/>
          <p:nvPr/>
        </p:nvSpPr>
        <p:spPr>
          <a:xfrm>
            <a:off x="6070600" y="4244677"/>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C</a:t>
            </a:r>
            <a:endParaRPr lang="en-US" sz="1600" dirty="0"/>
          </a:p>
        </p:txBody>
      </p:sp>
      <p:sp>
        <p:nvSpPr>
          <p:cNvPr id="98" name="Text 96"/>
          <p:cNvSpPr/>
          <p:nvPr/>
        </p:nvSpPr>
        <p:spPr>
          <a:xfrm>
            <a:off x="6451600" y="4244677"/>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U</a:t>
            </a:r>
            <a:endParaRPr lang="en-US" sz="1600" dirty="0"/>
          </a:p>
        </p:txBody>
      </p:sp>
      <p:sp>
        <p:nvSpPr>
          <p:cNvPr id="99" name="Text 97"/>
          <p:cNvSpPr/>
          <p:nvPr/>
        </p:nvSpPr>
        <p:spPr>
          <a:xfrm>
            <a:off x="6832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100" name="Text 98"/>
          <p:cNvSpPr/>
          <p:nvPr/>
        </p:nvSpPr>
        <p:spPr>
          <a:xfrm>
            <a:off x="7213600" y="4244677"/>
            <a:ext cx="355600" cy="331192"/>
          </a:xfrm>
          <a:prstGeom prst="rect">
            <a:avLst/>
          </a:prstGeom>
          <a:solidFill>
            <a:srgbClr val="232B33"/>
          </a:solidFill>
          <a:ln/>
        </p:spPr>
        <p:txBody>
          <a:bodyPr wrap="square" lIns="0" tIns="0" rIns="0" bIns="0" rtlCol="0" anchor="t">
            <a:normAutofit/>
          </a:bodyPr>
          <a:lstStyle/>
          <a:p>
            <a:pPr algn="ctr" indent="0" marL="0">
              <a:lnSpc>
                <a:spcPts val="2608"/>
              </a:lnSpc>
              <a:buNone/>
            </a:pPr>
            <a:r>
              <a:rPr lang="en-US" sz="1600" dirty="0">
                <a:solidFill>
                  <a:srgbClr val="C9D1D9"/>
                </a:solidFill>
                <a:latin typeface="Courier New" pitchFamily="49" charset="0"/>
                <a:ea typeface="Courier New" pitchFamily="49" charset="-122"/>
                <a:cs typeface="Courier New" pitchFamily="49" charset="-120"/>
              </a:rPr>
              <a:t>L</a:t>
            </a:r>
            <a:endParaRPr lang="en-US" sz="1600" dirty="0"/>
          </a:p>
        </p:txBody>
      </p:sp>
      <p:sp>
        <p:nvSpPr>
          <p:cNvPr id="101" name="Text 99"/>
          <p:cNvSpPr/>
          <p:nvPr/>
        </p:nvSpPr>
        <p:spPr>
          <a:xfrm>
            <a:off x="7594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5</a:t>
            </a:r>
            <a:endParaRPr lang="en-US" sz="1600" dirty="0"/>
          </a:p>
        </p:txBody>
      </p:sp>
      <p:sp>
        <p:nvSpPr>
          <p:cNvPr id="102" name="Text 100"/>
          <p:cNvSpPr/>
          <p:nvPr/>
        </p:nvSpPr>
        <p:spPr>
          <a:xfrm>
            <a:off x="7975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O</a:t>
            </a:r>
            <a:endParaRPr lang="en-US" sz="1600" dirty="0"/>
          </a:p>
        </p:txBody>
      </p:sp>
      <p:sp>
        <p:nvSpPr>
          <p:cNvPr id="103" name="Text 101"/>
          <p:cNvSpPr/>
          <p:nvPr/>
        </p:nvSpPr>
        <p:spPr>
          <a:xfrm>
            <a:off x="8356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T</a:t>
            </a:r>
            <a:endParaRPr lang="en-US" sz="1600" dirty="0"/>
          </a:p>
        </p:txBody>
      </p:sp>
      <p:sp>
        <p:nvSpPr>
          <p:cNvPr id="104" name="Text 102"/>
          <p:cNvSpPr/>
          <p:nvPr/>
        </p:nvSpPr>
        <p:spPr>
          <a:xfrm>
            <a:off x="8737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V</a:t>
            </a:r>
            <a:endParaRPr lang="en-US" sz="1600" dirty="0"/>
          </a:p>
        </p:txBody>
      </p:sp>
      <p:sp>
        <p:nvSpPr>
          <p:cNvPr id="105" name="Text 103"/>
          <p:cNvSpPr/>
          <p:nvPr/>
        </p:nvSpPr>
        <p:spPr>
          <a:xfrm>
            <a:off x="9118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6</a:t>
            </a:r>
            <a:endParaRPr lang="en-US" sz="1600" dirty="0"/>
          </a:p>
        </p:txBody>
      </p:sp>
      <p:sp>
        <p:nvSpPr>
          <p:cNvPr id="106" name="Text 104"/>
          <p:cNvSpPr/>
          <p:nvPr/>
        </p:nvSpPr>
        <p:spPr>
          <a:xfrm>
            <a:off x="9499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C</a:t>
            </a:r>
            <a:endParaRPr lang="en-US" sz="1600" dirty="0"/>
          </a:p>
        </p:txBody>
      </p:sp>
      <p:sp>
        <p:nvSpPr>
          <p:cNvPr id="107" name="Text 105"/>
          <p:cNvSpPr/>
          <p:nvPr/>
        </p:nvSpPr>
        <p:spPr>
          <a:xfrm>
            <a:off x="9880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Q</a:t>
            </a:r>
            <a:endParaRPr lang="en-US" sz="1600" dirty="0"/>
          </a:p>
        </p:txBody>
      </p:sp>
      <p:sp>
        <p:nvSpPr>
          <p:cNvPr id="108" name="Text 106"/>
          <p:cNvSpPr/>
          <p:nvPr/>
        </p:nvSpPr>
        <p:spPr>
          <a:xfrm>
            <a:off x="10261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K</a:t>
            </a:r>
            <a:endParaRPr lang="en-US" sz="1600" dirty="0"/>
          </a:p>
        </p:txBody>
      </p:sp>
      <p:sp>
        <p:nvSpPr>
          <p:cNvPr id="109" name="Text 107"/>
          <p:cNvSpPr/>
          <p:nvPr/>
        </p:nvSpPr>
        <p:spPr>
          <a:xfrm>
            <a:off x="10642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A</a:t>
            </a:r>
            <a:endParaRPr lang="en-US" sz="1600" dirty="0"/>
          </a:p>
        </p:txBody>
      </p:sp>
      <p:sp>
        <p:nvSpPr>
          <p:cNvPr id="110" name="Text 108"/>
          <p:cNvSpPr/>
          <p:nvPr/>
        </p:nvSpPr>
        <p:spPr>
          <a:xfrm>
            <a:off x="11023600" y="4244677"/>
            <a:ext cx="355600" cy="331192"/>
          </a:xfrm>
          <a:prstGeom prst="rect">
            <a:avLst/>
          </a:prstGeom>
          <a:solidFill>
            <a:srgbClr val="ED7D32"/>
          </a:solidFill>
          <a:ln/>
        </p:spPr>
        <p:txBody>
          <a:bodyPr wrap="square" lIns="0" tIns="0" rIns="0" bIns="0" rtlCol="0" anchor="t">
            <a:normAutofit/>
          </a:bodyPr>
          <a:lstStyle/>
          <a:p>
            <a:pPr algn="ctr" indent="0" marL="0">
              <a:lnSpc>
                <a:spcPts val="2608"/>
              </a:lnSpc>
              <a:buNone/>
            </a:pPr>
            <a:r>
              <a:rPr lang="en-US" sz="1600" b="1" dirty="0">
                <a:solidFill>
                  <a:srgbClr val="14110A"/>
                </a:solidFill>
                <a:latin typeface="Courier New" pitchFamily="49" charset="0"/>
                <a:ea typeface="Courier New" pitchFamily="49" charset="-122"/>
                <a:cs typeface="Courier New" pitchFamily="49" charset="-120"/>
              </a:rPr>
              <a:t>O</a:t>
            </a:r>
            <a:endParaRPr lang="en-US" sz="1600" dirty="0"/>
          </a:p>
        </p:txBody>
      </p:sp>
      <p:sp>
        <p:nvSpPr>
          <p:cNvPr id="111" name="Shape 109"/>
          <p:cNvSpPr/>
          <p:nvPr/>
        </p:nvSpPr>
        <p:spPr>
          <a:xfrm>
            <a:off x="5689600" y="4607620"/>
            <a:ext cx="3784600" cy="0"/>
          </a:xfrm>
          <a:prstGeom prst="line">
            <a:avLst/>
          </a:prstGeom>
          <a:noFill/>
          <a:ln w="12700">
            <a:solidFill>
              <a:srgbClr val="ED7D32"/>
            </a:solidFill>
            <a:prstDash val="solid"/>
          </a:ln>
        </p:spPr>
      </p:sp>
      <p:sp>
        <p:nvSpPr>
          <p:cNvPr id="112" name="Text 110"/>
          <p:cNvSpPr/>
          <p:nvPr/>
        </p:nvSpPr>
        <p:spPr>
          <a:xfrm>
            <a:off x="5632831" y="4639370"/>
            <a:ext cx="3898138"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9B4BF"/>
                </a:solidFill>
                <a:latin typeface="Arial" pitchFamily="34" charset="0"/>
                <a:ea typeface="Arial" pitchFamily="34" charset="-122"/>
                <a:cs typeface="Arial" pitchFamily="34" charset="-120"/>
              </a:rPr>
              <a:t>4回とも同じ</a:t>
            </a:r>
            <a:endParaRPr lang="en-US" sz="1200" dirty="0"/>
          </a:p>
        </p:txBody>
      </p:sp>
      <p:sp>
        <p:nvSpPr>
          <p:cNvPr id="113" name="Shape 111"/>
          <p:cNvSpPr/>
          <p:nvPr/>
        </p:nvSpPr>
        <p:spPr>
          <a:xfrm>
            <a:off x="5029200" y="5012680"/>
            <a:ext cx="152400" cy="152400"/>
          </a:xfrm>
          <a:prstGeom prst="rect">
            <a:avLst/>
          </a:prstGeom>
          <a:solidFill>
            <a:srgbClr val="ED7D32"/>
          </a:solidFill>
          <a:ln/>
        </p:spPr>
      </p:sp>
      <p:sp>
        <p:nvSpPr>
          <p:cNvPr id="114" name="Text 112"/>
          <p:cNvSpPr/>
          <p:nvPr/>
        </p:nvSpPr>
        <p:spPr>
          <a:xfrm>
            <a:off x="5232400" y="4989860"/>
            <a:ext cx="187503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どの回でも同じ文字の枠</a:t>
            </a:r>
            <a:endParaRPr lang="en-US" sz="1200" dirty="0"/>
          </a:p>
        </p:txBody>
      </p:sp>
      <p:sp>
        <p:nvSpPr>
          <p:cNvPr id="115" name="Shape 113"/>
          <p:cNvSpPr/>
          <p:nvPr/>
        </p:nvSpPr>
        <p:spPr>
          <a:xfrm>
            <a:off x="7107436" y="5012680"/>
            <a:ext cx="152400" cy="152400"/>
          </a:xfrm>
          <a:prstGeom prst="rect">
            <a:avLst/>
          </a:prstGeom>
          <a:solidFill>
            <a:srgbClr val="7A4520"/>
          </a:solidFill>
          <a:ln/>
        </p:spPr>
      </p:sp>
      <p:sp>
        <p:nvSpPr>
          <p:cNvPr id="116" name="Text 114"/>
          <p:cNvSpPr/>
          <p:nvPr/>
        </p:nvSpPr>
        <p:spPr>
          <a:xfrm>
            <a:off x="7310636" y="4989860"/>
            <a:ext cx="187201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同じ枠で、この回は違う</a:t>
            </a:r>
            <a:endParaRPr lang="en-US" sz="1200" dirty="0"/>
          </a:p>
        </p:txBody>
      </p:sp>
      <p:sp>
        <p:nvSpPr>
          <p:cNvPr id="117" name="Shape 115"/>
          <p:cNvSpPr/>
          <p:nvPr/>
        </p:nvSpPr>
        <p:spPr>
          <a:xfrm>
            <a:off x="9182646" y="5012680"/>
            <a:ext cx="152400" cy="152400"/>
          </a:xfrm>
          <a:prstGeom prst="rect">
            <a:avLst/>
          </a:prstGeom>
          <a:solidFill>
            <a:srgbClr val="232B33"/>
          </a:solidFill>
          <a:ln/>
        </p:spPr>
      </p:sp>
      <p:sp>
        <p:nvSpPr>
          <p:cNvPr id="118" name="Text 116"/>
          <p:cNvSpPr/>
          <p:nvPr/>
        </p:nvSpPr>
        <p:spPr>
          <a:xfrm>
            <a:off x="9385846" y="4989860"/>
            <a:ext cx="73152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変わる枠</a:t>
            </a:r>
            <a:endParaRPr lang="en-US" sz="1200" dirty="0"/>
          </a:p>
        </p:txBody>
      </p:sp>
      <p:sp>
        <p:nvSpPr>
          <p:cNvPr id="119" name="Text 1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20" name="Text 118"/>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G2・G3 EAMの構造</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枠がそろうG2・G3の組</a:t>
            </a:r>
            <a:endParaRPr lang="en-US" sz="3600" dirty="0"/>
          </a:p>
        </p:txBody>
      </p:sp>
      <p:sp>
        <p:nvSpPr>
          <p:cNvPr id="4" name="Text 2"/>
          <p:cNvSpPr/>
          <p:nvPr/>
        </p:nvSpPr>
        <p:spPr>
          <a:xfrm>
            <a:off x="812800" y="198115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3"/>
                </a:solidFill>
                <a:latin typeface="Arial" pitchFamily="34" charset="0"/>
                <a:ea typeface="Arial" pitchFamily="34" charset="-122"/>
                <a:cs typeface="Arial" pitchFamily="34" charset="-120"/>
              </a:rPr>
              <a:t>長い</a:t>
            </a:r>
            <a:r>
              <a:rPr lang="en-US" sz="1600" dirty="0">
                <a:solidFill>
                  <a:srgbClr val="ED7D32"/>
                </a:solidFill>
                <a:latin typeface="Arial" pitchFamily="34" charset="0"/>
                <a:ea typeface="Arial" pitchFamily="34" charset="-122"/>
                <a:cs typeface="Arial" pitchFamily="34" charset="-120"/>
              </a:rPr>
              <a:t>G2（40文字以上）</a:t>
            </a:r>
            <a:r>
              <a:rPr lang="en-US" sz="1600" dirty="0">
                <a:solidFill>
                  <a:srgbClr val="E6EDF3"/>
                </a:solidFill>
                <a:latin typeface="Arial" pitchFamily="34" charset="0"/>
                <a:ea typeface="Arial" pitchFamily="34" charset="-122"/>
                <a:cs typeface="Arial" pitchFamily="34" charset="-120"/>
              </a:rPr>
              <a:t>と14分以内の</a:t>
            </a:r>
            <a:r>
              <a:rPr lang="en-US" sz="1600" dirty="0">
                <a:solidFill>
                  <a:srgbClr val="FFCC00"/>
                </a:solidFill>
                <a:latin typeface="Arial" pitchFamily="34" charset="0"/>
                <a:ea typeface="Arial" pitchFamily="34" charset="-122"/>
                <a:cs typeface="Arial" pitchFamily="34" charset="-120"/>
              </a:rPr>
              <a:t>G3の32文字</a:t>
            </a:r>
            <a:r>
              <a:rPr lang="en-US" sz="1600" dirty="0">
                <a:solidFill>
                  <a:srgbClr val="E6EDF3"/>
                </a:solidFill>
                <a:latin typeface="Arial" pitchFamily="34" charset="0"/>
                <a:ea typeface="Arial" pitchFamily="34" charset="-122"/>
                <a:cs typeface="Arial" pitchFamily="34" charset="-120"/>
              </a:rPr>
              <a:t>：10組中9組で枠が同じ</a:t>
            </a:r>
            <a:endParaRPr lang="en-US" sz="1600" dirty="0"/>
          </a:p>
        </p:txBody>
      </p:sp>
      <p:sp>
        <p:nvSpPr>
          <p:cNvPr id="5" name="Text 3"/>
          <p:cNvSpPr/>
          <p:nvPr/>
        </p:nvSpPr>
        <p:spPr>
          <a:xfrm>
            <a:off x="812800" y="23037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3"/>
                </a:solidFill>
                <a:latin typeface="Arial" pitchFamily="34" charset="0"/>
                <a:ea typeface="Arial" pitchFamily="34" charset="-122"/>
                <a:cs typeface="Arial" pitchFamily="34" charset="-120"/>
              </a:rPr>
              <a:t>同じ日でもっと離れた組：21組中0組 · 無作為な組：100組に約2組</a:t>
            </a:r>
            <a:endParaRPr lang="en-US" sz="1600" dirty="0"/>
          </a:p>
        </p:txBody>
      </p:sp>
      <p:sp>
        <p:nvSpPr>
          <p:cNvPr id="6" name="Text 4"/>
          <p:cNvSpPr/>
          <p:nvPr/>
        </p:nvSpPr>
        <p:spPr>
          <a:xfrm>
            <a:off x="812800" y="262627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3"/>
                </a:solidFill>
                <a:latin typeface="Arial" pitchFamily="34" charset="0"/>
                <a:ea typeface="Arial" pitchFamily="34" charset="-122"/>
                <a:cs typeface="Arial" pitchFamily="34" charset="-120"/>
              </a:rPr>
              <a:t>G2の16〜30文字目とG3の17〜31文字目を、5文字のブロック3つで比べる</a:t>
            </a:r>
            <a:endParaRPr lang="en-US" sz="1600" dirty="0"/>
          </a:p>
        </p:txBody>
      </p:sp>
      <p:sp>
        <p:nvSpPr>
          <p:cNvPr id="7" name="Text 5"/>
          <p:cNvSpPr/>
          <p:nvPr/>
        </p:nvSpPr>
        <p:spPr>
          <a:xfrm>
            <a:off x="812800" y="294883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3"/>
                </a:solidFill>
                <a:latin typeface="Arial" pitchFamily="34" charset="0"/>
                <a:ea typeface="Arial" pitchFamily="34" charset="-122"/>
                <a:cs typeface="Arial" pitchFamily="34" charset="-120"/>
              </a:rPr>
              <a:t>G2側10件中9件は15文字ブロックの複製も持つ</a:t>
            </a:r>
            <a:endParaRPr lang="en-US" sz="1600" dirty="0"/>
          </a:p>
        </p:txBody>
      </p:sp>
      <p:sp>
        <p:nvSpPr>
          <p:cNvPr id="8" name="Text 6"/>
          <p:cNvSpPr/>
          <p:nvPr/>
        </p:nvSpPr>
        <p:spPr>
          <a:xfrm>
            <a:off x="812800" y="3385691"/>
            <a:ext cx="444754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DF3"/>
                </a:solidFill>
                <a:latin typeface="Arial" pitchFamily="34" charset="0"/>
                <a:ea typeface="Arial" pitchFamily="34" charset="-122"/>
                <a:cs typeface="Arial" pitchFamily="34" charset="-120"/>
              </a:rPr>
              <a:t>241114（木）</a:t>
            </a:r>
            <a:endParaRPr lang="en-US" sz="1200" dirty="0"/>
          </a:p>
        </p:txBody>
      </p:sp>
      <p:sp>
        <p:nvSpPr>
          <p:cNvPr id="9" name="Text 7"/>
          <p:cNvSpPr/>
          <p:nvPr/>
        </p:nvSpPr>
        <p:spPr>
          <a:xfrm>
            <a:off x="812800" y="3659981"/>
            <a:ext cx="1676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D7D32"/>
                </a:solidFill>
                <a:latin typeface="Courier New" pitchFamily="49" charset="0"/>
                <a:ea typeface="Courier New" pitchFamily="49" charset="-122"/>
                <a:cs typeface="Courier New" pitchFamily="49" charset="-120"/>
              </a:rPr>
              <a:t>BP-60 · 16:47 UTC</a:t>
            </a:r>
            <a:endParaRPr lang="en-US" sz="1200" dirty="0"/>
          </a:p>
        </p:txBody>
      </p:sp>
      <p:sp>
        <p:nvSpPr>
          <p:cNvPr id="10" name="Text 8"/>
          <p:cNvSpPr/>
          <p:nvPr/>
        </p:nvSpPr>
        <p:spPr>
          <a:xfrm>
            <a:off x="812800" y="3858071"/>
            <a:ext cx="1676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16〜30文字目</a:t>
            </a:r>
            <a:endParaRPr lang="en-US" sz="1200" dirty="0"/>
          </a:p>
        </p:txBody>
      </p:sp>
      <p:sp>
        <p:nvSpPr>
          <p:cNvPr id="11" name="Text 9"/>
          <p:cNvSpPr/>
          <p:nvPr/>
        </p:nvSpPr>
        <p:spPr>
          <a:xfrm>
            <a:off x="2590800" y="3659981"/>
            <a:ext cx="1676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FCC00"/>
                </a:solidFill>
                <a:latin typeface="Courier New" pitchFamily="49" charset="0"/>
                <a:ea typeface="Courier New" pitchFamily="49" charset="-122"/>
                <a:cs typeface="Courier New" pitchFamily="49" charset="-120"/>
              </a:rPr>
              <a:t>DX-32 · 16:52 UTC</a:t>
            </a:r>
            <a:endParaRPr lang="en-US" sz="1200" dirty="0"/>
          </a:p>
        </p:txBody>
      </p:sp>
      <p:sp>
        <p:nvSpPr>
          <p:cNvPr id="12" name="Text 10"/>
          <p:cNvSpPr/>
          <p:nvPr/>
        </p:nvSpPr>
        <p:spPr>
          <a:xfrm>
            <a:off x="2590800" y="3858071"/>
            <a:ext cx="1676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17〜31文字目</a:t>
            </a:r>
            <a:endParaRPr lang="en-US" sz="1200" dirty="0"/>
          </a:p>
        </p:txBody>
      </p:sp>
      <p:sp>
        <p:nvSpPr>
          <p:cNvPr id="13" name="Text 11"/>
          <p:cNvSpPr/>
          <p:nvPr/>
        </p:nvSpPr>
        <p:spPr>
          <a:xfrm>
            <a:off x="812800" y="4132362"/>
            <a:ext cx="304800" cy="304800"/>
          </a:xfrm>
          <a:prstGeom prst="rect">
            <a:avLst/>
          </a:prstGeom>
          <a:solidFill>
            <a:srgbClr val="ED7D32"/>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S</a:t>
            </a:r>
            <a:endParaRPr lang="en-US" sz="1600" dirty="0"/>
          </a:p>
        </p:txBody>
      </p:sp>
      <p:sp>
        <p:nvSpPr>
          <p:cNvPr id="14" name="Text 12"/>
          <p:cNvSpPr/>
          <p:nvPr/>
        </p:nvSpPr>
        <p:spPr>
          <a:xfrm>
            <a:off x="1143000" y="4132362"/>
            <a:ext cx="304800" cy="304800"/>
          </a:xfrm>
          <a:prstGeom prst="rect">
            <a:avLst/>
          </a:prstGeom>
          <a:solidFill>
            <a:srgbClr val="ED7D32"/>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Y</a:t>
            </a:r>
            <a:endParaRPr lang="en-US" sz="1600" dirty="0"/>
          </a:p>
        </p:txBody>
      </p:sp>
      <p:sp>
        <p:nvSpPr>
          <p:cNvPr id="15" name="Text 13"/>
          <p:cNvSpPr/>
          <p:nvPr/>
        </p:nvSpPr>
        <p:spPr>
          <a:xfrm>
            <a:off x="1473200" y="4132362"/>
            <a:ext cx="304800" cy="304800"/>
          </a:xfrm>
          <a:prstGeom prst="rect">
            <a:avLst/>
          </a:prstGeom>
          <a:solidFill>
            <a:srgbClr val="ED7D32"/>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16" name="Text 14"/>
          <p:cNvSpPr/>
          <p:nvPr/>
        </p:nvSpPr>
        <p:spPr>
          <a:xfrm>
            <a:off x="1803400" y="4132362"/>
            <a:ext cx="304800" cy="304800"/>
          </a:xfrm>
          <a:prstGeom prst="rect">
            <a:avLst/>
          </a:prstGeom>
          <a:solidFill>
            <a:srgbClr val="232B33"/>
          </a:solidFill>
          <a:ln/>
        </p:spPr>
        <p:txBody>
          <a:bodyPr wrap="square" lIns="0" tIns="0" rIns="0" bIns="0" rtlCol="0" anchor="t">
            <a:normAutofit/>
          </a:bodyPr>
          <a:lstStyle/>
          <a:p>
            <a:pPr algn="ctr" indent="0" marL="0">
              <a:lnSpc>
                <a:spcPts val="2400"/>
              </a:lnSpc>
              <a:buNone/>
            </a:pPr>
            <a:r>
              <a:rPr lang="en-US" sz="1600" dirty="0">
                <a:solidFill>
                  <a:srgbClr val="C9D1D9"/>
                </a:solidFill>
                <a:latin typeface="Courier New" pitchFamily="49" charset="0"/>
                <a:ea typeface="Courier New" pitchFamily="49" charset="-122"/>
                <a:cs typeface="Courier New" pitchFamily="49" charset="-120"/>
              </a:rPr>
              <a:t>4</a:t>
            </a:r>
            <a:endParaRPr lang="en-US" sz="1600" dirty="0"/>
          </a:p>
        </p:txBody>
      </p:sp>
      <p:sp>
        <p:nvSpPr>
          <p:cNvPr id="17" name="Text 15"/>
          <p:cNvSpPr/>
          <p:nvPr/>
        </p:nvSpPr>
        <p:spPr>
          <a:xfrm>
            <a:off x="2133600" y="4132362"/>
            <a:ext cx="304800" cy="304800"/>
          </a:xfrm>
          <a:prstGeom prst="rect">
            <a:avLst/>
          </a:prstGeom>
          <a:solidFill>
            <a:srgbClr val="7A4520"/>
          </a:solidFill>
          <a:ln/>
        </p:spPr>
        <p:txBody>
          <a:bodyPr wrap="square" lIns="0" tIns="0" rIns="0" bIns="0" rtlCol="0" anchor="t">
            <a:normAutofit/>
          </a:bodyPr>
          <a:lstStyle/>
          <a:p>
            <a:pPr algn="ctr"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18" name="Text 16"/>
          <p:cNvSpPr/>
          <p:nvPr/>
        </p:nvSpPr>
        <p:spPr>
          <a:xfrm>
            <a:off x="812800" y="4462562"/>
            <a:ext cx="304800" cy="304800"/>
          </a:xfrm>
          <a:prstGeom prst="rect">
            <a:avLst/>
          </a:prstGeom>
          <a:solidFill>
            <a:srgbClr val="ED7D32"/>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S</a:t>
            </a:r>
            <a:endParaRPr lang="en-US" sz="1600" dirty="0"/>
          </a:p>
        </p:txBody>
      </p:sp>
      <p:sp>
        <p:nvSpPr>
          <p:cNvPr id="19" name="Text 17"/>
          <p:cNvSpPr/>
          <p:nvPr/>
        </p:nvSpPr>
        <p:spPr>
          <a:xfrm>
            <a:off x="1143000" y="4462562"/>
            <a:ext cx="304800" cy="304800"/>
          </a:xfrm>
          <a:prstGeom prst="rect">
            <a:avLst/>
          </a:prstGeom>
          <a:solidFill>
            <a:srgbClr val="ED7D32"/>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Y</a:t>
            </a:r>
            <a:endParaRPr lang="en-US" sz="1600" dirty="0"/>
          </a:p>
        </p:txBody>
      </p:sp>
      <p:sp>
        <p:nvSpPr>
          <p:cNvPr id="20" name="Text 18"/>
          <p:cNvSpPr/>
          <p:nvPr/>
        </p:nvSpPr>
        <p:spPr>
          <a:xfrm>
            <a:off x="1473200" y="4462562"/>
            <a:ext cx="304800" cy="304800"/>
          </a:xfrm>
          <a:prstGeom prst="rect">
            <a:avLst/>
          </a:prstGeom>
          <a:solidFill>
            <a:srgbClr val="ED7D32"/>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21" name="Text 19"/>
          <p:cNvSpPr/>
          <p:nvPr/>
        </p:nvSpPr>
        <p:spPr>
          <a:xfrm>
            <a:off x="1803400" y="4462562"/>
            <a:ext cx="304800" cy="304800"/>
          </a:xfrm>
          <a:prstGeom prst="rect">
            <a:avLst/>
          </a:prstGeom>
          <a:solidFill>
            <a:srgbClr val="232B33"/>
          </a:solidFill>
          <a:ln/>
        </p:spPr>
        <p:txBody>
          <a:bodyPr wrap="square" lIns="0" tIns="0" rIns="0" bIns="0" rtlCol="0" anchor="t">
            <a:normAutofit/>
          </a:bodyPr>
          <a:lstStyle/>
          <a:p>
            <a:pPr algn="ctr" indent="0" marL="0">
              <a:lnSpc>
                <a:spcPts val="2400"/>
              </a:lnSpc>
              <a:buNone/>
            </a:pPr>
            <a:r>
              <a:rPr lang="en-US" sz="1600" dirty="0">
                <a:solidFill>
                  <a:srgbClr val="C9D1D9"/>
                </a:solidFill>
                <a:latin typeface="Courier New" pitchFamily="49" charset="0"/>
                <a:ea typeface="Courier New" pitchFamily="49" charset="-122"/>
                <a:cs typeface="Courier New" pitchFamily="49" charset="-120"/>
              </a:rPr>
              <a:t>S</a:t>
            </a:r>
            <a:endParaRPr lang="en-US" sz="1600" dirty="0"/>
          </a:p>
        </p:txBody>
      </p:sp>
      <p:sp>
        <p:nvSpPr>
          <p:cNvPr id="22" name="Text 20"/>
          <p:cNvSpPr/>
          <p:nvPr/>
        </p:nvSpPr>
        <p:spPr>
          <a:xfrm>
            <a:off x="2133600" y="4462562"/>
            <a:ext cx="304800" cy="304800"/>
          </a:xfrm>
          <a:prstGeom prst="rect">
            <a:avLst/>
          </a:prstGeom>
          <a:solidFill>
            <a:srgbClr val="7A4520"/>
          </a:solidFill>
          <a:ln/>
        </p:spPr>
        <p:txBody>
          <a:bodyPr wrap="square" lIns="0" tIns="0" rIns="0" bIns="0" rtlCol="0" anchor="t">
            <a:normAutofit/>
          </a:bodyPr>
          <a:lstStyle/>
          <a:p>
            <a:pPr algn="ctr"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O</a:t>
            </a:r>
            <a:endParaRPr lang="en-US" sz="1600" dirty="0"/>
          </a:p>
        </p:txBody>
      </p:sp>
      <p:sp>
        <p:nvSpPr>
          <p:cNvPr id="23" name="Text 21"/>
          <p:cNvSpPr/>
          <p:nvPr/>
        </p:nvSpPr>
        <p:spPr>
          <a:xfrm>
            <a:off x="812800" y="4792762"/>
            <a:ext cx="304800" cy="304800"/>
          </a:xfrm>
          <a:prstGeom prst="rect">
            <a:avLst/>
          </a:prstGeom>
          <a:solidFill>
            <a:srgbClr val="ED7D32"/>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S</a:t>
            </a:r>
            <a:endParaRPr lang="en-US" sz="1600" dirty="0"/>
          </a:p>
        </p:txBody>
      </p:sp>
      <p:sp>
        <p:nvSpPr>
          <p:cNvPr id="24" name="Text 22"/>
          <p:cNvSpPr/>
          <p:nvPr/>
        </p:nvSpPr>
        <p:spPr>
          <a:xfrm>
            <a:off x="1143000" y="4792762"/>
            <a:ext cx="304800" cy="304800"/>
          </a:xfrm>
          <a:prstGeom prst="rect">
            <a:avLst/>
          </a:prstGeom>
          <a:solidFill>
            <a:srgbClr val="ED7D32"/>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Y</a:t>
            </a:r>
            <a:endParaRPr lang="en-US" sz="1600" dirty="0"/>
          </a:p>
        </p:txBody>
      </p:sp>
      <p:sp>
        <p:nvSpPr>
          <p:cNvPr id="25" name="Text 23"/>
          <p:cNvSpPr/>
          <p:nvPr/>
        </p:nvSpPr>
        <p:spPr>
          <a:xfrm>
            <a:off x="1473200" y="4792762"/>
            <a:ext cx="304800" cy="304800"/>
          </a:xfrm>
          <a:prstGeom prst="rect">
            <a:avLst/>
          </a:prstGeom>
          <a:solidFill>
            <a:srgbClr val="ED7D32"/>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4</a:t>
            </a:r>
            <a:endParaRPr lang="en-US" sz="1600" dirty="0"/>
          </a:p>
        </p:txBody>
      </p:sp>
      <p:sp>
        <p:nvSpPr>
          <p:cNvPr id="26" name="Text 24"/>
          <p:cNvSpPr/>
          <p:nvPr/>
        </p:nvSpPr>
        <p:spPr>
          <a:xfrm>
            <a:off x="1803400" y="4792762"/>
            <a:ext cx="304800" cy="304800"/>
          </a:xfrm>
          <a:prstGeom prst="rect">
            <a:avLst/>
          </a:prstGeom>
          <a:solidFill>
            <a:srgbClr val="232B33"/>
          </a:solidFill>
          <a:ln/>
        </p:spPr>
        <p:txBody>
          <a:bodyPr wrap="square" lIns="0" tIns="0" rIns="0" bIns="0" rtlCol="0" anchor="t">
            <a:normAutofit/>
          </a:bodyPr>
          <a:lstStyle/>
          <a:p>
            <a:pPr algn="ctr" indent="0" marL="0">
              <a:lnSpc>
                <a:spcPts val="2400"/>
              </a:lnSpc>
              <a:buNone/>
            </a:pPr>
            <a:r>
              <a:rPr lang="en-US" sz="1600" dirty="0">
                <a:solidFill>
                  <a:srgbClr val="C9D1D9"/>
                </a:solidFill>
                <a:latin typeface="Courier New" pitchFamily="49" charset="0"/>
                <a:ea typeface="Courier New" pitchFamily="49" charset="-122"/>
                <a:cs typeface="Courier New" pitchFamily="49" charset="-120"/>
              </a:rPr>
              <a:t>P</a:t>
            </a:r>
            <a:endParaRPr lang="en-US" sz="1600" dirty="0"/>
          </a:p>
        </p:txBody>
      </p:sp>
      <p:sp>
        <p:nvSpPr>
          <p:cNvPr id="27" name="Text 25"/>
          <p:cNvSpPr/>
          <p:nvPr/>
        </p:nvSpPr>
        <p:spPr>
          <a:xfrm>
            <a:off x="2133600" y="4792762"/>
            <a:ext cx="304800" cy="304800"/>
          </a:xfrm>
          <a:prstGeom prst="rect">
            <a:avLst/>
          </a:prstGeom>
          <a:solidFill>
            <a:srgbClr val="232B33"/>
          </a:solidFill>
          <a:ln/>
        </p:spPr>
        <p:txBody>
          <a:bodyPr wrap="square" lIns="0" tIns="0" rIns="0" bIns="0" rtlCol="0" anchor="t">
            <a:normAutofit/>
          </a:bodyPr>
          <a:lstStyle/>
          <a:p>
            <a:pPr algn="ctr" indent="0" marL="0">
              <a:lnSpc>
                <a:spcPts val="2400"/>
              </a:lnSpc>
              <a:buNone/>
            </a:pPr>
            <a:r>
              <a:rPr lang="en-US" sz="1600" dirty="0">
                <a:solidFill>
                  <a:srgbClr val="C9D1D9"/>
                </a:solidFill>
                <a:latin typeface="Courier New" pitchFamily="49" charset="0"/>
                <a:ea typeface="Courier New" pitchFamily="49" charset="-122"/>
                <a:cs typeface="Courier New" pitchFamily="49" charset="-120"/>
              </a:rPr>
              <a:t>A</a:t>
            </a:r>
            <a:endParaRPr lang="en-US" sz="1600" dirty="0"/>
          </a:p>
        </p:txBody>
      </p:sp>
      <p:sp>
        <p:nvSpPr>
          <p:cNvPr id="28" name="Text 26"/>
          <p:cNvSpPr/>
          <p:nvPr/>
        </p:nvSpPr>
        <p:spPr>
          <a:xfrm>
            <a:off x="2776066" y="4452392"/>
            <a:ext cx="391418"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9B4BF"/>
                </a:solidFill>
                <a:latin typeface="Arial" pitchFamily="34" charset="0"/>
                <a:ea typeface="Arial" pitchFamily="34" charset="-122"/>
                <a:cs typeface="Arial" pitchFamily="34" charset="-120"/>
              </a:rPr>
              <a:t>+5分</a:t>
            </a:r>
            <a:endParaRPr lang="en-US" sz="1200" dirty="0"/>
          </a:p>
        </p:txBody>
      </p:sp>
      <p:pic>
        <p:nvPicPr>
          <p:cNvPr id="29" name="Image 0" descr="connector">    </p:cNvPr>
          <p:cNvPicPr>
            <a:picLocks noChangeAspect="1"/>
          </p:cNvPicPr>
          <p:nvPr/>
        </p:nvPicPr>
        <p:blipFill>
          <a:blip r:embed="rId1"/>
          <a:srcRect l="0" r="0" t="0" b="0"/>
          <a:stretch/>
        </p:blipFill>
        <p:spPr>
          <a:xfrm>
            <a:off x="2667000" y="4701282"/>
            <a:ext cx="609600" cy="76200"/>
          </a:xfrm>
          <a:prstGeom prst="rect">
            <a:avLst/>
          </a:prstGeom>
        </p:spPr>
      </p:pic>
      <p:sp>
        <p:nvSpPr>
          <p:cNvPr id="30" name="Text 27"/>
          <p:cNvSpPr/>
          <p:nvPr/>
        </p:nvSpPr>
        <p:spPr>
          <a:xfrm>
            <a:off x="3505200" y="4132362"/>
            <a:ext cx="304800" cy="304800"/>
          </a:xfrm>
          <a:prstGeom prst="rect">
            <a:avLst/>
          </a:prstGeom>
          <a:solidFill>
            <a:srgbClr val="FFCC00"/>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31" name="Text 28"/>
          <p:cNvSpPr/>
          <p:nvPr/>
        </p:nvSpPr>
        <p:spPr>
          <a:xfrm>
            <a:off x="3835400" y="4132362"/>
            <a:ext cx="304800" cy="304800"/>
          </a:xfrm>
          <a:prstGeom prst="rect">
            <a:avLst/>
          </a:prstGeom>
          <a:solidFill>
            <a:srgbClr val="FFCC00"/>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32" name="Text 29"/>
          <p:cNvSpPr/>
          <p:nvPr/>
        </p:nvSpPr>
        <p:spPr>
          <a:xfrm>
            <a:off x="4165600" y="4132362"/>
            <a:ext cx="304800" cy="304800"/>
          </a:xfrm>
          <a:prstGeom prst="rect">
            <a:avLst/>
          </a:prstGeom>
          <a:solidFill>
            <a:srgbClr val="FFCC00"/>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J</a:t>
            </a:r>
            <a:endParaRPr lang="en-US" sz="1600" dirty="0"/>
          </a:p>
        </p:txBody>
      </p:sp>
      <p:sp>
        <p:nvSpPr>
          <p:cNvPr id="33" name="Text 30"/>
          <p:cNvSpPr/>
          <p:nvPr/>
        </p:nvSpPr>
        <p:spPr>
          <a:xfrm>
            <a:off x="4495800" y="4132362"/>
            <a:ext cx="304800" cy="304800"/>
          </a:xfrm>
          <a:prstGeom prst="rect">
            <a:avLst/>
          </a:prstGeom>
          <a:solidFill>
            <a:srgbClr val="232B33"/>
          </a:solidFill>
          <a:ln/>
        </p:spPr>
        <p:txBody>
          <a:bodyPr wrap="square" lIns="0" tIns="0" rIns="0" bIns="0" rtlCol="0" anchor="t">
            <a:normAutofit/>
          </a:bodyPr>
          <a:lstStyle/>
          <a:p>
            <a:pPr algn="ctr" indent="0" marL="0">
              <a:lnSpc>
                <a:spcPts val="2400"/>
              </a:lnSpc>
              <a:buNone/>
            </a:pPr>
            <a:r>
              <a:rPr lang="en-US" sz="1600" dirty="0">
                <a:solidFill>
                  <a:srgbClr val="C9D1D9"/>
                </a:solidFill>
                <a:latin typeface="Courier New" pitchFamily="49" charset="0"/>
                <a:ea typeface="Courier New" pitchFamily="49" charset="-122"/>
                <a:cs typeface="Courier New" pitchFamily="49" charset="-120"/>
              </a:rPr>
              <a:t>4</a:t>
            </a:r>
            <a:endParaRPr lang="en-US" sz="1600" dirty="0"/>
          </a:p>
        </p:txBody>
      </p:sp>
      <p:sp>
        <p:nvSpPr>
          <p:cNvPr id="34" name="Text 31"/>
          <p:cNvSpPr/>
          <p:nvPr/>
        </p:nvSpPr>
        <p:spPr>
          <a:xfrm>
            <a:off x="4826000" y="4132362"/>
            <a:ext cx="304800" cy="304800"/>
          </a:xfrm>
          <a:prstGeom prst="rect">
            <a:avLst/>
          </a:prstGeom>
          <a:solidFill>
            <a:srgbClr val="7A6320"/>
          </a:solidFill>
          <a:ln/>
        </p:spPr>
        <p:txBody>
          <a:bodyPr wrap="square" lIns="0" tIns="0" rIns="0" bIns="0" rtlCol="0" anchor="t">
            <a:normAutofit/>
          </a:bodyPr>
          <a:lstStyle/>
          <a:p>
            <a:pPr algn="ctr"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35" name="Text 32"/>
          <p:cNvSpPr/>
          <p:nvPr/>
        </p:nvSpPr>
        <p:spPr>
          <a:xfrm>
            <a:off x="3505200" y="4462562"/>
            <a:ext cx="304800" cy="304800"/>
          </a:xfrm>
          <a:prstGeom prst="rect">
            <a:avLst/>
          </a:prstGeom>
          <a:solidFill>
            <a:srgbClr val="FFCC00"/>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36" name="Text 33"/>
          <p:cNvSpPr/>
          <p:nvPr/>
        </p:nvSpPr>
        <p:spPr>
          <a:xfrm>
            <a:off x="3835400" y="4462562"/>
            <a:ext cx="304800" cy="304800"/>
          </a:xfrm>
          <a:prstGeom prst="rect">
            <a:avLst/>
          </a:prstGeom>
          <a:solidFill>
            <a:srgbClr val="FFCC00"/>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37" name="Text 34"/>
          <p:cNvSpPr/>
          <p:nvPr/>
        </p:nvSpPr>
        <p:spPr>
          <a:xfrm>
            <a:off x="4165600" y="4462562"/>
            <a:ext cx="304800" cy="304800"/>
          </a:xfrm>
          <a:prstGeom prst="rect">
            <a:avLst/>
          </a:prstGeom>
          <a:solidFill>
            <a:srgbClr val="FFCC00"/>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J</a:t>
            </a:r>
            <a:endParaRPr lang="en-US" sz="1600" dirty="0"/>
          </a:p>
        </p:txBody>
      </p:sp>
      <p:sp>
        <p:nvSpPr>
          <p:cNvPr id="38" name="Text 35"/>
          <p:cNvSpPr/>
          <p:nvPr/>
        </p:nvSpPr>
        <p:spPr>
          <a:xfrm>
            <a:off x="4495800" y="4462562"/>
            <a:ext cx="304800" cy="304800"/>
          </a:xfrm>
          <a:prstGeom prst="rect">
            <a:avLst/>
          </a:prstGeom>
          <a:solidFill>
            <a:srgbClr val="232B33"/>
          </a:solidFill>
          <a:ln/>
        </p:spPr>
        <p:txBody>
          <a:bodyPr wrap="square" lIns="0" tIns="0" rIns="0" bIns="0" rtlCol="0" anchor="t">
            <a:normAutofit/>
          </a:bodyPr>
          <a:lstStyle/>
          <a:p>
            <a:pPr algn="ctr" indent="0" marL="0">
              <a:lnSpc>
                <a:spcPts val="2400"/>
              </a:lnSpc>
              <a:buNone/>
            </a:pPr>
            <a:r>
              <a:rPr lang="en-US" sz="1600" dirty="0">
                <a:solidFill>
                  <a:srgbClr val="C9D1D9"/>
                </a:solidFill>
                <a:latin typeface="Courier New" pitchFamily="49" charset="0"/>
                <a:ea typeface="Courier New" pitchFamily="49" charset="-122"/>
                <a:cs typeface="Courier New" pitchFamily="49" charset="-120"/>
              </a:rPr>
              <a:t>Y</a:t>
            </a:r>
            <a:endParaRPr lang="en-US" sz="1600" dirty="0"/>
          </a:p>
        </p:txBody>
      </p:sp>
      <p:sp>
        <p:nvSpPr>
          <p:cNvPr id="39" name="Text 36"/>
          <p:cNvSpPr/>
          <p:nvPr/>
        </p:nvSpPr>
        <p:spPr>
          <a:xfrm>
            <a:off x="4826000" y="4462562"/>
            <a:ext cx="304800" cy="304800"/>
          </a:xfrm>
          <a:prstGeom prst="rect">
            <a:avLst/>
          </a:prstGeom>
          <a:solidFill>
            <a:srgbClr val="7A6320"/>
          </a:solidFill>
          <a:ln/>
        </p:spPr>
        <p:txBody>
          <a:bodyPr wrap="square" lIns="0" tIns="0" rIns="0" bIns="0" rtlCol="0" anchor="t">
            <a:normAutofit/>
          </a:bodyPr>
          <a:lstStyle/>
          <a:p>
            <a:pPr algn="ctr" indent="0" marL="0">
              <a:lnSpc>
                <a:spcPts val="2400"/>
              </a:lnSpc>
              <a:buNone/>
            </a:pPr>
            <a:r>
              <a:rPr lang="en-US" sz="1600" dirty="0">
                <a:solidFill>
                  <a:srgbClr val="E6EDF3"/>
                </a:solidFill>
                <a:latin typeface="Courier New" pitchFamily="49" charset="0"/>
                <a:ea typeface="Courier New" pitchFamily="49" charset="-122"/>
                <a:cs typeface="Courier New" pitchFamily="49" charset="-120"/>
              </a:rPr>
              <a:t>Z</a:t>
            </a:r>
            <a:endParaRPr lang="en-US" sz="1600" dirty="0"/>
          </a:p>
        </p:txBody>
      </p:sp>
      <p:sp>
        <p:nvSpPr>
          <p:cNvPr id="40" name="Text 37"/>
          <p:cNvSpPr/>
          <p:nvPr/>
        </p:nvSpPr>
        <p:spPr>
          <a:xfrm>
            <a:off x="3505200" y="4792762"/>
            <a:ext cx="304800" cy="304800"/>
          </a:xfrm>
          <a:prstGeom prst="rect">
            <a:avLst/>
          </a:prstGeom>
          <a:solidFill>
            <a:srgbClr val="FFCC00"/>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41" name="Text 38"/>
          <p:cNvSpPr/>
          <p:nvPr/>
        </p:nvSpPr>
        <p:spPr>
          <a:xfrm>
            <a:off x="3835400" y="4792762"/>
            <a:ext cx="304800" cy="304800"/>
          </a:xfrm>
          <a:prstGeom prst="rect">
            <a:avLst/>
          </a:prstGeom>
          <a:solidFill>
            <a:srgbClr val="FFCC00"/>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U</a:t>
            </a:r>
            <a:endParaRPr lang="en-US" sz="1600" dirty="0"/>
          </a:p>
        </p:txBody>
      </p:sp>
      <p:sp>
        <p:nvSpPr>
          <p:cNvPr id="42" name="Text 39"/>
          <p:cNvSpPr/>
          <p:nvPr/>
        </p:nvSpPr>
        <p:spPr>
          <a:xfrm>
            <a:off x="4165600" y="4792762"/>
            <a:ext cx="304800" cy="304800"/>
          </a:xfrm>
          <a:prstGeom prst="rect">
            <a:avLst/>
          </a:prstGeom>
          <a:solidFill>
            <a:srgbClr val="FFCC00"/>
          </a:solidFill>
          <a:ln/>
        </p:spPr>
        <p:txBody>
          <a:bodyPr wrap="square" lIns="0" tIns="0" rIns="0" bIns="0" rtlCol="0" anchor="t">
            <a:normAutofit/>
          </a:bodyPr>
          <a:lstStyle/>
          <a:p>
            <a:pPr algn="ctr" indent="0" marL="0">
              <a:lnSpc>
                <a:spcPts val="2400"/>
              </a:lnSpc>
              <a:buNone/>
            </a:pPr>
            <a:r>
              <a:rPr lang="en-US" sz="1600" b="1" dirty="0">
                <a:solidFill>
                  <a:srgbClr val="14110A"/>
                </a:solidFill>
                <a:latin typeface="Courier New" pitchFamily="49" charset="0"/>
                <a:ea typeface="Courier New" pitchFamily="49" charset="-122"/>
                <a:cs typeface="Courier New" pitchFamily="49" charset="-120"/>
              </a:rPr>
              <a:t>J</a:t>
            </a:r>
            <a:endParaRPr lang="en-US" sz="1600" dirty="0"/>
          </a:p>
        </p:txBody>
      </p:sp>
      <p:sp>
        <p:nvSpPr>
          <p:cNvPr id="43" name="Text 40"/>
          <p:cNvSpPr/>
          <p:nvPr/>
        </p:nvSpPr>
        <p:spPr>
          <a:xfrm>
            <a:off x="4495800" y="4792762"/>
            <a:ext cx="304800" cy="304800"/>
          </a:xfrm>
          <a:prstGeom prst="rect">
            <a:avLst/>
          </a:prstGeom>
          <a:solidFill>
            <a:srgbClr val="232B33"/>
          </a:solidFill>
          <a:ln/>
        </p:spPr>
        <p:txBody>
          <a:bodyPr wrap="square" lIns="0" tIns="0" rIns="0" bIns="0" rtlCol="0" anchor="t">
            <a:normAutofit/>
          </a:bodyPr>
          <a:lstStyle/>
          <a:p>
            <a:pPr algn="ctr" indent="0" marL="0">
              <a:lnSpc>
                <a:spcPts val="2400"/>
              </a:lnSpc>
              <a:buNone/>
            </a:pPr>
            <a:r>
              <a:rPr lang="en-US" sz="1600" dirty="0">
                <a:solidFill>
                  <a:srgbClr val="C9D1D9"/>
                </a:solidFill>
                <a:latin typeface="Courier New" pitchFamily="49" charset="0"/>
                <a:ea typeface="Courier New" pitchFamily="49" charset="-122"/>
                <a:cs typeface="Courier New" pitchFamily="49" charset="-120"/>
              </a:rPr>
              <a:t>Z</a:t>
            </a:r>
            <a:endParaRPr lang="en-US" sz="1600" dirty="0"/>
          </a:p>
        </p:txBody>
      </p:sp>
      <p:sp>
        <p:nvSpPr>
          <p:cNvPr id="44" name="Text 41"/>
          <p:cNvSpPr/>
          <p:nvPr/>
        </p:nvSpPr>
        <p:spPr>
          <a:xfrm>
            <a:off x="4826000" y="4792762"/>
            <a:ext cx="304800" cy="304800"/>
          </a:xfrm>
          <a:prstGeom prst="rect">
            <a:avLst/>
          </a:prstGeom>
          <a:solidFill>
            <a:srgbClr val="232B33"/>
          </a:solidFill>
          <a:ln/>
        </p:spPr>
        <p:txBody>
          <a:bodyPr wrap="square" lIns="0" tIns="0" rIns="0" bIns="0" rtlCol="0" anchor="t">
            <a:normAutofit/>
          </a:bodyPr>
          <a:lstStyle/>
          <a:p>
            <a:pPr algn="ctr" indent="0" marL="0">
              <a:lnSpc>
                <a:spcPts val="2400"/>
              </a:lnSpc>
              <a:buNone/>
            </a:pPr>
            <a:r>
              <a:rPr lang="en-US" sz="1600" dirty="0">
                <a:solidFill>
                  <a:srgbClr val="C9D1D9"/>
                </a:solidFill>
                <a:latin typeface="Courier New" pitchFamily="49" charset="0"/>
                <a:ea typeface="Courier New" pitchFamily="49" charset="-122"/>
                <a:cs typeface="Courier New" pitchFamily="49" charset="-120"/>
              </a:rPr>
              <a:t>7</a:t>
            </a:r>
            <a:endParaRPr lang="en-US" sz="1600" dirty="0"/>
          </a:p>
        </p:txBody>
      </p:sp>
      <p:sp>
        <p:nvSpPr>
          <p:cNvPr id="45" name="Text 42"/>
          <p:cNvSpPr/>
          <p:nvPr/>
        </p:nvSpPr>
        <p:spPr>
          <a:xfrm>
            <a:off x="812800" y="5173762"/>
            <a:ext cx="444754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両方とも同じパターン：XXX.X · XXX.. · XXX..</a:t>
            </a:r>
            <a:endParaRPr lang="en-US" sz="1200" dirty="0"/>
          </a:p>
        </p:txBody>
      </p:sp>
      <p:sp>
        <p:nvSpPr>
          <p:cNvPr id="46" name="Text 43"/>
          <p:cNvSpPr/>
          <p:nvPr/>
        </p:nvSpPr>
        <p:spPr>
          <a:xfrm>
            <a:off x="5537200" y="3385691"/>
            <a:ext cx="60172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894"/>
                </a:solidFill>
                <a:latin typeface="Arial" pitchFamily="34" charset="0"/>
                <a:ea typeface="Arial" pitchFamily="34" charset="-122"/>
                <a:cs typeface="Arial" pitchFamily="34" charset="-120"/>
              </a:rPr>
              <a:t>切り替わり以降の全10組 · 時刻はUTC · 間隔は分</a:t>
            </a:r>
            <a:endParaRPr lang="en-US" sz="1200" dirty="0"/>
          </a:p>
        </p:txBody>
      </p:sp>
      <p:sp>
        <p:nvSpPr>
          <p:cNvPr id="47" name="Text 44"/>
          <p:cNvSpPr/>
          <p:nvPr/>
        </p:nvSpPr>
        <p:spPr>
          <a:xfrm>
            <a:off x="5537200" y="36345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D8894"/>
                </a:solidFill>
                <a:latin typeface="Arial" pitchFamily="34" charset="0"/>
                <a:ea typeface="Arial" pitchFamily="34" charset="-122"/>
                <a:cs typeface="Arial" pitchFamily="34" charset="-120"/>
              </a:rPr>
              <a:t>日付</a:t>
            </a:r>
            <a:endParaRPr lang="en-US" sz="1200" dirty="0"/>
          </a:p>
        </p:txBody>
      </p:sp>
      <p:sp>
        <p:nvSpPr>
          <p:cNvPr id="48" name="Text 45"/>
          <p:cNvSpPr/>
          <p:nvPr/>
        </p:nvSpPr>
        <p:spPr>
          <a:xfrm>
            <a:off x="6705600" y="3634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G2</a:t>
            </a:r>
            <a:endParaRPr lang="en-US" sz="1200" dirty="0"/>
          </a:p>
        </p:txBody>
      </p:sp>
      <p:sp>
        <p:nvSpPr>
          <p:cNvPr id="49" name="Text 46"/>
          <p:cNvSpPr/>
          <p:nvPr/>
        </p:nvSpPr>
        <p:spPr>
          <a:xfrm>
            <a:off x="7975600" y="3634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G3</a:t>
            </a:r>
            <a:endParaRPr lang="en-US" sz="1200" dirty="0"/>
          </a:p>
        </p:txBody>
      </p:sp>
      <p:sp>
        <p:nvSpPr>
          <p:cNvPr id="50" name="Text 47"/>
          <p:cNvSpPr/>
          <p:nvPr/>
        </p:nvSpPr>
        <p:spPr>
          <a:xfrm>
            <a:off x="9194800" y="36345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7D8894"/>
                </a:solidFill>
                <a:latin typeface="Arial" pitchFamily="34" charset="0"/>
                <a:ea typeface="Arial" pitchFamily="34" charset="-122"/>
                <a:cs typeface="Arial" pitchFamily="34" charset="-120"/>
              </a:rPr>
              <a:t>間隔</a:t>
            </a:r>
            <a:endParaRPr lang="en-US" sz="1200" dirty="0"/>
          </a:p>
        </p:txBody>
      </p:sp>
      <p:sp>
        <p:nvSpPr>
          <p:cNvPr id="51" name="Text 48"/>
          <p:cNvSpPr/>
          <p:nvPr/>
        </p:nvSpPr>
        <p:spPr>
          <a:xfrm>
            <a:off x="9753600" y="36345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7D8894"/>
                </a:solidFill>
                <a:latin typeface="Arial" pitchFamily="34" charset="0"/>
                <a:ea typeface="Arial" pitchFamily="34" charset="-122"/>
                <a:cs typeface="Arial" pitchFamily="34" charset="-120"/>
              </a:rPr>
              <a:t>同じ枠</a:t>
            </a:r>
            <a:endParaRPr lang="en-US" sz="1200" dirty="0"/>
          </a:p>
        </p:txBody>
      </p:sp>
      <p:sp>
        <p:nvSpPr>
          <p:cNvPr id="52" name="Text 49"/>
          <p:cNvSpPr/>
          <p:nvPr/>
        </p:nvSpPr>
        <p:spPr>
          <a:xfrm>
            <a:off x="5537200" y="38250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241022（火）</a:t>
            </a:r>
            <a:endParaRPr lang="en-US" sz="1200" dirty="0"/>
          </a:p>
        </p:txBody>
      </p:sp>
      <p:sp>
        <p:nvSpPr>
          <p:cNvPr id="53" name="Text 50"/>
          <p:cNvSpPr/>
          <p:nvPr/>
        </p:nvSpPr>
        <p:spPr>
          <a:xfrm>
            <a:off x="6705600" y="3825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AR-75</a:t>
            </a:r>
            <a:r>
              <a:rPr lang="en-US" sz="1200" dirty="0">
                <a:solidFill>
                  <a:srgbClr val="A9B4BF"/>
                </a:solidFill>
                <a:latin typeface="Courier New" pitchFamily="49" charset="0"/>
                <a:ea typeface="Courier New" pitchFamily="49" charset="-122"/>
                <a:cs typeface="Courier New" pitchFamily="49" charset="-120"/>
              </a:rPr>
              <a:t> 16:54</a:t>
            </a:r>
            <a:endParaRPr lang="en-US" sz="1200" dirty="0"/>
          </a:p>
        </p:txBody>
      </p:sp>
      <p:sp>
        <p:nvSpPr>
          <p:cNvPr id="54" name="Text 51"/>
          <p:cNvSpPr/>
          <p:nvPr/>
        </p:nvSpPr>
        <p:spPr>
          <a:xfrm>
            <a:off x="7975600" y="3825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FJ-32</a:t>
            </a:r>
            <a:r>
              <a:rPr lang="en-US" sz="1200" dirty="0">
                <a:solidFill>
                  <a:srgbClr val="A9B4BF"/>
                </a:solidFill>
                <a:latin typeface="Courier New" pitchFamily="49" charset="0"/>
                <a:ea typeface="Courier New" pitchFamily="49" charset="-122"/>
                <a:cs typeface="Courier New" pitchFamily="49" charset="-120"/>
              </a:rPr>
              <a:t> 17:03</a:t>
            </a:r>
            <a:endParaRPr lang="en-US" sz="1200" dirty="0"/>
          </a:p>
        </p:txBody>
      </p:sp>
      <p:sp>
        <p:nvSpPr>
          <p:cNvPr id="55" name="Text 52"/>
          <p:cNvSpPr/>
          <p:nvPr/>
        </p:nvSpPr>
        <p:spPr>
          <a:xfrm>
            <a:off x="9194800" y="38250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Courier New" pitchFamily="49" charset="0"/>
                <a:ea typeface="Courier New" pitchFamily="49" charset="-122"/>
                <a:cs typeface="Courier New" pitchFamily="49" charset="-120"/>
              </a:rPr>
              <a:t>+9</a:t>
            </a:r>
            <a:endParaRPr lang="en-US" sz="1200" dirty="0"/>
          </a:p>
        </p:txBody>
      </p:sp>
      <p:sp>
        <p:nvSpPr>
          <p:cNvPr id="56" name="Text 53"/>
          <p:cNvSpPr/>
          <p:nvPr/>
        </p:nvSpPr>
        <p:spPr>
          <a:xfrm>
            <a:off x="9753600" y="38250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Arial" pitchFamily="34" charset="0"/>
                <a:ea typeface="Arial" pitchFamily="34" charset="-122"/>
                <a:cs typeface="Arial" pitchFamily="34" charset="-120"/>
              </a:rPr>
              <a:t>はい</a:t>
            </a:r>
            <a:endParaRPr lang="en-US" sz="1200" dirty="0"/>
          </a:p>
        </p:txBody>
      </p:sp>
      <p:sp>
        <p:nvSpPr>
          <p:cNvPr id="57" name="Text 54"/>
          <p:cNvSpPr/>
          <p:nvPr/>
        </p:nvSpPr>
        <p:spPr>
          <a:xfrm>
            <a:off x="5537200" y="40155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7D8894"/>
                </a:solidFill>
                <a:latin typeface="Arial" pitchFamily="34" charset="0"/>
                <a:ea typeface="Arial" pitchFamily="34" charset="-122"/>
                <a:cs typeface="Arial" pitchFamily="34" charset="-120"/>
              </a:rPr>
              <a:t>241025（金）</a:t>
            </a:r>
            <a:endParaRPr lang="en-US" sz="1200" dirty="0"/>
          </a:p>
        </p:txBody>
      </p:sp>
      <p:sp>
        <p:nvSpPr>
          <p:cNvPr id="58" name="Text 55"/>
          <p:cNvSpPr/>
          <p:nvPr/>
        </p:nvSpPr>
        <p:spPr>
          <a:xfrm>
            <a:off x="6705600" y="4015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AR-50</a:t>
            </a:r>
            <a:r>
              <a:rPr lang="en-US" sz="1200" dirty="0">
                <a:solidFill>
                  <a:srgbClr val="7D8894"/>
                </a:solidFill>
                <a:latin typeface="Courier New" pitchFamily="49" charset="0"/>
                <a:ea typeface="Courier New" pitchFamily="49" charset="-122"/>
                <a:cs typeface="Courier New" pitchFamily="49" charset="-120"/>
              </a:rPr>
              <a:t> 05:36</a:t>
            </a:r>
            <a:endParaRPr lang="en-US" sz="1200" dirty="0"/>
          </a:p>
        </p:txBody>
      </p:sp>
      <p:sp>
        <p:nvSpPr>
          <p:cNvPr id="59" name="Text 56"/>
          <p:cNvSpPr/>
          <p:nvPr/>
        </p:nvSpPr>
        <p:spPr>
          <a:xfrm>
            <a:off x="7975600" y="4015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FJ-32</a:t>
            </a:r>
            <a:r>
              <a:rPr lang="en-US" sz="1200" dirty="0">
                <a:solidFill>
                  <a:srgbClr val="7D8894"/>
                </a:solidFill>
                <a:latin typeface="Courier New" pitchFamily="49" charset="0"/>
                <a:ea typeface="Courier New" pitchFamily="49" charset="-122"/>
                <a:cs typeface="Courier New" pitchFamily="49" charset="-120"/>
              </a:rPr>
              <a:t> 05:45</a:t>
            </a:r>
            <a:endParaRPr lang="en-US" sz="1200" dirty="0"/>
          </a:p>
        </p:txBody>
      </p:sp>
      <p:sp>
        <p:nvSpPr>
          <p:cNvPr id="60" name="Text 57"/>
          <p:cNvSpPr/>
          <p:nvPr/>
        </p:nvSpPr>
        <p:spPr>
          <a:xfrm>
            <a:off x="9194800" y="40155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7D8894"/>
                </a:solidFill>
                <a:latin typeface="Courier New" pitchFamily="49" charset="0"/>
                <a:ea typeface="Courier New" pitchFamily="49" charset="-122"/>
                <a:cs typeface="Courier New" pitchFamily="49" charset="-120"/>
              </a:rPr>
              <a:t>+9</a:t>
            </a:r>
            <a:endParaRPr lang="en-US" sz="1200" dirty="0"/>
          </a:p>
        </p:txBody>
      </p:sp>
      <p:sp>
        <p:nvSpPr>
          <p:cNvPr id="61" name="Text 58"/>
          <p:cNvSpPr/>
          <p:nvPr/>
        </p:nvSpPr>
        <p:spPr>
          <a:xfrm>
            <a:off x="9753600" y="40155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7D8894"/>
                </a:solidFill>
                <a:latin typeface="Arial" pitchFamily="34" charset="0"/>
                <a:ea typeface="Arial" pitchFamily="34" charset="-122"/>
                <a:cs typeface="Arial" pitchFamily="34" charset="-120"/>
              </a:rPr>
              <a:t>いいえ</a:t>
            </a:r>
            <a:endParaRPr lang="en-US" sz="1200" dirty="0"/>
          </a:p>
        </p:txBody>
      </p:sp>
      <p:sp>
        <p:nvSpPr>
          <p:cNvPr id="62" name="Text 59"/>
          <p:cNvSpPr/>
          <p:nvPr/>
        </p:nvSpPr>
        <p:spPr>
          <a:xfrm>
            <a:off x="5537200" y="42060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6EDF3"/>
                </a:solidFill>
                <a:latin typeface="Arial" pitchFamily="34" charset="0"/>
                <a:ea typeface="Arial" pitchFamily="34" charset="-122"/>
                <a:cs typeface="Arial" pitchFamily="34" charset="-120"/>
              </a:rPr>
              <a:t>241114（木）</a:t>
            </a:r>
            <a:endParaRPr lang="en-US" sz="1200" dirty="0"/>
          </a:p>
        </p:txBody>
      </p:sp>
      <p:sp>
        <p:nvSpPr>
          <p:cNvPr id="63" name="Text 60"/>
          <p:cNvSpPr/>
          <p:nvPr/>
        </p:nvSpPr>
        <p:spPr>
          <a:xfrm>
            <a:off x="6705600" y="4206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BP-60</a:t>
            </a:r>
            <a:r>
              <a:rPr lang="en-US" sz="1200" dirty="0">
                <a:solidFill>
                  <a:srgbClr val="E6EDF3"/>
                </a:solidFill>
                <a:latin typeface="Courier New" pitchFamily="49" charset="0"/>
                <a:ea typeface="Courier New" pitchFamily="49" charset="-122"/>
                <a:cs typeface="Courier New" pitchFamily="49" charset="-120"/>
              </a:rPr>
              <a:t> 16:47</a:t>
            </a:r>
            <a:endParaRPr lang="en-US" sz="1200" dirty="0"/>
          </a:p>
        </p:txBody>
      </p:sp>
      <p:sp>
        <p:nvSpPr>
          <p:cNvPr id="64" name="Text 61"/>
          <p:cNvSpPr/>
          <p:nvPr/>
        </p:nvSpPr>
        <p:spPr>
          <a:xfrm>
            <a:off x="7975600" y="4206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DX-32</a:t>
            </a:r>
            <a:r>
              <a:rPr lang="en-US" sz="1200" dirty="0">
                <a:solidFill>
                  <a:srgbClr val="E6EDF3"/>
                </a:solidFill>
                <a:latin typeface="Courier New" pitchFamily="49" charset="0"/>
                <a:ea typeface="Courier New" pitchFamily="49" charset="-122"/>
                <a:cs typeface="Courier New" pitchFamily="49" charset="-120"/>
              </a:rPr>
              <a:t> 16:52</a:t>
            </a:r>
            <a:endParaRPr lang="en-US" sz="1200" dirty="0"/>
          </a:p>
        </p:txBody>
      </p:sp>
      <p:sp>
        <p:nvSpPr>
          <p:cNvPr id="65" name="Text 62"/>
          <p:cNvSpPr/>
          <p:nvPr/>
        </p:nvSpPr>
        <p:spPr>
          <a:xfrm>
            <a:off x="9194800" y="42060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E6EDF3"/>
                </a:solidFill>
                <a:latin typeface="Courier New" pitchFamily="49" charset="0"/>
                <a:ea typeface="Courier New" pitchFamily="49" charset="-122"/>
                <a:cs typeface="Courier New" pitchFamily="49" charset="-120"/>
              </a:rPr>
              <a:t>+5</a:t>
            </a:r>
            <a:endParaRPr lang="en-US" sz="1200" dirty="0"/>
          </a:p>
        </p:txBody>
      </p:sp>
      <p:sp>
        <p:nvSpPr>
          <p:cNvPr id="66" name="Text 63"/>
          <p:cNvSpPr/>
          <p:nvPr/>
        </p:nvSpPr>
        <p:spPr>
          <a:xfrm>
            <a:off x="9753600" y="42060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E6EDF3"/>
                </a:solidFill>
                <a:latin typeface="Arial" pitchFamily="34" charset="0"/>
                <a:ea typeface="Arial" pitchFamily="34" charset="-122"/>
                <a:cs typeface="Arial" pitchFamily="34" charset="-120"/>
              </a:rPr>
              <a:t>はい</a:t>
            </a:r>
            <a:endParaRPr lang="en-US" sz="1200" dirty="0"/>
          </a:p>
        </p:txBody>
      </p:sp>
      <p:sp>
        <p:nvSpPr>
          <p:cNvPr id="67" name="Text 64"/>
          <p:cNvSpPr/>
          <p:nvPr/>
        </p:nvSpPr>
        <p:spPr>
          <a:xfrm>
            <a:off x="5537200" y="43965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241119（火）</a:t>
            </a:r>
            <a:endParaRPr lang="en-US" sz="1200" dirty="0"/>
          </a:p>
        </p:txBody>
      </p:sp>
      <p:sp>
        <p:nvSpPr>
          <p:cNvPr id="68" name="Text 65"/>
          <p:cNvSpPr/>
          <p:nvPr/>
        </p:nvSpPr>
        <p:spPr>
          <a:xfrm>
            <a:off x="6705600" y="4396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BP-75</a:t>
            </a:r>
            <a:r>
              <a:rPr lang="en-US" sz="1200" dirty="0">
                <a:solidFill>
                  <a:srgbClr val="A9B4BF"/>
                </a:solidFill>
                <a:latin typeface="Courier New" pitchFamily="49" charset="0"/>
                <a:ea typeface="Courier New" pitchFamily="49" charset="-122"/>
                <a:cs typeface="Courier New" pitchFamily="49" charset="-120"/>
              </a:rPr>
              <a:t> 16:43</a:t>
            </a:r>
            <a:endParaRPr lang="en-US" sz="1200" dirty="0"/>
          </a:p>
        </p:txBody>
      </p:sp>
      <p:sp>
        <p:nvSpPr>
          <p:cNvPr id="69" name="Text 66"/>
          <p:cNvSpPr/>
          <p:nvPr/>
        </p:nvSpPr>
        <p:spPr>
          <a:xfrm>
            <a:off x="7975600" y="4396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DX-32</a:t>
            </a:r>
            <a:r>
              <a:rPr lang="en-US" sz="1200" dirty="0">
                <a:solidFill>
                  <a:srgbClr val="A9B4BF"/>
                </a:solidFill>
                <a:latin typeface="Courier New" pitchFamily="49" charset="0"/>
                <a:ea typeface="Courier New" pitchFamily="49" charset="-122"/>
                <a:cs typeface="Courier New" pitchFamily="49" charset="-120"/>
              </a:rPr>
              <a:t> 16:50</a:t>
            </a:r>
            <a:endParaRPr lang="en-US" sz="1200" dirty="0"/>
          </a:p>
        </p:txBody>
      </p:sp>
      <p:sp>
        <p:nvSpPr>
          <p:cNvPr id="70" name="Text 67"/>
          <p:cNvSpPr/>
          <p:nvPr/>
        </p:nvSpPr>
        <p:spPr>
          <a:xfrm>
            <a:off x="9194800" y="43965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Courier New" pitchFamily="49" charset="0"/>
                <a:ea typeface="Courier New" pitchFamily="49" charset="-122"/>
                <a:cs typeface="Courier New" pitchFamily="49" charset="-120"/>
              </a:rPr>
              <a:t>+7</a:t>
            </a:r>
            <a:endParaRPr lang="en-US" sz="1200" dirty="0"/>
          </a:p>
        </p:txBody>
      </p:sp>
      <p:sp>
        <p:nvSpPr>
          <p:cNvPr id="71" name="Text 68"/>
          <p:cNvSpPr/>
          <p:nvPr/>
        </p:nvSpPr>
        <p:spPr>
          <a:xfrm>
            <a:off x="9753600" y="43965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Arial" pitchFamily="34" charset="0"/>
                <a:ea typeface="Arial" pitchFamily="34" charset="-122"/>
                <a:cs typeface="Arial" pitchFamily="34" charset="-120"/>
              </a:rPr>
              <a:t>はい</a:t>
            </a:r>
            <a:endParaRPr lang="en-US" sz="1200" dirty="0"/>
          </a:p>
        </p:txBody>
      </p:sp>
      <p:sp>
        <p:nvSpPr>
          <p:cNvPr id="72" name="Text 69"/>
          <p:cNvSpPr/>
          <p:nvPr/>
        </p:nvSpPr>
        <p:spPr>
          <a:xfrm>
            <a:off x="5537200" y="45870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241121（木）</a:t>
            </a:r>
            <a:endParaRPr lang="en-US" sz="1200" dirty="0"/>
          </a:p>
        </p:txBody>
      </p:sp>
      <p:sp>
        <p:nvSpPr>
          <p:cNvPr id="73" name="Text 70"/>
          <p:cNvSpPr/>
          <p:nvPr/>
        </p:nvSpPr>
        <p:spPr>
          <a:xfrm>
            <a:off x="6705600" y="4587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BP-60</a:t>
            </a:r>
            <a:r>
              <a:rPr lang="en-US" sz="1200" dirty="0">
                <a:solidFill>
                  <a:srgbClr val="A9B4BF"/>
                </a:solidFill>
                <a:latin typeface="Courier New" pitchFamily="49" charset="0"/>
                <a:ea typeface="Courier New" pitchFamily="49" charset="-122"/>
                <a:cs typeface="Courier New" pitchFamily="49" charset="-120"/>
              </a:rPr>
              <a:t> 16:47</a:t>
            </a:r>
            <a:endParaRPr lang="en-US" sz="1200" dirty="0"/>
          </a:p>
        </p:txBody>
      </p:sp>
      <p:sp>
        <p:nvSpPr>
          <p:cNvPr id="74" name="Text 71"/>
          <p:cNvSpPr/>
          <p:nvPr/>
        </p:nvSpPr>
        <p:spPr>
          <a:xfrm>
            <a:off x="7975600" y="4587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DX-32</a:t>
            </a:r>
            <a:r>
              <a:rPr lang="en-US" sz="1200" dirty="0">
                <a:solidFill>
                  <a:srgbClr val="A9B4BF"/>
                </a:solidFill>
                <a:latin typeface="Courier New" pitchFamily="49" charset="0"/>
                <a:ea typeface="Courier New" pitchFamily="49" charset="-122"/>
                <a:cs typeface="Courier New" pitchFamily="49" charset="-120"/>
              </a:rPr>
              <a:t> 16:42</a:t>
            </a:r>
            <a:endParaRPr lang="en-US" sz="1200" dirty="0"/>
          </a:p>
        </p:txBody>
      </p:sp>
      <p:sp>
        <p:nvSpPr>
          <p:cNvPr id="75" name="Text 72"/>
          <p:cNvSpPr/>
          <p:nvPr/>
        </p:nvSpPr>
        <p:spPr>
          <a:xfrm>
            <a:off x="9194800" y="45870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Courier New" pitchFamily="49" charset="0"/>
                <a:ea typeface="Courier New" pitchFamily="49" charset="-122"/>
                <a:cs typeface="Courier New" pitchFamily="49" charset="-120"/>
              </a:rPr>
              <a:t>−5</a:t>
            </a:r>
            <a:endParaRPr lang="en-US" sz="1200" dirty="0"/>
          </a:p>
        </p:txBody>
      </p:sp>
      <p:sp>
        <p:nvSpPr>
          <p:cNvPr id="76" name="Text 73"/>
          <p:cNvSpPr/>
          <p:nvPr/>
        </p:nvSpPr>
        <p:spPr>
          <a:xfrm>
            <a:off x="9753600" y="45870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Arial" pitchFamily="34" charset="0"/>
                <a:ea typeface="Arial" pitchFamily="34" charset="-122"/>
                <a:cs typeface="Arial" pitchFamily="34" charset="-120"/>
              </a:rPr>
              <a:t>はい</a:t>
            </a:r>
            <a:endParaRPr lang="en-US" sz="1200" dirty="0"/>
          </a:p>
        </p:txBody>
      </p:sp>
      <p:sp>
        <p:nvSpPr>
          <p:cNvPr id="77" name="Text 74"/>
          <p:cNvSpPr/>
          <p:nvPr/>
        </p:nvSpPr>
        <p:spPr>
          <a:xfrm>
            <a:off x="5537200" y="47775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250911（木）</a:t>
            </a:r>
            <a:endParaRPr lang="en-US" sz="1200" dirty="0"/>
          </a:p>
        </p:txBody>
      </p:sp>
      <p:sp>
        <p:nvSpPr>
          <p:cNvPr id="78" name="Text 75"/>
          <p:cNvSpPr/>
          <p:nvPr/>
        </p:nvSpPr>
        <p:spPr>
          <a:xfrm>
            <a:off x="6705600" y="4777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WM-75</a:t>
            </a:r>
            <a:r>
              <a:rPr lang="en-US" sz="1200" dirty="0">
                <a:solidFill>
                  <a:srgbClr val="A9B4BF"/>
                </a:solidFill>
                <a:latin typeface="Courier New" pitchFamily="49" charset="0"/>
                <a:ea typeface="Courier New" pitchFamily="49" charset="-122"/>
                <a:cs typeface="Courier New" pitchFamily="49" charset="-120"/>
              </a:rPr>
              <a:t> 16:05</a:t>
            </a:r>
            <a:endParaRPr lang="en-US" sz="1200" dirty="0"/>
          </a:p>
        </p:txBody>
      </p:sp>
      <p:sp>
        <p:nvSpPr>
          <p:cNvPr id="79" name="Text 76"/>
          <p:cNvSpPr/>
          <p:nvPr/>
        </p:nvSpPr>
        <p:spPr>
          <a:xfrm>
            <a:off x="7975600" y="4777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77-32</a:t>
            </a:r>
            <a:r>
              <a:rPr lang="en-US" sz="1200" dirty="0">
                <a:solidFill>
                  <a:srgbClr val="A9B4BF"/>
                </a:solidFill>
                <a:latin typeface="Courier New" pitchFamily="49" charset="0"/>
                <a:ea typeface="Courier New" pitchFamily="49" charset="-122"/>
                <a:cs typeface="Courier New" pitchFamily="49" charset="-120"/>
              </a:rPr>
              <a:t> 16:12</a:t>
            </a:r>
            <a:endParaRPr lang="en-US" sz="1200" dirty="0"/>
          </a:p>
        </p:txBody>
      </p:sp>
      <p:sp>
        <p:nvSpPr>
          <p:cNvPr id="80" name="Text 77"/>
          <p:cNvSpPr/>
          <p:nvPr/>
        </p:nvSpPr>
        <p:spPr>
          <a:xfrm>
            <a:off x="9194800" y="47775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Courier New" pitchFamily="49" charset="0"/>
                <a:ea typeface="Courier New" pitchFamily="49" charset="-122"/>
                <a:cs typeface="Courier New" pitchFamily="49" charset="-120"/>
              </a:rPr>
              <a:t>+7</a:t>
            </a:r>
            <a:endParaRPr lang="en-US" sz="1200" dirty="0"/>
          </a:p>
        </p:txBody>
      </p:sp>
      <p:sp>
        <p:nvSpPr>
          <p:cNvPr id="81" name="Text 78"/>
          <p:cNvSpPr/>
          <p:nvPr/>
        </p:nvSpPr>
        <p:spPr>
          <a:xfrm>
            <a:off x="9753600" y="47775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Arial" pitchFamily="34" charset="0"/>
                <a:ea typeface="Arial" pitchFamily="34" charset="-122"/>
                <a:cs typeface="Arial" pitchFamily="34" charset="-120"/>
              </a:rPr>
              <a:t>はい</a:t>
            </a:r>
            <a:endParaRPr lang="en-US" sz="1200" dirty="0"/>
          </a:p>
        </p:txBody>
      </p:sp>
      <p:sp>
        <p:nvSpPr>
          <p:cNvPr id="82" name="Text 79"/>
          <p:cNvSpPr/>
          <p:nvPr/>
        </p:nvSpPr>
        <p:spPr>
          <a:xfrm>
            <a:off x="5537200" y="49680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250923（火）</a:t>
            </a:r>
            <a:endParaRPr lang="en-US" sz="1200" dirty="0"/>
          </a:p>
        </p:txBody>
      </p:sp>
      <p:sp>
        <p:nvSpPr>
          <p:cNvPr id="83" name="Text 80"/>
          <p:cNvSpPr/>
          <p:nvPr/>
        </p:nvSpPr>
        <p:spPr>
          <a:xfrm>
            <a:off x="6705600" y="4968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27-75</a:t>
            </a:r>
            <a:r>
              <a:rPr lang="en-US" sz="1200" dirty="0">
                <a:solidFill>
                  <a:srgbClr val="A9B4BF"/>
                </a:solidFill>
                <a:latin typeface="Courier New" pitchFamily="49" charset="0"/>
                <a:ea typeface="Courier New" pitchFamily="49" charset="-122"/>
                <a:cs typeface="Courier New" pitchFamily="49" charset="-120"/>
              </a:rPr>
              <a:t> 15:45</a:t>
            </a:r>
            <a:endParaRPr lang="en-US" sz="1200" dirty="0"/>
          </a:p>
        </p:txBody>
      </p:sp>
      <p:sp>
        <p:nvSpPr>
          <p:cNvPr id="84" name="Text 81"/>
          <p:cNvSpPr/>
          <p:nvPr/>
        </p:nvSpPr>
        <p:spPr>
          <a:xfrm>
            <a:off x="7975600" y="4968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7Z-32</a:t>
            </a:r>
            <a:r>
              <a:rPr lang="en-US" sz="1200" dirty="0">
                <a:solidFill>
                  <a:srgbClr val="A9B4BF"/>
                </a:solidFill>
                <a:latin typeface="Courier New" pitchFamily="49" charset="0"/>
                <a:ea typeface="Courier New" pitchFamily="49" charset="-122"/>
                <a:cs typeface="Courier New" pitchFamily="49" charset="-120"/>
              </a:rPr>
              <a:t> 15:51</a:t>
            </a:r>
            <a:endParaRPr lang="en-US" sz="1200" dirty="0"/>
          </a:p>
        </p:txBody>
      </p:sp>
      <p:sp>
        <p:nvSpPr>
          <p:cNvPr id="85" name="Text 82"/>
          <p:cNvSpPr/>
          <p:nvPr/>
        </p:nvSpPr>
        <p:spPr>
          <a:xfrm>
            <a:off x="9194800" y="49680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Courier New" pitchFamily="49" charset="0"/>
                <a:ea typeface="Courier New" pitchFamily="49" charset="-122"/>
                <a:cs typeface="Courier New" pitchFamily="49" charset="-120"/>
              </a:rPr>
              <a:t>+6</a:t>
            </a:r>
            <a:endParaRPr lang="en-US" sz="1200" dirty="0"/>
          </a:p>
        </p:txBody>
      </p:sp>
      <p:sp>
        <p:nvSpPr>
          <p:cNvPr id="86" name="Text 83"/>
          <p:cNvSpPr/>
          <p:nvPr/>
        </p:nvSpPr>
        <p:spPr>
          <a:xfrm>
            <a:off x="9753600" y="49680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Arial" pitchFamily="34" charset="0"/>
                <a:ea typeface="Arial" pitchFamily="34" charset="-122"/>
                <a:cs typeface="Arial" pitchFamily="34" charset="-120"/>
              </a:rPr>
              <a:t>はい</a:t>
            </a:r>
            <a:endParaRPr lang="en-US" sz="1200" dirty="0"/>
          </a:p>
        </p:txBody>
      </p:sp>
      <p:sp>
        <p:nvSpPr>
          <p:cNvPr id="87" name="Text 84"/>
          <p:cNvSpPr/>
          <p:nvPr/>
        </p:nvSpPr>
        <p:spPr>
          <a:xfrm>
            <a:off x="5537200" y="51585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251022（水）</a:t>
            </a:r>
            <a:endParaRPr lang="en-US" sz="1200" dirty="0"/>
          </a:p>
        </p:txBody>
      </p:sp>
      <p:sp>
        <p:nvSpPr>
          <p:cNvPr id="88" name="Text 85"/>
          <p:cNvSpPr/>
          <p:nvPr/>
        </p:nvSpPr>
        <p:spPr>
          <a:xfrm>
            <a:off x="6705600" y="5158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DE-75</a:t>
            </a:r>
            <a:r>
              <a:rPr lang="en-US" sz="1200" dirty="0">
                <a:solidFill>
                  <a:srgbClr val="A9B4BF"/>
                </a:solidFill>
                <a:latin typeface="Courier New" pitchFamily="49" charset="0"/>
                <a:ea typeface="Courier New" pitchFamily="49" charset="-122"/>
                <a:cs typeface="Courier New" pitchFamily="49" charset="-120"/>
              </a:rPr>
              <a:t> 21:05</a:t>
            </a:r>
            <a:endParaRPr lang="en-US" sz="1200" dirty="0"/>
          </a:p>
        </p:txBody>
      </p:sp>
      <p:sp>
        <p:nvSpPr>
          <p:cNvPr id="89" name="Text 86"/>
          <p:cNvSpPr/>
          <p:nvPr/>
        </p:nvSpPr>
        <p:spPr>
          <a:xfrm>
            <a:off x="7975600" y="5158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R6-32</a:t>
            </a:r>
            <a:r>
              <a:rPr lang="en-US" sz="1200" dirty="0">
                <a:solidFill>
                  <a:srgbClr val="A9B4BF"/>
                </a:solidFill>
                <a:latin typeface="Courier New" pitchFamily="49" charset="0"/>
                <a:ea typeface="Courier New" pitchFamily="49" charset="-122"/>
                <a:cs typeface="Courier New" pitchFamily="49" charset="-120"/>
              </a:rPr>
              <a:t> 20:54</a:t>
            </a:r>
            <a:endParaRPr lang="en-US" sz="1200" dirty="0"/>
          </a:p>
        </p:txBody>
      </p:sp>
      <p:sp>
        <p:nvSpPr>
          <p:cNvPr id="90" name="Text 87"/>
          <p:cNvSpPr/>
          <p:nvPr/>
        </p:nvSpPr>
        <p:spPr>
          <a:xfrm>
            <a:off x="9194800" y="51585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Courier New" pitchFamily="49" charset="0"/>
                <a:ea typeface="Courier New" pitchFamily="49" charset="-122"/>
                <a:cs typeface="Courier New" pitchFamily="49" charset="-120"/>
              </a:rPr>
              <a:t>−11</a:t>
            </a:r>
            <a:endParaRPr lang="en-US" sz="1200" dirty="0"/>
          </a:p>
        </p:txBody>
      </p:sp>
      <p:sp>
        <p:nvSpPr>
          <p:cNvPr id="91" name="Text 88"/>
          <p:cNvSpPr/>
          <p:nvPr/>
        </p:nvSpPr>
        <p:spPr>
          <a:xfrm>
            <a:off x="9753600" y="51585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Arial" pitchFamily="34" charset="0"/>
                <a:ea typeface="Arial" pitchFamily="34" charset="-122"/>
                <a:cs typeface="Arial" pitchFamily="34" charset="-120"/>
              </a:rPr>
              <a:t>はい</a:t>
            </a:r>
            <a:endParaRPr lang="en-US" sz="1200" dirty="0"/>
          </a:p>
        </p:txBody>
      </p:sp>
      <p:sp>
        <p:nvSpPr>
          <p:cNvPr id="92" name="Text 89"/>
          <p:cNvSpPr/>
          <p:nvPr/>
        </p:nvSpPr>
        <p:spPr>
          <a:xfrm>
            <a:off x="5537200" y="53490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260924（木）</a:t>
            </a:r>
            <a:endParaRPr lang="en-US" sz="1200" dirty="0"/>
          </a:p>
        </p:txBody>
      </p:sp>
      <p:sp>
        <p:nvSpPr>
          <p:cNvPr id="93" name="Text 90"/>
          <p:cNvSpPr/>
          <p:nvPr/>
        </p:nvSpPr>
        <p:spPr>
          <a:xfrm>
            <a:off x="6705600" y="5349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QH-45</a:t>
            </a:r>
            <a:r>
              <a:rPr lang="en-US" sz="1200" dirty="0">
                <a:solidFill>
                  <a:srgbClr val="A9B4BF"/>
                </a:solidFill>
                <a:latin typeface="Courier New" pitchFamily="49" charset="0"/>
                <a:ea typeface="Courier New" pitchFamily="49" charset="-122"/>
                <a:cs typeface="Courier New" pitchFamily="49" charset="-120"/>
              </a:rPr>
              <a:t> 16:25</a:t>
            </a:r>
            <a:endParaRPr lang="en-US" sz="1200" dirty="0"/>
          </a:p>
        </p:txBody>
      </p:sp>
      <p:sp>
        <p:nvSpPr>
          <p:cNvPr id="94" name="Text 91"/>
          <p:cNvSpPr/>
          <p:nvPr/>
        </p:nvSpPr>
        <p:spPr>
          <a:xfrm>
            <a:off x="7975600" y="53490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VQ-32</a:t>
            </a:r>
            <a:r>
              <a:rPr lang="en-US" sz="1200" dirty="0">
                <a:solidFill>
                  <a:srgbClr val="A9B4BF"/>
                </a:solidFill>
                <a:latin typeface="Courier New" pitchFamily="49" charset="0"/>
                <a:ea typeface="Courier New" pitchFamily="49" charset="-122"/>
                <a:cs typeface="Courier New" pitchFamily="49" charset="-120"/>
              </a:rPr>
              <a:t> 16:36</a:t>
            </a:r>
            <a:endParaRPr lang="en-US" sz="1200" dirty="0"/>
          </a:p>
        </p:txBody>
      </p:sp>
      <p:sp>
        <p:nvSpPr>
          <p:cNvPr id="95" name="Text 92"/>
          <p:cNvSpPr/>
          <p:nvPr/>
        </p:nvSpPr>
        <p:spPr>
          <a:xfrm>
            <a:off x="9194800" y="53490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Courier New" pitchFamily="49" charset="0"/>
                <a:ea typeface="Courier New" pitchFamily="49" charset="-122"/>
                <a:cs typeface="Courier New" pitchFamily="49" charset="-120"/>
              </a:rPr>
              <a:t>+11</a:t>
            </a:r>
            <a:endParaRPr lang="en-US" sz="1200" dirty="0"/>
          </a:p>
        </p:txBody>
      </p:sp>
      <p:sp>
        <p:nvSpPr>
          <p:cNvPr id="96" name="Text 93"/>
          <p:cNvSpPr/>
          <p:nvPr/>
        </p:nvSpPr>
        <p:spPr>
          <a:xfrm>
            <a:off x="9753600" y="53490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Arial" pitchFamily="34" charset="0"/>
                <a:ea typeface="Arial" pitchFamily="34" charset="-122"/>
                <a:cs typeface="Arial" pitchFamily="34" charset="-120"/>
              </a:rPr>
              <a:t>はい</a:t>
            </a:r>
            <a:endParaRPr lang="en-US" sz="1200" dirty="0"/>
          </a:p>
        </p:txBody>
      </p:sp>
      <p:sp>
        <p:nvSpPr>
          <p:cNvPr id="97" name="Text 94"/>
          <p:cNvSpPr/>
          <p:nvPr/>
        </p:nvSpPr>
        <p:spPr>
          <a:xfrm>
            <a:off x="5537200" y="5539581"/>
            <a:ext cx="1219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A9B4BF"/>
                </a:solidFill>
                <a:latin typeface="Arial" pitchFamily="34" charset="0"/>
                <a:ea typeface="Arial" pitchFamily="34" charset="-122"/>
                <a:cs typeface="Arial" pitchFamily="34" charset="-120"/>
              </a:rPr>
              <a:t>260924（木）</a:t>
            </a:r>
            <a:endParaRPr lang="en-US" sz="1200" dirty="0"/>
          </a:p>
        </p:txBody>
      </p:sp>
      <p:sp>
        <p:nvSpPr>
          <p:cNvPr id="98" name="Text 95"/>
          <p:cNvSpPr/>
          <p:nvPr/>
        </p:nvSpPr>
        <p:spPr>
          <a:xfrm>
            <a:off x="6705600" y="5539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7D32"/>
                </a:solidFill>
                <a:latin typeface="Courier New" pitchFamily="49" charset="0"/>
                <a:ea typeface="Courier New" pitchFamily="49" charset="-122"/>
                <a:cs typeface="Courier New" pitchFamily="49" charset="-120"/>
              </a:rPr>
              <a:t>QH-75</a:t>
            </a:r>
            <a:r>
              <a:rPr lang="en-US" sz="1200" dirty="0">
                <a:solidFill>
                  <a:srgbClr val="A9B4BF"/>
                </a:solidFill>
                <a:latin typeface="Courier New" pitchFamily="49" charset="0"/>
                <a:ea typeface="Courier New" pitchFamily="49" charset="-122"/>
                <a:cs typeface="Courier New" pitchFamily="49" charset="-120"/>
              </a:rPr>
              <a:t> 22:17</a:t>
            </a:r>
            <a:endParaRPr lang="en-US" sz="1200" dirty="0"/>
          </a:p>
        </p:txBody>
      </p:sp>
      <p:sp>
        <p:nvSpPr>
          <p:cNvPr id="99" name="Text 96"/>
          <p:cNvSpPr/>
          <p:nvPr/>
        </p:nvSpPr>
        <p:spPr>
          <a:xfrm>
            <a:off x="7975600" y="5539581"/>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CC00"/>
                </a:solidFill>
                <a:latin typeface="Courier New" pitchFamily="49" charset="0"/>
                <a:ea typeface="Courier New" pitchFamily="49" charset="-122"/>
                <a:cs typeface="Courier New" pitchFamily="49" charset="-120"/>
              </a:rPr>
              <a:t>VQ-32</a:t>
            </a:r>
            <a:r>
              <a:rPr lang="en-US" sz="1200" dirty="0">
                <a:solidFill>
                  <a:srgbClr val="A9B4BF"/>
                </a:solidFill>
                <a:latin typeface="Courier New" pitchFamily="49" charset="0"/>
                <a:ea typeface="Courier New" pitchFamily="49" charset="-122"/>
                <a:cs typeface="Courier New" pitchFamily="49" charset="-120"/>
              </a:rPr>
              <a:t> 22:22</a:t>
            </a:r>
            <a:endParaRPr lang="en-US" sz="1200" dirty="0"/>
          </a:p>
        </p:txBody>
      </p:sp>
      <p:sp>
        <p:nvSpPr>
          <p:cNvPr id="100" name="Text 97"/>
          <p:cNvSpPr/>
          <p:nvPr/>
        </p:nvSpPr>
        <p:spPr>
          <a:xfrm>
            <a:off x="9194800" y="5539581"/>
            <a:ext cx="6096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Courier New" pitchFamily="49" charset="0"/>
                <a:ea typeface="Courier New" pitchFamily="49" charset="-122"/>
                <a:cs typeface="Courier New" pitchFamily="49" charset="-120"/>
              </a:rPr>
              <a:t>+5</a:t>
            </a:r>
            <a:endParaRPr lang="en-US" sz="1200" dirty="0"/>
          </a:p>
        </p:txBody>
      </p:sp>
      <p:sp>
        <p:nvSpPr>
          <p:cNvPr id="101" name="Text 98"/>
          <p:cNvSpPr/>
          <p:nvPr/>
        </p:nvSpPr>
        <p:spPr>
          <a:xfrm>
            <a:off x="9753600" y="5539581"/>
            <a:ext cx="660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A9B4BF"/>
                </a:solidFill>
                <a:latin typeface="Arial" pitchFamily="34" charset="0"/>
                <a:ea typeface="Arial" pitchFamily="34" charset="-122"/>
                <a:cs typeface="Arial" pitchFamily="34" charset="-120"/>
              </a:rPr>
              <a:t>はい</a:t>
            </a:r>
            <a:endParaRPr lang="en-US" sz="1200" dirty="0"/>
          </a:p>
        </p:txBody>
      </p:sp>
      <p:sp>
        <p:nvSpPr>
          <p:cNvPr id="102" name="Text 9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03" name="Text 100"/>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群別の構造</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E141B"/>
        </a:solidFill>
      </p:bgPr>
    </p:bg>
    <p:spTree>
      <p:nvGrpSpPr>
        <p:cNvPr id="1" name=""/>
        <p:cNvGrpSpPr/>
        <p:nvPr/>
      </p:nvGrpSpPr>
      <p:grpSpPr>
        <a:xfrm>
          <a:off x="0" y="0"/>
          <a:ext cx="0" cy="0"/>
          <a:chOff x="0" y="0"/>
          <a:chExt cx="0" cy="0"/>
        </a:xfrm>
      </p:grpSpPr>
      <p:sp>
        <p:nvSpPr>
          <p:cNvPr id="2" name="Text 0"/>
          <p:cNvSpPr/>
          <p:nvPr/>
        </p:nvSpPr>
        <p:spPr>
          <a:xfrm>
            <a:off x="812800" y="224472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第8部</a:t>
            </a:r>
            <a:endParaRPr lang="en-US" sz="1200" dirty="0"/>
          </a:p>
        </p:txBody>
      </p:sp>
      <p:sp>
        <p:nvSpPr>
          <p:cNvPr id="3" name="Text 1"/>
          <p:cNvSpPr/>
          <p:nvPr>
            <p:ph type="title"/>
          </p:nvPr>
        </p:nvSpPr>
        <p:spPr>
          <a:xfrm>
            <a:off x="812800" y="2559645"/>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出来事と外部データ</a:t>
            </a:r>
            <a:endParaRPr lang="en-US" sz="3600" dirty="0"/>
          </a:p>
        </p:txBody>
      </p:sp>
      <p:sp>
        <p:nvSpPr>
          <p:cNvPr id="4" name="Shape 2"/>
          <p:cNvSpPr/>
          <p:nvPr/>
        </p:nvSpPr>
        <p:spPr>
          <a:xfrm>
            <a:off x="812800" y="3416250"/>
            <a:ext cx="10566400" cy="0"/>
          </a:xfrm>
          <a:prstGeom prst="line">
            <a:avLst/>
          </a:prstGeom>
          <a:noFill/>
          <a:ln w="6350">
            <a:solidFill>
              <a:srgbClr val="2A3340"/>
            </a:solidFill>
            <a:prstDash val="solid"/>
          </a:ln>
        </p:spPr>
      </p:sp>
      <p:sp>
        <p:nvSpPr>
          <p:cNvPr id="5" name="Text 3"/>
          <p:cNvSpPr/>
          <p:nvPr/>
        </p:nvSpPr>
        <p:spPr>
          <a:xfrm>
            <a:off x="812800" y="3571825"/>
            <a:ext cx="10883392" cy="8636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スカイマスター、CARFのNOTAM、E-6Bの飛行とコード、ミニットマンIIIの試験発射、8888メッセージの一覧</a:t>
            </a:r>
            <a:endParaRPr lang="en-US" sz="22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7"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演習</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スカイマスターと偽物マスター</a:t>
            </a:r>
            <a:endParaRPr lang="en-US" sz="3600" dirty="0"/>
          </a:p>
        </p:txBody>
      </p:sp>
      <p:sp>
        <p:nvSpPr>
          <p:cNvPr id="4" name="Shape 2"/>
          <p:cNvSpPr/>
          <p:nvPr/>
        </p:nvSpPr>
        <p:spPr>
          <a:xfrm>
            <a:off x="815975" y="1984325"/>
            <a:ext cx="2559050" cy="3223220"/>
          </a:xfrm>
          <a:prstGeom prst="roundRect">
            <a:avLst>
              <a:gd name="adj" fmla="val 2854"/>
            </a:avLst>
          </a:prstGeom>
          <a:solidFill>
            <a:srgbClr val="0E141B"/>
          </a:solidFill>
          <a:ln w="6350">
            <a:solidFill>
              <a:srgbClr val="222A35"/>
            </a:solidFill>
            <a:prstDash val="solid"/>
          </a:ln>
        </p:spPr>
      </p:sp>
      <p:sp>
        <p:nvSpPr>
          <p:cNvPr id="5" name="Text 3"/>
          <p:cNvSpPr/>
          <p:nvPr/>
        </p:nvSpPr>
        <p:spPr>
          <a:xfrm>
            <a:off x="946150" y="2190700"/>
            <a:ext cx="2367661"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CC00"/>
                </a:solidFill>
                <a:latin typeface="Arial" pitchFamily="34" charset="0"/>
                <a:ea typeface="Arial" pitchFamily="34" charset="-122"/>
                <a:cs typeface="Arial" pitchFamily="34" charset="-120"/>
              </a:rPr>
              <a:t>スカイマスターの</a:t>
            </a:r>
            <a:endParaRPr lang="en-US" sz="2200" dirty="0"/>
          </a:p>
          <a:p>
            <a:pPr algn="l" indent="0" marL="0">
              <a:lnSpc>
                <a:spcPts val="2640"/>
              </a:lnSpc>
              <a:buNone/>
            </a:pPr>
            <a:r>
              <a:rPr lang="en-US" sz="2200" b="1" dirty="0">
                <a:solidFill>
                  <a:srgbClr val="FFCC00"/>
                </a:solidFill>
                <a:latin typeface="Arial" pitchFamily="34" charset="0"/>
                <a:ea typeface="Arial" pitchFamily="34" charset="-122"/>
                <a:cs typeface="Arial" pitchFamily="34" charset="-120"/>
              </a:rPr>
              <a:t>イベント</a:t>
            </a:r>
            <a:endParaRPr lang="en-US" sz="2200" dirty="0"/>
          </a:p>
        </p:txBody>
      </p:sp>
      <p:sp>
        <p:nvSpPr>
          <p:cNvPr id="6" name="Text 4"/>
          <p:cNvSpPr/>
          <p:nvPr/>
        </p:nvSpPr>
        <p:spPr>
          <a:xfrm>
            <a:off x="946150" y="2962821"/>
            <a:ext cx="2367661"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戦略軍が主導する</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大規模な演習</a:t>
            </a:r>
            <a:endParaRPr lang="en-US" sz="1600" dirty="0"/>
          </a:p>
        </p:txBody>
      </p:sp>
      <p:sp>
        <p:nvSpPr>
          <p:cNvPr id="7" name="Shape 5"/>
          <p:cNvSpPr/>
          <p:nvPr/>
        </p:nvSpPr>
        <p:spPr>
          <a:xfrm>
            <a:off x="946150" y="3677196"/>
            <a:ext cx="2298700" cy="0"/>
          </a:xfrm>
          <a:prstGeom prst="line">
            <a:avLst/>
          </a:prstGeom>
          <a:noFill/>
          <a:ln w="6350">
            <a:solidFill>
              <a:srgbClr val="222A35"/>
            </a:solidFill>
            <a:prstDash val="solid"/>
          </a:ln>
        </p:spPr>
      </p:sp>
      <p:sp>
        <p:nvSpPr>
          <p:cNvPr id="8" name="Text 6"/>
          <p:cNvSpPr/>
          <p:nvPr/>
        </p:nvSpPr>
        <p:spPr>
          <a:xfrm>
            <a:off x="946150" y="3781971"/>
            <a:ext cx="2367661" cy="12446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SKYMASTERの</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コールサインは</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出るとは限らず、</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出るなら終盤が多い</a:t>
            </a:r>
            <a:endParaRPr lang="en-US" sz="1600" dirty="0"/>
          </a:p>
        </p:txBody>
      </p:sp>
      <p:sp>
        <p:nvSpPr>
          <p:cNvPr id="9" name="Shape 7"/>
          <p:cNvSpPr/>
          <p:nvPr/>
        </p:nvSpPr>
        <p:spPr>
          <a:xfrm>
            <a:off x="3482975" y="1984325"/>
            <a:ext cx="2559050" cy="3223220"/>
          </a:xfrm>
          <a:prstGeom prst="roundRect">
            <a:avLst>
              <a:gd name="adj" fmla="val 2854"/>
            </a:avLst>
          </a:prstGeom>
          <a:solidFill>
            <a:srgbClr val="0E141B"/>
          </a:solidFill>
          <a:ln w="6350">
            <a:solidFill>
              <a:srgbClr val="222A35"/>
            </a:solidFill>
            <a:prstDash val="solid"/>
          </a:ln>
        </p:spPr>
      </p:sp>
      <p:sp>
        <p:nvSpPr>
          <p:cNvPr id="10" name="Text 8"/>
          <p:cNvSpPr/>
          <p:nvPr/>
        </p:nvSpPr>
        <p:spPr>
          <a:xfrm>
            <a:off x="3613150" y="2190700"/>
            <a:ext cx="236766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CC00"/>
                </a:solidFill>
                <a:latin typeface="Arial" pitchFamily="34" charset="0"/>
                <a:ea typeface="Arial" pitchFamily="34" charset="-122"/>
                <a:cs typeface="Arial" pitchFamily="34" charset="-120"/>
              </a:rPr>
              <a:t>HFGCSでは</a:t>
            </a:r>
            <a:endParaRPr lang="en-US" sz="2200" dirty="0"/>
          </a:p>
        </p:txBody>
      </p:sp>
      <p:sp>
        <p:nvSpPr>
          <p:cNvPr id="11" name="Text 9"/>
          <p:cNvSpPr/>
          <p:nvPr/>
        </p:nvSpPr>
        <p:spPr>
          <a:xfrm>
            <a:off x="3613150" y="2627561"/>
            <a:ext cx="2367661"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何時間にもわたる</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数百件のメッセージ</a:t>
            </a:r>
            <a:endParaRPr lang="en-US" sz="1600" dirty="0"/>
          </a:p>
        </p:txBody>
      </p:sp>
      <p:sp>
        <p:nvSpPr>
          <p:cNvPr id="12" name="Shape 10"/>
          <p:cNvSpPr/>
          <p:nvPr/>
        </p:nvSpPr>
        <p:spPr>
          <a:xfrm>
            <a:off x="3613150" y="3341936"/>
            <a:ext cx="2298700" cy="0"/>
          </a:xfrm>
          <a:prstGeom prst="line">
            <a:avLst/>
          </a:prstGeom>
          <a:noFill/>
          <a:ln w="6350">
            <a:solidFill>
              <a:srgbClr val="222A35"/>
            </a:solidFill>
            <a:prstDash val="solid"/>
          </a:ln>
        </p:spPr>
      </p:sp>
      <p:sp>
        <p:nvSpPr>
          <p:cNvPr id="13" name="Text 11"/>
          <p:cNvSpPr/>
          <p:nvPr/>
        </p:nvSpPr>
        <p:spPr>
          <a:xfrm>
            <a:off x="3613150" y="3446711"/>
            <a:ext cx="2367661"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複数の形式が同時進行、</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HF・UHF周波数を追加</a:t>
            </a:r>
            <a:endParaRPr lang="en-US" sz="1600" dirty="0"/>
          </a:p>
        </p:txBody>
      </p:sp>
      <p:sp>
        <p:nvSpPr>
          <p:cNvPr id="14" name="Shape 12"/>
          <p:cNvSpPr/>
          <p:nvPr/>
        </p:nvSpPr>
        <p:spPr>
          <a:xfrm>
            <a:off x="6149975" y="1984325"/>
            <a:ext cx="2559050" cy="3223220"/>
          </a:xfrm>
          <a:prstGeom prst="roundRect">
            <a:avLst>
              <a:gd name="adj" fmla="val 2854"/>
            </a:avLst>
          </a:prstGeom>
          <a:solidFill>
            <a:srgbClr val="0E141B"/>
          </a:solidFill>
          <a:ln w="6350">
            <a:solidFill>
              <a:srgbClr val="222A35"/>
            </a:solidFill>
            <a:prstDash val="solid"/>
          </a:ln>
        </p:spPr>
      </p:sp>
      <p:sp>
        <p:nvSpPr>
          <p:cNvPr id="15" name="Text 13"/>
          <p:cNvSpPr/>
          <p:nvPr/>
        </p:nvSpPr>
        <p:spPr>
          <a:xfrm>
            <a:off x="6280150" y="2190700"/>
            <a:ext cx="236766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CC00"/>
                </a:solidFill>
                <a:latin typeface="Arial" pitchFamily="34" charset="0"/>
                <a:ea typeface="Arial" pitchFamily="34" charset="-122"/>
                <a:cs typeface="Arial" pitchFamily="34" charset="-120"/>
              </a:rPr>
              <a:t>偽物マスター</a:t>
            </a:r>
            <a:endParaRPr lang="en-US" sz="2200" dirty="0"/>
          </a:p>
        </p:txBody>
      </p:sp>
      <p:sp>
        <p:nvSpPr>
          <p:cNvPr id="16" name="Text 14"/>
          <p:cNvSpPr/>
          <p:nvPr/>
        </p:nvSpPr>
        <p:spPr>
          <a:xfrm>
            <a:off x="6280150" y="2627561"/>
            <a:ext cx="2367661"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特徴はすべてそろうが、</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SKYMASTERの</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呼び出しの記録がない</a:t>
            </a:r>
            <a:endParaRPr lang="en-US" sz="1600" dirty="0"/>
          </a:p>
        </p:txBody>
      </p:sp>
      <p:sp>
        <p:nvSpPr>
          <p:cNvPr id="17" name="Shape 15"/>
          <p:cNvSpPr/>
          <p:nvPr/>
        </p:nvSpPr>
        <p:spPr>
          <a:xfrm>
            <a:off x="6280150" y="3646736"/>
            <a:ext cx="2298700" cy="0"/>
          </a:xfrm>
          <a:prstGeom prst="line">
            <a:avLst/>
          </a:prstGeom>
          <a:noFill/>
          <a:ln w="6350">
            <a:solidFill>
              <a:srgbClr val="222A35"/>
            </a:solidFill>
            <a:prstDash val="solid"/>
          </a:ln>
        </p:spPr>
      </p:sp>
      <p:sp>
        <p:nvSpPr>
          <p:cNvPr id="18" name="Text 16"/>
          <p:cNvSpPr/>
          <p:nvPr/>
        </p:nvSpPr>
        <p:spPr>
          <a:xfrm>
            <a:off x="6280150" y="3751511"/>
            <a:ext cx="2367661"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最もわかりやすい例は</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240623、E-6が</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ノルウェーに前方展開</a:t>
            </a:r>
            <a:endParaRPr lang="en-US" sz="1600" dirty="0"/>
          </a:p>
        </p:txBody>
      </p:sp>
      <p:sp>
        <p:nvSpPr>
          <p:cNvPr id="19" name="Shape 17"/>
          <p:cNvSpPr/>
          <p:nvPr/>
        </p:nvSpPr>
        <p:spPr>
          <a:xfrm>
            <a:off x="8816975" y="1984325"/>
            <a:ext cx="2559050" cy="3223220"/>
          </a:xfrm>
          <a:prstGeom prst="roundRect">
            <a:avLst>
              <a:gd name="adj" fmla="val 2854"/>
            </a:avLst>
          </a:prstGeom>
          <a:solidFill>
            <a:srgbClr val="0E141B"/>
          </a:solidFill>
          <a:ln w="6350">
            <a:solidFill>
              <a:srgbClr val="222A35"/>
            </a:solidFill>
            <a:prstDash val="solid"/>
          </a:ln>
        </p:spPr>
      </p:sp>
      <p:sp>
        <p:nvSpPr>
          <p:cNvPr id="20" name="Text 18"/>
          <p:cNvSpPr/>
          <p:nvPr/>
        </p:nvSpPr>
        <p:spPr>
          <a:xfrm>
            <a:off x="8947150" y="2190700"/>
            <a:ext cx="236766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CC00"/>
                </a:solidFill>
                <a:latin typeface="Arial" pitchFamily="34" charset="0"/>
                <a:ea typeface="Arial" pitchFamily="34" charset="-122"/>
                <a:cs typeface="Arial" pitchFamily="34" charset="-120"/>
              </a:rPr>
              <a:t>空振りマスター</a:t>
            </a:r>
            <a:endParaRPr lang="en-US" sz="2200" dirty="0"/>
          </a:p>
        </p:txBody>
      </p:sp>
      <p:sp>
        <p:nvSpPr>
          <p:cNvPr id="21" name="Text 19"/>
          <p:cNvSpPr/>
          <p:nvPr/>
        </p:nvSpPr>
        <p:spPr>
          <a:xfrm>
            <a:off x="8947150" y="2627561"/>
            <a:ext cx="2367661"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記録は2回：</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250430と260421</a:t>
            </a:r>
            <a:endParaRPr lang="en-US" sz="1600" dirty="0"/>
          </a:p>
        </p:txBody>
      </p:sp>
      <p:sp>
        <p:nvSpPr>
          <p:cNvPr id="22" name="Shape 20"/>
          <p:cNvSpPr/>
          <p:nvPr/>
        </p:nvSpPr>
        <p:spPr>
          <a:xfrm>
            <a:off x="8947150" y="3341936"/>
            <a:ext cx="2298700" cy="0"/>
          </a:xfrm>
          <a:prstGeom prst="line">
            <a:avLst/>
          </a:prstGeom>
          <a:noFill/>
          <a:ln w="6350">
            <a:solidFill>
              <a:srgbClr val="222A35"/>
            </a:solidFill>
            <a:prstDash val="solid"/>
          </a:ln>
        </p:spPr>
      </p:sp>
      <p:sp>
        <p:nvSpPr>
          <p:cNvPr id="23" name="Text 21"/>
          <p:cNvSpPr/>
          <p:nvPr/>
        </p:nvSpPr>
        <p:spPr>
          <a:xfrm>
            <a:off x="8947150" y="3446711"/>
            <a:ext cx="2367661"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白抜きで描かれ、</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偽物マスターと同じ区分</a:t>
            </a:r>
            <a:endParaRPr lang="en-US" sz="16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出典：HFGCS よくある質問 · スカイマスタータブ</a:t>
            </a:r>
            <a:endParaRPr lang="en-US" sz="1200" dirty="0"/>
          </a:p>
        </p:txBody>
      </p:sp>
      <p:sp>
        <p:nvSpPr>
          <p:cNvPr id="25" name="Text 2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演習、2023〜2026年</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スカイマスターの一覧</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日付のある33件：スカイマスター26件、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偽物マスター5件、空振りマスター2件</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スカイマスター</a:t>
            </a:r>
            <a:r>
              <a:rPr lang="en-US" sz="1600" dirty="0">
                <a:solidFill>
                  <a:srgbClr val="FFCC00"/>
                </a:solidFill>
                <a:latin typeface="Arial" pitchFamily="34" charset="0"/>
                <a:ea typeface="Arial" pitchFamily="34" charset="-122"/>
                <a:cs typeface="Arial" pitchFamily="34" charset="-120"/>
              </a:rPr>
              <a:t>26件中18件</a:t>
            </a:r>
            <a:r>
              <a:rPr lang="en-US" sz="1600" dirty="0">
                <a:solidFill>
                  <a:srgbClr val="E6EDF3"/>
                </a:solidFill>
                <a:latin typeface="Arial" pitchFamily="34" charset="0"/>
                <a:ea typeface="Arial" pitchFamily="34" charset="-122"/>
                <a:cs typeface="Arial" pitchFamily="34" charset="-120"/>
              </a:rPr>
              <a:t>が水曜。</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グローバル・サンダーは5件中4件が水曜以外</a:t>
            </a:r>
            <a:endParaRPr lang="en-US" sz="1600" dirty="0"/>
          </a:p>
        </p:txBody>
      </p:sp>
      <p:sp>
        <p:nvSpPr>
          <p:cNvPr id="8" name="Shape 6"/>
          <p:cNvSpPr/>
          <p:nvPr/>
        </p:nvSpPr>
        <p:spPr>
          <a:xfrm>
            <a:off x="812800" y="3622625"/>
            <a:ext cx="4572000" cy="0"/>
          </a:xfrm>
          <a:prstGeom prst="line">
            <a:avLst/>
          </a:prstGeom>
          <a:noFill/>
          <a:ln w="6350">
            <a:solidFill>
              <a:srgbClr val="222A35"/>
            </a:solidFill>
            <a:prstDash val="solid"/>
          </a:ln>
        </p:spPr>
      </p:sp>
      <p:sp>
        <p:nvSpPr>
          <p:cNvPr id="9" name="Text 7"/>
          <p:cNvSpPr/>
          <p:nvPr/>
        </p:nvSpPr>
        <p:spPr>
          <a:xfrm>
            <a:off x="812800" y="37274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1月・4月・8月は毎年スカイマスターがある</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比較：4年分を横に並べ、季節でそろえる</a:t>
            </a:r>
            <a:endParaRPr lang="en-US" sz="1600" dirty="0"/>
          </a:p>
        </p:txBody>
      </p:sp>
      <p:sp>
        <p:nvSpPr>
          <p:cNvPr id="12" name="Shape 10"/>
          <p:cNvSpPr/>
          <p:nvPr/>
        </p:nvSpPr>
        <p:spPr>
          <a:xfrm>
            <a:off x="812800" y="4651325"/>
            <a:ext cx="4572000" cy="0"/>
          </a:xfrm>
          <a:prstGeom prst="line">
            <a:avLst/>
          </a:prstGeom>
          <a:noFill/>
          <a:ln w="6350">
            <a:solidFill>
              <a:srgbClr val="222A35"/>
            </a:solidFill>
            <a:prstDash val="solid"/>
          </a:ln>
        </p:spPr>
      </p:sp>
      <p:sp>
        <p:nvSpPr>
          <p:cNvPr id="13" name="Text 11"/>
          <p:cNvSpPr/>
          <p:nvPr/>
        </p:nvSpPr>
        <p:spPr>
          <a:xfrm>
            <a:off x="812800" y="4756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33件中20件の日付から、</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その日のDTCPタイムカードが開く</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日本語表示のスカイマスタータブの「比較」表示：2023〜2026年の時系列に塗りつぶしと白抜きの点が並び、その下に季節ごとにそろえた4年分・11行の日付の表">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空域</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CARF NOTAMの構成</a:t>
            </a:r>
            <a:endParaRPr lang="en-US" sz="3600" dirty="0"/>
          </a:p>
        </p:txBody>
      </p:sp>
      <p:sp>
        <p:nvSpPr>
          <p:cNvPr id="4" name="Text 2"/>
          <p:cNvSpPr/>
          <p:nvPr/>
        </p:nvSpPr>
        <p:spPr>
          <a:xfrm>
            <a:off x="812800" y="1981150"/>
            <a:ext cx="3425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3"/>
                </a:solidFill>
                <a:latin typeface="Arial" pitchFamily="34" charset="0"/>
                <a:ea typeface="Arial" pitchFamily="34" charset="-122"/>
                <a:cs typeface="Arial" pitchFamily="34" charset="-120"/>
              </a:rPr>
              <a:t>CARF 04/240 · 2026年4月のリプレイから</a:t>
            </a:r>
            <a:endParaRPr lang="en-US" sz="1200" dirty="0"/>
          </a:p>
        </p:txBody>
      </p:sp>
      <p:sp>
        <p:nvSpPr>
          <p:cNvPr id="5" name="Text 3"/>
          <p:cNvSpPr/>
          <p:nvPr/>
        </p:nvSpPr>
        <p:spPr>
          <a:xfrm>
            <a:off x="7381438" y="1981150"/>
            <a:ext cx="399776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色はフィールドの区別で、群を示すものではない</a:t>
            </a:r>
            <a:endParaRPr lang="en-US" sz="1200" dirty="0"/>
          </a:p>
        </p:txBody>
      </p:sp>
      <p:sp>
        <p:nvSpPr>
          <p:cNvPr id="6" name="Text 4"/>
          <p:cNvSpPr/>
          <p:nvPr/>
        </p:nvSpPr>
        <p:spPr>
          <a:xfrm>
            <a:off x="819150" y="2277021"/>
            <a:ext cx="1384300" cy="312390"/>
          </a:xfrm>
          <a:prstGeom prst="roundRect">
            <a:avLst>
              <a:gd name="adj" fmla="val 10164"/>
            </a:avLst>
          </a:prstGeom>
          <a:solidFill>
            <a:srgbClr val="7D8894">
              <a:alpha val="10000"/>
            </a:srgbClr>
          </a:solidFill>
          <a:ln w="12700">
            <a:solidFill>
              <a:srgbClr val="7D8894"/>
            </a:solidFill>
            <a:prstDash val="solid"/>
          </a:ln>
        </p:spPr>
        <p:txBody>
          <a:bodyPr wrap="none" lIns="98651" tIns="47851" rIns="47851" bIns="22451" rtlCol="0" anchor="t">
            <a:normAutofit/>
          </a:bodyPr>
          <a:lstStyle/>
          <a:p>
            <a:pPr algn="l"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!CARF 04/240</a:t>
            </a:r>
            <a:endParaRPr lang="en-US" sz="1200" dirty="0"/>
          </a:p>
        </p:txBody>
      </p:sp>
      <p:sp>
        <p:nvSpPr>
          <p:cNvPr id="7" name="Text 5"/>
          <p:cNvSpPr/>
          <p:nvPr/>
        </p:nvSpPr>
        <p:spPr>
          <a:xfrm>
            <a:off x="812800" y="264656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NOTAM番号</a:t>
            </a:r>
            <a:endParaRPr lang="en-US" sz="1200" dirty="0"/>
          </a:p>
        </p:txBody>
      </p:sp>
      <p:sp>
        <p:nvSpPr>
          <p:cNvPr id="8" name="Text 6"/>
          <p:cNvSpPr/>
          <p:nvPr/>
        </p:nvSpPr>
        <p:spPr>
          <a:xfrm>
            <a:off x="2317750" y="2277021"/>
            <a:ext cx="1384300" cy="312390"/>
          </a:xfrm>
          <a:prstGeom prst="roundRect">
            <a:avLst>
              <a:gd name="adj" fmla="val 10164"/>
            </a:avLst>
          </a:prstGeom>
          <a:solidFill>
            <a:srgbClr val="9063CD">
              <a:alpha val="10000"/>
            </a:srgbClr>
          </a:solidFill>
          <a:ln w="12700">
            <a:solidFill>
              <a:srgbClr val="9063CD"/>
            </a:solidFill>
            <a:prstDash val="solid"/>
          </a:ln>
        </p:spPr>
        <p:txBody>
          <a:bodyPr wrap="none" lIns="98651" tIns="47851" rIns="47851" bIns="22451" rtlCol="0" anchor="t">
            <a:normAutofit/>
          </a:bodyPr>
          <a:lstStyle/>
          <a:p>
            <a:pPr algn="l" indent="0" marL="0">
              <a:lnSpc>
                <a:spcPts val="1560"/>
              </a:lnSpc>
              <a:buNone/>
            </a:pPr>
            <a:r>
              <a:rPr lang="en-US" sz="1200" dirty="0">
                <a:solidFill>
                  <a:srgbClr val="9063CD"/>
                </a:solidFill>
                <a:latin typeface="Courier New" pitchFamily="49" charset="0"/>
                <a:ea typeface="Courier New" pitchFamily="49" charset="-122"/>
                <a:cs typeface="Courier New" pitchFamily="49" charset="-120"/>
              </a:rPr>
              <a:t>ZAK AIRSPACE</a:t>
            </a:r>
            <a:endParaRPr lang="en-US" sz="1200" dirty="0"/>
          </a:p>
        </p:txBody>
      </p:sp>
      <p:sp>
        <p:nvSpPr>
          <p:cNvPr id="9" name="Text 7"/>
          <p:cNvSpPr/>
          <p:nvPr/>
        </p:nvSpPr>
        <p:spPr>
          <a:xfrm>
            <a:off x="2311400" y="264656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管轄施設</a:t>
            </a:r>
            <a:endParaRPr lang="en-US" sz="1200" dirty="0"/>
          </a:p>
        </p:txBody>
      </p:sp>
      <p:sp>
        <p:nvSpPr>
          <p:cNvPr id="10" name="Text 8"/>
          <p:cNvSpPr/>
          <p:nvPr/>
        </p:nvSpPr>
        <p:spPr>
          <a:xfrm>
            <a:off x="3816350" y="2277021"/>
            <a:ext cx="1638300" cy="312390"/>
          </a:xfrm>
          <a:prstGeom prst="roundRect">
            <a:avLst>
              <a:gd name="adj" fmla="val 10164"/>
            </a:avLst>
          </a:prstGeom>
          <a:solidFill>
            <a:srgbClr val="FFCC00">
              <a:alpha val="10000"/>
            </a:srgbClr>
          </a:solidFill>
          <a:ln w="12700">
            <a:solidFill>
              <a:srgbClr val="FFCC00"/>
            </a:solidFill>
            <a:prstDash val="solid"/>
          </a:ln>
        </p:spPr>
        <p:txBody>
          <a:bodyPr wrap="none" lIns="98651" tIns="47851" rIns="47851" bIns="22451" rtlCol="0" anchor="t">
            <a:normAutofit/>
          </a:bodyPr>
          <a:lstStyle/>
          <a:p>
            <a:pPr algn="l" indent="0" marL="0">
              <a:lnSpc>
                <a:spcPts val="1560"/>
              </a:lnSpc>
              <a:buNone/>
            </a:pPr>
            <a:r>
              <a:rPr lang="en-US" sz="1200" dirty="0">
                <a:solidFill>
                  <a:srgbClr val="FFCC00"/>
                </a:solidFill>
                <a:latin typeface="Courier New" pitchFamily="49" charset="0"/>
                <a:ea typeface="Courier New" pitchFamily="49" charset="-122"/>
                <a:cs typeface="Courier New" pitchFamily="49" charset="-120"/>
              </a:rPr>
              <a:t>DCC KELLY THREE</a:t>
            </a:r>
            <a:endParaRPr lang="en-US" sz="1200" dirty="0"/>
          </a:p>
        </p:txBody>
      </p:sp>
      <p:sp>
        <p:nvSpPr>
          <p:cNvPr id="11" name="Text 9"/>
          <p:cNvSpPr/>
          <p:nvPr/>
        </p:nvSpPr>
        <p:spPr>
          <a:xfrm>
            <a:off x="3810000" y="2646561"/>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名称</a:t>
            </a:r>
            <a:endParaRPr lang="en-US" sz="1200" dirty="0"/>
          </a:p>
        </p:txBody>
      </p:sp>
      <p:sp>
        <p:nvSpPr>
          <p:cNvPr id="12" name="Text 10"/>
          <p:cNvSpPr/>
          <p:nvPr/>
        </p:nvSpPr>
        <p:spPr>
          <a:xfrm>
            <a:off x="5568950" y="2277021"/>
            <a:ext cx="2717800" cy="312390"/>
          </a:xfrm>
          <a:prstGeom prst="roundRect">
            <a:avLst>
              <a:gd name="adj" fmla="val 10164"/>
            </a:avLst>
          </a:prstGeom>
          <a:solidFill>
            <a:srgbClr val="7D8894">
              <a:alpha val="10000"/>
            </a:srgbClr>
          </a:solidFill>
          <a:ln w="12700">
            <a:solidFill>
              <a:srgbClr val="7D8894"/>
            </a:solidFill>
            <a:prstDash val="solid"/>
          </a:ln>
        </p:spPr>
        <p:txBody>
          <a:bodyPr wrap="none" lIns="98651" tIns="47851" rIns="23594" bIns="22451" rtlCol="0" anchor="t">
            <a:normAutofit/>
          </a:bodyPr>
          <a:lstStyle/>
          <a:p>
            <a:pPr algn="l"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STNR ALT RESERVATION</a:t>
            </a:r>
            <a:endParaRPr lang="en-US" sz="1200" dirty="0"/>
          </a:p>
        </p:txBody>
      </p:sp>
      <p:sp>
        <p:nvSpPr>
          <p:cNvPr id="13" name="Text 11"/>
          <p:cNvSpPr/>
          <p:nvPr/>
        </p:nvSpPr>
        <p:spPr>
          <a:xfrm>
            <a:off x="5562600" y="2646561"/>
            <a:ext cx="28124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固定型の高度予約</a:t>
            </a:r>
            <a:endParaRPr lang="en-US" sz="1200" dirty="0"/>
          </a:p>
        </p:txBody>
      </p:sp>
      <p:sp>
        <p:nvSpPr>
          <p:cNvPr id="14" name="Text 12"/>
          <p:cNvSpPr/>
          <p:nvPr/>
        </p:nvSpPr>
        <p:spPr>
          <a:xfrm>
            <a:off x="819150" y="2942431"/>
            <a:ext cx="2209800" cy="312390"/>
          </a:xfrm>
          <a:prstGeom prst="roundRect">
            <a:avLst>
              <a:gd name="adj" fmla="val 10164"/>
            </a:avLst>
          </a:prstGeom>
          <a:solidFill>
            <a:srgbClr val="7D8894">
              <a:alpha val="10000"/>
            </a:srgbClr>
          </a:solidFill>
          <a:ln w="12700">
            <a:solidFill>
              <a:srgbClr val="7D8894"/>
            </a:solidFill>
            <a:prstDash val="solid"/>
          </a:ln>
        </p:spPr>
        <p:txBody>
          <a:bodyPr wrap="none" lIns="98651" tIns="47851" rIns="38834" bIns="22451" rtlCol="0" anchor="t">
            <a:normAutofit/>
          </a:bodyPr>
          <a:lstStyle/>
          <a:p>
            <a:pPr algn="l" indent="0" marL="0">
              <a:lnSpc>
                <a:spcPts val="1560"/>
              </a:lnSpc>
              <a:buNone/>
            </a:pPr>
            <a:r>
              <a:rPr lang="en-US" sz="1200" dirty="0">
                <a:solidFill>
                  <a:srgbClr val="7D8894"/>
                </a:solidFill>
                <a:latin typeface="Courier New" pitchFamily="49" charset="0"/>
                <a:ea typeface="Courier New" pitchFamily="49" charset="-122"/>
                <a:cs typeface="Courier New" pitchFamily="49" charset="-120"/>
              </a:rPr>
              <a:t>WI AN AREA DEFINED AS</a:t>
            </a:r>
            <a:endParaRPr lang="en-US" sz="1200" dirty="0"/>
          </a:p>
        </p:txBody>
      </p:sp>
      <p:sp>
        <p:nvSpPr>
          <p:cNvPr id="15" name="Text 13"/>
          <p:cNvSpPr/>
          <p:nvPr/>
        </p:nvSpPr>
        <p:spPr>
          <a:xfrm>
            <a:off x="812800" y="3311971"/>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次の範囲内</a:t>
            </a:r>
            <a:endParaRPr lang="en-US" sz="1200" dirty="0"/>
          </a:p>
        </p:txBody>
      </p:sp>
      <p:sp>
        <p:nvSpPr>
          <p:cNvPr id="16" name="Text 14"/>
          <p:cNvSpPr/>
          <p:nvPr/>
        </p:nvSpPr>
        <p:spPr>
          <a:xfrm>
            <a:off x="3143250" y="2942431"/>
            <a:ext cx="3352800" cy="312390"/>
          </a:xfrm>
          <a:prstGeom prst="roundRect">
            <a:avLst>
              <a:gd name="adj" fmla="val 10164"/>
            </a:avLst>
          </a:prstGeom>
          <a:solidFill>
            <a:srgbClr val="06B050">
              <a:alpha val="10000"/>
            </a:srgbClr>
          </a:solidFill>
          <a:ln w="12700">
            <a:solidFill>
              <a:srgbClr val="06B050"/>
            </a:solidFill>
            <a:prstDash val="solid"/>
          </a:ln>
        </p:spPr>
        <p:txBody>
          <a:bodyPr wrap="none" lIns="98651" tIns="47851" rIns="4544" bIns="22451" rtlCol="0" anchor="t">
            <a:normAutofit/>
          </a:bodyPr>
          <a:lstStyle/>
          <a:p>
            <a:pPr algn="l" indent="0" marL="0">
              <a:lnSpc>
                <a:spcPts val="1560"/>
              </a:lnSpc>
              <a:buNone/>
            </a:pPr>
            <a:r>
              <a:rPr lang="en-US" sz="1200" dirty="0">
                <a:solidFill>
                  <a:srgbClr val="06B050"/>
                </a:solidFill>
                <a:latin typeface="Courier New" pitchFamily="49" charset="0"/>
                <a:ea typeface="Courier New" pitchFamily="49" charset="-122"/>
                <a:cs typeface="Courier New" pitchFamily="49" charset="-120"/>
              </a:rPr>
              <a:t>80NM RADIUS OF 342500N1293000W</a:t>
            </a:r>
            <a:endParaRPr lang="en-US" sz="1200" dirty="0"/>
          </a:p>
        </p:txBody>
      </p:sp>
      <p:sp>
        <p:nvSpPr>
          <p:cNvPr id="17" name="Text 15"/>
          <p:cNvSpPr/>
          <p:nvPr/>
        </p:nvSpPr>
        <p:spPr>
          <a:xfrm>
            <a:off x="3136900" y="3311971"/>
            <a:ext cx="3466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円：中心34°25′N 129°30′W、半径80 NM</a:t>
            </a:r>
            <a:endParaRPr lang="en-US" sz="1200" dirty="0"/>
          </a:p>
        </p:txBody>
      </p:sp>
      <p:sp>
        <p:nvSpPr>
          <p:cNvPr id="18" name="Text 16"/>
          <p:cNvSpPr/>
          <p:nvPr/>
        </p:nvSpPr>
        <p:spPr>
          <a:xfrm>
            <a:off x="6610350" y="2942431"/>
            <a:ext cx="1511300" cy="312390"/>
          </a:xfrm>
          <a:prstGeom prst="roundRect">
            <a:avLst>
              <a:gd name="adj" fmla="val 10164"/>
            </a:avLst>
          </a:prstGeom>
          <a:solidFill>
            <a:srgbClr val="ED7D32">
              <a:alpha val="10000"/>
            </a:srgbClr>
          </a:solidFill>
          <a:ln w="12700">
            <a:solidFill>
              <a:srgbClr val="ED7D32"/>
            </a:solidFill>
            <a:prstDash val="solid"/>
          </a:ln>
        </p:spPr>
        <p:txBody>
          <a:bodyPr wrap="none" lIns="98651" tIns="47851" rIns="47851" bIns="22451" rtlCol="0" anchor="t">
            <a:normAutofit/>
          </a:bodyPr>
          <a:lstStyle/>
          <a:p>
            <a:pPr algn="l" indent="0" marL="0">
              <a:lnSpc>
                <a:spcPts val="1560"/>
              </a:lnSpc>
              <a:buNone/>
            </a:pPr>
            <a:r>
              <a:rPr lang="en-US" sz="1200" dirty="0">
                <a:solidFill>
                  <a:srgbClr val="ED7D32"/>
                </a:solidFill>
                <a:latin typeface="Courier New" pitchFamily="49" charset="0"/>
                <a:ea typeface="Courier New" pitchFamily="49" charset="-122"/>
                <a:cs typeface="Courier New" pitchFamily="49" charset="-120"/>
              </a:rPr>
              <a:t>SFC-FL230</a:t>
            </a:r>
            <a:endParaRPr lang="en-US" sz="1200" dirty="0"/>
          </a:p>
        </p:txBody>
      </p:sp>
      <p:sp>
        <p:nvSpPr>
          <p:cNvPr id="19" name="Text 17"/>
          <p:cNvSpPr/>
          <p:nvPr/>
        </p:nvSpPr>
        <p:spPr>
          <a:xfrm>
            <a:off x="6604000" y="331197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地表〜FL230</a:t>
            </a:r>
            <a:endParaRPr lang="en-US" sz="1200" dirty="0"/>
          </a:p>
        </p:txBody>
      </p:sp>
      <p:sp>
        <p:nvSpPr>
          <p:cNvPr id="20" name="Text 18"/>
          <p:cNvSpPr/>
          <p:nvPr/>
        </p:nvSpPr>
        <p:spPr>
          <a:xfrm>
            <a:off x="8235950" y="2942431"/>
            <a:ext cx="2273300" cy="312390"/>
          </a:xfrm>
          <a:prstGeom prst="roundRect">
            <a:avLst>
              <a:gd name="adj" fmla="val 10164"/>
            </a:avLst>
          </a:prstGeom>
          <a:solidFill>
            <a:srgbClr val="FF0467">
              <a:alpha val="10000"/>
            </a:srgbClr>
          </a:solidFill>
          <a:ln w="12700">
            <a:solidFill>
              <a:srgbClr val="FF0467"/>
            </a:solidFill>
            <a:prstDash val="solid"/>
          </a:ln>
        </p:spPr>
        <p:txBody>
          <a:bodyPr wrap="none" lIns="98651" tIns="47851" rIns="36929" bIns="22451" rtlCol="0" anchor="t">
            <a:normAutofit/>
          </a:bodyPr>
          <a:lstStyle/>
          <a:p>
            <a:pPr algn="l" indent="0" marL="0">
              <a:lnSpc>
                <a:spcPts val="1560"/>
              </a:lnSpc>
              <a:buNone/>
            </a:pPr>
            <a:r>
              <a:rPr lang="en-US" sz="1200" dirty="0">
                <a:solidFill>
                  <a:srgbClr val="FF0467"/>
                </a:solidFill>
                <a:latin typeface="Courier New" pitchFamily="49" charset="0"/>
                <a:ea typeface="Courier New" pitchFamily="49" charset="-122"/>
                <a:cs typeface="Courier New" pitchFamily="49" charset="-120"/>
              </a:rPr>
              <a:t>2604141400-2604142359</a:t>
            </a:r>
            <a:endParaRPr lang="en-US" sz="1200" dirty="0"/>
          </a:p>
        </p:txBody>
      </p:sp>
      <p:sp>
        <p:nvSpPr>
          <p:cNvPr id="21" name="Text 19"/>
          <p:cNvSpPr/>
          <p:nvPr/>
        </p:nvSpPr>
        <p:spPr>
          <a:xfrm>
            <a:off x="8229600" y="331197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260414 14:00 → 23:59 UTC</a:t>
            </a:r>
            <a:endParaRPr lang="en-US" sz="1200" dirty="0"/>
          </a:p>
        </p:txBody>
      </p:sp>
      <p:sp>
        <p:nvSpPr>
          <p:cNvPr id="22" name="Text 20"/>
          <p:cNvSpPr/>
          <p:nvPr/>
        </p:nvSpPr>
        <p:spPr>
          <a:xfrm>
            <a:off x="812800" y="3652292"/>
            <a:ext cx="7338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3"/>
                </a:solidFill>
                <a:latin typeface="Arial" pitchFamily="34" charset="0"/>
                <a:ea typeface="Arial" pitchFamily="34" charset="-122"/>
                <a:cs typeface="Arial" pitchFamily="34" charset="-120"/>
              </a:rPr>
              <a:t>CARF 04/193 · 最後の3フィールド</a:t>
            </a:r>
            <a:endParaRPr lang="en-US" sz="1200" dirty="0"/>
          </a:p>
        </p:txBody>
      </p:sp>
      <p:sp>
        <p:nvSpPr>
          <p:cNvPr id="23" name="Text 21"/>
          <p:cNvSpPr/>
          <p:nvPr/>
        </p:nvSpPr>
        <p:spPr>
          <a:xfrm>
            <a:off x="819150" y="3948162"/>
            <a:ext cx="1511300" cy="312390"/>
          </a:xfrm>
          <a:prstGeom prst="roundRect">
            <a:avLst>
              <a:gd name="adj" fmla="val 10164"/>
            </a:avLst>
          </a:prstGeom>
          <a:solidFill>
            <a:srgbClr val="ED7D32">
              <a:alpha val="10000"/>
            </a:srgbClr>
          </a:solidFill>
          <a:ln w="12700">
            <a:solidFill>
              <a:srgbClr val="ED7D32"/>
            </a:solidFill>
            <a:prstDash val="solid"/>
          </a:ln>
        </p:spPr>
        <p:txBody>
          <a:bodyPr wrap="none" lIns="98651" tIns="47851" rIns="47851" bIns="22451" rtlCol="0" anchor="t">
            <a:normAutofit/>
          </a:bodyPr>
          <a:lstStyle/>
          <a:p>
            <a:pPr algn="l" indent="0" marL="0">
              <a:lnSpc>
                <a:spcPts val="1560"/>
              </a:lnSpc>
              <a:buNone/>
            </a:pPr>
            <a:r>
              <a:rPr lang="en-US" sz="1200" dirty="0">
                <a:solidFill>
                  <a:srgbClr val="ED7D32"/>
                </a:solidFill>
                <a:latin typeface="Courier New" pitchFamily="49" charset="0"/>
                <a:ea typeface="Courier New" pitchFamily="49" charset="-122"/>
                <a:cs typeface="Courier New" pitchFamily="49" charset="-120"/>
              </a:rPr>
              <a:t>SFC-FL210</a:t>
            </a:r>
            <a:endParaRPr lang="en-US" sz="1200" dirty="0"/>
          </a:p>
        </p:txBody>
      </p:sp>
      <p:sp>
        <p:nvSpPr>
          <p:cNvPr id="24" name="Text 22"/>
          <p:cNvSpPr/>
          <p:nvPr/>
        </p:nvSpPr>
        <p:spPr>
          <a:xfrm>
            <a:off x="812800" y="4317702"/>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地表〜FL210</a:t>
            </a:r>
            <a:endParaRPr lang="en-US" sz="1200" dirty="0"/>
          </a:p>
        </p:txBody>
      </p:sp>
      <p:sp>
        <p:nvSpPr>
          <p:cNvPr id="25" name="Text 23"/>
          <p:cNvSpPr/>
          <p:nvPr/>
        </p:nvSpPr>
        <p:spPr>
          <a:xfrm>
            <a:off x="2444750" y="3948162"/>
            <a:ext cx="2590800" cy="312390"/>
          </a:xfrm>
          <a:prstGeom prst="roundRect">
            <a:avLst>
              <a:gd name="adj" fmla="val 10164"/>
            </a:avLst>
          </a:prstGeom>
          <a:solidFill>
            <a:srgbClr val="FF0467">
              <a:alpha val="10000"/>
            </a:srgbClr>
          </a:solidFill>
          <a:ln w="12700">
            <a:solidFill>
              <a:srgbClr val="FF0467">
                <a:alpha val="40000"/>
              </a:srgbClr>
            </a:solidFill>
            <a:prstDash val="solid"/>
          </a:ln>
        </p:spPr>
        <p:txBody>
          <a:bodyPr wrap="none" lIns="98651" tIns="47851" rIns="27404" bIns="22451" rtlCol="0" anchor="t">
            <a:normAutofit/>
          </a:bodyPr>
          <a:lstStyle/>
          <a:p>
            <a:pPr algn="l" indent="0" marL="0">
              <a:lnSpc>
                <a:spcPts val="1560"/>
              </a:lnSpc>
              <a:buNone/>
            </a:pPr>
            <a:r>
              <a:rPr lang="en-US" sz="1200" dirty="0">
                <a:solidFill>
                  <a:srgbClr val="FF0467"/>
                </a:solidFill>
                <a:latin typeface="Courier New" pitchFamily="49" charset="0"/>
                <a:ea typeface="Courier New" pitchFamily="49" charset="-122"/>
                <a:cs typeface="Courier New" pitchFamily="49" charset="-120"/>
              </a:rPr>
              <a:t>DLY 1515-1615</a:t>
            </a:r>
            <a:endParaRPr lang="en-US" sz="1200" dirty="0"/>
          </a:p>
        </p:txBody>
      </p:sp>
      <p:sp>
        <p:nvSpPr>
          <p:cNvPr id="26" name="Text 24"/>
          <p:cNvSpPr/>
          <p:nvPr/>
        </p:nvSpPr>
        <p:spPr>
          <a:xfrm>
            <a:off x="2438400" y="4317702"/>
            <a:ext cx="26816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毎日15:15〜16:15 UTCのみ</a:t>
            </a:r>
            <a:endParaRPr lang="en-US" sz="1200" dirty="0"/>
          </a:p>
        </p:txBody>
      </p:sp>
      <p:sp>
        <p:nvSpPr>
          <p:cNvPr id="27" name="Text 25"/>
          <p:cNvSpPr/>
          <p:nvPr/>
        </p:nvSpPr>
        <p:spPr>
          <a:xfrm>
            <a:off x="5149850" y="3948162"/>
            <a:ext cx="2781300" cy="312390"/>
          </a:xfrm>
          <a:prstGeom prst="roundRect">
            <a:avLst>
              <a:gd name="adj" fmla="val 10164"/>
            </a:avLst>
          </a:prstGeom>
          <a:solidFill>
            <a:srgbClr val="FF0467">
              <a:alpha val="10000"/>
            </a:srgbClr>
          </a:solidFill>
          <a:ln w="12700">
            <a:solidFill>
              <a:srgbClr val="FF0467"/>
            </a:solidFill>
            <a:prstDash val="solid"/>
          </a:ln>
        </p:spPr>
        <p:txBody>
          <a:bodyPr wrap="none" lIns="98651" tIns="47851" rIns="21689" bIns="22451" rtlCol="0" anchor="t">
            <a:normAutofit/>
          </a:bodyPr>
          <a:lstStyle/>
          <a:p>
            <a:pPr algn="l" indent="0" marL="0">
              <a:lnSpc>
                <a:spcPts val="1560"/>
              </a:lnSpc>
              <a:buNone/>
            </a:pPr>
            <a:r>
              <a:rPr lang="en-US" sz="1200" dirty="0">
                <a:solidFill>
                  <a:srgbClr val="FF0467"/>
                </a:solidFill>
                <a:latin typeface="Courier New" pitchFamily="49" charset="0"/>
                <a:ea typeface="Courier New" pitchFamily="49" charset="-122"/>
                <a:cs typeface="Courier New" pitchFamily="49" charset="-120"/>
              </a:rPr>
              <a:t>2604131515-2604161615</a:t>
            </a:r>
            <a:endParaRPr lang="en-US" sz="1200" dirty="0"/>
          </a:p>
        </p:txBody>
      </p:sp>
      <p:sp>
        <p:nvSpPr>
          <p:cNvPr id="28" name="Text 26"/>
          <p:cNvSpPr/>
          <p:nvPr/>
        </p:nvSpPr>
        <p:spPr>
          <a:xfrm>
            <a:off x="5143500" y="4317702"/>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260413 15:15 → 260416 16:15 UTC</a:t>
            </a:r>
            <a:endParaRPr lang="en-US" sz="1200" dirty="0"/>
          </a:p>
        </p:txBody>
      </p:sp>
      <p:sp>
        <p:nvSpPr>
          <p:cNvPr id="29" name="Text 27"/>
          <p:cNvSpPr/>
          <p:nvPr/>
        </p:nvSpPr>
        <p:spPr>
          <a:xfrm>
            <a:off x="8242300" y="3901182"/>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4月13日</a:t>
            </a:r>
            <a:endParaRPr lang="en-US" sz="1200" dirty="0"/>
          </a:p>
        </p:txBody>
      </p:sp>
      <p:sp>
        <p:nvSpPr>
          <p:cNvPr id="30" name="Shape 28"/>
          <p:cNvSpPr/>
          <p:nvPr/>
        </p:nvSpPr>
        <p:spPr>
          <a:xfrm>
            <a:off x="8242300" y="4165302"/>
            <a:ext cx="304800" cy="101600"/>
          </a:xfrm>
          <a:prstGeom prst="rect">
            <a:avLst/>
          </a:prstGeom>
          <a:solidFill>
            <a:srgbClr val="FF0467"/>
          </a:solidFill>
          <a:ln/>
        </p:spPr>
      </p:sp>
      <p:sp>
        <p:nvSpPr>
          <p:cNvPr id="31" name="Text 29"/>
          <p:cNvSpPr/>
          <p:nvPr/>
        </p:nvSpPr>
        <p:spPr>
          <a:xfrm>
            <a:off x="9042400" y="3901182"/>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4月14日</a:t>
            </a:r>
            <a:endParaRPr lang="en-US" sz="1200" dirty="0"/>
          </a:p>
        </p:txBody>
      </p:sp>
      <p:sp>
        <p:nvSpPr>
          <p:cNvPr id="32" name="Shape 30"/>
          <p:cNvSpPr/>
          <p:nvPr/>
        </p:nvSpPr>
        <p:spPr>
          <a:xfrm>
            <a:off x="9042400" y="4165302"/>
            <a:ext cx="304800" cy="101600"/>
          </a:xfrm>
          <a:prstGeom prst="rect">
            <a:avLst/>
          </a:prstGeom>
          <a:solidFill>
            <a:srgbClr val="FF0467"/>
          </a:solidFill>
          <a:ln/>
        </p:spPr>
      </p:sp>
      <p:sp>
        <p:nvSpPr>
          <p:cNvPr id="33" name="Text 31"/>
          <p:cNvSpPr/>
          <p:nvPr/>
        </p:nvSpPr>
        <p:spPr>
          <a:xfrm>
            <a:off x="9842500" y="3901182"/>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4月15日</a:t>
            </a:r>
            <a:endParaRPr lang="en-US" sz="1200" dirty="0"/>
          </a:p>
        </p:txBody>
      </p:sp>
      <p:sp>
        <p:nvSpPr>
          <p:cNvPr id="34" name="Shape 32"/>
          <p:cNvSpPr/>
          <p:nvPr/>
        </p:nvSpPr>
        <p:spPr>
          <a:xfrm>
            <a:off x="9842500" y="4165302"/>
            <a:ext cx="304800" cy="101600"/>
          </a:xfrm>
          <a:prstGeom prst="rect">
            <a:avLst/>
          </a:prstGeom>
          <a:solidFill>
            <a:srgbClr val="FF0467"/>
          </a:solidFill>
          <a:ln/>
        </p:spPr>
      </p:sp>
      <p:sp>
        <p:nvSpPr>
          <p:cNvPr id="35" name="Text 33"/>
          <p:cNvSpPr/>
          <p:nvPr/>
        </p:nvSpPr>
        <p:spPr>
          <a:xfrm>
            <a:off x="10642600" y="3901182"/>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4月16日</a:t>
            </a:r>
            <a:endParaRPr lang="en-US" sz="1200" dirty="0"/>
          </a:p>
        </p:txBody>
      </p:sp>
      <p:sp>
        <p:nvSpPr>
          <p:cNvPr id="36" name="Shape 34"/>
          <p:cNvSpPr/>
          <p:nvPr/>
        </p:nvSpPr>
        <p:spPr>
          <a:xfrm>
            <a:off x="10642600" y="4165302"/>
            <a:ext cx="304800" cy="101600"/>
          </a:xfrm>
          <a:prstGeom prst="rect">
            <a:avLst/>
          </a:prstGeom>
          <a:solidFill>
            <a:srgbClr val="FF0467"/>
          </a:solidFill>
          <a:ln/>
        </p:spPr>
      </p:sp>
      <p:sp>
        <p:nvSpPr>
          <p:cNvPr id="37" name="Text 35"/>
          <p:cNvSpPr/>
          <p:nvPr/>
        </p:nvSpPr>
        <p:spPr>
          <a:xfrm>
            <a:off x="8242300" y="4317702"/>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1時間の棒4本で表示</a:t>
            </a:r>
            <a:endParaRPr lang="en-US" sz="1200" dirty="0"/>
          </a:p>
        </p:txBody>
      </p:sp>
      <p:sp>
        <p:nvSpPr>
          <p:cNvPr id="38" name="Text 36"/>
          <p:cNvSpPr/>
          <p:nvPr/>
        </p:nvSpPr>
        <p:spPr>
          <a:xfrm>
            <a:off x="812800" y="4683423"/>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形状、高度帯、UTCの有効時間：地図と時間スライダーに必要なのはこれだけ</a:t>
            </a:r>
            <a:endParaRPr lang="en-US" sz="1600" dirty="0"/>
          </a:p>
        </p:txBody>
      </p:sp>
      <p:sp>
        <p:nvSpPr>
          <p:cNvPr id="39" name="Text 37"/>
          <p:cNvSpPr/>
          <p:nvPr/>
        </p:nvSpPr>
        <p:spPr>
          <a:xfrm>
            <a:off x="812800" y="5039023"/>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NOTAMマッパー：FAAかICAOのNOTAM文を貼り付けて </a:t>
            </a:r>
            <a:r>
              <a:rPr lang="en-US" sz="1600" dirty="0">
                <a:solidFill>
                  <a:srgbClr val="FFCC00"/>
                </a:solidFill>
                <a:latin typeface="Arial" pitchFamily="34" charset="0"/>
                <a:ea typeface="Arial" pitchFamily="34" charset="-122"/>
                <a:cs typeface="Arial" pitchFamily="34" charset="-120"/>
              </a:rPr>
              <a:t>+ ADD</a:t>
            </a:r>
            <a:r>
              <a:rPr lang="en-US" sz="1600" dirty="0">
                <a:solidFill>
                  <a:srgbClr val="E6EDF3"/>
                </a:solidFill>
                <a:latin typeface="Arial" pitchFamily="34" charset="0"/>
                <a:ea typeface="Arial" pitchFamily="34" charset="-122"/>
                <a:cs typeface="Arial" pitchFamily="34" charset="-120"/>
              </a:rPr>
              <a:t> を押す</a:t>
            </a:r>
            <a:endParaRPr lang="en-US" sz="1600" dirty="0"/>
          </a:p>
        </p:txBody>
      </p:sp>
      <p:sp>
        <p:nvSpPr>
          <p:cNvPr id="40" name="Text 38"/>
          <p:cNvSpPr/>
          <p:nvPr/>
        </p:nvSpPr>
        <p:spPr>
          <a:xfrm>
            <a:off x="812800" y="5394623"/>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SHARE</a:t>
            </a:r>
            <a:r>
              <a:rPr lang="en-US" sz="1600" dirty="0">
                <a:solidFill>
                  <a:srgbClr val="E6EDF3"/>
                </a:solidFill>
                <a:latin typeface="Arial" pitchFamily="34" charset="0"/>
                <a:ea typeface="Arial" pitchFamily="34" charset="-122"/>
                <a:cs typeface="Arial" pitchFamily="34" charset="-120"/>
              </a:rPr>
              <a:t>で原文入りのリンクをコピー · </a:t>
            </a:r>
            <a:r>
              <a:rPr lang="en-US" sz="1600" dirty="0">
                <a:solidFill>
                  <a:srgbClr val="FFCC00"/>
                </a:solidFill>
                <a:latin typeface="Arial" pitchFamily="34" charset="0"/>
                <a:ea typeface="Arial" pitchFamily="34" charset="-122"/>
                <a:cs typeface="Arial" pitchFamily="34" charset="-120"/>
              </a:rPr>
              <a:t>KML</a:t>
            </a:r>
            <a:r>
              <a:rPr lang="en-US" sz="1600" dirty="0">
                <a:solidFill>
                  <a:srgbClr val="E6EDF3"/>
                </a:solidFill>
                <a:latin typeface="Arial" pitchFamily="34" charset="0"/>
                <a:ea typeface="Arial" pitchFamily="34" charset="-122"/>
                <a:cs typeface="Arial" pitchFamily="34" charset="-120"/>
              </a:rPr>
              <a:t>で形状を書き出し</a:t>
            </a:r>
            <a:endParaRPr lang="en-US" sz="1600" dirty="0"/>
          </a:p>
        </p:txBody>
      </p:sp>
      <p:sp>
        <p:nvSpPr>
          <p:cNvPr id="41" name="Text 3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出典：2026年4月のNOTAMリプレイ · NOTAMマッパー</a:t>
            </a:r>
            <a:endParaRPr lang="en-US" sz="1200" dirty="0"/>
          </a:p>
        </p:txBody>
      </p:sp>
      <p:sp>
        <p:nvSpPr>
          <p:cNvPr id="42" name="Text 40"/>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空域 · 2026年4月</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2026年4月のNOTAMリプレイ</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CARFのNOTAM </a:t>
            </a:r>
            <a:r>
              <a:rPr lang="en-US" sz="1600" dirty="0">
                <a:solidFill>
                  <a:srgbClr val="FFCC00"/>
                </a:solidFill>
                <a:latin typeface="Arial" pitchFamily="34" charset="0"/>
                <a:ea typeface="Arial" pitchFamily="34" charset="-122"/>
                <a:cs typeface="Arial" pitchFamily="34" charset="-120"/>
              </a:rPr>
              <a:t>51</a:t>
            </a:r>
            <a:r>
              <a:rPr lang="en-US" sz="1600" dirty="0">
                <a:solidFill>
                  <a:srgbClr val="E6EDF3"/>
                </a:solidFill>
                <a:latin typeface="Arial" pitchFamily="34" charset="0"/>
                <a:ea typeface="Arial" pitchFamily="34" charset="-122"/>
                <a:cs typeface="Arial" pitchFamily="34" charset="-120"/>
              </a:rPr>
              <a:t>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260413 15:15 UTC → 260501 21:00 UTC</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太平洋（ZAK）28件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ニューヨーク洋上（ZWY）21件</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中西部北部（ZMP）2件</a:t>
            </a:r>
            <a:endParaRPr lang="en-US" sz="1600" dirty="0"/>
          </a:p>
        </p:txBody>
      </p:sp>
      <p:sp>
        <p:nvSpPr>
          <p:cNvPr id="8" name="Shape 6"/>
          <p:cNvSpPr/>
          <p:nvPr/>
        </p:nvSpPr>
        <p:spPr>
          <a:xfrm>
            <a:off x="812800" y="3927425"/>
            <a:ext cx="4572000" cy="0"/>
          </a:xfrm>
          <a:prstGeom prst="line">
            <a:avLst/>
          </a:prstGeom>
          <a:noFill/>
          <a:ln w="6350">
            <a:solidFill>
              <a:srgbClr val="222A35"/>
            </a:solidFill>
            <a:prstDash val="solid"/>
          </a:ln>
        </p:spPr>
      </p:sp>
      <p:sp>
        <p:nvSpPr>
          <p:cNvPr id="9" name="Text 7"/>
          <p:cNvSpPr/>
          <p:nvPr/>
        </p:nvSpPr>
        <p:spPr>
          <a:xfrm>
            <a:off x="812800" y="40322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棒＝NOTAM、黄（最短）から赤（最長）</a:t>
            </a:r>
            <a:endParaRPr lang="en-US" sz="1600" dirty="0"/>
          </a:p>
        </p:txBody>
      </p:sp>
      <p:sp>
        <p:nvSpPr>
          <p:cNvPr id="10" name="Shape 8"/>
          <p:cNvSpPr/>
          <p:nvPr/>
        </p:nvSpPr>
        <p:spPr>
          <a:xfrm>
            <a:off x="812800" y="4441775"/>
            <a:ext cx="4572000" cy="0"/>
          </a:xfrm>
          <a:prstGeom prst="line">
            <a:avLst/>
          </a:prstGeom>
          <a:noFill/>
          <a:ln w="6350">
            <a:solidFill>
              <a:srgbClr val="222A35"/>
            </a:solidFill>
            <a:prstDash val="solid"/>
          </a:ln>
        </p:spPr>
      </p:sp>
      <p:sp>
        <p:nvSpPr>
          <p:cNvPr id="11" name="Text 9"/>
          <p:cNvSpPr/>
          <p:nvPr/>
        </p:nvSpPr>
        <p:spPr>
          <a:xfrm>
            <a:off x="812800" y="454655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棒の下の点＝EAM 415件、群ごとに色分け</a:t>
            </a:r>
            <a:endParaRPr lang="en-US" sz="1600" dirty="0"/>
          </a:p>
        </p:txBody>
      </p:sp>
      <p:sp>
        <p:nvSpPr>
          <p:cNvPr id="12" name="Shape 10"/>
          <p:cNvSpPr/>
          <p:nvPr/>
        </p:nvSpPr>
        <p:spPr>
          <a:xfrm>
            <a:off x="812800" y="4956125"/>
            <a:ext cx="4572000" cy="0"/>
          </a:xfrm>
          <a:prstGeom prst="line">
            <a:avLst/>
          </a:prstGeom>
          <a:noFill/>
          <a:ln w="6350">
            <a:solidFill>
              <a:srgbClr val="222A35"/>
            </a:solidFill>
            <a:prstDash val="solid"/>
          </a:ln>
        </p:spPr>
      </p:sp>
      <p:sp>
        <p:nvSpPr>
          <p:cNvPr id="13" name="Text 11"/>
          <p:cNvSpPr/>
          <p:nvPr/>
        </p:nvSpPr>
        <p:spPr>
          <a:xfrm>
            <a:off x="812800" y="50609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スライダーの時点で有効なものを表示</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「4/51 ACTIVE」</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2026年4月スカイマスターのNOTAMリプレイのページ（英語の画面に日本語の副題、260416 19:30 UTC）：世界地図上の予約区域と白い四角で示したHFGCSの局、右側に51件のNOTAMのActive（有効）一覧、下部の時系列にNOTAMの棒とEAMの点、表示は4/51 ACTIVE">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出典：2026年4月のNOTAMリプレイ</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空域 · 2026年4月</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日ごとの空域と通信</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2920504"/>
        </p:xfrm>
        <a:graphic>
          <a:graphicData uri="http://schemas.openxmlformats.org/drawingml/2006/table">
            <a:tbl>
              <a:tblPr/>
              <a:tblGrid>
                <a:gridCol w="1583055"/>
                <a:gridCol w="1794129"/>
                <a:gridCol w="1583055"/>
                <a:gridCol w="1794129"/>
                <a:gridCol w="3799332"/>
              </a:tblGrid>
              <a:tr h="72380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日（UTC）</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有効なNOTAM</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EAM</a:t>
                      </a:r>
                      <a:endParaRPr lang="en-US" sz="1600" dirty="0">
                        <a:latin typeface="Arial" charset="0"/>
                        <a:ea typeface="Arial" charset="0"/>
                        <a:cs typeface="Arial" charset="0"/>
                      </a:endParaRPr>
                    </a:p>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（リプレイ）</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E-6Bの放送</a:t>
                      </a:r>
                      <a:endParaRPr lang="en-US" sz="1600" dirty="0">
                        <a:latin typeface="Arial" charset="0"/>
                        <a:ea typeface="Arial" charset="0"/>
                        <a:cs typeface="Arial" charset="0"/>
                      </a:endParaRPr>
                    </a:p>
                    <a:p>
                      <a:pPr algn="r" indent="0" marL="0">
                        <a:lnSpc>
                          <a:spcPts val="2240"/>
                        </a:lnSpc>
                        <a:buNone/>
                      </a:pPr>
                      <a:r>
                        <a:rPr lang="en-US" sz="1600" b="1" dirty="0">
                          <a:solidFill>
                            <a:srgbClr val="E6EDF3"/>
                          </a:solidFill>
                          <a:latin typeface="Arial" pitchFamily="34" charset="0"/>
                          <a:ea typeface="Arial" pitchFamily="34" charset="-122"/>
                          <a:cs typeface="Arial" pitchFamily="34" charset="-120"/>
                        </a:rPr>
                        <a:t>（カレンダー）</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一覧での名前</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4月13〜18日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1日3〜8件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56</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4月19〜21日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1日5〜8件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225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142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4月21日：4月空振りマスター</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4月22〜29日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1日0〜5件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52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4月30日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77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64</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4月スカイマスター</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5月1日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2240"/>
                        </a:lnSpc>
                        <a:buNone/>
                      </a:pPr>
                      <a:r>
                        <a:rPr lang="en-US" sz="1600" dirty="0">
                          <a:solidFill>
                            <a:srgbClr val="E6EDF3"/>
                          </a:solidFill>
                          <a:latin typeface="Arial" pitchFamily="34" charset="0"/>
                          <a:ea typeface="Arial" pitchFamily="34" charset="-122"/>
                          <a:cs typeface="Arial" pitchFamily="34" charset="-120"/>
                        </a:rPr>
                        <a:t>0</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5" name="Text 2"/>
          <p:cNvSpPr/>
          <p:nvPr/>
        </p:nvSpPr>
        <p:spPr>
          <a:xfrm>
            <a:off x="812800" y="5066754"/>
            <a:ext cx="1088339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D8894"/>
                </a:solidFill>
                <a:latin typeface="Arial" pitchFamily="34" charset="0"/>
                <a:ea typeface="Arial" pitchFamily="34" charset="-122"/>
                <a:cs typeface="Arial" pitchFamily="34" charset="-120"/>
              </a:rPr>
              <a:t>NOTAMはそのUTC日のどこかで有効だったものを数える · カレンダーではこの期間の全日が非網羅的監視</a:t>
            </a:r>
            <a:endParaRPr lang="en-US" sz="12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データ：2026年4月のNOTAMリプレイ · EAMカレンダー</a:t>
            </a:r>
            <a:endParaRPr lang="en-US" sz="1200" dirty="0"/>
          </a:p>
        </p:txBody>
      </p:sp>
      <p:sp>
        <p:nvSpPr>
          <p:cNvPr id="7" name="Text 4"/>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E-6B 飛行履歴</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2026年のE-6Bの飛行</a:t>
            </a:r>
            <a:endParaRPr lang="en-US" sz="3600" dirty="0"/>
          </a:p>
        </p:txBody>
      </p:sp>
      <p:sp>
        <p:nvSpPr>
          <p:cNvPr id="4" name="Text 2"/>
          <p:cNvSpPr/>
          <p:nvPr/>
        </p:nvSpPr>
        <p:spPr>
          <a:xfrm>
            <a:off x="812800" y="1981150"/>
            <a:ext cx="340106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CC00"/>
                </a:solidFill>
                <a:latin typeface="Arial" pitchFamily="34" charset="0"/>
                <a:ea typeface="Arial" pitchFamily="34" charset="-122"/>
                <a:cs typeface="Arial" pitchFamily="34" charset="-120"/>
              </a:rPr>
              <a:t>9日</a:t>
            </a:r>
            <a:endParaRPr lang="en-US" sz="8000" dirty="0"/>
          </a:p>
        </p:txBody>
      </p:sp>
      <p:sp>
        <p:nvSpPr>
          <p:cNvPr id="5" name="Text 3"/>
          <p:cNvSpPr/>
          <p:nvPr/>
        </p:nvSpPr>
        <p:spPr>
          <a:xfrm>
            <a:off x="812800" y="3047950"/>
            <a:ext cx="3401060"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E-6Bが5機以上同時に</a:t>
            </a:r>
            <a:endParaRPr lang="en-US" sz="1600" dirty="0"/>
          </a:p>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飛んでいた日数</a:t>
            </a:r>
            <a:endParaRPr lang="en-US" sz="1600" dirty="0"/>
          </a:p>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2026年1月2日〜8月31日</a:t>
            </a:r>
            <a:endParaRPr lang="en-US" sz="1600" dirty="0"/>
          </a:p>
        </p:txBody>
      </p:sp>
      <p:sp>
        <p:nvSpPr>
          <p:cNvPr id="6" name="Shape 4"/>
          <p:cNvSpPr/>
          <p:nvPr/>
        </p:nvSpPr>
        <p:spPr>
          <a:xfrm>
            <a:off x="4521200" y="1984325"/>
            <a:ext cx="6858000" cy="0"/>
          </a:xfrm>
          <a:prstGeom prst="line">
            <a:avLst/>
          </a:prstGeom>
          <a:noFill/>
          <a:ln w="6350">
            <a:solidFill>
              <a:srgbClr val="222A35"/>
            </a:solidFill>
            <a:prstDash val="solid"/>
          </a:ln>
        </p:spPr>
      </p:sp>
      <p:sp>
        <p:nvSpPr>
          <p:cNvPr id="7" name="Text 5"/>
          <p:cNvSpPr/>
          <p:nvPr/>
        </p:nvSpPr>
        <p:spPr>
          <a:xfrm>
            <a:off x="4521200" y="2089100"/>
            <a:ext cx="7063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合計13時間 · 6機同時は2月12日の87分間だけ</a:t>
            </a:r>
            <a:endParaRPr lang="en-US" sz="1600" dirty="0"/>
          </a:p>
        </p:txBody>
      </p:sp>
      <p:sp>
        <p:nvSpPr>
          <p:cNvPr id="8" name="Shape 6"/>
          <p:cNvSpPr/>
          <p:nvPr/>
        </p:nvSpPr>
        <p:spPr>
          <a:xfrm>
            <a:off x="4521200" y="2498675"/>
            <a:ext cx="6858000" cy="0"/>
          </a:xfrm>
          <a:prstGeom prst="line">
            <a:avLst/>
          </a:prstGeom>
          <a:noFill/>
          <a:ln w="6350">
            <a:solidFill>
              <a:srgbClr val="222A35"/>
            </a:solidFill>
            <a:prstDash val="solid"/>
          </a:ln>
        </p:spPr>
      </p:sp>
      <p:sp>
        <p:nvSpPr>
          <p:cNvPr id="9" name="Text 7"/>
          <p:cNvSpPr/>
          <p:nvPr/>
        </p:nvSpPr>
        <p:spPr>
          <a:xfrm>
            <a:off x="4521200" y="2603450"/>
            <a:ext cx="7063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978回の飛行 · 飛行時間4,098時間 · 1回あたりの中央値3時間38分</a:t>
            </a:r>
            <a:endParaRPr lang="en-US" sz="1600" dirty="0"/>
          </a:p>
        </p:txBody>
      </p:sp>
      <p:sp>
        <p:nvSpPr>
          <p:cNvPr id="10" name="Shape 8"/>
          <p:cNvSpPr/>
          <p:nvPr/>
        </p:nvSpPr>
        <p:spPr>
          <a:xfrm>
            <a:off x="4521200" y="3013025"/>
            <a:ext cx="6858000" cy="0"/>
          </a:xfrm>
          <a:prstGeom prst="line">
            <a:avLst/>
          </a:prstGeom>
          <a:noFill/>
          <a:ln w="6350">
            <a:solidFill>
              <a:srgbClr val="222A35"/>
            </a:solidFill>
            <a:prstDash val="solid"/>
          </a:ln>
        </p:spPr>
      </p:sp>
      <p:sp>
        <p:nvSpPr>
          <p:cNvPr id="11" name="Text 9"/>
          <p:cNvSpPr/>
          <p:nvPr/>
        </p:nvSpPr>
        <p:spPr>
          <a:xfrm>
            <a:off x="4521200" y="3117800"/>
            <a:ext cx="7063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全飛行の離着陸時刻：Aviar Labs SkyGlassの書き出し</a:t>
            </a:r>
            <a:endParaRPr lang="en-US" sz="1600" dirty="0"/>
          </a:p>
        </p:txBody>
      </p:sp>
      <p:sp>
        <p:nvSpPr>
          <p:cNvPr id="12" name="Shape 10"/>
          <p:cNvSpPr/>
          <p:nvPr/>
        </p:nvSpPr>
        <p:spPr>
          <a:xfrm>
            <a:off x="4521200" y="3527375"/>
            <a:ext cx="6858000" cy="0"/>
          </a:xfrm>
          <a:prstGeom prst="line">
            <a:avLst/>
          </a:prstGeom>
          <a:noFill/>
          <a:ln w="6350">
            <a:solidFill>
              <a:srgbClr val="222A35"/>
            </a:solidFill>
            <a:prstDash val="solid"/>
          </a:ln>
        </p:spPr>
      </p:sp>
      <p:sp>
        <p:nvSpPr>
          <p:cNvPr id="13" name="Text 11"/>
          <p:cNvSpPr/>
          <p:nvPr/>
        </p:nvSpPr>
        <p:spPr>
          <a:xfrm>
            <a:off x="4521200" y="3632150"/>
            <a:ext cx="7063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各日付からピーク時刻のADS-B Exchangeが開く</a:t>
            </a:r>
            <a:endParaRPr lang="en-US" sz="16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データ：Aviar Labs SkyGlassの書き出し</a:t>
            </a:r>
            <a:endParaRPr lang="en-US" sz="1200" dirty="0"/>
          </a:p>
        </p:txBody>
      </p:sp>
      <p:sp>
        <p:nvSpPr>
          <p:cNvPr id="15" name="Text 1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E-6B 飛行履歴</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E-6Bのトランスポンダーコード</a:t>
            </a:r>
            <a:endParaRPr lang="en-US" sz="3600" dirty="0"/>
          </a:p>
        </p:txBody>
      </p:sp>
      <p:sp>
        <p:nvSpPr>
          <p:cNvPr id="4" name="Text 2"/>
          <p:cNvSpPr/>
          <p:nvPr/>
        </p:nvSpPr>
        <p:spPr>
          <a:xfrm>
            <a:off x="812800" y="1981150"/>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DF3"/>
                </a:solidFill>
                <a:latin typeface="Arial" pitchFamily="34" charset="0"/>
                <a:ea typeface="Arial" pitchFamily="34" charset="-122"/>
                <a:cs typeface="Arial" pitchFamily="34" charset="-120"/>
              </a:rPr>
              <a:t>固定アドレスの範囲 AE040D–AE041C · 97回の飛行</a:t>
            </a:r>
            <a:endParaRPr lang="en-US" sz="1200" dirty="0"/>
          </a:p>
        </p:txBody>
      </p:sp>
      <p:sp>
        <p:nvSpPr>
          <p:cNvPr id="5" name="Text 3"/>
          <p:cNvSpPr/>
          <p:nvPr/>
        </p:nvSpPr>
        <p:spPr>
          <a:xfrm>
            <a:off x="812800" y="2255441"/>
            <a:ext cx="406400" cy="584200"/>
          </a:xfrm>
          <a:prstGeom prst="rect">
            <a:avLst/>
          </a:prstGeom>
          <a:noFill/>
          <a:ln/>
        </p:spPr>
        <p:txBody>
          <a:bodyPr wrap="square" lIns="0" tIns="0" rIns="0" bIns="0" rtlCol="0" anchor="t">
            <a:normAutofit/>
          </a:bodyPr>
          <a:lstStyle/>
          <a:p>
            <a:pPr algn="l" indent="0" marL="0">
              <a:lnSpc>
                <a:spcPts val="4400"/>
              </a:lnSpc>
              <a:buNone/>
            </a:pPr>
            <a:r>
              <a:rPr lang="en-US" sz="1600" dirty="0">
                <a:solidFill>
                  <a:srgbClr val="7D8894"/>
                </a:solidFill>
                <a:latin typeface="Courier New" pitchFamily="49" charset="0"/>
                <a:ea typeface="Courier New" pitchFamily="49" charset="-122"/>
                <a:cs typeface="Courier New" pitchFamily="49" charset="-120"/>
              </a:rPr>
              <a:t>AE</a:t>
            </a:r>
            <a:endParaRPr lang="en-US" sz="1600" dirty="0"/>
          </a:p>
        </p:txBody>
      </p:sp>
      <p:sp>
        <p:nvSpPr>
          <p:cNvPr id="6" name="Text 4"/>
          <p:cNvSpPr/>
          <p:nvPr/>
        </p:nvSpPr>
        <p:spPr>
          <a:xfrm>
            <a:off x="1244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040D</a:t>
            </a:r>
            <a:endParaRPr lang="en-US" sz="1600" dirty="0"/>
          </a:p>
        </p:txBody>
      </p:sp>
      <p:sp>
        <p:nvSpPr>
          <p:cNvPr id="7" name="Text 5"/>
          <p:cNvSpPr/>
          <p:nvPr/>
        </p:nvSpPr>
        <p:spPr>
          <a:xfrm>
            <a:off x="1219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8" name="Text 6"/>
          <p:cNvSpPr/>
          <p:nvPr/>
        </p:nvSpPr>
        <p:spPr>
          <a:xfrm>
            <a:off x="1879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040E</a:t>
            </a:r>
            <a:endParaRPr lang="en-US" sz="1600" dirty="0"/>
          </a:p>
        </p:txBody>
      </p:sp>
      <p:sp>
        <p:nvSpPr>
          <p:cNvPr id="9" name="Text 7"/>
          <p:cNvSpPr/>
          <p:nvPr/>
        </p:nvSpPr>
        <p:spPr>
          <a:xfrm>
            <a:off x="1854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2</a:t>
            </a:r>
            <a:endParaRPr lang="en-US" sz="1600" dirty="0"/>
          </a:p>
        </p:txBody>
      </p:sp>
      <p:sp>
        <p:nvSpPr>
          <p:cNvPr id="10" name="Text 8"/>
          <p:cNvSpPr/>
          <p:nvPr/>
        </p:nvSpPr>
        <p:spPr>
          <a:xfrm>
            <a:off x="2514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040F</a:t>
            </a:r>
            <a:endParaRPr lang="en-US" sz="1600" dirty="0"/>
          </a:p>
        </p:txBody>
      </p:sp>
      <p:sp>
        <p:nvSpPr>
          <p:cNvPr id="11" name="Text 9"/>
          <p:cNvSpPr/>
          <p:nvPr/>
        </p:nvSpPr>
        <p:spPr>
          <a:xfrm>
            <a:off x="2489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5</a:t>
            </a:r>
            <a:endParaRPr lang="en-US" sz="1600" dirty="0"/>
          </a:p>
        </p:txBody>
      </p:sp>
      <p:sp>
        <p:nvSpPr>
          <p:cNvPr id="12" name="Text 10"/>
          <p:cNvSpPr/>
          <p:nvPr/>
        </p:nvSpPr>
        <p:spPr>
          <a:xfrm>
            <a:off x="3149600" y="2255441"/>
            <a:ext cx="558800" cy="558800"/>
          </a:xfrm>
          <a:prstGeom prst="rect">
            <a:avLst/>
          </a:prstGeom>
          <a:solidFill>
            <a:srgbClr val="FFCC00">
              <a:alpha val="10000"/>
            </a:srgbClr>
          </a:solidFill>
          <a:ln/>
        </p:spPr>
        <p:txBody>
          <a:bodyPr wrap="square" lIns="0" tIns="0" rIns="0" bIns="0" rtlCol="0" anchor="t">
            <a:normAutofit/>
          </a:bodyPr>
          <a:lstStyle/>
          <a:p>
            <a:pPr algn="ctr" indent="0" marL="0">
              <a:lnSpc>
                <a:spcPts val="4400"/>
              </a:lnSpc>
              <a:buNone/>
            </a:pPr>
            <a:r>
              <a:rPr lang="en-US" sz="1600" dirty="0">
                <a:solidFill>
                  <a:srgbClr val="7D8894"/>
                </a:solidFill>
                <a:latin typeface="Courier New" pitchFamily="49" charset="0"/>
                <a:ea typeface="Courier New" pitchFamily="49" charset="-122"/>
                <a:cs typeface="Courier New" pitchFamily="49" charset="-120"/>
              </a:rPr>
              <a:t>0410</a:t>
            </a:r>
            <a:endParaRPr lang="en-US" sz="1600" dirty="0"/>
          </a:p>
        </p:txBody>
      </p:sp>
      <p:sp>
        <p:nvSpPr>
          <p:cNvPr id="13" name="Text 11"/>
          <p:cNvSpPr/>
          <p:nvPr/>
        </p:nvSpPr>
        <p:spPr>
          <a:xfrm>
            <a:off x="3124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7D8894"/>
                </a:solidFill>
                <a:latin typeface="Courier New" pitchFamily="49" charset="0"/>
                <a:ea typeface="Courier New" pitchFamily="49" charset="-122"/>
                <a:cs typeface="Courier New" pitchFamily="49" charset="-120"/>
              </a:rPr>
              <a:t>0</a:t>
            </a:r>
            <a:endParaRPr lang="en-US" sz="1600" dirty="0"/>
          </a:p>
        </p:txBody>
      </p:sp>
      <p:sp>
        <p:nvSpPr>
          <p:cNvPr id="14" name="Text 12"/>
          <p:cNvSpPr/>
          <p:nvPr/>
        </p:nvSpPr>
        <p:spPr>
          <a:xfrm>
            <a:off x="3784600" y="2255441"/>
            <a:ext cx="558800" cy="558800"/>
          </a:xfrm>
          <a:prstGeom prst="rect">
            <a:avLst/>
          </a:prstGeom>
          <a:solidFill>
            <a:srgbClr val="FFCC00">
              <a:alpha val="10000"/>
            </a:srgbClr>
          </a:solidFill>
          <a:ln/>
        </p:spPr>
        <p:txBody>
          <a:bodyPr wrap="square" lIns="0" tIns="0" rIns="0" bIns="0" rtlCol="0" anchor="t">
            <a:normAutofit/>
          </a:bodyPr>
          <a:lstStyle/>
          <a:p>
            <a:pPr algn="ctr" indent="0" marL="0">
              <a:lnSpc>
                <a:spcPts val="4400"/>
              </a:lnSpc>
              <a:buNone/>
            </a:pPr>
            <a:r>
              <a:rPr lang="en-US" sz="1600" dirty="0">
                <a:solidFill>
                  <a:srgbClr val="7D8894"/>
                </a:solidFill>
                <a:latin typeface="Courier New" pitchFamily="49" charset="0"/>
                <a:ea typeface="Courier New" pitchFamily="49" charset="-122"/>
                <a:cs typeface="Courier New" pitchFamily="49" charset="-120"/>
              </a:rPr>
              <a:t>0411</a:t>
            </a:r>
            <a:endParaRPr lang="en-US" sz="1600" dirty="0"/>
          </a:p>
        </p:txBody>
      </p:sp>
      <p:sp>
        <p:nvSpPr>
          <p:cNvPr id="15" name="Text 13"/>
          <p:cNvSpPr/>
          <p:nvPr/>
        </p:nvSpPr>
        <p:spPr>
          <a:xfrm>
            <a:off x="3759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7D8894"/>
                </a:solidFill>
                <a:latin typeface="Courier New" pitchFamily="49" charset="0"/>
                <a:ea typeface="Courier New" pitchFamily="49" charset="-122"/>
                <a:cs typeface="Courier New" pitchFamily="49" charset="-120"/>
              </a:rPr>
              <a:t>0</a:t>
            </a:r>
            <a:endParaRPr lang="en-US" sz="1600" dirty="0"/>
          </a:p>
        </p:txBody>
      </p:sp>
      <p:sp>
        <p:nvSpPr>
          <p:cNvPr id="16" name="Text 14"/>
          <p:cNvSpPr/>
          <p:nvPr/>
        </p:nvSpPr>
        <p:spPr>
          <a:xfrm>
            <a:off x="4419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0412</a:t>
            </a:r>
            <a:endParaRPr lang="en-US" sz="1600" dirty="0"/>
          </a:p>
        </p:txBody>
      </p:sp>
      <p:sp>
        <p:nvSpPr>
          <p:cNvPr id="17" name="Text 15"/>
          <p:cNvSpPr/>
          <p:nvPr/>
        </p:nvSpPr>
        <p:spPr>
          <a:xfrm>
            <a:off x="4394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7</a:t>
            </a:r>
            <a:endParaRPr lang="en-US" sz="1600" dirty="0"/>
          </a:p>
        </p:txBody>
      </p:sp>
      <p:sp>
        <p:nvSpPr>
          <p:cNvPr id="18" name="Text 16"/>
          <p:cNvSpPr/>
          <p:nvPr/>
        </p:nvSpPr>
        <p:spPr>
          <a:xfrm>
            <a:off x="5054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0413</a:t>
            </a:r>
            <a:endParaRPr lang="en-US" sz="1600" dirty="0"/>
          </a:p>
        </p:txBody>
      </p:sp>
      <p:sp>
        <p:nvSpPr>
          <p:cNvPr id="19" name="Text 17"/>
          <p:cNvSpPr/>
          <p:nvPr/>
        </p:nvSpPr>
        <p:spPr>
          <a:xfrm>
            <a:off x="5029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13</a:t>
            </a:r>
            <a:endParaRPr lang="en-US" sz="1600" dirty="0"/>
          </a:p>
        </p:txBody>
      </p:sp>
      <p:sp>
        <p:nvSpPr>
          <p:cNvPr id="20" name="Text 18"/>
          <p:cNvSpPr/>
          <p:nvPr/>
        </p:nvSpPr>
        <p:spPr>
          <a:xfrm>
            <a:off x="5689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0414</a:t>
            </a:r>
            <a:endParaRPr lang="en-US" sz="1600" dirty="0"/>
          </a:p>
        </p:txBody>
      </p:sp>
      <p:sp>
        <p:nvSpPr>
          <p:cNvPr id="21" name="Text 19"/>
          <p:cNvSpPr/>
          <p:nvPr/>
        </p:nvSpPr>
        <p:spPr>
          <a:xfrm>
            <a:off x="5664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9</a:t>
            </a:r>
            <a:endParaRPr lang="en-US" sz="1600" dirty="0"/>
          </a:p>
        </p:txBody>
      </p:sp>
      <p:sp>
        <p:nvSpPr>
          <p:cNvPr id="22" name="Text 20"/>
          <p:cNvSpPr/>
          <p:nvPr/>
        </p:nvSpPr>
        <p:spPr>
          <a:xfrm>
            <a:off x="6324600" y="2255441"/>
            <a:ext cx="558800" cy="558800"/>
          </a:xfrm>
          <a:prstGeom prst="rect">
            <a:avLst/>
          </a:prstGeom>
          <a:solidFill>
            <a:srgbClr val="FFCC00">
              <a:alpha val="10000"/>
            </a:srgbClr>
          </a:solidFill>
          <a:ln/>
        </p:spPr>
        <p:txBody>
          <a:bodyPr wrap="square" lIns="0" tIns="0" rIns="0" bIns="0" rtlCol="0" anchor="t">
            <a:normAutofit/>
          </a:bodyPr>
          <a:lstStyle/>
          <a:p>
            <a:pPr algn="ctr" indent="0" marL="0">
              <a:lnSpc>
                <a:spcPts val="4400"/>
              </a:lnSpc>
              <a:buNone/>
            </a:pPr>
            <a:r>
              <a:rPr lang="en-US" sz="1600" dirty="0">
                <a:solidFill>
                  <a:srgbClr val="7D8894"/>
                </a:solidFill>
                <a:latin typeface="Courier New" pitchFamily="49" charset="0"/>
                <a:ea typeface="Courier New" pitchFamily="49" charset="-122"/>
                <a:cs typeface="Courier New" pitchFamily="49" charset="-120"/>
              </a:rPr>
              <a:t>0415</a:t>
            </a:r>
            <a:endParaRPr lang="en-US" sz="1600" dirty="0"/>
          </a:p>
        </p:txBody>
      </p:sp>
      <p:sp>
        <p:nvSpPr>
          <p:cNvPr id="23" name="Text 21"/>
          <p:cNvSpPr/>
          <p:nvPr/>
        </p:nvSpPr>
        <p:spPr>
          <a:xfrm>
            <a:off x="6299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7D8894"/>
                </a:solidFill>
                <a:latin typeface="Courier New" pitchFamily="49" charset="0"/>
                <a:ea typeface="Courier New" pitchFamily="49" charset="-122"/>
                <a:cs typeface="Courier New" pitchFamily="49" charset="-120"/>
              </a:rPr>
              <a:t>0</a:t>
            </a:r>
            <a:endParaRPr lang="en-US" sz="1600" dirty="0"/>
          </a:p>
        </p:txBody>
      </p:sp>
      <p:sp>
        <p:nvSpPr>
          <p:cNvPr id="24" name="Text 22"/>
          <p:cNvSpPr/>
          <p:nvPr/>
        </p:nvSpPr>
        <p:spPr>
          <a:xfrm>
            <a:off x="6959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0416</a:t>
            </a:r>
            <a:endParaRPr lang="en-US" sz="1600" dirty="0"/>
          </a:p>
        </p:txBody>
      </p:sp>
      <p:sp>
        <p:nvSpPr>
          <p:cNvPr id="25" name="Text 23"/>
          <p:cNvSpPr/>
          <p:nvPr/>
        </p:nvSpPr>
        <p:spPr>
          <a:xfrm>
            <a:off x="6934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12</a:t>
            </a:r>
            <a:endParaRPr lang="en-US" sz="1600" dirty="0"/>
          </a:p>
        </p:txBody>
      </p:sp>
      <p:sp>
        <p:nvSpPr>
          <p:cNvPr id="26" name="Text 24"/>
          <p:cNvSpPr/>
          <p:nvPr/>
        </p:nvSpPr>
        <p:spPr>
          <a:xfrm>
            <a:off x="7594600" y="2255441"/>
            <a:ext cx="558800" cy="558800"/>
          </a:xfrm>
          <a:prstGeom prst="rect">
            <a:avLst/>
          </a:prstGeom>
          <a:solidFill>
            <a:srgbClr val="FFCC00">
              <a:alpha val="10000"/>
            </a:srgbClr>
          </a:solidFill>
          <a:ln/>
        </p:spPr>
        <p:txBody>
          <a:bodyPr wrap="square" lIns="0" tIns="0" rIns="0" bIns="0" rtlCol="0" anchor="t">
            <a:normAutofit/>
          </a:bodyPr>
          <a:lstStyle/>
          <a:p>
            <a:pPr algn="ctr" indent="0" marL="0">
              <a:lnSpc>
                <a:spcPts val="4400"/>
              </a:lnSpc>
              <a:buNone/>
            </a:pPr>
            <a:r>
              <a:rPr lang="en-US" sz="1600" dirty="0">
                <a:solidFill>
                  <a:srgbClr val="7D8894"/>
                </a:solidFill>
                <a:latin typeface="Courier New" pitchFamily="49" charset="0"/>
                <a:ea typeface="Courier New" pitchFamily="49" charset="-122"/>
                <a:cs typeface="Courier New" pitchFamily="49" charset="-120"/>
              </a:rPr>
              <a:t>0417</a:t>
            </a:r>
            <a:endParaRPr lang="en-US" sz="1600" dirty="0"/>
          </a:p>
        </p:txBody>
      </p:sp>
      <p:sp>
        <p:nvSpPr>
          <p:cNvPr id="27" name="Text 25"/>
          <p:cNvSpPr/>
          <p:nvPr/>
        </p:nvSpPr>
        <p:spPr>
          <a:xfrm>
            <a:off x="7569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7D8894"/>
                </a:solidFill>
                <a:latin typeface="Courier New" pitchFamily="49" charset="0"/>
                <a:ea typeface="Courier New" pitchFamily="49" charset="-122"/>
                <a:cs typeface="Courier New" pitchFamily="49" charset="-120"/>
              </a:rPr>
              <a:t>0</a:t>
            </a:r>
            <a:endParaRPr lang="en-US" sz="1600" dirty="0"/>
          </a:p>
        </p:txBody>
      </p:sp>
      <p:sp>
        <p:nvSpPr>
          <p:cNvPr id="28" name="Text 26"/>
          <p:cNvSpPr/>
          <p:nvPr/>
        </p:nvSpPr>
        <p:spPr>
          <a:xfrm>
            <a:off x="8229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0418</a:t>
            </a:r>
            <a:endParaRPr lang="en-US" sz="1600" dirty="0"/>
          </a:p>
        </p:txBody>
      </p:sp>
      <p:sp>
        <p:nvSpPr>
          <p:cNvPr id="29" name="Text 27"/>
          <p:cNvSpPr/>
          <p:nvPr/>
        </p:nvSpPr>
        <p:spPr>
          <a:xfrm>
            <a:off x="8204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8</a:t>
            </a:r>
            <a:endParaRPr lang="en-US" sz="1600" dirty="0"/>
          </a:p>
        </p:txBody>
      </p:sp>
      <p:sp>
        <p:nvSpPr>
          <p:cNvPr id="30" name="Text 28"/>
          <p:cNvSpPr/>
          <p:nvPr/>
        </p:nvSpPr>
        <p:spPr>
          <a:xfrm>
            <a:off x="8864600" y="2255441"/>
            <a:ext cx="558800" cy="558800"/>
          </a:xfrm>
          <a:prstGeom prst="rect">
            <a:avLst/>
          </a:prstGeom>
          <a:solidFill>
            <a:srgbClr val="FFCC00">
              <a:alpha val="10000"/>
            </a:srgbClr>
          </a:solidFill>
          <a:ln/>
        </p:spPr>
        <p:txBody>
          <a:bodyPr wrap="square" lIns="0" tIns="0" rIns="0" bIns="0" rtlCol="0" anchor="t">
            <a:normAutofit/>
          </a:bodyPr>
          <a:lstStyle/>
          <a:p>
            <a:pPr algn="ctr" indent="0" marL="0">
              <a:lnSpc>
                <a:spcPts val="4400"/>
              </a:lnSpc>
              <a:buNone/>
            </a:pPr>
            <a:r>
              <a:rPr lang="en-US" sz="1600" dirty="0">
                <a:solidFill>
                  <a:srgbClr val="7D8894"/>
                </a:solidFill>
                <a:latin typeface="Courier New" pitchFamily="49" charset="0"/>
                <a:ea typeface="Courier New" pitchFamily="49" charset="-122"/>
                <a:cs typeface="Courier New" pitchFamily="49" charset="-120"/>
              </a:rPr>
              <a:t>0419</a:t>
            </a:r>
            <a:endParaRPr lang="en-US" sz="1600" dirty="0"/>
          </a:p>
        </p:txBody>
      </p:sp>
      <p:sp>
        <p:nvSpPr>
          <p:cNvPr id="31" name="Text 29"/>
          <p:cNvSpPr/>
          <p:nvPr/>
        </p:nvSpPr>
        <p:spPr>
          <a:xfrm>
            <a:off x="8839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7D8894"/>
                </a:solidFill>
                <a:latin typeface="Courier New" pitchFamily="49" charset="0"/>
                <a:ea typeface="Courier New" pitchFamily="49" charset="-122"/>
                <a:cs typeface="Courier New" pitchFamily="49" charset="-120"/>
              </a:rPr>
              <a:t>0</a:t>
            </a:r>
            <a:endParaRPr lang="en-US" sz="1600" dirty="0"/>
          </a:p>
        </p:txBody>
      </p:sp>
      <p:sp>
        <p:nvSpPr>
          <p:cNvPr id="32" name="Text 30"/>
          <p:cNvSpPr/>
          <p:nvPr/>
        </p:nvSpPr>
        <p:spPr>
          <a:xfrm>
            <a:off x="9499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041A</a:t>
            </a:r>
            <a:endParaRPr lang="en-US" sz="1600" dirty="0"/>
          </a:p>
        </p:txBody>
      </p:sp>
      <p:sp>
        <p:nvSpPr>
          <p:cNvPr id="33" name="Text 31"/>
          <p:cNvSpPr/>
          <p:nvPr/>
        </p:nvSpPr>
        <p:spPr>
          <a:xfrm>
            <a:off x="9474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14</a:t>
            </a:r>
            <a:endParaRPr lang="en-US" sz="1600" dirty="0"/>
          </a:p>
        </p:txBody>
      </p:sp>
      <p:sp>
        <p:nvSpPr>
          <p:cNvPr id="34" name="Text 32"/>
          <p:cNvSpPr/>
          <p:nvPr/>
        </p:nvSpPr>
        <p:spPr>
          <a:xfrm>
            <a:off x="10134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041B</a:t>
            </a:r>
            <a:endParaRPr lang="en-US" sz="1600" dirty="0"/>
          </a:p>
        </p:txBody>
      </p:sp>
      <p:sp>
        <p:nvSpPr>
          <p:cNvPr id="35" name="Text 33"/>
          <p:cNvSpPr/>
          <p:nvPr/>
        </p:nvSpPr>
        <p:spPr>
          <a:xfrm>
            <a:off x="10109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15</a:t>
            </a:r>
            <a:endParaRPr lang="en-US" sz="1600" dirty="0"/>
          </a:p>
        </p:txBody>
      </p:sp>
      <p:sp>
        <p:nvSpPr>
          <p:cNvPr id="36" name="Text 34"/>
          <p:cNvSpPr/>
          <p:nvPr/>
        </p:nvSpPr>
        <p:spPr>
          <a:xfrm>
            <a:off x="10769600" y="2255441"/>
            <a:ext cx="558800" cy="558800"/>
          </a:xfrm>
          <a:prstGeom prst="rect">
            <a:avLst/>
          </a:prstGeom>
          <a:solidFill>
            <a:srgbClr val="FFCC00"/>
          </a:solidFill>
          <a:ln/>
        </p:spPr>
        <p:txBody>
          <a:bodyPr wrap="square" lIns="0" tIns="0" rIns="0" bIns="0" rtlCol="0" anchor="t">
            <a:normAutofit/>
          </a:bodyPr>
          <a:lstStyle/>
          <a:p>
            <a:pPr algn="ctr" indent="0" marL="0">
              <a:lnSpc>
                <a:spcPts val="4400"/>
              </a:lnSpc>
              <a:buNone/>
            </a:pPr>
            <a:r>
              <a:rPr lang="en-US" sz="1600" dirty="0">
                <a:solidFill>
                  <a:srgbClr val="05090E"/>
                </a:solidFill>
                <a:latin typeface="Courier New" pitchFamily="49" charset="0"/>
                <a:ea typeface="Courier New" pitchFamily="49" charset="-122"/>
                <a:cs typeface="Courier New" pitchFamily="49" charset="-120"/>
              </a:rPr>
              <a:t>041C</a:t>
            </a:r>
            <a:endParaRPr lang="en-US" sz="1600" dirty="0"/>
          </a:p>
        </p:txBody>
      </p:sp>
      <p:sp>
        <p:nvSpPr>
          <p:cNvPr id="37" name="Text 35"/>
          <p:cNvSpPr/>
          <p:nvPr/>
        </p:nvSpPr>
        <p:spPr>
          <a:xfrm>
            <a:off x="10744200" y="2865041"/>
            <a:ext cx="60960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E6EDF3"/>
                </a:solidFill>
                <a:latin typeface="Courier New" pitchFamily="49" charset="0"/>
                <a:ea typeface="Courier New" pitchFamily="49" charset="-122"/>
                <a:cs typeface="Courier New" pitchFamily="49" charset="-120"/>
              </a:rPr>
              <a:t>10</a:t>
            </a:r>
            <a:endParaRPr lang="en-US" sz="1600" dirty="0"/>
          </a:p>
        </p:txBody>
      </p:sp>
      <p:sp>
        <p:nvSpPr>
          <p:cNvPr id="38" name="Shape 36"/>
          <p:cNvSpPr/>
          <p:nvPr/>
        </p:nvSpPr>
        <p:spPr>
          <a:xfrm>
            <a:off x="819150" y="3237111"/>
            <a:ext cx="10553700" cy="850850"/>
          </a:xfrm>
          <a:prstGeom prst="roundRect">
            <a:avLst>
              <a:gd name="adj" fmla="val 8209"/>
            </a:avLst>
          </a:prstGeom>
          <a:noFill/>
          <a:ln w="12700">
            <a:solidFill>
              <a:srgbClr val="7D8894"/>
            </a:solidFill>
            <a:prstDash val="solid"/>
          </a:ln>
        </p:spPr>
      </p:sp>
      <p:sp>
        <p:nvSpPr>
          <p:cNvPr id="39" name="Text 37"/>
          <p:cNvSpPr/>
          <p:nvPr/>
        </p:nvSpPr>
        <p:spPr>
          <a:xfrm>
            <a:off x="1028700" y="3370461"/>
            <a:ext cx="1043863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ほかのコード285個 · 881回の飛行</a:t>
            </a:r>
            <a:endParaRPr lang="en-US" sz="2200" dirty="0"/>
          </a:p>
        </p:txBody>
      </p:sp>
      <p:sp>
        <p:nvSpPr>
          <p:cNvPr id="40" name="Text 38"/>
          <p:cNvSpPr/>
          <p:nvPr/>
        </p:nvSpPr>
        <p:spPr>
          <a:xfrm>
            <a:off x="1028700" y="3756521"/>
            <a:ext cx="1043863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AEで始まるもの121個、AFで始まるもの164個 · 66個は1回だけ · 最多はAF3309の10回</a:t>
            </a:r>
            <a:endParaRPr lang="en-US" sz="1200" dirty="0"/>
          </a:p>
        </p:txBody>
      </p:sp>
      <p:sp>
        <p:nvSpPr>
          <p:cNvPr id="41" name="Shape 39"/>
          <p:cNvSpPr/>
          <p:nvPr/>
        </p:nvSpPr>
        <p:spPr>
          <a:xfrm>
            <a:off x="812800" y="4195911"/>
            <a:ext cx="1047750" cy="152400"/>
          </a:xfrm>
          <a:prstGeom prst="rect">
            <a:avLst/>
          </a:prstGeom>
          <a:solidFill>
            <a:srgbClr val="FFCC00"/>
          </a:solidFill>
          <a:ln/>
        </p:spPr>
      </p:sp>
      <p:sp>
        <p:nvSpPr>
          <p:cNvPr id="42" name="Shape 40"/>
          <p:cNvSpPr/>
          <p:nvPr/>
        </p:nvSpPr>
        <p:spPr>
          <a:xfrm>
            <a:off x="1885950" y="4195911"/>
            <a:ext cx="9493250" cy="152400"/>
          </a:xfrm>
          <a:prstGeom prst="rect">
            <a:avLst/>
          </a:prstGeom>
          <a:solidFill>
            <a:srgbClr val="7D8894"/>
          </a:solidFill>
          <a:ln/>
        </p:spPr>
      </p:sp>
      <p:sp>
        <p:nvSpPr>
          <p:cNvPr id="43" name="Text 41"/>
          <p:cNvSpPr/>
          <p:nvPr/>
        </p:nvSpPr>
        <p:spPr>
          <a:xfrm>
            <a:off x="812800" y="4399111"/>
            <a:ext cx="10985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FCC00"/>
                </a:solidFill>
                <a:latin typeface="Courier New" pitchFamily="49" charset="0"/>
                <a:ea typeface="Courier New" pitchFamily="49" charset="-122"/>
                <a:cs typeface="Courier New" pitchFamily="49" charset="-120"/>
              </a:rPr>
              <a:t>97</a:t>
            </a:r>
            <a:endParaRPr lang="en-US" sz="1200" dirty="0"/>
          </a:p>
        </p:txBody>
      </p:sp>
      <p:sp>
        <p:nvSpPr>
          <p:cNvPr id="44" name="Text 42"/>
          <p:cNvSpPr/>
          <p:nvPr/>
        </p:nvSpPr>
        <p:spPr>
          <a:xfrm>
            <a:off x="1885950" y="4399111"/>
            <a:ext cx="778973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Courier New" pitchFamily="49" charset="0"/>
                <a:ea typeface="Courier New" pitchFamily="49" charset="-122"/>
                <a:cs typeface="Courier New" pitchFamily="49" charset="-120"/>
              </a:rPr>
              <a:t>881</a:t>
            </a:r>
            <a:endParaRPr lang="en-US" sz="1200" dirty="0"/>
          </a:p>
        </p:txBody>
      </p:sp>
      <p:sp>
        <p:nvSpPr>
          <p:cNvPr id="45" name="Text 43"/>
          <p:cNvSpPr/>
          <p:nvPr/>
        </p:nvSpPr>
        <p:spPr>
          <a:xfrm>
            <a:off x="9417050" y="4399111"/>
            <a:ext cx="196215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7D8894"/>
                </a:solidFill>
                <a:latin typeface="Arial" pitchFamily="34" charset="0"/>
                <a:ea typeface="Arial" pitchFamily="34" charset="-122"/>
                <a:cs typeface="Arial" pitchFamily="34" charset="-120"/>
              </a:rPr>
              <a:t>978回の飛行</a:t>
            </a:r>
            <a:endParaRPr lang="en-US" sz="1200" dirty="0"/>
          </a:p>
        </p:txBody>
      </p:sp>
      <p:sp>
        <p:nvSpPr>
          <p:cNvPr id="46" name="Text 44"/>
          <p:cNvSpPr/>
          <p:nvPr/>
        </p:nvSpPr>
        <p:spPr>
          <a:xfrm>
            <a:off x="812800" y="469880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固定アドレス16個</a:t>
            </a:r>
            <a:r>
              <a:rPr lang="en-US" sz="1600" dirty="0">
                <a:solidFill>
                  <a:srgbClr val="E6EDF3"/>
                </a:solidFill>
                <a:latin typeface="Arial" pitchFamily="34" charset="0"/>
                <a:ea typeface="Arial" pitchFamily="34" charset="-122"/>
                <a:cs typeface="Arial" pitchFamily="34" charset="-120"/>
              </a:rPr>
              <a:t>（AE040D–AE041C）：97回の飛行、5個は未使用</a:t>
            </a:r>
            <a:endParaRPr lang="en-US" sz="1600" dirty="0"/>
          </a:p>
        </p:txBody>
      </p:sp>
      <p:sp>
        <p:nvSpPr>
          <p:cNvPr id="47" name="Text 45"/>
          <p:cNvSpPr/>
          <p:nvPr/>
        </p:nvSpPr>
        <p:spPr>
          <a:xfrm>
            <a:off x="812800" y="505440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978回中881回は、ほかの285個のコードのいずれかで飛行</a:t>
            </a:r>
            <a:endParaRPr lang="en-US" sz="1600" dirty="0"/>
          </a:p>
        </p:txBody>
      </p:sp>
      <p:sp>
        <p:nvSpPr>
          <p:cNvPr id="48" name="Text 46"/>
          <p:cNvSpPr/>
          <p:nvPr/>
        </p:nvSpPr>
        <p:spPr>
          <a:xfrm>
            <a:off x="812800" y="541000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同時に二つの飛行に使われたコードはない · 82個は60日以上使われず、その後再び登場</a:t>
            </a:r>
            <a:endParaRPr lang="en-US" sz="1600" dirty="0"/>
          </a:p>
        </p:txBody>
      </p:sp>
      <p:sp>
        <p:nvSpPr>
          <p:cNvPr id="49" name="Text 4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データ：Aviar Labs SkyGlassの書き出し、2026年1月2日〜8月31日</a:t>
            </a:r>
            <a:endParaRPr lang="en-US" sz="1200" dirty="0"/>
          </a:p>
        </p:txBody>
      </p:sp>
      <p:sp>
        <p:nvSpPr>
          <p:cNvPr id="50" name="Text 48"/>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先行公開 · サイト未掲載</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E6Bトラッカー</a:t>
            </a:r>
            <a:endParaRPr lang="en-US" sz="3600" dirty="0"/>
          </a:p>
        </p:txBody>
      </p:sp>
      <p:sp>
        <p:nvSpPr>
          <p:cNvPr id="4" name="Shape 2"/>
          <p:cNvSpPr/>
          <p:nvPr/>
        </p:nvSpPr>
        <p:spPr>
          <a:xfrm>
            <a:off x="812800" y="1984325"/>
            <a:ext cx="4572000" cy="0"/>
          </a:xfrm>
          <a:prstGeom prst="line">
            <a:avLst/>
          </a:prstGeom>
          <a:noFill/>
          <a:ln w="6350">
            <a:solidFill>
              <a:srgbClr val="222A35"/>
            </a:solidFill>
            <a:prstDash val="solid"/>
          </a:ln>
        </p:spPr>
      </p:sp>
      <p:sp>
        <p:nvSpPr>
          <p:cNvPr id="5" name="Text 3"/>
          <p:cNvSpPr/>
          <p:nvPr/>
        </p:nvSpPr>
        <p:spPr>
          <a:xfrm>
            <a:off x="812800" y="20891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飛行中のE-6Bの機数を、</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約10分ごとの巡回のたびに記録</a:t>
            </a:r>
            <a:endParaRPr lang="en-US" sz="1600" dirty="0"/>
          </a:p>
        </p:txBody>
      </p:sp>
      <p:sp>
        <p:nvSpPr>
          <p:cNvPr id="6" name="Shape 4"/>
          <p:cNvSpPr/>
          <p:nvPr/>
        </p:nvSpPr>
        <p:spPr>
          <a:xfrm>
            <a:off x="812800" y="2803475"/>
            <a:ext cx="4572000" cy="0"/>
          </a:xfrm>
          <a:prstGeom prst="line">
            <a:avLst/>
          </a:prstGeom>
          <a:noFill/>
          <a:ln w="6350">
            <a:solidFill>
              <a:srgbClr val="222A35"/>
            </a:solidFill>
            <a:prstDash val="solid"/>
          </a:ln>
        </p:spPr>
      </p:sp>
      <p:sp>
        <p:nvSpPr>
          <p:cNvPr id="7" name="Text 5"/>
          <p:cNvSpPr/>
          <p:nvPr/>
        </p:nvSpPr>
        <p:spPr>
          <a:xfrm>
            <a:off x="812800" y="29082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8月24日16:59 UTC → 10月12日22:58 UTC</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巡回7,023回 · </a:t>
            </a:r>
            <a:r>
              <a:rPr lang="en-US" sz="1600" dirty="0">
                <a:solidFill>
                  <a:srgbClr val="FFCC00"/>
                </a:solidFill>
                <a:latin typeface="Arial" pitchFamily="34" charset="0"/>
                <a:ea typeface="Arial" pitchFamily="34" charset="-122"/>
                <a:cs typeface="Arial" pitchFamily="34" charset="-120"/>
              </a:rPr>
              <a:t>最大7機</a:t>
            </a:r>
            <a:endParaRPr lang="en-US" sz="1600" dirty="0"/>
          </a:p>
        </p:txBody>
      </p:sp>
      <p:sp>
        <p:nvSpPr>
          <p:cNvPr id="8" name="Shape 6"/>
          <p:cNvSpPr/>
          <p:nvPr/>
        </p:nvSpPr>
        <p:spPr>
          <a:xfrm>
            <a:off x="812800" y="3622625"/>
            <a:ext cx="4572000" cy="0"/>
          </a:xfrm>
          <a:prstGeom prst="line">
            <a:avLst/>
          </a:prstGeom>
          <a:noFill/>
          <a:ln w="6350">
            <a:solidFill>
              <a:srgbClr val="222A35"/>
            </a:solidFill>
            <a:prstDash val="solid"/>
          </a:ln>
        </p:spPr>
      </p:sp>
      <p:sp>
        <p:nvSpPr>
          <p:cNvPr id="9" name="Text 7"/>
          <p:cNvSpPr/>
          <p:nvPr/>
        </p:nvSpPr>
        <p:spPr>
          <a:xfrm>
            <a:off x="812800" y="3727400"/>
            <a:ext cx="47091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確認済み・推定・受信範囲外をすべて数える</a:t>
            </a:r>
            <a:endParaRPr lang="en-US" sz="1600" dirty="0"/>
          </a:p>
        </p:txBody>
      </p:sp>
      <p:sp>
        <p:nvSpPr>
          <p:cNvPr id="10" name="Shape 8"/>
          <p:cNvSpPr/>
          <p:nvPr/>
        </p:nvSpPr>
        <p:spPr>
          <a:xfrm>
            <a:off x="812800" y="4136975"/>
            <a:ext cx="4572000" cy="0"/>
          </a:xfrm>
          <a:prstGeom prst="line">
            <a:avLst/>
          </a:prstGeom>
          <a:noFill/>
          <a:ln w="6350">
            <a:solidFill>
              <a:srgbClr val="222A35"/>
            </a:solidFill>
            <a:prstDash val="solid"/>
          </a:ln>
        </p:spPr>
      </p:sp>
      <p:sp>
        <p:nvSpPr>
          <p:cNvPr id="11" name="Text 9"/>
          <p:cNvSpPr/>
          <p:nvPr/>
        </p:nvSpPr>
        <p:spPr>
          <a:xfrm>
            <a:off x="812800" y="424175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空き5回・計37時間は未観測：</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0ではなく網かけで表示</a:t>
            </a:r>
            <a:endParaRPr lang="en-US" sz="1600" dirty="0"/>
          </a:p>
        </p:txBody>
      </p:sp>
      <p:sp>
        <p:nvSpPr>
          <p:cNvPr id="12" name="Shape 10"/>
          <p:cNvSpPr/>
          <p:nvPr/>
        </p:nvSpPr>
        <p:spPr>
          <a:xfrm>
            <a:off x="812800" y="4956125"/>
            <a:ext cx="4572000" cy="0"/>
          </a:xfrm>
          <a:prstGeom prst="line">
            <a:avLst/>
          </a:prstGeom>
          <a:noFill/>
          <a:ln w="6350">
            <a:solidFill>
              <a:srgbClr val="222A35"/>
            </a:solidFill>
            <a:prstDash val="solid"/>
          </a:ln>
        </p:spPr>
      </p:sp>
      <p:sp>
        <p:nvSpPr>
          <p:cNvPr id="13" name="Text 11"/>
          <p:cNvSpPr/>
          <p:nvPr/>
        </p:nvSpPr>
        <p:spPr>
          <a:xfrm>
            <a:off x="812800" y="5060900"/>
            <a:ext cx="470916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観測したHEXコード134個</a:t>
            </a:r>
            <a:endParaRPr lang="en-US" sz="1600" dirty="0"/>
          </a:p>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巡回をクリックでADS-Bのリプレイへ</a:t>
            </a:r>
            <a:endParaRPr lang="en-US" sz="1600" dirty="0"/>
          </a:p>
        </p:txBody>
      </p:sp>
      <p:sp>
        <p:nvSpPr>
          <p:cNvPr id="14" name="Shape 12"/>
          <p:cNvSpPr/>
          <p:nvPr/>
        </p:nvSpPr>
        <p:spPr>
          <a:xfrm>
            <a:off x="5791200" y="1981150"/>
            <a:ext cx="5588000" cy="3143250"/>
          </a:xfrm>
          <a:prstGeom prst="roundRect">
            <a:avLst>
              <a:gd name="adj" fmla="val 2424"/>
            </a:avLst>
          </a:prstGeom>
          <a:solidFill>
            <a:srgbClr val="0E141B"/>
          </a:solidFill>
          <a:ln/>
        </p:spPr>
      </p:sp>
      <p:pic>
        <p:nvPicPr>
          <p:cNvPr id="15" name="Image 0" descr="E6Bトラッカーの先行公開版（英語のページ）：8月24日から10月12日まで、監視の巡回ごとに飛行中のE-6Bの機数を描いた図。最大は7機で、監視が止まっていた時間は網かけの帯">    </p:cNvPr>
          <p:cNvPicPr>
            <a:picLocks noChangeAspect="1"/>
          </p:cNvPicPr>
          <p:nvPr/>
        </p:nvPicPr>
        <p:blipFill>
          <a:blip r:embed="rId1"/>
          <a:srcRect l="-89" r="-89" t="0" b="0"/>
          <a:stretch/>
        </p:blipFill>
        <p:spPr>
          <a:xfrm>
            <a:off x="5797550" y="1987500"/>
            <a:ext cx="5575300" cy="3130550"/>
          </a:xfrm>
          <a:prstGeom prst="roundRect">
            <a:avLst>
              <a:gd name="adj" fmla="val 2231"/>
            </a:avLst>
          </a:prstGeom>
        </p:spPr>
      </p:pic>
      <p:sp>
        <p:nvSpPr>
          <p:cNvPr id="16" name="Shape 13"/>
          <p:cNvSpPr/>
          <p:nvPr/>
        </p:nvSpPr>
        <p:spPr>
          <a:xfrm>
            <a:off x="5794375" y="1984325"/>
            <a:ext cx="5581650" cy="3136900"/>
          </a:xfrm>
          <a:prstGeom prst="roundRect">
            <a:avLst>
              <a:gd name="adj" fmla="val 2328"/>
            </a:avLst>
          </a:prstGeom>
          <a:noFill/>
          <a:ln w="6350">
            <a:solidFill>
              <a:srgbClr val="222A35"/>
            </a:solidFill>
            <a:prstDash val="solid"/>
          </a:ln>
        </p:spPr>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先行公開 · 261012までのデータ</a:t>
            </a:r>
            <a:endParaRPr lang="en-US" sz="1200" dirty="0"/>
          </a:p>
        </p:txBody>
      </p:sp>
      <p:sp>
        <p:nvSpPr>
          <p:cNvPr id="18"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ICBMの試験 · 相関のみ</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ミニットマンIIIの試験発射</a:t>
            </a:r>
            <a:endParaRPr lang="en-US" sz="3600" dirty="0"/>
          </a:p>
        </p:txBody>
      </p:sp>
      <p:sp>
        <p:nvSpPr>
          <p:cNvPr id="4" name="Text 2"/>
          <p:cNvSpPr/>
          <p:nvPr/>
        </p:nvSpPr>
        <p:spPr>
          <a:xfrm>
            <a:off x="812800" y="19811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D-1〜D-3の第4群は</a:t>
            </a:r>
            <a:r>
              <a:rPr lang="en-US" sz="1600" dirty="0">
                <a:solidFill>
                  <a:srgbClr val="FF0467"/>
                </a:solidFill>
                <a:latin typeface="Arial" pitchFamily="34" charset="0"/>
                <a:ea typeface="Arial" pitchFamily="34" charset="-122"/>
                <a:cs typeface="Arial" pitchFamily="34" charset="-120"/>
              </a:rPr>
              <a:t>基準値の約3.6倍</a:t>
            </a:r>
            <a:r>
              <a:rPr lang="en-US" sz="1600" dirty="0">
                <a:solidFill>
                  <a:srgbClr val="E6EDF3"/>
                </a:solidFill>
                <a:latin typeface="Arial" pitchFamily="34" charset="0"/>
                <a:ea typeface="Arial" pitchFamily="34" charset="-122"/>
                <a:cs typeface="Arial" pitchFamily="34" charset="-120"/>
              </a:rPr>
              <a:t> · 11回中8回の発射で出現</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74850"/>
          <a:ext cx="10553700" cy="2986683"/>
        </p:xfrm>
        <a:graphic>
          <a:graphicData uri="http://schemas.openxmlformats.org/drawingml/2006/table">
            <a:tbl>
              <a:tblPr/>
              <a:tblGrid>
                <a:gridCol w="1371981"/>
                <a:gridCol w="1371981"/>
                <a:gridCol w="949833"/>
                <a:gridCol w="949833"/>
                <a:gridCol w="949833"/>
                <a:gridCol w="4960239"/>
              </a:tblGrid>
              <a:tr h="248890">
                <a:tc>
                  <a:txBody>
                    <a:bodyPr/>
                    <a:lstStyle/>
                    <a:p>
                      <a:pPr indent="0" marL="0">
                        <a:lnSpc>
                          <a:spcPts val="1680"/>
                        </a:lnSpc>
                        <a:buNone/>
                      </a:pPr>
                      <a:r>
                        <a:rPr lang="en-US" sz="1200" b="1" dirty="0">
                          <a:solidFill>
                            <a:srgbClr val="E6EDF3"/>
                          </a:solidFill>
                          <a:latin typeface="Arial" pitchFamily="34" charset="0"/>
                          <a:ea typeface="Arial" pitchFamily="34" charset="-122"/>
                          <a:cs typeface="Arial" pitchFamily="34" charset="-120"/>
                        </a:rPr>
                        <a:t>発射</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1680"/>
                        </a:lnSpc>
                        <a:buNone/>
                      </a:pPr>
                      <a:r>
                        <a:rPr lang="en-US" sz="1200" b="1" dirty="0">
                          <a:solidFill>
                            <a:srgbClr val="E6EDF3"/>
                          </a:solidFill>
                          <a:latin typeface="Arial" pitchFamily="34" charset="0"/>
                          <a:ea typeface="Arial" pitchFamily="34" charset="-122"/>
                          <a:cs typeface="Arial" pitchFamily="34" charset="-120"/>
                        </a:rPr>
                        <a:t>日付</a:t>
                      </a:r>
                      <a:endParaRPr lang="en-US" sz="1200" dirty="0">
                        <a:latin typeface="Arial" charset="0"/>
                        <a:ea typeface="Arial" charset="0"/>
                        <a:cs typeface="Arial" charset="0"/>
                      </a:endParaRPr>
                    </a:p>
                  </a:txBody>
                  <a:tcPr marL="76200" marR="76200" marT="19050" marB="1905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1680"/>
                        </a:lnSpc>
                        <a:buNone/>
                      </a:pPr>
                      <a:r>
                        <a:rPr lang="en-US" sz="1200" b="1" dirty="0">
                          <a:solidFill>
                            <a:srgbClr val="FF0467"/>
                          </a:solidFill>
                          <a:latin typeface="Arial" pitchFamily="34" charset="0"/>
                          <a:ea typeface="Arial" pitchFamily="34" charset="-122"/>
                          <a:cs typeface="Arial" pitchFamily="34" charset="-120"/>
                        </a:rPr>
                        <a:t>D-3</a:t>
                      </a:r>
                      <a:endParaRPr lang="en-US" sz="1200" dirty="0">
                        <a:latin typeface="Arial" charset="0"/>
                        <a:ea typeface="Arial" charset="0"/>
                        <a:cs typeface="Arial" charset="0"/>
                      </a:endParaRPr>
                    </a:p>
                  </a:txBody>
                  <a:tcPr marL="76200" marR="76200" marT="19050" marB="1905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1680"/>
                        </a:lnSpc>
                        <a:buNone/>
                      </a:pPr>
                      <a:r>
                        <a:rPr lang="en-US" sz="1200" b="1" dirty="0">
                          <a:solidFill>
                            <a:srgbClr val="FF0467"/>
                          </a:solidFill>
                          <a:latin typeface="Arial" pitchFamily="34" charset="0"/>
                          <a:ea typeface="Arial" pitchFamily="34" charset="-122"/>
                          <a:cs typeface="Arial" pitchFamily="34" charset="-120"/>
                        </a:rPr>
                        <a:t>D-2</a:t>
                      </a:r>
                      <a:endParaRPr lang="en-US" sz="1200" dirty="0">
                        <a:latin typeface="Arial" charset="0"/>
                        <a:ea typeface="Arial" charset="0"/>
                        <a:cs typeface="Arial" charset="0"/>
                      </a:endParaRPr>
                    </a:p>
                  </a:txBody>
                  <a:tcPr marL="76200" marR="76200" marT="19050" marB="1905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algn="r" indent="0" marL="0">
                        <a:lnSpc>
                          <a:spcPts val="1680"/>
                        </a:lnSpc>
                        <a:buNone/>
                      </a:pPr>
                      <a:r>
                        <a:rPr lang="en-US" sz="1200" b="1" dirty="0">
                          <a:solidFill>
                            <a:srgbClr val="FF0467"/>
                          </a:solidFill>
                          <a:latin typeface="Arial" pitchFamily="34" charset="0"/>
                          <a:ea typeface="Arial" pitchFamily="34" charset="-122"/>
                          <a:cs typeface="Arial" pitchFamily="34" charset="-120"/>
                        </a:rPr>
                        <a:t>D-1</a:t>
                      </a:r>
                      <a:endParaRPr lang="en-US" sz="1200" dirty="0">
                        <a:latin typeface="Arial" charset="0"/>
                        <a:ea typeface="Arial" charset="0"/>
                        <a:cs typeface="Arial" charset="0"/>
                      </a:endParaRPr>
                    </a:p>
                  </a:txBody>
                  <a:tcPr marL="76200" marR="76200" marT="19050" marB="1905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1680"/>
                        </a:lnSpc>
                        <a:buNone/>
                      </a:pPr>
                      <a:r>
                        <a:rPr lang="en-US" sz="1200" b="1" dirty="0">
                          <a:solidFill>
                            <a:srgbClr val="E6EDF3"/>
                          </a:solidFill>
                          <a:latin typeface="Arial" pitchFamily="34" charset="0"/>
                          <a:ea typeface="Arial" pitchFamily="34" charset="-122"/>
                          <a:cs typeface="Arial" pitchFamily="34" charset="-120"/>
                        </a:rPr>
                        <a:t>備考</a:t>
                      </a:r>
                      <a:endParaRPr lang="en-US" sz="1200" dirty="0">
                        <a:latin typeface="Arial" charset="0"/>
                        <a:ea typeface="Arial" charset="0"/>
                        <a:cs typeface="Arial" charset="0"/>
                      </a:endParaRPr>
                    </a:p>
                  </a:txBody>
                  <a:tcPr marL="76200" marR="76200" marT="19050" marB="1905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GT-245</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230210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7D889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GT-246</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523D49"/>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523D49"/>
                      </a:solidFill>
                      <a:prstDash val="solid"/>
                      <a:round/>
                      <a:headEnd type="none" w="med" len="med"/>
                      <a:tailEnd type="none" w="med" len="med"/>
                    </a:lnB>
                    <a:solidFill>
                      <a:srgbClr val="230819"/>
                    </a:solidFill>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230419</a:t>
                      </a:r>
                      <a:endParaRPr lang="en-US" sz="1200" dirty="0">
                        <a:latin typeface="Arial" charset="0"/>
                        <a:ea typeface="Arial" charset="0"/>
                        <a:cs typeface="Arial" charset="0"/>
                      </a:endParaRPr>
                    </a:p>
                  </a:txBody>
                  <a:tcPr marL="76200" marR="76200" marT="19050" marB="19050" anchor="t">
                    <a:lnL w="12700" cap="flat" cmpd="sng" algn="ctr">
                      <a:solidFill>
                        <a:srgbClr val="523D49"/>
                      </a:solidFill>
                      <a:prstDash val="solid"/>
                      <a:round/>
                      <a:headEnd type="none" w="med" len="med"/>
                      <a:tailEnd type="none" w="med" len="med"/>
                    </a:lnL>
                    <a:lnR w="12700" cap="flat" cmpd="sng" algn="ctr">
                      <a:solidFill>
                        <a:srgbClr val="523D49"/>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523D49"/>
                      </a:solidFill>
                      <a:prstDash val="solid"/>
                      <a:round/>
                      <a:headEnd type="none" w="med" len="med"/>
                      <a:tailEnd type="none" w="med" len="med"/>
                    </a:lnB>
                    <a:solidFill>
                      <a:srgbClr val="230819"/>
                    </a:solidFill>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19050" marB="19050" anchor="t">
                    <a:lnL w="12700" cap="flat" cmpd="sng" algn="ctr">
                      <a:solidFill>
                        <a:srgbClr val="523D49"/>
                      </a:solidFill>
                      <a:prstDash val="solid"/>
                      <a:round/>
                      <a:headEnd type="none" w="med" len="med"/>
                      <a:tailEnd type="none" w="med" len="med"/>
                    </a:lnL>
                    <a:lnR w="12700" cap="flat" cmpd="sng" algn="ctr">
                      <a:solidFill>
                        <a:srgbClr val="523D49"/>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523D49"/>
                      </a:solidFill>
                      <a:prstDash val="solid"/>
                      <a:round/>
                      <a:headEnd type="none" w="med" len="med"/>
                      <a:tailEnd type="none" w="med" len="med"/>
                    </a:lnB>
                    <a:solidFill>
                      <a:srgbClr val="230819"/>
                    </a:solidFill>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76200" marR="76200" marT="19050" marB="19050" anchor="t">
                    <a:lnL w="12700" cap="flat" cmpd="sng" algn="ctr">
                      <a:solidFill>
                        <a:srgbClr val="523D49"/>
                      </a:solidFill>
                      <a:prstDash val="solid"/>
                      <a:round/>
                      <a:headEnd type="none" w="med" len="med"/>
                      <a:tailEnd type="none" w="med" len="med"/>
                    </a:lnL>
                    <a:lnR w="12700" cap="flat" cmpd="sng" algn="ctr">
                      <a:solidFill>
                        <a:srgbClr val="523D49"/>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523D49"/>
                      </a:solidFill>
                      <a:prstDash val="solid"/>
                      <a:round/>
                      <a:headEnd type="none" w="med" len="med"/>
                      <a:tailEnd type="none" w="med" len="med"/>
                    </a:lnB>
                    <a:solidFill>
                      <a:srgbClr val="230819"/>
                    </a:solidFill>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76200" marR="76200" marT="19050" marB="19050" anchor="t">
                    <a:lnL w="12700" cap="flat" cmpd="sng" algn="ctr">
                      <a:solidFill>
                        <a:srgbClr val="523D49"/>
                      </a:solidFill>
                      <a:prstDash val="solid"/>
                      <a:round/>
                      <a:headEnd type="none" w="med" len="med"/>
                      <a:tailEnd type="none" w="med" len="med"/>
                    </a:lnL>
                    <a:lnR w="12700" cap="flat" cmpd="sng" algn="ctr">
                      <a:solidFill>
                        <a:srgbClr val="523D49"/>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523D49"/>
                      </a:solidFill>
                      <a:prstDash val="solid"/>
                      <a:round/>
                      <a:headEnd type="none" w="med" len="med"/>
                      <a:tailEnd type="none" w="med" len="med"/>
                    </a:lnB>
                    <a:solidFill>
                      <a:srgbClr val="230819"/>
                    </a:solidFill>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グローバル・サンダー23の期間内 · E-6Bから発射指令</a:t>
                      </a:r>
                      <a:endParaRPr lang="en-US" sz="1200" dirty="0">
                        <a:latin typeface="Arial" charset="0"/>
                        <a:ea typeface="Arial" charset="0"/>
                        <a:cs typeface="Arial" charset="0"/>
                      </a:endParaRPr>
                    </a:p>
                  </a:txBody>
                  <a:tcPr marL="76200" marR="76200" marT="19050" marB="19050" anchor="t">
                    <a:lnL w="12700" cap="flat" cmpd="sng" algn="ctr">
                      <a:solidFill>
                        <a:srgbClr val="523D49"/>
                      </a:solidFill>
                      <a:prstDash val="solid"/>
                      <a:round/>
                      <a:headEnd type="none" w="med" len="med"/>
                      <a:tailEnd type="none" w="med" len="med"/>
                    </a:lnL>
                    <a:lnR w="12700" cap="flat" cmpd="sng" algn="ctr">
                      <a:solidFill>
                        <a:srgbClr val="523D49"/>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523D49"/>
                      </a:solidFill>
                      <a:prstDash val="solid"/>
                      <a:round/>
                      <a:headEnd type="none" w="med" len="med"/>
                      <a:tailEnd type="none" w="med" len="med"/>
                    </a:lnB>
                    <a:solidFill>
                      <a:srgbClr val="230819"/>
                    </a:solidFill>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GT-247</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523D49"/>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230906</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523D49"/>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523D49"/>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523D49"/>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523D49"/>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7D889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523D49"/>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GT-248</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231101</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異常、ミサイルを破壊</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GT-249</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240604</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7D889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GT-250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240606</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7D889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GT-251</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241106</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E-6Bから発射指令</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GT-252</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250219</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7D889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GT-253</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250521</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未検証の外部報告</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GT-254</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251105</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FF0467"/>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E-6Bから発射指令</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248890">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GT-255?</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260304</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1680"/>
                        </a:lnSpc>
                        <a:buNone/>
                      </a:pPr>
                      <a:r>
                        <a:rPr lang="en-US" sz="1200" dirty="0">
                          <a:solidFill>
                            <a:srgbClr val="E6EDF3"/>
                          </a:solidFill>
                          <a:latin typeface="Arial" pitchFamily="34" charset="0"/>
                          <a:ea typeface="Arial" pitchFamily="34" charset="-122"/>
                          <a:cs typeface="Arial" pitchFamily="34" charset="-120"/>
                        </a:rPr>
                        <a:t>執筆時点では予定 · D-0までなし</a:t>
                      </a:r>
                      <a:endParaRPr lang="en-US" sz="1200" dirty="0">
                        <a:latin typeface="Arial" charset="0"/>
                        <a:ea typeface="Arial" charset="0"/>
                        <a:cs typeface="Arial" charset="0"/>
                      </a:endParaRPr>
                    </a:p>
                  </a:txBody>
                  <a:tcPr marL="76200" marR="76200" marT="19050" marB="1905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6" name="Shape 3"/>
          <p:cNvSpPr/>
          <p:nvPr/>
        </p:nvSpPr>
        <p:spPr>
          <a:xfrm>
            <a:off x="812800" y="5440908"/>
            <a:ext cx="10566400" cy="0"/>
          </a:xfrm>
          <a:prstGeom prst="line">
            <a:avLst/>
          </a:prstGeom>
          <a:noFill/>
          <a:ln w="6350">
            <a:solidFill>
              <a:srgbClr val="7D8894"/>
            </a:solidFill>
            <a:prstDash val="solid"/>
          </a:ln>
        </p:spPr>
      </p:sp>
      <p:sp>
        <p:nvSpPr>
          <p:cNvPr id="7" name="Text 4"/>
          <p:cNvSpPr/>
          <p:nvPr/>
        </p:nvSpPr>
        <p:spPr>
          <a:xfrm>
            <a:off x="812800" y="552028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Arial" pitchFamily="34" charset="0"/>
                <a:ea typeface="Arial" pitchFamily="34" charset="-122"/>
                <a:cs typeface="Arial" pitchFamily="34" charset="-120"/>
              </a:rPr>
              <a:t>件数：1日あたりの第4群の長文メッセージ · </a:t>
            </a:r>
            <a:r>
              <a:rPr lang="en-US" sz="1200" dirty="0">
                <a:solidFill>
                  <a:srgbClr val="E6EDF3"/>
                </a:solidFill>
                <a:latin typeface="Arial" pitchFamily="34" charset="0"/>
                <a:ea typeface="Arial" pitchFamily="34" charset="-122"/>
                <a:cs typeface="Arial" pitchFamily="34" charset="-120"/>
              </a:rPr>
              <a:t>基準値：発射のない807日 · 1日0.29件 · 第4群が出た日は22%</a:t>
            </a:r>
            <a:endParaRPr lang="en-US" sz="12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出典：ミニットマンIII ICBM試験発射とHFGCS EAM活動</a:t>
            </a:r>
            <a:endParaRPr lang="en-US" sz="1200" dirty="0"/>
          </a:p>
        </p:txBody>
      </p:sp>
      <p:sp>
        <p:nvSpPr>
          <p:cNvPr id="9" name="Text 6"/>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クアッド8 · オクトパスメッセージ</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8888メッセージ</a:t>
            </a:r>
            <a:endParaRPr lang="en-US" sz="3600" dirty="0"/>
          </a:p>
        </p:txBody>
      </p:sp>
      <p:sp>
        <p:nvSpPr>
          <p:cNvPr id="4" name="Text 2"/>
          <p:cNvSpPr/>
          <p:nvPr/>
        </p:nvSpPr>
        <p:spPr>
          <a:xfrm>
            <a:off x="812800" y="1981150"/>
            <a:ext cx="1549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063CD"/>
                </a:solidFill>
                <a:latin typeface="Arial" pitchFamily="34" charset="0"/>
                <a:ea typeface="Arial" pitchFamily="34" charset="-122"/>
                <a:cs typeface="Arial" pitchFamily="34" charset="-120"/>
              </a:rPr>
              <a:t>ヘッダー</a:t>
            </a:r>
            <a:endParaRPr lang="en-US" sz="1200" dirty="0"/>
          </a:p>
        </p:txBody>
      </p:sp>
      <p:sp>
        <p:nvSpPr>
          <p:cNvPr id="5" name="Text 3"/>
          <p:cNvSpPr/>
          <p:nvPr/>
        </p:nvSpPr>
        <p:spPr>
          <a:xfrm>
            <a:off x="2438400" y="1981150"/>
            <a:ext cx="533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D7D32"/>
                </a:solidFill>
                <a:latin typeface="Arial" pitchFamily="34" charset="0"/>
                <a:ea typeface="Arial" pitchFamily="34" charset="-122"/>
                <a:cs typeface="Arial" pitchFamily="34" charset="-120"/>
              </a:rPr>
              <a:t>日</a:t>
            </a:r>
            <a:endParaRPr lang="en-US" sz="1200" dirty="0"/>
          </a:p>
        </p:txBody>
      </p:sp>
      <p:sp>
        <p:nvSpPr>
          <p:cNvPr id="6" name="Text 4"/>
          <p:cNvSpPr/>
          <p:nvPr/>
        </p:nvSpPr>
        <p:spPr>
          <a:xfrm>
            <a:off x="3048000" y="1981150"/>
            <a:ext cx="1041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FCC00"/>
                </a:solidFill>
                <a:latin typeface="Arial" pitchFamily="34" charset="0"/>
                <a:ea typeface="Arial" pitchFamily="34" charset="-122"/>
                <a:cs typeface="Arial" pitchFamily="34" charset="-120"/>
              </a:rPr>
              <a:t>時刻 UTC</a:t>
            </a:r>
            <a:endParaRPr lang="en-US" sz="1200" dirty="0"/>
          </a:p>
        </p:txBody>
      </p:sp>
      <p:sp>
        <p:nvSpPr>
          <p:cNvPr id="7" name="Text 5"/>
          <p:cNvSpPr/>
          <p:nvPr/>
        </p:nvSpPr>
        <p:spPr>
          <a:xfrm>
            <a:off x="4165600" y="1981150"/>
            <a:ext cx="402894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6B050"/>
                </a:solidFill>
                <a:latin typeface="Arial" pitchFamily="34" charset="0"/>
                <a:ea typeface="Arial" pitchFamily="34" charset="-122"/>
                <a:cs typeface="Arial" pitchFamily="34" charset="-120"/>
              </a:rPr>
              <a:t>対になった文字</a:t>
            </a:r>
            <a:endParaRPr lang="en-US" sz="1200" dirty="0"/>
          </a:p>
        </p:txBody>
      </p:sp>
      <p:sp>
        <p:nvSpPr>
          <p:cNvPr id="8" name="Text 6"/>
          <p:cNvSpPr/>
          <p:nvPr/>
        </p:nvSpPr>
        <p:spPr>
          <a:xfrm>
            <a:off x="8204200" y="1981150"/>
            <a:ext cx="1041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063CD"/>
                </a:solidFill>
                <a:latin typeface="Arial" pitchFamily="34" charset="0"/>
                <a:ea typeface="Arial" pitchFamily="34" charset="-122"/>
                <a:cs typeface="Arial" pitchFamily="34" charset="-120"/>
              </a:rPr>
              <a:t>結尾</a:t>
            </a:r>
            <a:endParaRPr lang="en-US" sz="1200" dirty="0"/>
          </a:p>
        </p:txBody>
      </p:sp>
      <p:sp>
        <p:nvSpPr>
          <p:cNvPr id="9" name="Text 7"/>
          <p:cNvSpPr/>
          <p:nvPr/>
        </p:nvSpPr>
        <p:spPr>
          <a:xfrm>
            <a:off x="812800" y="2255441"/>
            <a:ext cx="20406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221122 16:50 · HF</a:t>
            </a:r>
            <a:endParaRPr lang="en-US" sz="1200" dirty="0"/>
          </a:p>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FINNEGAN</a:t>
            </a:r>
            <a:endParaRPr lang="en-US" sz="1200" dirty="0"/>
          </a:p>
        </p:txBody>
      </p:sp>
      <p:sp>
        <p:nvSpPr>
          <p:cNvPr id="10" name="Text 8"/>
          <p:cNvSpPr/>
          <p:nvPr/>
        </p:nvSpPr>
        <p:spPr>
          <a:xfrm>
            <a:off x="3003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11" name="Text 9"/>
          <p:cNvSpPr/>
          <p:nvPr/>
        </p:nvSpPr>
        <p:spPr>
          <a:xfrm>
            <a:off x="3257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12" name="Text 10"/>
          <p:cNvSpPr/>
          <p:nvPr/>
        </p:nvSpPr>
        <p:spPr>
          <a:xfrm>
            <a:off x="3511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13" name="Text 11"/>
          <p:cNvSpPr/>
          <p:nvPr/>
        </p:nvSpPr>
        <p:spPr>
          <a:xfrm>
            <a:off x="3765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14" name="Text 12"/>
          <p:cNvSpPr/>
          <p:nvPr/>
        </p:nvSpPr>
        <p:spPr>
          <a:xfrm>
            <a:off x="4019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0</a:t>
            </a:r>
            <a:endParaRPr lang="en-US" sz="1600" dirty="0"/>
          </a:p>
        </p:txBody>
      </p:sp>
      <p:sp>
        <p:nvSpPr>
          <p:cNvPr id="15" name="Text 13"/>
          <p:cNvSpPr/>
          <p:nvPr/>
        </p:nvSpPr>
        <p:spPr>
          <a:xfrm>
            <a:off x="4273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0</a:t>
            </a:r>
            <a:endParaRPr lang="en-US" sz="1600" dirty="0"/>
          </a:p>
        </p:txBody>
      </p:sp>
      <p:sp>
        <p:nvSpPr>
          <p:cNvPr id="16" name="Text 14"/>
          <p:cNvSpPr/>
          <p:nvPr/>
        </p:nvSpPr>
        <p:spPr>
          <a:xfrm>
            <a:off x="4527550" y="2294781"/>
            <a:ext cx="215900" cy="317500"/>
          </a:xfrm>
          <a:prstGeom prst="rect">
            <a:avLst/>
          </a:prstGeom>
          <a:solidFill>
            <a:srgbClr val="ED7D32">
              <a:alpha val="15000"/>
            </a:srgbClr>
          </a:solidFill>
          <a:ln w="12700">
            <a:solidFill>
              <a:srgbClr val="ED7D32"/>
            </a:solidFill>
            <a:prstDash val="solid"/>
          </a:ln>
        </p:spPr>
        <p:txBody>
          <a:bodyPr wrap="square" lIns="0" tIns="6350" rIns="0" bIns="0" rtlCol="0" anchor="t">
            <a:normAutofit/>
          </a:bodyPr>
          <a:lstStyle/>
          <a:p>
            <a:pPr algn="ctr" indent="0" marL="0">
              <a:lnSpc>
                <a:spcPts val="2400"/>
              </a:lnSpc>
              <a:buNone/>
            </a:pPr>
            <a:r>
              <a:rPr lang="en-US" sz="1600" dirty="0">
                <a:solidFill>
                  <a:srgbClr val="ED7D32"/>
                </a:solidFill>
                <a:latin typeface="Courier New" pitchFamily="49" charset="0"/>
                <a:ea typeface="Courier New" pitchFamily="49" charset="-122"/>
                <a:cs typeface="Courier New" pitchFamily="49" charset="-120"/>
              </a:rPr>
              <a:t>2</a:t>
            </a:r>
            <a:endParaRPr lang="en-US" sz="1600" dirty="0"/>
          </a:p>
        </p:txBody>
      </p:sp>
      <p:sp>
        <p:nvSpPr>
          <p:cNvPr id="17" name="Text 15"/>
          <p:cNvSpPr/>
          <p:nvPr/>
        </p:nvSpPr>
        <p:spPr>
          <a:xfrm>
            <a:off x="4781550" y="2294781"/>
            <a:ext cx="215900" cy="317500"/>
          </a:xfrm>
          <a:prstGeom prst="rect">
            <a:avLst/>
          </a:prstGeom>
          <a:solidFill>
            <a:srgbClr val="ED7D32">
              <a:alpha val="15000"/>
            </a:srgbClr>
          </a:solidFill>
          <a:ln w="12700">
            <a:solidFill>
              <a:srgbClr val="ED7D32"/>
            </a:solidFill>
            <a:prstDash val="solid"/>
          </a:ln>
        </p:spPr>
        <p:txBody>
          <a:bodyPr wrap="square" lIns="0" tIns="6350" rIns="0" bIns="0" rtlCol="0" anchor="t">
            <a:normAutofit/>
          </a:bodyPr>
          <a:lstStyle/>
          <a:p>
            <a:pPr algn="ctr" indent="0" marL="0">
              <a:lnSpc>
                <a:spcPts val="2400"/>
              </a:lnSpc>
              <a:buNone/>
            </a:pPr>
            <a:r>
              <a:rPr lang="en-US" sz="1600" dirty="0">
                <a:solidFill>
                  <a:srgbClr val="ED7D32"/>
                </a:solidFill>
                <a:latin typeface="Courier New" pitchFamily="49" charset="0"/>
                <a:ea typeface="Courier New" pitchFamily="49" charset="-122"/>
                <a:cs typeface="Courier New" pitchFamily="49" charset="-120"/>
              </a:rPr>
              <a:t>2</a:t>
            </a:r>
            <a:endParaRPr lang="en-US" sz="1600" dirty="0"/>
          </a:p>
        </p:txBody>
      </p:sp>
      <p:sp>
        <p:nvSpPr>
          <p:cNvPr id="18" name="Text 16"/>
          <p:cNvSpPr/>
          <p:nvPr/>
        </p:nvSpPr>
        <p:spPr>
          <a:xfrm>
            <a:off x="5035550" y="2294781"/>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1</a:t>
            </a:r>
            <a:endParaRPr lang="en-US" sz="1600" dirty="0"/>
          </a:p>
        </p:txBody>
      </p:sp>
      <p:sp>
        <p:nvSpPr>
          <p:cNvPr id="19" name="Text 17"/>
          <p:cNvSpPr/>
          <p:nvPr/>
        </p:nvSpPr>
        <p:spPr>
          <a:xfrm>
            <a:off x="5289550" y="2294781"/>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6</a:t>
            </a:r>
            <a:endParaRPr lang="en-US" sz="1600" dirty="0"/>
          </a:p>
        </p:txBody>
      </p:sp>
      <p:sp>
        <p:nvSpPr>
          <p:cNvPr id="20" name="Text 18"/>
          <p:cNvSpPr/>
          <p:nvPr/>
        </p:nvSpPr>
        <p:spPr>
          <a:xfrm>
            <a:off x="5543550" y="2294781"/>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5</a:t>
            </a:r>
            <a:endParaRPr lang="en-US" sz="1600" dirty="0"/>
          </a:p>
        </p:txBody>
      </p:sp>
      <p:sp>
        <p:nvSpPr>
          <p:cNvPr id="21" name="Text 19"/>
          <p:cNvSpPr/>
          <p:nvPr/>
        </p:nvSpPr>
        <p:spPr>
          <a:xfrm>
            <a:off x="5797550" y="2294781"/>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0</a:t>
            </a:r>
            <a:endParaRPr lang="en-US" sz="1600" dirty="0"/>
          </a:p>
        </p:txBody>
      </p:sp>
      <p:sp>
        <p:nvSpPr>
          <p:cNvPr id="22" name="Text 20"/>
          <p:cNvSpPr/>
          <p:nvPr/>
        </p:nvSpPr>
        <p:spPr>
          <a:xfrm>
            <a:off x="6051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A</a:t>
            </a:r>
            <a:endParaRPr lang="en-US" sz="1600" dirty="0"/>
          </a:p>
        </p:txBody>
      </p:sp>
      <p:sp>
        <p:nvSpPr>
          <p:cNvPr id="23" name="Text 21"/>
          <p:cNvSpPr/>
          <p:nvPr/>
        </p:nvSpPr>
        <p:spPr>
          <a:xfrm>
            <a:off x="6305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A</a:t>
            </a:r>
            <a:endParaRPr lang="en-US" sz="1600" dirty="0"/>
          </a:p>
        </p:txBody>
      </p:sp>
      <p:sp>
        <p:nvSpPr>
          <p:cNvPr id="24" name="Text 22"/>
          <p:cNvSpPr/>
          <p:nvPr/>
        </p:nvSpPr>
        <p:spPr>
          <a:xfrm>
            <a:off x="6559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E</a:t>
            </a:r>
            <a:endParaRPr lang="en-US" sz="1600" dirty="0"/>
          </a:p>
        </p:txBody>
      </p:sp>
      <p:sp>
        <p:nvSpPr>
          <p:cNvPr id="25" name="Text 23"/>
          <p:cNvSpPr/>
          <p:nvPr/>
        </p:nvSpPr>
        <p:spPr>
          <a:xfrm>
            <a:off x="6813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E</a:t>
            </a:r>
            <a:endParaRPr lang="en-US" sz="1600" dirty="0"/>
          </a:p>
        </p:txBody>
      </p:sp>
      <p:sp>
        <p:nvSpPr>
          <p:cNvPr id="26" name="Text 24"/>
          <p:cNvSpPr/>
          <p:nvPr/>
        </p:nvSpPr>
        <p:spPr>
          <a:xfrm>
            <a:off x="7067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G</a:t>
            </a:r>
            <a:endParaRPr lang="en-US" sz="1600" dirty="0"/>
          </a:p>
        </p:txBody>
      </p:sp>
      <p:sp>
        <p:nvSpPr>
          <p:cNvPr id="27" name="Text 25"/>
          <p:cNvSpPr/>
          <p:nvPr/>
        </p:nvSpPr>
        <p:spPr>
          <a:xfrm>
            <a:off x="7321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G</a:t>
            </a:r>
            <a:endParaRPr lang="en-US" sz="1600" dirty="0"/>
          </a:p>
        </p:txBody>
      </p:sp>
      <p:sp>
        <p:nvSpPr>
          <p:cNvPr id="28" name="Text 26"/>
          <p:cNvSpPr/>
          <p:nvPr/>
        </p:nvSpPr>
        <p:spPr>
          <a:xfrm>
            <a:off x="7575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K</a:t>
            </a:r>
            <a:endParaRPr lang="en-US" sz="1600" dirty="0"/>
          </a:p>
        </p:txBody>
      </p:sp>
      <p:sp>
        <p:nvSpPr>
          <p:cNvPr id="29" name="Text 27"/>
          <p:cNvSpPr/>
          <p:nvPr/>
        </p:nvSpPr>
        <p:spPr>
          <a:xfrm>
            <a:off x="7829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K</a:t>
            </a:r>
            <a:endParaRPr lang="en-US" sz="1600" dirty="0"/>
          </a:p>
        </p:txBody>
      </p:sp>
      <p:sp>
        <p:nvSpPr>
          <p:cNvPr id="30" name="Text 28"/>
          <p:cNvSpPr/>
          <p:nvPr/>
        </p:nvSpPr>
        <p:spPr>
          <a:xfrm>
            <a:off x="8083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N</a:t>
            </a:r>
            <a:endParaRPr lang="en-US" sz="1600" dirty="0"/>
          </a:p>
        </p:txBody>
      </p:sp>
      <p:sp>
        <p:nvSpPr>
          <p:cNvPr id="31" name="Text 29"/>
          <p:cNvSpPr/>
          <p:nvPr/>
        </p:nvSpPr>
        <p:spPr>
          <a:xfrm>
            <a:off x="8337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N</a:t>
            </a:r>
            <a:endParaRPr lang="en-US" sz="1600" dirty="0"/>
          </a:p>
        </p:txBody>
      </p:sp>
      <p:sp>
        <p:nvSpPr>
          <p:cNvPr id="32" name="Text 30"/>
          <p:cNvSpPr/>
          <p:nvPr/>
        </p:nvSpPr>
        <p:spPr>
          <a:xfrm>
            <a:off x="8591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X</a:t>
            </a:r>
            <a:endParaRPr lang="en-US" sz="1600" dirty="0"/>
          </a:p>
        </p:txBody>
      </p:sp>
      <p:sp>
        <p:nvSpPr>
          <p:cNvPr id="33" name="Text 31"/>
          <p:cNvSpPr/>
          <p:nvPr/>
        </p:nvSpPr>
        <p:spPr>
          <a:xfrm>
            <a:off x="8845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X</a:t>
            </a:r>
            <a:endParaRPr lang="en-US" sz="1600" dirty="0"/>
          </a:p>
        </p:txBody>
      </p:sp>
      <p:sp>
        <p:nvSpPr>
          <p:cNvPr id="34" name="Text 32"/>
          <p:cNvSpPr/>
          <p:nvPr/>
        </p:nvSpPr>
        <p:spPr>
          <a:xfrm>
            <a:off x="9099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Z</a:t>
            </a:r>
            <a:endParaRPr lang="en-US" sz="1600" dirty="0"/>
          </a:p>
        </p:txBody>
      </p:sp>
      <p:sp>
        <p:nvSpPr>
          <p:cNvPr id="35" name="Text 33"/>
          <p:cNvSpPr/>
          <p:nvPr/>
        </p:nvSpPr>
        <p:spPr>
          <a:xfrm>
            <a:off x="9353550" y="229478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Z</a:t>
            </a:r>
            <a:endParaRPr lang="en-US" sz="1600" dirty="0"/>
          </a:p>
        </p:txBody>
      </p:sp>
      <p:sp>
        <p:nvSpPr>
          <p:cNvPr id="36" name="Text 34"/>
          <p:cNvSpPr/>
          <p:nvPr/>
        </p:nvSpPr>
        <p:spPr>
          <a:xfrm>
            <a:off x="9607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37" name="Text 35"/>
          <p:cNvSpPr/>
          <p:nvPr/>
        </p:nvSpPr>
        <p:spPr>
          <a:xfrm>
            <a:off x="9861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38" name="Text 36"/>
          <p:cNvSpPr/>
          <p:nvPr/>
        </p:nvSpPr>
        <p:spPr>
          <a:xfrm>
            <a:off x="10115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39" name="Text 37"/>
          <p:cNvSpPr/>
          <p:nvPr/>
        </p:nvSpPr>
        <p:spPr>
          <a:xfrm>
            <a:off x="10369550" y="229478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40" name="Text 38"/>
          <p:cNvSpPr/>
          <p:nvPr/>
        </p:nvSpPr>
        <p:spPr>
          <a:xfrm>
            <a:off x="812800" y="2727821"/>
            <a:ext cx="20406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240517 19:39 · VLF</a:t>
            </a:r>
            <a:endParaRPr lang="en-US" sz="1200" dirty="0"/>
          </a:p>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E-4 ADFEB4</a:t>
            </a:r>
            <a:endParaRPr lang="en-US" sz="1200" dirty="0"/>
          </a:p>
        </p:txBody>
      </p:sp>
      <p:sp>
        <p:nvSpPr>
          <p:cNvPr id="41" name="Text 39"/>
          <p:cNvSpPr/>
          <p:nvPr/>
        </p:nvSpPr>
        <p:spPr>
          <a:xfrm>
            <a:off x="3003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42" name="Text 40"/>
          <p:cNvSpPr/>
          <p:nvPr/>
        </p:nvSpPr>
        <p:spPr>
          <a:xfrm>
            <a:off x="3257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43" name="Text 41"/>
          <p:cNvSpPr/>
          <p:nvPr/>
        </p:nvSpPr>
        <p:spPr>
          <a:xfrm>
            <a:off x="3511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44" name="Text 42"/>
          <p:cNvSpPr/>
          <p:nvPr/>
        </p:nvSpPr>
        <p:spPr>
          <a:xfrm>
            <a:off x="3765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45" name="Text 43"/>
          <p:cNvSpPr/>
          <p:nvPr/>
        </p:nvSpPr>
        <p:spPr>
          <a:xfrm>
            <a:off x="4019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0</a:t>
            </a:r>
            <a:endParaRPr lang="en-US" sz="1600" dirty="0"/>
          </a:p>
        </p:txBody>
      </p:sp>
      <p:sp>
        <p:nvSpPr>
          <p:cNvPr id="46" name="Text 44"/>
          <p:cNvSpPr/>
          <p:nvPr/>
        </p:nvSpPr>
        <p:spPr>
          <a:xfrm>
            <a:off x="4273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0</a:t>
            </a:r>
            <a:endParaRPr lang="en-US" sz="1600" dirty="0"/>
          </a:p>
        </p:txBody>
      </p:sp>
      <p:sp>
        <p:nvSpPr>
          <p:cNvPr id="47" name="Text 45"/>
          <p:cNvSpPr/>
          <p:nvPr/>
        </p:nvSpPr>
        <p:spPr>
          <a:xfrm>
            <a:off x="4527550" y="2767161"/>
            <a:ext cx="215900" cy="317500"/>
          </a:xfrm>
          <a:prstGeom prst="rect">
            <a:avLst/>
          </a:prstGeom>
          <a:solidFill>
            <a:srgbClr val="ED7D32">
              <a:alpha val="15000"/>
            </a:srgbClr>
          </a:solidFill>
          <a:ln w="12700">
            <a:solidFill>
              <a:srgbClr val="ED7D32"/>
            </a:solidFill>
            <a:prstDash val="solid"/>
          </a:ln>
        </p:spPr>
        <p:txBody>
          <a:bodyPr wrap="square" lIns="0" tIns="6350" rIns="0" bIns="0" rtlCol="0" anchor="t">
            <a:normAutofit/>
          </a:bodyPr>
          <a:lstStyle/>
          <a:p>
            <a:pPr algn="ctr" indent="0" marL="0">
              <a:lnSpc>
                <a:spcPts val="2400"/>
              </a:lnSpc>
              <a:buNone/>
            </a:pPr>
            <a:r>
              <a:rPr lang="en-US" sz="1600" dirty="0">
                <a:solidFill>
                  <a:srgbClr val="ED7D32"/>
                </a:solidFill>
                <a:latin typeface="Courier New" pitchFamily="49" charset="0"/>
                <a:ea typeface="Courier New" pitchFamily="49" charset="-122"/>
                <a:cs typeface="Courier New" pitchFamily="49" charset="-120"/>
              </a:rPr>
              <a:t>1</a:t>
            </a:r>
            <a:endParaRPr lang="en-US" sz="1600" dirty="0"/>
          </a:p>
        </p:txBody>
      </p:sp>
      <p:sp>
        <p:nvSpPr>
          <p:cNvPr id="48" name="Text 46"/>
          <p:cNvSpPr/>
          <p:nvPr/>
        </p:nvSpPr>
        <p:spPr>
          <a:xfrm>
            <a:off x="4781550" y="2767161"/>
            <a:ext cx="215900" cy="317500"/>
          </a:xfrm>
          <a:prstGeom prst="rect">
            <a:avLst/>
          </a:prstGeom>
          <a:solidFill>
            <a:srgbClr val="ED7D32">
              <a:alpha val="15000"/>
            </a:srgbClr>
          </a:solidFill>
          <a:ln w="12700">
            <a:solidFill>
              <a:srgbClr val="ED7D32"/>
            </a:solidFill>
            <a:prstDash val="solid"/>
          </a:ln>
        </p:spPr>
        <p:txBody>
          <a:bodyPr wrap="square" lIns="0" tIns="6350" rIns="0" bIns="0" rtlCol="0" anchor="t">
            <a:normAutofit/>
          </a:bodyPr>
          <a:lstStyle/>
          <a:p>
            <a:pPr algn="ctr" indent="0" marL="0">
              <a:lnSpc>
                <a:spcPts val="2400"/>
              </a:lnSpc>
              <a:buNone/>
            </a:pPr>
            <a:r>
              <a:rPr lang="en-US" sz="1600" dirty="0">
                <a:solidFill>
                  <a:srgbClr val="ED7D32"/>
                </a:solidFill>
                <a:latin typeface="Courier New" pitchFamily="49" charset="0"/>
                <a:ea typeface="Courier New" pitchFamily="49" charset="-122"/>
                <a:cs typeface="Courier New" pitchFamily="49" charset="-120"/>
              </a:rPr>
              <a:t>7</a:t>
            </a:r>
            <a:endParaRPr lang="en-US" sz="1600" dirty="0"/>
          </a:p>
        </p:txBody>
      </p:sp>
      <p:sp>
        <p:nvSpPr>
          <p:cNvPr id="49" name="Text 47"/>
          <p:cNvSpPr/>
          <p:nvPr/>
        </p:nvSpPr>
        <p:spPr>
          <a:xfrm>
            <a:off x="5035550" y="2767161"/>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1</a:t>
            </a:r>
            <a:endParaRPr lang="en-US" sz="1600" dirty="0"/>
          </a:p>
        </p:txBody>
      </p:sp>
      <p:sp>
        <p:nvSpPr>
          <p:cNvPr id="50" name="Text 48"/>
          <p:cNvSpPr/>
          <p:nvPr/>
        </p:nvSpPr>
        <p:spPr>
          <a:xfrm>
            <a:off x="5289550" y="2767161"/>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9</a:t>
            </a:r>
            <a:endParaRPr lang="en-US" sz="1600" dirty="0"/>
          </a:p>
        </p:txBody>
      </p:sp>
      <p:sp>
        <p:nvSpPr>
          <p:cNvPr id="51" name="Text 49"/>
          <p:cNvSpPr/>
          <p:nvPr/>
        </p:nvSpPr>
        <p:spPr>
          <a:xfrm>
            <a:off x="5543550" y="2767161"/>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3</a:t>
            </a:r>
            <a:endParaRPr lang="en-US" sz="1600" dirty="0"/>
          </a:p>
        </p:txBody>
      </p:sp>
      <p:sp>
        <p:nvSpPr>
          <p:cNvPr id="52" name="Text 50"/>
          <p:cNvSpPr/>
          <p:nvPr/>
        </p:nvSpPr>
        <p:spPr>
          <a:xfrm>
            <a:off x="5797550" y="2767161"/>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9</a:t>
            </a:r>
            <a:endParaRPr lang="en-US" sz="1600" dirty="0"/>
          </a:p>
        </p:txBody>
      </p:sp>
      <p:sp>
        <p:nvSpPr>
          <p:cNvPr id="53" name="Text 51"/>
          <p:cNvSpPr/>
          <p:nvPr/>
        </p:nvSpPr>
        <p:spPr>
          <a:xfrm>
            <a:off x="6051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A</a:t>
            </a:r>
            <a:endParaRPr lang="en-US" sz="1600" dirty="0"/>
          </a:p>
        </p:txBody>
      </p:sp>
      <p:sp>
        <p:nvSpPr>
          <p:cNvPr id="54" name="Text 52"/>
          <p:cNvSpPr/>
          <p:nvPr/>
        </p:nvSpPr>
        <p:spPr>
          <a:xfrm>
            <a:off x="6305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A</a:t>
            </a:r>
            <a:endParaRPr lang="en-US" sz="1600" dirty="0"/>
          </a:p>
        </p:txBody>
      </p:sp>
      <p:sp>
        <p:nvSpPr>
          <p:cNvPr id="55" name="Text 53"/>
          <p:cNvSpPr/>
          <p:nvPr/>
        </p:nvSpPr>
        <p:spPr>
          <a:xfrm>
            <a:off x="6559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E</a:t>
            </a:r>
            <a:endParaRPr lang="en-US" sz="1600" dirty="0"/>
          </a:p>
        </p:txBody>
      </p:sp>
      <p:sp>
        <p:nvSpPr>
          <p:cNvPr id="56" name="Text 54"/>
          <p:cNvSpPr/>
          <p:nvPr/>
        </p:nvSpPr>
        <p:spPr>
          <a:xfrm>
            <a:off x="6813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E</a:t>
            </a:r>
            <a:endParaRPr lang="en-US" sz="1600" dirty="0"/>
          </a:p>
        </p:txBody>
      </p:sp>
      <p:sp>
        <p:nvSpPr>
          <p:cNvPr id="57" name="Text 55"/>
          <p:cNvSpPr/>
          <p:nvPr/>
        </p:nvSpPr>
        <p:spPr>
          <a:xfrm>
            <a:off x="7067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G</a:t>
            </a:r>
            <a:endParaRPr lang="en-US" sz="1600" dirty="0"/>
          </a:p>
        </p:txBody>
      </p:sp>
      <p:sp>
        <p:nvSpPr>
          <p:cNvPr id="58" name="Text 56"/>
          <p:cNvSpPr/>
          <p:nvPr/>
        </p:nvSpPr>
        <p:spPr>
          <a:xfrm>
            <a:off x="7321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G</a:t>
            </a:r>
            <a:endParaRPr lang="en-US" sz="1600" dirty="0"/>
          </a:p>
        </p:txBody>
      </p:sp>
      <p:sp>
        <p:nvSpPr>
          <p:cNvPr id="59" name="Text 57"/>
          <p:cNvSpPr/>
          <p:nvPr/>
        </p:nvSpPr>
        <p:spPr>
          <a:xfrm>
            <a:off x="7575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K</a:t>
            </a:r>
            <a:endParaRPr lang="en-US" sz="1600" dirty="0"/>
          </a:p>
        </p:txBody>
      </p:sp>
      <p:sp>
        <p:nvSpPr>
          <p:cNvPr id="60" name="Text 58"/>
          <p:cNvSpPr/>
          <p:nvPr/>
        </p:nvSpPr>
        <p:spPr>
          <a:xfrm>
            <a:off x="7829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K</a:t>
            </a:r>
            <a:endParaRPr lang="en-US" sz="1600" dirty="0"/>
          </a:p>
        </p:txBody>
      </p:sp>
      <p:sp>
        <p:nvSpPr>
          <p:cNvPr id="61" name="Text 59"/>
          <p:cNvSpPr/>
          <p:nvPr/>
        </p:nvSpPr>
        <p:spPr>
          <a:xfrm>
            <a:off x="8083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N</a:t>
            </a:r>
            <a:endParaRPr lang="en-US" sz="1600" dirty="0"/>
          </a:p>
        </p:txBody>
      </p:sp>
      <p:sp>
        <p:nvSpPr>
          <p:cNvPr id="62" name="Text 60"/>
          <p:cNvSpPr/>
          <p:nvPr/>
        </p:nvSpPr>
        <p:spPr>
          <a:xfrm>
            <a:off x="8337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N</a:t>
            </a:r>
            <a:endParaRPr lang="en-US" sz="1600" dirty="0"/>
          </a:p>
        </p:txBody>
      </p:sp>
      <p:sp>
        <p:nvSpPr>
          <p:cNvPr id="63" name="Text 61"/>
          <p:cNvSpPr/>
          <p:nvPr/>
        </p:nvSpPr>
        <p:spPr>
          <a:xfrm>
            <a:off x="8591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X</a:t>
            </a:r>
            <a:endParaRPr lang="en-US" sz="1600" dirty="0"/>
          </a:p>
        </p:txBody>
      </p:sp>
      <p:sp>
        <p:nvSpPr>
          <p:cNvPr id="64" name="Text 62"/>
          <p:cNvSpPr/>
          <p:nvPr/>
        </p:nvSpPr>
        <p:spPr>
          <a:xfrm>
            <a:off x="8845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X</a:t>
            </a:r>
            <a:endParaRPr lang="en-US" sz="1600" dirty="0"/>
          </a:p>
        </p:txBody>
      </p:sp>
      <p:sp>
        <p:nvSpPr>
          <p:cNvPr id="65" name="Text 63"/>
          <p:cNvSpPr/>
          <p:nvPr/>
        </p:nvSpPr>
        <p:spPr>
          <a:xfrm>
            <a:off x="9099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Z</a:t>
            </a:r>
            <a:endParaRPr lang="en-US" sz="1600" dirty="0"/>
          </a:p>
        </p:txBody>
      </p:sp>
      <p:sp>
        <p:nvSpPr>
          <p:cNvPr id="66" name="Text 64"/>
          <p:cNvSpPr/>
          <p:nvPr/>
        </p:nvSpPr>
        <p:spPr>
          <a:xfrm>
            <a:off x="9353550" y="2767161"/>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Z</a:t>
            </a:r>
            <a:endParaRPr lang="en-US" sz="1600" dirty="0"/>
          </a:p>
        </p:txBody>
      </p:sp>
      <p:sp>
        <p:nvSpPr>
          <p:cNvPr id="67" name="Text 65"/>
          <p:cNvSpPr/>
          <p:nvPr/>
        </p:nvSpPr>
        <p:spPr>
          <a:xfrm>
            <a:off x="9607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68" name="Text 66"/>
          <p:cNvSpPr/>
          <p:nvPr/>
        </p:nvSpPr>
        <p:spPr>
          <a:xfrm>
            <a:off x="9861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69" name="Text 67"/>
          <p:cNvSpPr/>
          <p:nvPr/>
        </p:nvSpPr>
        <p:spPr>
          <a:xfrm>
            <a:off x="10115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70" name="Text 68"/>
          <p:cNvSpPr/>
          <p:nvPr/>
        </p:nvSpPr>
        <p:spPr>
          <a:xfrm>
            <a:off x="10369550" y="2767161"/>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71" name="Text 69"/>
          <p:cNvSpPr/>
          <p:nvPr/>
        </p:nvSpPr>
        <p:spPr>
          <a:xfrm>
            <a:off x="812800" y="3200202"/>
            <a:ext cx="20406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251026 09:03 · HF</a:t>
            </a:r>
            <a:endParaRPr lang="en-US" sz="1200" dirty="0"/>
          </a:p>
          <a:p>
            <a:pPr algn="l" indent="0" marL="0">
              <a:lnSpc>
                <a:spcPts val="1560"/>
              </a:lnSpc>
              <a:buNone/>
            </a:pPr>
            <a:r>
              <a:rPr lang="en-US" sz="1200" dirty="0">
                <a:solidFill>
                  <a:srgbClr val="A9B4BF"/>
                </a:solidFill>
                <a:latin typeface="Arial" pitchFamily="34" charset="0"/>
                <a:ea typeface="Arial" pitchFamily="34" charset="-122"/>
                <a:cs typeface="Arial" pitchFamily="34" charset="-120"/>
              </a:rPr>
              <a:t>TEST KIT、取り消し</a:t>
            </a:r>
            <a:endParaRPr lang="en-US" sz="1200" dirty="0"/>
          </a:p>
        </p:txBody>
      </p:sp>
      <p:sp>
        <p:nvSpPr>
          <p:cNvPr id="72" name="Text 70"/>
          <p:cNvSpPr/>
          <p:nvPr/>
        </p:nvSpPr>
        <p:spPr>
          <a:xfrm>
            <a:off x="3003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73" name="Text 71"/>
          <p:cNvSpPr/>
          <p:nvPr/>
        </p:nvSpPr>
        <p:spPr>
          <a:xfrm>
            <a:off x="3257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74" name="Text 72"/>
          <p:cNvSpPr/>
          <p:nvPr/>
        </p:nvSpPr>
        <p:spPr>
          <a:xfrm>
            <a:off x="3511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75" name="Text 73"/>
          <p:cNvSpPr/>
          <p:nvPr/>
        </p:nvSpPr>
        <p:spPr>
          <a:xfrm>
            <a:off x="3765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76" name="Text 74"/>
          <p:cNvSpPr/>
          <p:nvPr/>
        </p:nvSpPr>
        <p:spPr>
          <a:xfrm>
            <a:off x="4019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0</a:t>
            </a:r>
            <a:endParaRPr lang="en-US" sz="1600" dirty="0"/>
          </a:p>
        </p:txBody>
      </p:sp>
      <p:sp>
        <p:nvSpPr>
          <p:cNvPr id="77" name="Text 75"/>
          <p:cNvSpPr/>
          <p:nvPr/>
        </p:nvSpPr>
        <p:spPr>
          <a:xfrm>
            <a:off x="4273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0</a:t>
            </a:r>
            <a:endParaRPr lang="en-US" sz="1600" dirty="0"/>
          </a:p>
        </p:txBody>
      </p:sp>
      <p:sp>
        <p:nvSpPr>
          <p:cNvPr id="78" name="Text 76"/>
          <p:cNvSpPr/>
          <p:nvPr/>
        </p:nvSpPr>
        <p:spPr>
          <a:xfrm>
            <a:off x="4527550" y="3239542"/>
            <a:ext cx="215900" cy="317500"/>
          </a:xfrm>
          <a:prstGeom prst="rect">
            <a:avLst/>
          </a:prstGeom>
          <a:solidFill>
            <a:srgbClr val="ED7D32">
              <a:alpha val="15000"/>
            </a:srgbClr>
          </a:solidFill>
          <a:ln w="12700">
            <a:solidFill>
              <a:srgbClr val="ED7D32"/>
            </a:solidFill>
            <a:prstDash val="solid"/>
          </a:ln>
        </p:spPr>
        <p:txBody>
          <a:bodyPr wrap="square" lIns="0" tIns="6350" rIns="0" bIns="0" rtlCol="0" anchor="t">
            <a:normAutofit/>
          </a:bodyPr>
          <a:lstStyle/>
          <a:p>
            <a:pPr algn="ctr" indent="0" marL="0">
              <a:lnSpc>
                <a:spcPts val="2400"/>
              </a:lnSpc>
              <a:buNone/>
            </a:pPr>
            <a:r>
              <a:rPr lang="en-US" sz="1600" dirty="0">
                <a:solidFill>
                  <a:srgbClr val="ED7D32"/>
                </a:solidFill>
                <a:latin typeface="Courier New" pitchFamily="49" charset="0"/>
                <a:ea typeface="Courier New" pitchFamily="49" charset="-122"/>
                <a:cs typeface="Courier New" pitchFamily="49" charset="-120"/>
              </a:rPr>
              <a:t>2</a:t>
            </a:r>
            <a:endParaRPr lang="en-US" sz="1600" dirty="0"/>
          </a:p>
        </p:txBody>
      </p:sp>
      <p:sp>
        <p:nvSpPr>
          <p:cNvPr id="79" name="Text 77"/>
          <p:cNvSpPr/>
          <p:nvPr/>
        </p:nvSpPr>
        <p:spPr>
          <a:xfrm>
            <a:off x="4781550" y="3239542"/>
            <a:ext cx="215900" cy="317500"/>
          </a:xfrm>
          <a:prstGeom prst="rect">
            <a:avLst/>
          </a:prstGeom>
          <a:solidFill>
            <a:srgbClr val="ED7D32">
              <a:alpha val="15000"/>
            </a:srgbClr>
          </a:solidFill>
          <a:ln w="12700">
            <a:solidFill>
              <a:srgbClr val="ED7D32"/>
            </a:solidFill>
            <a:prstDash val="solid"/>
          </a:ln>
        </p:spPr>
        <p:txBody>
          <a:bodyPr wrap="square" lIns="0" tIns="6350" rIns="0" bIns="0" rtlCol="0" anchor="t">
            <a:normAutofit/>
          </a:bodyPr>
          <a:lstStyle/>
          <a:p>
            <a:pPr algn="ctr" indent="0" marL="0">
              <a:lnSpc>
                <a:spcPts val="2400"/>
              </a:lnSpc>
              <a:buNone/>
            </a:pPr>
            <a:r>
              <a:rPr lang="en-US" sz="1600" dirty="0">
                <a:solidFill>
                  <a:srgbClr val="ED7D32"/>
                </a:solidFill>
                <a:latin typeface="Courier New" pitchFamily="49" charset="0"/>
                <a:ea typeface="Courier New" pitchFamily="49" charset="-122"/>
                <a:cs typeface="Courier New" pitchFamily="49" charset="-120"/>
              </a:rPr>
              <a:t>6</a:t>
            </a:r>
            <a:endParaRPr lang="en-US" sz="1600" dirty="0"/>
          </a:p>
        </p:txBody>
      </p:sp>
      <p:sp>
        <p:nvSpPr>
          <p:cNvPr id="80" name="Text 78"/>
          <p:cNvSpPr/>
          <p:nvPr/>
        </p:nvSpPr>
        <p:spPr>
          <a:xfrm>
            <a:off x="5035550" y="3239542"/>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0</a:t>
            </a:r>
            <a:endParaRPr lang="en-US" sz="1600" dirty="0"/>
          </a:p>
        </p:txBody>
      </p:sp>
      <p:sp>
        <p:nvSpPr>
          <p:cNvPr id="81" name="Text 79"/>
          <p:cNvSpPr/>
          <p:nvPr/>
        </p:nvSpPr>
        <p:spPr>
          <a:xfrm>
            <a:off x="5289550" y="3239542"/>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9</a:t>
            </a:r>
            <a:endParaRPr lang="en-US" sz="1600" dirty="0"/>
          </a:p>
        </p:txBody>
      </p:sp>
      <p:sp>
        <p:nvSpPr>
          <p:cNvPr id="82" name="Text 80"/>
          <p:cNvSpPr/>
          <p:nvPr/>
        </p:nvSpPr>
        <p:spPr>
          <a:xfrm>
            <a:off x="5543550" y="3239542"/>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0</a:t>
            </a:r>
            <a:endParaRPr lang="en-US" sz="1600" dirty="0"/>
          </a:p>
        </p:txBody>
      </p:sp>
      <p:sp>
        <p:nvSpPr>
          <p:cNvPr id="83" name="Text 81"/>
          <p:cNvSpPr/>
          <p:nvPr/>
        </p:nvSpPr>
        <p:spPr>
          <a:xfrm>
            <a:off x="5797550" y="3239542"/>
            <a:ext cx="215900" cy="317500"/>
          </a:xfrm>
          <a:prstGeom prst="rect">
            <a:avLst/>
          </a:prstGeom>
          <a:solidFill>
            <a:srgbClr val="FFCC00">
              <a:alpha val="15000"/>
            </a:srgbClr>
          </a:solidFill>
          <a:ln w="12700">
            <a:solidFill>
              <a:srgbClr val="FFCC00"/>
            </a:solidFill>
            <a:prstDash val="solid"/>
          </a:ln>
        </p:spPr>
        <p:txBody>
          <a:bodyPr wrap="square" lIns="0" tIns="6350" rIns="0" bIns="0" rtlCol="0" anchor="t">
            <a:normAutofit/>
          </a:bodyPr>
          <a:lstStyle/>
          <a:p>
            <a:pPr algn="ctr" indent="0" marL="0">
              <a:lnSpc>
                <a:spcPts val="2400"/>
              </a:lnSpc>
              <a:buNone/>
            </a:pPr>
            <a:r>
              <a:rPr lang="en-US" sz="1600" dirty="0">
                <a:solidFill>
                  <a:srgbClr val="FFCC00"/>
                </a:solidFill>
                <a:latin typeface="Courier New" pitchFamily="49" charset="0"/>
                <a:ea typeface="Courier New" pitchFamily="49" charset="-122"/>
                <a:cs typeface="Courier New" pitchFamily="49" charset="-120"/>
              </a:rPr>
              <a:t>1</a:t>
            </a:r>
            <a:endParaRPr lang="en-US" sz="1600" dirty="0"/>
          </a:p>
        </p:txBody>
      </p:sp>
      <p:sp>
        <p:nvSpPr>
          <p:cNvPr id="84" name="Text 82"/>
          <p:cNvSpPr/>
          <p:nvPr/>
        </p:nvSpPr>
        <p:spPr>
          <a:xfrm>
            <a:off x="6051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A</a:t>
            </a:r>
            <a:endParaRPr lang="en-US" sz="1600" dirty="0"/>
          </a:p>
        </p:txBody>
      </p:sp>
      <p:sp>
        <p:nvSpPr>
          <p:cNvPr id="85" name="Text 83"/>
          <p:cNvSpPr/>
          <p:nvPr/>
        </p:nvSpPr>
        <p:spPr>
          <a:xfrm>
            <a:off x="6305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A</a:t>
            </a:r>
            <a:endParaRPr lang="en-US" sz="1600" dirty="0"/>
          </a:p>
        </p:txBody>
      </p:sp>
      <p:sp>
        <p:nvSpPr>
          <p:cNvPr id="86" name="Text 84"/>
          <p:cNvSpPr/>
          <p:nvPr/>
        </p:nvSpPr>
        <p:spPr>
          <a:xfrm>
            <a:off x="6559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E</a:t>
            </a:r>
            <a:endParaRPr lang="en-US" sz="1600" dirty="0"/>
          </a:p>
        </p:txBody>
      </p:sp>
      <p:sp>
        <p:nvSpPr>
          <p:cNvPr id="87" name="Text 85"/>
          <p:cNvSpPr/>
          <p:nvPr/>
        </p:nvSpPr>
        <p:spPr>
          <a:xfrm>
            <a:off x="6813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E</a:t>
            </a:r>
            <a:endParaRPr lang="en-US" sz="1600" dirty="0"/>
          </a:p>
        </p:txBody>
      </p:sp>
      <p:sp>
        <p:nvSpPr>
          <p:cNvPr id="88" name="Text 86"/>
          <p:cNvSpPr/>
          <p:nvPr/>
        </p:nvSpPr>
        <p:spPr>
          <a:xfrm>
            <a:off x="7067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G</a:t>
            </a:r>
            <a:endParaRPr lang="en-US" sz="1600" dirty="0"/>
          </a:p>
        </p:txBody>
      </p:sp>
      <p:sp>
        <p:nvSpPr>
          <p:cNvPr id="89" name="Text 87"/>
          <p:cNvSpPr/>
          <p:nvPr/>
        </p:nvSpPr>
        <p:spPr>
          <a:xfrm>
            <a:off x="7321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G</a:t>
            </a:r>
            <a:endParaRPr lang="en-US" sz="1600" dirty="0"/>
          </a:p>
        </p:txBody>
      </p:sp>
      <p:sp>
        <p:nvSpPr>
          <p:cNvPr id="90" name="Text 88"/>
          <p:cNvSpPr/>
          <p:nvPr/>
        </p:nvSpPr>
        <p:spPr>
          <a:xfrm>
            <a:off x="7575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K</a:t>
            </a:r>
            <a:endParaRPr lang="en-US" sz="1600" dirty="0"/>
          </a:p>
        </p:txBody>
      </p:sp>
      <p:sp>
        <p:nvSpPr>
          <p:cNvPr id="91" name="Text 89"/>
          <p:cNvSpPr/>
          <p:nvPr/>
        </p:nvSpPr>
        <p:spPr>
          <a:xfrm>
            <a:off x="7829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K</a:t>
            </a:r>
            <a:endParaRPr lang="en-US" sz="1600" dirty="0"/>
          </a:p>
        </p:txBody>
      </p:sp>
      <p:sp>
        <p:nvSpPr>
          <p:cNvPr id="92" name="Text 90"/>
          <p:cNvSpPr/>
          <p:nvPr/>
        </p:nvSpPr>
        <p:spPr>
          <a:xfrm>
            <a:off x="8083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N</a:t>
            </a:r>
            <a:endParaRPr lang="en-US" sz="1600" dirty="0"/>
          </a:p>
        </p:txBody>
      </p:sp>
      <p:sp>
        <p:nvSpPr>
          <p:cNvPr id="93" name="Text 91"/>
          <p:cNvSpPr/>
          <p:nvPr/>
        </p:nvSpPr>
        <p:spPr>
          <a:xfrm>
            <a:off x="8337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N</a:t>
            </a:r>
            <a:endParaRPr lang="en-US" sz="1600" dirty="0"/>
          </a:p>
        </p:txBody>
      </p:sp>
      <p:sp>
        <p:nvSpPr>
          <p:cNvPr id="94" name="Text 92"/>
          <p:cNvSpPr/>
          <p:nvPr/>
        </p:nvSpPr>
        <p:spPr>
          <a:xfrm>
            <a:off x="8591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X</a:t>
            </a:r>
            <a:endParaRPr lang="en-US" sz="1600" dirty="0"/>
          </a:p>
        </p:txBody>
      </p:sp>
      <p:sp>
        <p:nvSpPr>
          <p:cNvPr id="95" name="Text 93"/>
          <p:cNvSpPr/>
          <p:nvPr/>
        </p:nvSpPr>
        <p:spPr>
          <a:xfrm>
            <a:off x="8845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X</a:t>
            </a:r>
            <a:endParaRPr lang="en-US" sz="1600" dirty="0"/>
          </a:p>
        </p:txBody>
      </p:sp>
      <p:sp>
        <p:nvSpPr>
          <p:cNvPr id="96" name="Text 94"/>
          <p:cNvSpPr/>
          <p:nvPr/>
        </p:nvSpPr>
        <p:spPr>
          <a:xfrm>
            <a:off x="9099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Z</a:t>
            </a:r>
            <a:endParaRPr lang="en-US" sz="1600" dirty="0"/>
          </a:p>
        </p:txBody>
      </p:sp>
      <p:sp>
        <p:nvSpPr>
          <p:cNvPr id="97" name="Text 95"/>
          <p:cNvSpPr/>
          <p:nvPr/>
        </p:nvSpPr>
        <p:spPr>
          <a:xfrm>
            <a:off x="9353550" y="3239542"/>
            <a:ext cx="215900" cy="317500"/>
          </a:xfrm>
          <a:prstGeom prst="rect">
            <a:avLst/>
          </a:prstGeom>
          <a:solidFill>
            <a:srgbClr val="06B050">
              <a:alpha val="15000"/>
            </a:srgbClr>
          </a:solidFill>
          <a:ln w="12700">
            <a:solidFill>
              <a:srgbClr val="06B050"/>
            </a:solidFill>
            <a:prstDash val="solid"/>
          </a:ln>
        </p:spPr>
        <p:txBody>
          <a:bodyPr wrap="square" lIns="0" tIns="6350" rIns="0" bIns="0" rtlCol="0" anchor="t">
            <a:normAutofit/>
          </a:bodyPr>
          <a:lstStyle/>
          <a:p>
            <a:pPr algn="ctr" indent="0" marL="0">
              <a:lnSpc>
                <a:spcPts val="2400"/>
              </a:lnSpc>
              <a:buNone/>
            </a:pPr>
            <a:r>
              <a:rPr lang="en-US" sz="1600" dirty="0">
                <a:solidFill>
                  <a:srgbClr val="06B050"/>
                </a:solidFill>
                <a:latin typeface="Courier New" pitchFamily="49" charset="0"/>
                <a:ea typeface="Courier New" pitchFamily="49" charset="-122"/>
                <a:cs typeface="Courier New" pitchFamily="49" charset="-120"/>
              </a:rPr>
              <a:t>Z</a:t>
            </a:r>
            <a:endParaRPr lang="en-US" sz="1600" dirty="0"/>
          </a:p>
        </p:txBody>
      </p:sp>
      <p:sp>
        <p:nvSpPr>
          <p:cNvPr id="98" name="Text 96"/>
          <p:cNvSpPr/>
          <p:nvPr/>
        </p:nvSpPr>
        <p:spPr>
          <a:xfrm>
            <a:off x="9607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99" name="Text 97"/>
          <p:cNvSpPr/>
          <p:nvPr/>
        </p:nvSpPr>
        <p:spPr>
          <a:xfrm>
            <a:off x="9861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100" name="Text 98"/>
          <p:cNvSpPr/>
          <p:nvPr/>
        </p:nvSpPr>
        <p:spPr>
          <a:xfrm>
            <a:off x="10115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101" name="Text 99"/>
          <p:cNvSpPr/>
          <p:nvPr/>
        </p:nvSpPr>
        <p:spPr>
          <a:xfrm>
            <a:off x="10369550" y="3239542"/>
            <a:ext cx="215900" cy="317500"/>
          </a:xfrm>
          <a:prstGeom prst="rect">
            <a:avLst/>
          </a:prstGeom>
          <a:solidFill>
            <a:srgbClr val="9063CD">
              <a:alpha val="15000"/>
            </a:srgbClr>
          </a:solidFill>
          <a:ln w="12700">
            <a:solidFill>
              <a:srgbClr val="9063CD"/>
            </a:solidFill>
            <a:prstDash val="solid"/>
          </a:ln>
        </p:spPr>
        <p:txBody>
          <a:bodyPr wrap="square" lIns="0" tIns="6350" rIns="0" bIns="0" rtlCol="0" anchor="t">
            <a:normAutofit/>
          </a:bodyPr>
          <a:lstStyle/>
          <a:p>
            <a:pPr algn="ctr" indent="0" marL="0">
              <a:lnSpc>
                <a:spcPts val="2400"/>
              </a:lnSpc>
              <a:buNone/>
            </a:pPr>
            <a:r>
              <a:rPr lang="en-US" sz="1600" dirty="0">
                <a:solidFill>
                  <a:srgbClr val="9063CD"/>
                </a:solidFill>
                <a:latin typeface="Courier New" pitchFamily="49" charset="0"/>
                <a:ea typeface="Courier New" pitchFamily="49" charset="-122"/>
                <a:cs typeface="Courier New" pitchFamily="49" charset="-120"/>
              </a:rPr>
              <a:t>8</a:t>
            </a:r>
            <a:endParaRPr lang="en-US" sz="1600" dirty="0"/>
          </a:p>
        </p:txBody>
      </p:sp>
      <p:sp>
        <p:nvSpPr>
          <p:cNvPr id="102" name="Text 100"/>
          <p:cNvSpPr/>
          <p:nvPr/>
        </p:nvSpPr>
        <p:spPr>
          <a:xfrm>
            <a:off x="812800" y="367258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一覧の3行を1文字ずつ表示 · 色はフィールドの区別で、群を示すものではない</a:t>
            </a:r>
            <a:endParaRPr lang="en-US" sz="1200" dirty="0"/>
          </a:p>
        </p:txBody>
      </p:sp>
      <p:sp>
        <p:nvSpPr>
          <p:cNvPr id="103" name="Text 101"/>
          <p:cNvSpPr/>
          <p:nvPr/>
        </p:nvSpPr>
        <p:spPr>
          <a:xfrm>
            <a:off x="812800" y="408910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標準のEAMは</a:t>
            </a:r>
            <a:r>
              <a:rPr lang="en-US" sz="1600" dirty="0">
                <a:solidFill>
                  <a:srgbClr val="FFCC00"/>
                </a:solidFill>
                <a:latin typeface="Arial" pitchFamily="34" charset="0"/>
                <a:ea typeface="Arial" pitchFamily="34" charset="-122"/>
                <a:cs typeface="Arial" pitchFamily="34" charset="-120"/>
              </a:rPr>
              <a:t>0、1、8、9</a:t>
            </a:r>
            <a:r>
              <a:rPr lang="en-US" sz="1600" dirty="0">
                <a:solidFill>
                  <a:srgbClr val="E6EDF3"/>
                </a:solidFill>
                <a:latin typeface="Arial" pitchFamily="34" charset="0"/>
                <a:ea typeface="Arial" pitchFamily="34" charset="-122"/>
                <a:cs typeface="Arial" pitchFamily="34" charset="-120"/>
              </a:rPr>
              <a:t>を決して使わない</a:t>
            </a:r>
            <a:endParaRPr lang="en-US" sz="1600" dirty="0"/>
          </a:p>
        </p:txBody>
      </p:sp>
      <p:sp>
        <p:nvSpPr>
          <p:cNvPr id="104" name="Text 102"/>
          <p:cNvSpPr/>
          <p:nvPr/>
        </p:nvSpPr>
        <p:spPr>
          <a:xfrm>
            <a:off x="812800" y="444470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一覧は39行、1999年 → 2026年：HF 27件、VLF 12件</a:t>
            </a:r>
            <a:endParaRPr lang="en-US" sz="1600" dirty="0"/>
          </a:p>
        </p:txBody>
      </p:sp>
      <p:sp>
        <p:nvSpPr>
          <p:cNvPr id="105" name="Text 103"/>
          <p:cNvSpPr/>
          <p:nvPr/>
        </p:nvSpPr>
        <p:spPr>
          <a:xfrm>
            <a:off x="812800" y="480030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2018年以降のHF：20件中16件が放送中に取り消し · VLF：なし</a:t>
            </a:r>
            <a:endParaRPr lang="en-US" sz="1600" dirty="0"/>
          </a:p>
        </p:txBody>
      </p:sp>
      <p:sp>
        <p:nvSpPr>
          <p:cNvPr id="106" name="Text 104"/>
          <p:cNvSpPr/>
          <p:nvPr/>
        </p:nvSpPr>
        <p:spPr>
          <a:xfrm>
            <a:off x="812800" y="515590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VLF：E-4（ADFEB3/4/6）と、AE0412・AE0414・AE040Eを含むE-6が放送</a:t>
            </a:r>
            <a:endParaRPr lang="en-US" sz="1600" dirty="0"/>
          </a:p>
        </p:txBody>
      </p:sp>
      <p:sp>
        <p:nvSpPr>
          <p:cNvPr id="107" name="Text 10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出典：8888メッセージの一覧 · HFGCS よくある質問</a:t>
            </a:r>
            <a:endParaRPr lang="en-US" sz="1200" dirty="0"/>
          </a:p>
        </p:txBody>
      </p:sp>
      <p:sp>
        <p:nvSpPr>
          <p:cNvPr id="108" name="Text 106"/>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出来事と外部データ</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E141B"/>
        </a:solidFill>
      </p:bgPr>
    </p:bg>
    <p:spTree>
      <p:nvGrpSpPr>
        <p:cNvPr id="1" name=""/>
        <p:cNvGrpSpPr/>
        <p:nvPr/>
      </p:nvGrpSpPr>
      <p:grpSpPr>
        <a:xfrm>
          <a:off x="0" y="0"/>
          <a:ext cx="0" cy="0"/>
          <a:chOff x="0" y="0"/>
          <a:chExt cx="0" cy="0"/>
        </a:xfrm>
      </p:grpSpPr>
      <p:sp>
        <p:nvSpPr>
          <p:cNvPr id="2" name="Text 0"/>
          <p:cNvSpPr/>
          <p:nvPr/>
        </p:nvSpPr>
        <p:spPr>
          <a:xfrm>
            <a:off x="812800" y="224472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第9部</a:t>
            </a:r>
            <a:endParaRPr lang="en-US" sz="1200" dirty="0"/>
          </a:p>
        </p:txBody>
      </p:sp>
      <p:sp>
        <p:nvSpPr>
          <p:cNvPr id="3" name="Text 1"/>
          <p:cNvSpPr/>
          <p:nvPr>
            <p:ph type="title"/>
          </p:nvPr>
        </p:nvSpPr>
        <p:spPr>
          <a:xfrm>
            <a:off x="812800" y="2559645"/>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参照・方法・まとめ</a:t>
            </a:r>
            <a:endParaRPr lang="en-US" sz="3600" dirty="0"/>
          </a:p>
        </p:txBody>
      </p:sp>
      <p:sp>
        <p:nvSpPr>
          <p:cNvPr id="4" name="Shape 2"/>
          <p:cNvSpPr/>
          <p:nvPr/>
        </p:nvSpPr>
        <p:spPr>
          <a:xfrm>
            <a:off x="812800" y="3416250"/>
            <a:ext cx="8890000" cy="0"/>
          </a:xfrm>
          <a:prstGeom prst="line">
            <a:avLst/>
          </a:prstGeom>
          <a:noFill/>
          <a:ln w="6350">
            <a:solidFill>
              <a:srgbClr val="2A3340"/>
            </a:solidFill>
            <a:prstDash val="solid"/>
          </a:ln>
        </p:spPr>
      </p:sp>
      <p:sp>
        <p:nvSpPr>
          <p:cNvPr id="5" name="Text 3"/>
          <p:cNvSpPr/>
          <p:nvPr/>
        </p:nvSpPr>
        <p:spPr>
          <a:xfrm>
            <a:off x="812800" y="3571825"/>
            <a:ext cx="9156700" cy="8636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参考資料の棚、方法についての4つの確認、</a:t>
            </a:r>
            <a:endParaRPr lang="en-US" sz="2200" dirty="0"/>
          </a:p>
          <a:p>
            <a:pPr algn="l" indent="0" marL="0">
              <a:lnSpc>
                <a:spcPts val="3300"/>
              </a:lnSpc>
              <a:buNone/>
            </a:pPr>
            <a:r>
              <a:rPr lang="en-US" sz="2200" dirty="0">
                <a:solidFill>
                  <a:srgbClr val="A9B4BF"/>
                </a:solidFill>
                <a:latin typeface="Arial" pitchFamily="34" charset="0"/>
                <a:ea typeface="Arial" pitchFamily="34" charset="-122"/>
                <a:cs typeface="Arial" pitchFamily="34" charset="-120"/>
              </a:rPr>
              <a:t>サイトが挙げる未解決の問い、そしてどこから始めるか</a:t>
            </a:r>
            <a:endParaRPr lang="en-US" sz="22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7"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参照・方法・まとめ</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その他 · 参考資料 · ウィキ</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参考資料の棚</a:t>
            </a:r>
            <a:endParaRPr lang="en-US" sz="3600" dirty="0"/>
          </a:p>
        </p:txBody>
      </p:sp>
      <p:sp>
        <p:nvSpPr>
          <p:cNvPr id="4" name="Text 2"/>
          <p:cNvSpPr/>
          <p:nvPr/>
        </p:nvSpPr>
        <p:spPr>
          <a:xfrm>
            <a:off x="812800" y="19811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「その他」タブ：FAQ、基地ページ2件、NOTAMマッパー。その次が「ウィキ」タブ。</a:t>
            </a:r>
            <a:endParaRPr lang="en-US" sz="1600" dirty="0"/>
          </a:p>
        </p:txBody>
      </p:sp>
      <p:sp>
        <p:nvSpPr>
          <p:cNvPr id="5" name="Shape 3"/>
          <p:cNvSpPr/>
          <p:nvPr/>
        </p:nvSpPr>
        <p:spPr>
          <a:xfrm>
            <a:off x="815975" y="2492325"/>
            <a:ext cx="2520950" cy="1799530"/>
          </a:xfrm>
          <a:prstGeom prst="roundRect">
            <a:avLst>
              <a:gd name="adj" fmla="val 4058"/>
            </a:avLst>
          </a:prstGeom>
          <a:solidFill>
            <a:srgbClr val="0E141B"/>
          </a:solidFill>
          <a:ln w="6350">
            <a:solidFill>
              <a:srgbClr val="222A35"/>
            </a:solidFill>
            <a:prstDash val="solid"/>
          </a:ln>
        </p:spPr>
      </p:sp>
      <p:sp>
        <p:nvSpPr>
          <p:cNvPr id="6" name="Text 4"/>
          <p:cNvSpPr/>
          <p:nvPr/>
        </p:nvSpPr>
        <p:spPr>
          <a:xfrm>
            <a:off x="1022350" y="2698700"/>
            <a:ext cx="217144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HFGCS よくある質問</a:t>
            </a:r>
            <a:endParaRPr lang="en-US" sz="1200" dirty="0"/>
          </a:p>
        </p:txBody>
      </p:sp>
      <p:sp>
        <p:nvSpPr>
          <p:cNvPr id="7" name="Text 5"/>
          <p:cNvSpPr/>
          <p:nvPr/>
        </p:nvSpPr>
        <p:spPr>
          <a:xfrm>
            <a:off x="1022350" y="2988221"/>
            <a:ext cx="21714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質問36件</a:t>
            </a:r>
            <a:endParaRPr lang="en-US" sz="2200" dirty="0"/>
          </a:p>
        </p:txBody>
      </p:sp>
      <p:sp>
        <p:nvSpPr>
          <p:cNvPr id="8" name="Text 6"/>
          <p:cNvSpPr/>
          <p:nvPr/>
        </p:nvSpPr>
        <p:spPr>
          <a:xfrm>
            <a:off x="1022350" y="3399681"/>
            <a:ext cx="217144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参考文献72件 · 一人称 · ワンタイムパッド説は「おそらく間違っています」</a:t>
            </a:r>
            <a:endParaRPr lang="en-US" sz="1200" dirty="0"/>
          </a:p>
        </p:txBody>
      </p:sp>
      <p:sp>
        <p:nvSpPr>
          <p:cNvPr id="9" name="Shape 7"/>
          <p:cNvSpPr/>
          <p:nvPr/>
        </p:nvSpPr>
        <p:spPr>
          <a:xfrm>
            <a:off x="3495675" y="2492325"/>
            <a:ext cx="2520950" cy="1799530"/>
          </a:xfrm>
          <a:prstGeom prst="roundRect">
            <a:avLst>
              <a:gd name="adj" fmla="val 4058"/>
            </a:avLst>
          </a:prstGeom>
          <a:solidFill>
            <a:srgbClr val="0E141B"/>
          </a:solidFill>
          <a:ln w="6350">
            <a:solidFill>
              <a:srgbClr val="222A35"/>
            </a:solidFill>
            <a:prstDash val="solid"/>
          </a:ln>
        </p:spPr>
      </p:sp>
      <p:sp>
        <p:nvSpPr>
          <p:cNvPr id="10" name="Text 8"/>
          <p:cNvSpPr/>
          <p:nvPr/>
        </p:nvSpPr>
        <p:spPr>
          <a:xfrm>
            <a:off x="3702050" y="2698700"/>
            <a:ext cx="217144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横田</a:t>
            </a:r>
            <a:endParaRPr lang="en-US" sz="1200" dirty="0"/>
          </a:p>
        </p:txBody>
      </p:sp>
      <p:sp>
        <p:nvSpPr>
          <p:cNvPr id="11" name="Text 9"/>
          <p:cNvSpPr/>
          <p:nvPr/>
        </p:nvSpPr>
        <p:spPr>
          <a:xfrm>
            <a:off x="3702050" y="2988221"/>
            <a:ext cx="21714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~14 / ~22 km</a:t>
            </a:r>
            <a:endParaRPr lang="en-US" sz="2200" dirty="0"/>
          </a:p>
        </p:txBody>
      </p:sp>
      <p:sp>
        <p:nvSpPr>
          <p:cNvPr id="12" name="Text 10"/>
          <p:cNvSpPr/>
          <p:nvPr/>
        </p:nvSpPr>
        <p:spPr>
          <a:xfrm>
            <a:off x="3702050" y="3399681"/>
            <a:ext cx="217144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所沢が送信、大和田が受信。地図上の基地からの距離</a:t>
            </a:r>
            <a:endParaRPr lang="en-US" sz="1200" dirty="0"/>
          </a:p>
        </p:txBody>
      </p:sp>
      <p:sp>
        <p:nvSpPr>
          <p:cNvPr id="13" name="Shape 11"/>
          <p:cNvSpPr/>
          <p:nvPr/>
        </p:nvSpPr>
        <p:spPr>
          <a:xfrm>
            <a:off x="6175375" y="2492325"/>
            <a:ext cx="2520950" cy="1799530"/>
          </a:xfrm>
          <a:prstGeom prst="roundRect">
            <a:avLst>
              <a:gd name="adj" fmla="val 4058"/>
            </a:avLst>
          </a:prstGeom>
          <a:solidFill>
            <a:srgbClr val="0E141B"/>
          </a:solidFill>
          <a:ln w="6350">
            <a:solidFill>
              <a:srgbClr val="222A35"/>
            </a:solidFill>
            <a:prstDash val="solid"/>
          </a:ln>
        </p:spPr>
      </p:sp>
      <p:sp>
        <p:nvSpPr>
          <p:cNvPr id="14" name="Text 12"/>
          <p:cNvSpPr/>
          <p:nvPr/>
        </p:nvSpPr>
        <p:spPr>
          <a:xfrm>
            <a:off x="6381750" y="2698700"/>
            <a:ext cx="217144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プエルトリコ</a:t>
            </a:r>
            <a:endParaRPr lang="en-US" sz="1200" dirty="0"/>
          </a:p>
        </p:txBody>
      </p:sp>
      <p:sp>
        <p:nvSpPr>
          <p:cNvPr id="15" name="Text 13"/>
          <p:cNvSpPr/>
          <p:nvPr/>
        </p:nvSpPr>
        <p:spPr>
          <a:xfrm>
            <a:off x="6381750" y="2988221"/>
            <a:ext cx="21714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JNR</a:t>
            </a:r>
            <a:endParaRPr lang="en-US" sz="2200" dirty="0"/>
          </a:p>
        </p:txBody>
      </p:sp>
      <p:sp>
        <p:nvSpPr>
          <p:cNvPr id="16" name="Text 14"/>
          <p:cNvSpPr/>
          <p:nvPr/>
        </p:nvSpPr>
        <p:spPr>
          <a:xfrm>
            <a:off x="6381750" y="3399681"/>
            <a:ext cx="217144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ALEコールサイン：ルーズベルト・ローズ海軍基地のTJNRの末尾3文字</a:t>
            </a:r>
            <a:endParaRPr lang="en-US" sz="1200" dirty="0"/>
          </a:p>
        </p:txBody>
      </p:sp>
      <p:sp>
        <p:nvSpPr>
          <p:cNvPr id="17" name="Shape 15"/>
          <p:cNvSpPr/>
          <p:nvPr/>
        </p:nvSpPr>
        <p:spPr>
          <a:xfrm>
            <a:off x="8855075" y="2492325"/>
            <a:ext cx="2520950" cy="1799530"/>
          </a:xfrm>
          <a:prstGeom prst="roundRect">
            <a:avLst>
              <a:gd name="adj" fmla="val 4058"/>
            </a:avLst>
          </a:prstGeom>
          <a:solidFill>
            <a:srgbClr val="0E141B"/>
          </a:solidFill>
          <a:ln w="6350">
            <a:solidFill>
              <a:srgbClr val="222A35"/>
            </a:solidFill>
            <a:prstDash val="solid"/>
          </a:ln>
        </p:spPr>
      </p:sp>
      <p:sp>
        <p:nvSpPr>
          <p:cNvPr id="18" name="Text 16"/>
          <p:cNvSpPr/>
          <p:nvPr/>
        </p:nvSpPr>
        <p:spPr>
          <a:xfrm>
            <a:off x="9061450" y="2698700"/>
            <a:ext cx="217144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ウィキ</a:t>
            </a:r>
            <a:endParaRPr lang="en-US" sz="1200" dirty="0"/>
          </a:p>
        </p:txBody>
      </p:sp>
      <p:sp>
        <p:nvSpPr>
          <p:cNvPr id="19" name="Text 17"/>
          <p:cNvSpPr/>
          <p:nvPr/>
        </p:nvSpPr>
        <p:spPr>
          <a:xfrm>
            <a:off x="9061450" y="2988221"/>
            <a:ext cx="21714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DF3"/>
                </a:solidFill>
                <a:latin typeface="Arial" pitchFamily="34" charset="0"/>
                <a:ea typeface="Arial" pitchFamily="34" charset="-122"/>
                <a:cs typeface="Arial" pitchFamily="34" charset="-120"/>
              </a:rPr>
              <a:t>27ページ</a:t>
            </a:r>
            <a:endParaRPr lang="en-US" sz="2200" dirty="0"/>
          </a:p>
        </p:txBody>
      </p:sp>
      <p:sp>
        <p:nvSpPr>
          <p:cNvPr id="20" name="Text 18"/>
          <p:cNvSpPr/>
          <p:nvPr/>
        </p:nvSpPr>
        <p:spPr>
          <a:xfrm>
            <a:off x="9061450" y="3399681"/>
            <a:ext cx="217144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4BF"/>
                </a:solidFill>
                <a:latin typeface="Arial" pitchFamily="34" charset="0"/>
                <a:ea typeface="Arial" pitchFamily="34" charset="-122"/>
                <a:cs typeface="Arial" pitchFamily="34" charset="-120"/>
              </a:rPr>
              <a:t>archive.orgが保存した、2025年12月の試験版ウィキのページ</a:t>
            </a:r>
            <a:endParaRPr lang="en-US" sz="12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出典：FAQ · 横田とプエルトリコの基地ページ · 目次ページ ?wiki</a:t>
            </a:r>
            <a:endParaRPr lang="en-US" sz="1200" dirty="0"/>
          </a:p>
        </p:txBody>
      </p:sp>
      <p:sp>
        <p:nvSpPr>
          <p:cNvPr id="22" name="Text 20"/>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参照・方法・まとめ</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方法 · 何を数えるか</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1件のメッセージ、5回の放送</a:t>
            </a:r>
            <a:endParaRPr lang="en-US" sz="3600" dirty="0"/>
          </a:p>
        </p:txBody>
      </p:sp>
      <p:sp>
        <p:nvSpPr>
          <p:cNvPr id="4" name="Text 2"/>
          <p:cNvSpPr/>
          <p:nvPr/>
        </p:nvSpPr>
        <p:spPr>
          <a:xfrm>
            <a:off x="812800" y="1997025"/>
            <a:ext cx="100597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6B050"/>
                </a:solidFill>
                <a:latin typeface="Courier New" pitchFamily="49" charset="0"/>
                <a:ea typeface="Courier New" pitchFamily="49" charset="-122"/>
                <a:cs typeface="Courier New" pitchFamily="49" charset="-120"/>
              </a:rPr>
              <a:t>YLRJLP…</a:t>
            </a:r>
            <a:endParaRPr lang="en-US" sz="1600" dirty="0"/>
          </a:p>
        </p:txBody>
      </p:sp>
      <p:sp>
        <p:nvSpPr>
          <p:cNvPr id="5" name="Text 3"/>
          <p:cNvSpPr/>
          <p:nvPr/>
        </p:nvSpPr>
        <p:spPr>
          <a:xfrm>
            <a:off x="1818779" y="1981150"/>
            <a:ext cx="15988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4BF"/>
                </a:solidFill>
                <a:latin typeface="Arial" pitchFamily="34" charset="0"/>
                <a:ea typeface="Arial" pitchFamily="34" charset="-122"/>
                <a:cs typeface="Arial" pitchFamily="34" charset="-120"/>
              </a:rPr>
              <a:t>第1群 · 30文字</a:t>
            </a:r>
            <a:endParaRPr lang="en-US" sz="1600" dirty="0"/>
          </a:p>
        </p:txBody>
      </p:sp>
      <p:sp>
        <p:nvSpPr>
          <p:cNvPr id="6" name="Text 4"/>
          <p:cNvSpPr/>
          <p:nvPr/>
        </p:nvSpPr>
        <p:spPr>
          <a:xfrm>
            <a:off x="8737054" y="2031950"/>
            <a:ext cx="31705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放送5回 · 期間1.97時間 · うちE-6B 4回</a:t>
            </a:r>
            <a:endParaRPr lang="en-US" sz="1200" dirty="0"/>
          </a:p>
        </p:txBody>
      </p:sp>
      <p:sp>
        <p:nvSpPr>
          <p:cNvPr id="7" name="Shape 5"/>
          <p:cNvSpPr/>
          <p:nvPr/>
        </p:nvSpPr>
        <p:spPr>
          <a:xfrm>
            <a:off x="7226300" y="2433886"/>
            <a:ext cx="0" cy="1466850"/>
          </a:xfrm>
          <a:prstGeom prst="line">
            <a:avLst/>
          </a:prstGeom>
          <a:noFill/>
          <a:ln w="12700">
            <a:solidFill>
              <a:srgbClr val="7D8894"/>
            </a:solidFill>
            <a:prstDash val="dash"/>
          </a:ln>
        </p:spPr>
      </p:sp>
      <p:sp>
        <p:nvSpPr>
          <p:cNvPr id="8" name="Shape 6"/>
          <p:cNvSpPr/>
          <p:nvPr/>
        </p:nvSpPr>
        <p:spPr>
          <a:xfrm>
            <a:off x="1574800" y="3392736"/>
            <a:ext cx="9042400" cy="25400"/>
          </a:xfrm>
          <a:prstGeom prst="rect">
            <a:avLst/>
          </a:prstGeom>
          <a:solidFill>
            <a:srgbClr val="06B050">
              <a:alpha val="40000"/>
            </a:srgbClr>
          </a:solidFill>
          <a:ln/>
        </p:spPr>
      </p:sp>
      <p:sp>
        <p:nvSpPr>
          <p:cNvPr id="9" name="Shape 7"/>
          <p:cNvSpPr/>
          <p:nvPr/>
        </p:nvSpPr>
        <p:spPr>
          <a:xfrm>
            <a:off x="1441450" y="3272086"/>
            <a:ext cx="266700" cy="266700"/>
          </a:xfrm>
          <a:prstGeom prst="roundRect">
            <a:avLst>
              <a:gd name="adj" fmla="val 50000"/>
            </a:avLst>
          </a:prstGeom>
          <a:solidFill>
            <a:srgbClr val="06B050"/>
          </a:solidFill>
          <a:ln w="38100">
            <a:solidFill>
              <a:srgbClr val="06B050"/>
            </a:solidFill>
            <a:prstDash val="solid"/>
          </a:ln>
        </p:spPr>
      </p:sp>
      <p:sp>
        <p:nvSpPr>
          <p:cNvPr id="10" name="Shape 8"/>
          <p:cNvSpPr/>
          <p:nvPr/>
        </p:nvSpPr>
        <p:spPr>
          <a:xfrm>
            <a:off x="3702050" y="3272086"/>
            <a:ext cx="266700" cy="266700"/>
          </a:xfrm>
          <a:prstGeom prst="roundRect">
            <a:avLst>
              <a:gd name="adj" fmla="val 50000"/>
            </a:avLst>
          </a:prstGeom>
          <a:solidFill>
            <a:srgbClr val="05090E"/>
          </a:solidFill>
          <a:ln w="38100">
            <a:solidFill>
              <a:srgbClr val="06B050"/>
            </a:solidFill>
            <a:prstDash val="solid"/>
          </a:ln>
        </p:spPr>
      </p:sp>
      <p:sp>
        <p:nvSpPr>
          <p:cNvPr id="11" name="Shape 9"/>
          <p:cNvSpPr/>
          <p:nvPr/>
        </p:nvSpPr>
        <p:spPr>
          <a:xfrm>
            <a:off x="5962650" y="3272086"/>
            <a:ext cx="266700" cy="266700"/>
          </a:xfrm>
          <a:prstGeom prst="roundRect">
            <a:avLst>
              <a:gd name="adj" fmla="val 50000"/>
            </a:avLst>
          </a:prstGeom>
          <a:solidFill>
            <a:srgbClr val="05090E"/>
          </a:solidFill>
          <a:ln w="38100">
            <a:solidFill>
              <a:srgbClr val="06B050"/>
            </a:solidFill>
            <a:prstDash val="solid"/>
          </a:ln>
        </p:spPr>
      </p:sp>
      <p:sp>
        <p:nvSpPr>
          <p:cNvPr id="12" name="Shape 10"/>
          <p:cNvSpPr/>
          <p:nvPr/>
        </p:nvSpPr>
        <p:spPr>
          <a:xfrm>
            <a:off x="8223250" y="3272086"/>
            <a:ext cx="266700" cy="266700"/>
          </a:xfrm>
          <a:prstGeom prst="roundRect">
            <a:avLst>
              <a:gd name="adj" fmla="val 50000"/>
            </a:avLst>
          </a:prstGeom>
          <a:solidFill>
            <a:srgbClr val="05090E"/>
          </a:solidFill>
          <a:ln w="38100">
            <a:solidFill>
              <a:srgbClr val="06B050"/>
            </a:solidFill>
            <a:prstDash val="solid"/>
          </a:ln>
        </p:spPr>
      </p:sp>
      <p:sp>
        <p:nvSpPr>
          <p:cNvPr id="13" name="Shape 11"/>
          <p:cNvSpPr/>
          <p:nvPr/>
        </p:nvSpPr>
        <p:spPr>
          <a:xfrm>
            <a:off x="10483850" y="3272086"/>
            <a:ext cx="266700" cy="266700"/>
          </a:xfrm>
          <a:prstGeom prst="roundRect">
            <a:avLst>
              <a:gd name="adj" fmla="val 50000"/>
            </a:avLst>
          </a:prstGeom>
          <a:solidFill>
            <a:srgbClr val="05090E"/>
          </a:solidFill>
          <a:ln w="38100">
            <a:solidFill>
              <a:srgbClr val="06B050"/>
            </a:solidFill>
            <a:prstDash val="solid"/>
          </a:ln>
        </p:spPr>
      </p:sp>
      <p:sp>
        <p:nvSpPr>
          <p:cNvPr id="14" name="Text 12"/>
          <p:cNvSpPr/>
          <p:nvPr/>
        </p:nvSpPr>
        <p:spPr>
          <a:xfrm>
            <a:off x="722122" y="2433886"/>
            <a:ext cx="6226556"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2023年7月5日（水）</a:t>
            </a:r>
            <a:endParaRPr lang="en-US" sz="1200" dirty="0"/>
          </a:p>
        </p:txBody>
      </p:sp>
      <p:sp>
        <p:nvSpPr>
          <p:cNvPr id="15" name="Text 13"/>
          <p:cNvSpPr/>
          <p:nvPr/>
        </p:nvSpPr>
        <p:spPr>
          <a:xfrm>
            <a:off x="7537831" y="2433886"/>
            <a:ext cx="3898138"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7D8894"/>
                </a:solidFill>
                <a:latin typeface="Arial" pitchFamily="34" charset="0"/>
                <a:ea typeface="Arial" pitchFamily="34" charset="-122"/>
                <a:cs typeface="Arial" pitchFamily="34" charset="-120"/>
              </a:rPr>
              <a:t>7月6日（木）</a:t>
            </a:r>
            <a:endParaRPr lang="en-US" sz="1200" dirty="0"/>
          </a:p>
        </p:txBody>
      </p:sp>
      <p:sp>
        <p:nvSpPr>
          <p:cNvPr id="16" name="Text 14"/>
          <p:cNvSpPr/>
          <p:nvPr/>
        </p:nvSpPr>
        <p:spPr>
          <a:xfrm>
            <a:off x="787400" y="2764086"/>
            <a:ext cx="1574800" cy="36066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E6EDF3"/>
                </a:solidFill>
                <a:latin typeface="Courier New" pitchFamily="49" charset="0"/>
                <a:ea typeface="Courier New" pitchFamily="49" charset="-122"/>
                <a:cs typeface="Courier New" pitchFamily="49" charset="-120"/>
              </a:rPr>
              <a:t>22:42</a:t>
            </a:r>
            <a:endParaRPr lang="en-US" sz="2200" dirty="0"/>
          </a:p>
        </p:txBody>
      </p:sp>
      <p:sp>
        <p:nvSpPr>
          <p:cNvPr id="17" name="Text 15"/>
          <p:cNvSpPr/>
          <p:nvPr/>
        </p:nvSpPr>
        <p:spPr>
          <a:xfrm>
            <a:off x="3048000" y="2764086"/>
            <a:ext cx="1574800" cy="36066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E6EDF3"/>
                </a:solidFill>
                <a:latin typeface="Courier New" pitchFamily="49" charset="0"/>
                <a:ea typeface="Courier New" pitchFamily="49" charset="-122"/>
                <a:cs typeface="Courier New" pitchFamily="49" charset="-120"/>
              </a:rPr>
              <a:t>23:10</a:t>
            </a:r>
            <a:endParaRPr lang="en-US" sz="2200" dirty="0"/>
          </a:p>
        </p:txBody>
      </p:sp>
      <p:sp>
        <p:nvSpPr>
          <p:cNvPr id="18" name="Text 16"/>
          <p:cNvSpPr/>
          <p:nvPr/>
        </p:nvSpPr>
        <p:spPr>
          <a:xfrm>
            <a:off x="5308600" y="2764086"/>
            <a:ext cx="1574800" cy="36066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E6EDF3"/>
                </a:solidFill>
                <a:latin typeface="Courier New" pitchFamily="49" charset="0"/>
                <a:ea typeface="Courier New" pitchFamily="49" charset="-122"/>
                <a:cs typeface="Courier New" pitchFamily="49" charset="-120"/>
              </a:rPr>
              <a:t>23:40</a:t>
            </a:r>
            <a:endParaRPr lang="en-US" sz="2200" dirty="0"/>
          </a:p>
        </p:txBody>
      </p:sp>
      <p:sp>
        <p:nvSpPr>
          <p:cNvPr id="19" name="Text 17"/>
          <p:cNvSpPr/>
          <p:nvPr/>
        </p:nvSpPr>
        <p:spPr>
          <a:xfrm>
            <a:off x="7569200" y="2764086"/>
            <a:ext cx="1574800" cy="36066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E6EDF3"/>
                </a:solidFill>
                <a:latin typeface="Courier New" pitchFamily="49" charset="0"/>
                <a:ea typeface="Courier New" pitchFamily="49" charset="-122"/>
                <a:cs typeface="Courier New" pitchFamily="49" charset="-120"/>
              </a:rPr>
              <a:t>00:10</a:t>
            </a:r>
            <a:endParaRPr lang="en-US" sz="2200" dirty="0"/>
          </a:p>
        </p:txBody>
      </p:sp>
      <p:sp>
        <p:nvSpPr>
          <p:cNvPr id="20" name="Text 18"/>
          <p:cNvSpPr/>
          <p:nvPr/>
        </p:nvSpPr>
        <p:spPr>
          <a:xfrm>
            <a:off x="9829800" y="2764086"/>
            <a:ext cx="1574800" cy="36066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E6EDF3"/>
                </a:solidFill>
                <a:latin typeface="Courier New" pitchFamily="49" charset="0"/>
                <a:ea typeface="Courier New" pitchFamily="49" charset="-122"/>
                <a:cs typeface="Courier New" pitchFamily="49" charset="-120"/>
              </a:rPr>
              <a:t>00:40</a:t>
            </a:r>
            <a:endParaRPr lang="en-US" sz="2200" dirty="0"/>
          </a:p>
        </p:txBody>
      </p:sp>
      <p:sp>
        <p:nvSpPr>
          <p:cNvPr id="21" name="Text 19"/>
          <p:cNvSpPr/>
          <p:nvPr/>
        </p:nvSpPr>
        <p:spPr>
          <a:xfrm>
            <a:off x="787400" y="3684836"/>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初回放送</a:t>
            </a:r>
            <a:endParaRPr lang="en-US" sz="1200" dirty="0"/>
          </a:p>
        </p:txBody>
      </p:sp>
      <p:sp>
        <p:nvSpPr>
          <p:cNvPr id="22" name="Text 20"/>
          <p:cNvSpPr/>
          <p:nvPr/>
        </p:nvSpPr>
        <p:spPr>
          <a:xfrm>
            <a:off x="3048000" y="3684836"/>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E-6B</a:t>
            </a:r>
            <a:endParaRPr lang="en-US" sz="1200" dirty="0"/>
          </a:p>
        </p:txBody>
      </p:sp>
      <p:sp>
        <p:nvSpPr>
          <p:cNvPr id="23" name="Text 21"/>
          <p:cNvSpPr/>
          <p:nvPr/>
        </p:nvSpPr>
        <p:spPr>
          <a:xfrm>
            <a:off x="5308600" y="3684836"/>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E-6B</a:t>
            </a:r>
            <a:endParaRPr lang="en-US" sz="1200" dirty="0"/>
          </a:p>
        </p:txBody>
      </p:sp>
      <p:sp>
        <p:nvSpPr>
          <p:cNvPr id="24" name="Text 22"/>
          <p:cNvSpPr/>
          <p:nvPr/>
        </p:nvSpPr>
        <p:spPr>
          <a:xfrm>
            <a:off x="7569200" y="3684836"/>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E-6B</a:t>
            </a:r>
            <a:endParaRPr lang="en-US" sz="1200" dirty="0"/>
          </a:p>
        </p:txBody>
      </p:sp>
      <p:sp>
        <p:nvSpPr>
          <p:cNvPr id="25" name="Text 23"/>
          <p:cNvSpPr/>
          <p:nvPr/>
        </p:nvSpPr>
        <p:spPr>
          <a:xfrm>
            <a:off x="9829800" y="3684836"/>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4BF"/>
                </a:solidFill>
                <a:latin typeface="Arial" pitchFamily="34" charset="0"/>
                <a:ea typeface="Arial" pitchFamily="34" charset="-122"/>
                <a:cs typeface="Arial" pitchFamily="34" charset="-120"/>
              </a:rPr>
              <a:t>E-6B</a:t>
            </a:r>
            <a:endParaRPr lang="en-US" sz="1200" dirty="0"/>
          </a:p>
        </p:txBody>
      </p:sp>
      <p:sp>
        <p:nvSpPr>
          <p:cNvPr id="26" name="Text 24"/>
          <p:cNvSpPr/>
          <p:nvPr/>
        </p:nvSpPr>
        <p:spPr>
          <a:xfrm>
            <a:off x="6692900" y="3976936"/>
            <a:ext cx="1066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00:00 UTC</a:t>
            </a:r>
            <a:endParaRPr lang="en-US" sz="1200" dirty="0"/>
          </a:p>
        </p:txBody>
      </p:sp>
      <p:sp>
        <p:nvSpPr>
          <p:cNvPr id="27" name="Shape 25"/>
          <p:cNvSpPr/>
          <p:nvPr/>
        </p:nvSpPr>
        <p:spPr>
          <a:xfrm>
            <a:off x="812800" y="4367461"/>
            <a:ext cx="10566400" cy="0"/>
          </a:xfrm>
          <a:prstGeom prst="line">
            <a:avLst/>
          </a:prstGeom>
          <a:noFill/>
          <a:ln w="6350">
            <a:solidFill>
              <a:srgbClr val="222A35"/>
            </a:solidFill>
            <a:prstDash val="solid"/>
          </a:ln>
        </p:spPr>
      </p:sp>
      <p:sp>
        <p:nvSpPr>
          <p:cNvPr id="28" name="Text 26"/>
          <p:cNvSpPr/>
          <p:nvPr/>
        </p:nvSpPr>
        <p:spPr>
          <a:xfrm>
            <a:off x="812800" y="4472236"/>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数えないもの：部分的な受信、無効とした読み取り、受信できなかった文字</a:t>
            </a:r>
            <a:endParaRPr lang="en-US" sz="1600" dirty="0"/>
          </a:p>
        </p:txBody>
      </p:sp>
      <p:sp>
        <p:nvSpPr>
          <p:cNvPr id="29" name="Shape 27"/>
          <p:cNvSpPr/>
          <p:nvPr/>
        </p:nvSpPr>
        <p:spPr>
          <a:xfrm>
            <a:off x="812800" y="4881811"/>
            <a:ext cx="10566400" cy="0"/>
          </a:xfrm>
          <a:prstGeom prst="line">
            <a:avLst/>
          </a:prstGeom>
          <a:noFill/>
          <a:ln w="6350">
            <a:solidFill>
              <a:srgbClr val="222A35"/>
            </a:solidFill>
            <a:prstDash val="solid"/>
          </a:ln>
        </p:spPr>
      </p:sp>
      <p:sp>
        <p:nvSpPr>
          <p:cNvPr id="30" name="Text 28"/>
          <p:cNvSpPr/>
          <p:nvPr/>
        </p:nvSpPr>
        <p:spPr>
          <a:xfrm>
            <a:off x="812800" y="4986586"/>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カレンダー</a:t>
            </a:r>
            <a:r>
              <a:rPr lang="en-US" sz="1600" dirty="0">
                <a:solidFill>
                  <a:srgbClr val="E6EDF3"/>
                </a:solidFill>
                <a:latin typeface="Arial" pitchFamily="34" charset="0"/>
                <a:ea typeface="Arial" pitchFamily="34" charset="-122"/>
                <a:cs typeface="Arial" pitchFamily="34" charset="-120"/>
              </a:rPr>
              <a:t>は放送を数える：7月5日に3回、7月6日に2回</a:t>
            </a:r>
            <a:endParaRPr lang="en-US" sz="1600" dirty="0"/>
          </a:p>
        </p:txBody>
      </p:sp>
      <p:sp>
        <p:nvSpPr>
          <p:cNvPr id="31" name="Shape 29"/>
          <p:cNvSpPr/>
          <p:nvPr/>
        </p:nvSpPr>
        <p:spPr>
          <a:xfrm>
            <a:off x="812800" y="5396161"/>
            <a:ext cx="10566400" cy="0"/>
          </a:xfrm>
          <a:prstGeom prst="line">
            <a:avLst/>
          </a:prstGeom>
          <a:noFill/>
          <a:ln w="6350">
            <a:solidFill>
              <a:srgbClr val="222A35"/>
            </a:solidFill>
            <a:prstDash val="solid"/>
          </a:ln>
        </p:spPr>
      </p:sp>
      <p:sp>
        <p:nvSpPr>
          <p:cNvPr id="32" name="Text 30"/>
          <p:cNvSpPr/>
          <p:nvPr/>
        </p:nvSpPr>
        <p:spPr>
          <a:xfrm>
            <a:off x="812800" y="5500936"/>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構造の分析</a:t>
            </a:r>
            <a:r>
              <a:rPr lang="en-US" sz="1600" dirty="0">
                <a:solidFill>
                  <a:srgbClr val="E6EDF3"/>
                </a:solidFill>
                <a:latin typeface="Arial" pitchFamily="34" charset="0"/>
                <a:ea typeface="Arial" pitchFamily="34" charset="-122"/>
                <a:cs typeface="Arial" pitchFamily="34" charset="-120"/>
              </a:rPr>
              <a:t>は各メッセージを1件だけ残す：ここでは22:42 UTCの放送</a:t>
            </a:r>
            <a:endParaRPr lang="en-US" sz="1600" dirty="0"/>
          </a:p>
        </p:txBody>
      </p:sp>
      <p:sp>
        <p:nvSpPr>
          <p:cNvPr id="33" name="Text 3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データ：rebroadcast_timeline.html · messages_calendar_2022_2026.html</a:t>
            </a:r>
            <a:endParaRPr lang="en-US" sz="1200" dirty="0"/>
          </a:p>
        </p:txBody>
      </p:sp>
      <p:sp>
        <p:nvSpPr>
          <p:cNvPr id="34" name="Text 32"/>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参照・方法・まとめ</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方法 · 監視範囲</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不在を語る前に監視範囲</a:t>
            </a:r>
            <a:endParaRPr lang="en-US" sz="3600" dirty="0"/>
          </a:p>
        </p:txBody>
      </p:sp>
      <p:sp>
        <p:nvSpPr>
          <p:cNvPr id="4" name="Text 2"/>
          <p:cNvSpPr/>
          <p:nvPr/>
        </p:nvSpPr>
        <p:spPr>
          <a:xfrm>
            <a:off x="812800" y="1981150"/>
            <a:ext cx="340106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CC00"/>
                </a:solidFill>
                <a:latin typeface="Arial" pitchFamily="34" charset="0"/>
                <a:ea typeface="Arial" pitchFamily="34" charset="-122"/>
                <a:cs typeface="Arial" pitchFamily="34" charset="-120"/>
              </a:rPr>
              <a:t>14</a:t>
            </a:r>
            <a:endParaRPr lang="en-US" sz="8000" dirty="0"/>
          </a:p>
        </p:txBody>
      </p:sp>
      <p:sp>
        <p:nvSpPr>
          <p:cNvPr id="5" name="Text 3"/>
          <p:cNvSpPr/>
          <p:nvPr/>
        </p:nvSpPr>
        <p:spPr>
          <a:xfrm>
            <a:off x="812800" y="3047950"/>
            <a:ext cx="3401060" cy="12446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全1,719日のうち、</a:t>
            </a:r>
            <a:endParaRPr lang="en-US" sz="1600" dirty="0"/>
          </a:p>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通信ゼロと確認された日</a:t>
            </a:r>
            <a:endParaRPr lang="en-US" sz="1600" dirty="0"/>
          </a:p>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2022年1月25日〜</a:t>
            </a:r>
            <a:endParaRPr lang="en-US" sz="1600" dirty="0"/>
          </a:p>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2026年10月9日</a:t>
            </a:r>
            <a:endParaRPr lang="en-US" sz="1600" dirty="0"/>
          </a:p>
        </p:txBody>
      </p:sp>
      <p:sp>
        <p:nvSpPr>
          <p:cNvPr id="6" name="Shape 4"/>
          <p:cNvSpPr/>
          <p:nvPr/>
        </p:nvSpPr>
        <p:spPr>
          <a:xfrm>
            <a:off x="4521200" y="1984325"/>
            <a:ext cx="6858000" cy="0"/>
          </a:xfrm>
          <a:prstGeom prst="line">
            <a:avLst/>
          </a:prstGeom>
          <a:noFill/>
          <a:ln w="6350">
            <a:solidFill>
              <a:srgbClr val="222A35"/>
            </a:solidFill>
            <a:prstDash val="solid"/>
          </a:ln>
        </p:spPr>
      </p:sp>
      <p:sp>
        <p:nvSpPr>
          <p:cNvPr id="7" name="Shape 5"/>
          <p:cNvSpPr/>
          <p:nvPr/>
        </p:nvSpPr>
        <p:spPr>
          <a:xfrm>
            <a:off x="4530725" y="2098625"/>
            <a:ext cx="234950" cy="234950"/>
          </a:xfrm>
          <a:prstGeom prst="rect">
            <a:avLst/>
          </a:prstGeom>
          <a:solidFill>
            <a:srgbClr val="222A35"/>
          </a:solidFill>
          <a:ln w="19050">
            <a:solidFill>
              <a:srgbClr val="E6EDF3"/>
            </a:solidFill>
            <a:prstDash val="solid"/>
          </a:ln>
        </p:spPr>
      </p:sp>
      <p:sp>
        <p:nvSpPr>
          <p:cNvPr id="8" name="Text 6"/>
          <p:cNvSpPr/>
          <p:nvPr/>
        </p:nvSpPr>
        <p:spPr>
          <a:xfrm>
            <a:off x="4927600" y="2089100"/>
            <a:ext cx="664514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789日</a:t>
            </a:r>
            <a:r>
              <a:rPr lang="en-US" sz="1600" dirty="0">
                <a:solidFill>
                  <a:srgbClr val="E6EDF3"/>
                </a:solidFill>
                <a:latin typeface="Arial" pitchFamily="34" charset="0"/>
                <a:ea typeface="Arial" pitchFamily="34" charset="-122"/>
                <a:cs typeface="Arial" pitchFamily="34" charset="-120"/>
              </a:rPr>
              <a:t> 網羅的監視（実線）：DTCP・DCRPの録音か通信ゼロ確認</a:t>
            </a:r>
            <a:endParaRPr lang="en-US" sz="1600" dirty="0"/>
          </a:p>
        </p:txBody>
      </p:sp>
      <p:sp>
        <p:nvSpPr>
          <p:cNvPr id="9" name="Shape 7"/>
          <p:cNvSpPr/>
          <p:nvPr/>
        </p:nvSpPr>
        <p:spPr>
          <a:xfrm>
            <a:off x="4521200" y="2498675"/>
            <a:ext cx="6858000" cy="0"/>
          </a:xfrm>
          <a:prstGeom prst="line">
            <a:avLst/>
          </a:prstGeom>
          <a:noFill/>
          <a:ln w="6350">
            <a:solidFill>
              <a:srgbClr val="222A35"/>
            </a:solidFill>
            <a:prstDash val="solid"/>
          </a:ln>
        </p:spPr>
      </p:sp>
      <p:sp>
        <p:nvSpPr>
          <p:cNvPr id="10" name="Shape 8"/>
          <p:cNvSpPr/>
          <p:nvPr/>
        </p:nvSpPr>
        <p:spPr>
          <a:xfrm>
            <a:off x="4530725" y="2612975"/>
            <a:ext cx="234950" cy="234950"/>
          </a:xfrm>
          <a:prstGeom prst="rect">
            <a:avLst/>
          </a:prstGeom>
          <a:noFill/>
          <a:ln w="19050">
            <a:solidFill>
              <a:srgbClr val="E6EDF3"/>
            </a:solidFill>
            <a:prstDash val="dash"/>
          </a:ln>
        </p:spPr>
      </p:sp>
      <p:sp>
        <p:nvSpPr>
          <p:cNvPr id="11" name="Text 9"/>
          <p:cNvSpPr/>
          <p:nvPr/>
        </p:nvSpPr>
        <p:spPr>
          <a:xfrm>
            <a:off x="4927600" y="2603450"/>
            <a:ext cx="664514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305日</a:t>
            </a:r>
            <a:r>
              <a:rPr lang="en-US" sz="1600" dirty="0">
                <a:solidFill>
                  <a:srgbClr val="E6EDF3"/>
                </a:solidFill>
                <a:latin typeface="Arial" pitchFamily="34" charset="0"/>
                <a:ea typeface="Arial" pitchFamily="34" charset="-122"/>
                <a:cs typeface="Arial" pitchFamily="34" charset="-120"/>
              </a:rPr>
              <a:t> 非網羅的な監視（破線）：通信の記録あり、録音なし</a:t>
            </a:r>
            <a:endParaRPr lang="en-US" sz="1600" dirty="0"/>
          </a:p>
        </p:txBody>
      </p:sp>
      <p:sp>
        <p:nvSpPr>
          <p:cNvPr id="12" name="Shape 10"/>
          <p:cNvSpPr/>
          <p:nvPr/>
        </p:nvSpPr>
        <p:spPr>
          <a:xfrm>
            <a:off x="4521200" y="3013025"/>
            <a:ext cx="6858000" cy="0"/>
          </a:xfrm>
          <a:prstGeom prst="line">
            <a:avLst/>
          </a:prstGeom>
          <a:noFill/>
          <a:ln w="6350">
            <a:solidFill>
              <a:srgbClr val="222A35"/>
            </a:solidFill>
            <a:prstDash val="solid"/>
          </a:ln>
        </p:spPr>
      </p:sp>
      <p:sp>
        <p:nvSpPr>
          <p:cNvPr id="13" name="Text 11"/>
          <p:cNvSpPr/>
          <p:nvPr/>
        </p:nvSpPr>
        <p:spPr>
          <a:xfrm>
            <a:off x="4521200" y="3117800"/>
            <a:ext cx="7063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625日</a:t>
            </a:r>
            <a:r>
              <a:rPr lang="en-US" sz="1600" dirty="0">
                <a:solidFill>
                  <a:srgbClr val="E6EDF3"/>
                </a:solidFill>
                <a:latin typeface="Arial" pitchFamily="34" charset="0"/>
                <a:ea typeface="Arial" pitchFamily="34" charset="-122"/>
                <a:cs typeface="Arial" pitchFamily="34" charset="-120"/>
              </a:rPr>
              <a:t> 監視なし（空白）：記録も録音もなし</a:t>
            </a:r>
            <a:endParaRPr lang="en-US" sz="1600" dirty="0"/>
          </a:p>
        </p:txBody>
      </p:sp>
      <p:sp>
        <p:nvSpPr>
          <p:cNvPr id="14" name="Shape 12"/>
          <p:cNvSpPr/>
          <p:nvPr/>
        </p:nvSpPr>
        <p:spPr>
          <a:xfrm>
            <a:off x="4521200" y="3527375"/>
            <a:ext cx="6858000" cy="0"/>
          </a:xfrm>
          <a:prstGeom prst="line">
            <a:avLst/>
          </a:prstGeom>
          <a:noFill/>
          <a:ln w="6350">
            <a:solidFill>
              <a:srgbClr val="222A35"/>
            </a:solidFill>
            <a:prstDash val="solid"/>
          </a:ln>
        </p:spPr>
      </p:sp>
      <p:sp>
        <p:nvSpPr>
          <p:cNvPr id="15" name="Text 13"/>
          <p:cNvSpPr/>
          <p:nvPr/>
        </p:nvSpPr>
        <p:spPr>
          <a:xfrm>
            <a:off x="4521200" y="3632150"/>
            <a:ext cx="706374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受信機：大半は北米と欧州。太平洋の監視範囲は限られる</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データ：EAMカレンダー（生成日 261009） · ライブ配信ギャラリー · 横田の基地ページ</a:t>
            </a:r>
            <a:endParaRPr lang="en-US" sz="1200" dirty="0"/>
          </a:p>
        </p:txBody>
      </p:sp>
      <p:sp>
        <p:nvSpPr>
          <p:cNvPr id="17" name="Text 1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参照・方法・まとめ</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方法 · 暗号文のみ</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偶然に対する検定</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50"/>
          <a:ext cx="10553700" cy="3075384"/>
        </p:xfrm>
        <a:graphic>
          <a:graphicData uri="http://schemas.openxmlformats.org/drawingml/2006/table">
            <a:tbl>
              <a:tblPr/>
              <a:tblGrid>
                <a:gridCol w="3377184"/>
                <a:gridCol w="7176516"/>
              </a:tblGrid>
              <a:tr h="43934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検定</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結果</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帰無モデル</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base32の全文字が等確率：それぞれ3.125%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第1群のM</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1.929%、z = −22.8 · 同じ大きさの乱数：z = −1.15</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最後の6文字がすべて異なる</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偶然なら61% · 第1群は97%</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対・連続の基準</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FFCC00"/>
                          </a:solidFill>
                          <a:latin typeface="Arial" pitchFamily="34" charset="0"/>
                          <a:ea typeface="Arial" pitchFamily="34" charset="-122"/>
                          <a:cs typeface="Arial" pitchFamily="34" charset="-120"/>
                        </a:rPr>
                        <a:t>0.05 ÷ 検定538,498件 ≈ 1,100万分の1</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偶然3%の対、4件中4件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A9B4BF"/>
                          </a:solidFill>
                          <a:latin typeface="Arial" pitchFamily="34" charset="0"/>
                          <a:ea typeface="Arial" pitchFamily="34" charset="-122"/>
                          <a:cs typeface="Arial" pitchFamily="34" charset="-120"/>
                        </a:rPr>
                        <a:t>120万分の1 → 淡い色、あと少しで届かず</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偶然3%の対、5件中5件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4,100万分の1 → 色が付く</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出典：eam_30char_format_analysis.html · about_structure_heatmaps.html</a:t>
            </a:r>
            <a:endParaRPr lang="en-US" sz="1200" dirty="0"/>
          </a:p>
        </p:txBody>
      </p:sp>
      <p:sp>
        <p:nvSpPr>
          <p:cNvPr id="6" name="Text 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参照・方法・まとめ</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方法 · タイミング</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相関のみ</a:t>
            </a:r>
            <a:endParaRPr lang="en-US" sz="3600" dirty="0"/>
          </a:p>
        </p:txBody>
      </p:sp>
      <p:sp>
        <p:nvSpPr>
          <p:cNvPr id="4" name="Text 2"/>
          <p:cNvSpPr/>
          <p:nvPr/>
        </p:nvSpPr>
        <p:spPr>
          <a:xfrm>
            <a:off x="812800" y="19811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7D8894"/>
                </a:solidFill>
                <a:latin typeface="Arial" pitchFamily="34" charset="0"/>
                <a:ea typeface="Arial" pitchFamily="34" charset="-122"/>
                <a:cs typeface="Arial" pitchFamily="34" charset="-120"/>
              </a:rPr>
              <a:t>ページの見出し：</a:t>
            </a:r>
            <a:r>
              <a:rPr lang="en-US" sz="1600" dirty="0">
                <a:solidFill>
                  <a:srgbClr val="E6EDF3"/>
                </a:solidFill>
                <a:latin typeface="Arial" pitchFamily="34" charset="0"/>
                <a:ea typeface="Arial" pitchFamily="34" charset="-122"/>
                <a:cs typeface="Arial" pitchFamily="34" charset="-120"/>
              </a:rPr>
              <a:t>D-1〜D-3の第4群は基準値の約3.6倍 · 11回中8回の発射前に出現</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51050"/>
          <a:ext cx="10553700" cy="2196703"/>
        </p:xfrm>
        <a:graphic>
          <a:graphicData uri="http://schemas.openxmlformats.org/drawingml/2006/table">
            <a:tbl>
              <a:tblPr/>
              <a:tblGrid>
                <a:gridCol w="3166110"/>
                <a:gridCol w="2955036"/>
                <a:gridCol w="4432554"/>
              </a:tblGrid>
              <a:tr h="439341">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発射</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D-1〜D-3</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c>
                  <a:txBody>
                    <a:bodyPr/>
                    <a:lstStyle/>
                    <a:p>
                      <a:pPr indent="0" marL="0">
                        <a:lnSpc>
                          <a:spcPts val="2240"/>
                        </a:lnSpc>
                        <a:buNone/>
                      </a:pPr>
                      <a:r>
                        <a:rPr lang="en-US" sz="1600" b="1" dirty="0">
                          <a:solidFill>
                            <a:srgbClr val="E6EDF3"/>
                          </a:solidFill>
                          <a:latin typeface="Arial" pitchFamily="34" charset="0"/>
                          <a:ea typeface="Arial" pitchFamily="34" charset="-122"/>
                          <a:cs typeface="Arial" pitchFamily="34" charset="-120"/>
                        </a:rPr>
                        <a:t>わかること</a:t>
                      </a:r>
                      <a:endParaRPr lang="en-US" sz="1600" dirty="0">
                        <a:latin typeface="Arial" charset="0"/>
                        <a:ea typeface="Arial" charset="0"/>
                        <a:cs typeface="Arial" charset="0"/>
                      </a:endParaRPr>
                    </a:p>
                  </a:txBody>
                  <a:tcPr marL="71120" marR="71120" marT="71120" marB="71120" anchor="t">
                    <a:lnL w="12700" cap="flat" cmpd="sng" algn="ctr">
                      <a:solidFill>
                        <a:srgbClr val="42464B"/>
                      </a:solidFill>
                      <a:prstDash val="solid"/>
                      <a:round/>
                      <a:headEnd type="none" w="med" len="med"/>
                      <a:tailEnd type="none" w="med" len="med"/>
                    </a:lnL>
                    <a:lnR w="12700" cap="flat" cmpd="sng" algn="ctr">
                      <a:solidFill>
                        <a:srgbClr val="42464B"/>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42464B"/>
                      </a:solidFill>
                      <a:prstDash val="solid"/>
                      <a:round/>
                      <a:headEnd type="none" w="med" len="med"/>
                      <a:tailEnd type="none" w="med" len="med"/>
                    </a:lnB>
                    <a:solidFill>
                      <a:srgbClr val="0E141B"/>
                    </a:solidFill>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GT-246 · 2023年4月19日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第4群の長文EAM 17件</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グローバル・サンダー23と重複 · 記録のみ</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42464B"/>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GT-249 · 2024年6月4日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第4群なし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網羅的な監視：この不在は意味を持つ</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GT-253 · 2025年5月21日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監視なし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外部の報告1件のみ、未検証</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r h="439341">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GT-255? · 2026年3月4日</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長文EAMなし</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c>
                  <a:txBody>
                    <a:bodyPr/>
                    <a:lstStyle/>
                    <a:p>
                      <a:pPr indent="0" marL="0">
                        <a:lnSpc>
                          <a:spcPts val="2240"/>
                        </a:lnSpc>
                        <a:buNone/>
                      </a:pPr>
                      <a:r>
                        <a:rPr lang="en-US" sz="1600" dirty="0">
                          <a:solidFill>
                            <a:srgbClr val="E6EDF3"/>
                          </a:solidFill>
                          <a:latin typeface="Arial" pitchFamily="34" charset="0"/>
                          <a:ea typeface="Arial" pitchFamily="34" charset="-122"/>
                          <a:cs typeface="Arial" pitchFamily="34" charset="-120"/>
                        </a:rPr>
                        <a:t>ページが事前に予測を掲載</a:t>
                      </a:r>
                      <a:endParaRPr lang="en-US" sz="1600" dirty="0">
                        <a:latin typeface="Arial" charset="0"/>
                        <a:ea typeface="Arial" charset="0"/>
                        <a:cs typeface="Arial" charset="0"/>
                      </a:endParaRPr>
                    </a:p>
                  </a:txBody>
                  <a:tcPr marL="71120" marR="71120" marT="71120" marB="71120" anchor="t">
                    <a:lnL w="12700" cap="flat" cmpd="sng" algn="ctr">
                      <a:solidFill>
                        <a:srgbClr val="3B3E41"/>
                      </a:solidFill>
                      <a:prstDash val="solid"/>
                      <a:round/>
                      <a:headEnd type="none" w="med" len="med"/>
                      <a:tailEnd type="none" w="med" len="med"/>
                    </a:lnL>
                    <a:lnR w="12700" cap="flat" cmpd="sng" algn="ctr">
                      <a:solidFill>
                        <a:srgbClr val="3B3E41"/>
                      </a:solidFill>
                      <a:prstDash val="solid"/>
                      <a:round/>
                      <a:headEnd type="none" w="med" len="med"/>
                      <a:tailEnd type="none" w="med" len="med"/>
                    </a:lnR>
                    <a:lnT w="12700" cap="flat" cmpd="sng" algn="ctr">
                      <a:solidFill>
                        <a:srgbClr val="3B3E41"/>
                      </a:solidFill>
                      <a:prstDash val="solid"/>
                      <a:round/>
                      <a:headEnd type="none" w="med" len="med"/>
                      <a:tailEnd type="none" w="med" len="med"/>
                    </a:lnT>
                    <a:lnB w="12700" cap="flat" cmpd="sng" algn="ctr">
                      <a:solidFill>
                        <a:srgbClr val="3B3E41"/>
                      </a:solidFill>
                      <a:prstDash val="solid"/>
                      <a:round/>
                      <a:headEnd type="none" w="med" len="med"/>
                      <a:tailEnd type="none" w="med" len="med"/>
                    </a:lnB>
                  </a:tcPr>
                </a:tc>
              </a:tr>
            </a:tbl>
          </a:graphicData>
        </a:graphic>
      </p:graphicFrame>
      <p:sp>
        <p:nvSpPr>
          <p:cNvPr id="6" name="Text 3"/>
          <p:cNvSpPr/>
          <p:nvPr/>
        </p:nvSpPr>
        <p:spPr>
          <a:xfrm>
            <a:off x="812800" y="4800154"/>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CC00"/>
                </a:solidFill>
                <a:latin typeface="Arial" pitchFamily="34" charset="0"/>
                <a:ea typeface="Arial" pitchFamily="34" charset="-122"/>
                <a:cs typeface="Arial" pitchFamily="34" charset="-120"/>
              </a:rPr>
              <a:t>「相関関係のみであり、因果関係は確認されていません。」</a:t>
            </a:r>
            <a:endParaRPr lang="en-US" sz="16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出典：minuteman_icbm_x_hfgcs_eams.html（最終更新 2026年3月3日）</a:t>
            </a:r>
            <a:endParaRPr lang="en-US" sz="1200" dirty="0"/>
          </a:p>
        </p:txBody>
      </p:sp>
      <p:sp>
        <p:nvSpPr>
          <p:cNvPr id="8" name="Text 5"/>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参照・方法・まとめ</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サイト自身の記述から</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未解決の問い</a:t>
            </a:r>
            <a:endParaRPr lang="en-US" sz="3600" dirty="0"/>
          </a:p>
        </p:txBody>
      </p:sp>
      <p:sp>
        <p:nvSpPr>
          <p:cNvPr id="4" name="Shape 2"/>
          <p:cNvSpPr/>
          <p:nvPr/>
        </p:nvSpPr>
        <p:spPr>
          <a:xfrm>
            <a:off x="812800" y="1984325"/>
            <a:ext cx="10566400" cy="0"/>
          </a:xfrm>
          <a:prstGeom prst="line">
            <a:avLst/>
          </a:prstGeom>
          <a:noFill/>
          <a:ln w="6350">
            <a:solidFill>
              <a:srgbClr val="222A35"/>
            </a:solidFill>
            <a:prstDash val="solid"/>
          </a:ln>
        </p:spPr>
      </p:sp>
      <p:sp>
        <p:nvSpPr>
          <p:cNvPr id="5" name="Text 3"/>
          <p:cNvSpPr/>
          <p:nvPr/>
        </p:nvSpPr>
        <p:spPr>
          <a:xfrm>
            <a:off x="812800" y="2089100"/>
            <a:ext cx="10883392"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E6EDF3"/>
                </a:solidFill>
                <a:latin typeface="Arial" pitchFamily="34" charset="0"/>
                <a:ea typeface="Arial" pitchFamily="34" charset="-122"/>
                <a:cs typeface="Arial" pitchFamily="34" charset="-120"/>
              </a:rPr>
              <a:t>横田はスカイマスター演習に参加しているのか？</a:t>
            </a:r>
            <a:endParaRPr lang="en-US" sz="2200" dirty="0"/>
          </a:p>
        </p:txBody>
      </p:sp>
      <p:sp>
        <p:nvSpPr>
          <p:cNvPr id="6" name="Shape 4"/>
          <p:cNvSpPr/>
          <p:nvPr/>
        </p:nvSpPr>
        <p:spPr>
          <a:xfrm>
            <a:off x="812800" y="2612975"/>
            <a:ext cx="10566400" cy="0"/>
          </a:xfrm>
          <a:prstGeom prst="line">
            <a:avLst/>
          </a:prstGeom>
          <a:noFill/>
          <a:ln w="6350">
            <a:solidFill>
              <a:srgbClr val="222A35"/>
            </a:solidFill>
            <a:prstDash val="solid"/>
          </a:ln>
        </p:spPr>
      </p:sp>
      <p:sp>
        <p:nvSpPr>
          <p:cNvPr id="7" name="Text 5"/>
          <p:cNvSpPr/>
          <p:nvPr/>
        </p:nvSpPr>
        <p:spPr>
          <a:xfrm>
            <a:off x="812800" y="2717750"/>
            <a:ext cx="10883392"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E6EDF3"/>
                </a:solidFill>
                <a:latin typeface="Arial" pitchFamily="34" charset="0"/>
                <a:ea typeface="Arial" pitchFamily="34" charset="-122"/>
                <a:cs typeface="Arial" pitchFamily="34" charset="-120"/>
              </a:rPr>
              <a:t>4つの群は、4つの公式なメッセージの種類に対応するのか？</a:t>
            </a:r>
            <a:endParaRPr lang="en-US" sz="2200" dirty="0"/>
          </a:p>
        </p:txBody>
      </p:sp>
      <p:sp>
        <p:nvSpPr>
          <p:cNvPr id="8" name="Shape 6"/>
          <p:cNvSpPr/>
          <p:nvPr/>
        </p:nvSpPr>
        <p:spPr>
          <a:xfrm>
            <a:off x="812800" y="3241625"/>
            <a:ext cx="10566400" cy="0"/>
          </a:xfrm>
          <a:prstGeom prst="line">
            <a:avLst/>
          </a:prstGeom>
          <a:noFill/>
          <a:ln w="6350">
            <a:solidFill>
              <a:srgbClr val="222A35"/>
            </a:solidFill>
            <a:prstDash val="solid"/>
          </a:ln>
        </p:spPr>
      </p:sp>
      <p:sp>
        <p:nvSpPr>
          <p:cNvPr id="9" name="Text 7"/>
          <p:cNvSpPr/>
          <p:nvPr/>
        </p:nvSpPr>
        <p:spPr>
          <a:xfrm>
            <a:off x="812800" y="3346400"/>
            <a:ext cx="10883392"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E6EDF3"/>
                </a:solidFill>
                <a:latin typeface="Arial" pitchFamily="34" charset="0"/>
                <a:ea typeface="Arial" pitchFamily="34" charset="-122"/>
                <a:cs typeface="Arial" pitchFamily="34" charset="-120"/>
              </a:rPr>
              <a:t>Mと5はなぜ少ないのか？</a:t>
            </a:r>
            <a:endParaRPr lang="en-US" sz="2200" dirty="0"/>
          </a:p>
        </p:txBody>
      </p:sp>
      <p:sp>
        <p:nvSpPr>
          <p:cNvPr id="10" name="Shape 8"/>
          <p:cNvSpPr/>
          <p:nvPr/>
        </p:nvSpPr>
        <p:spPr>
          <a:xfrm>
            <a:off x="812800" y="3870275"/>
            <a:ext cx="10566400" cy="0"/>
          </a:xfrm>
          <a:prstGeom prst="line">
            <a:avLst/>
          </a:prstGeom>
          <a:noFill/>
          <a:ln w="6350">
            <a:solidFill>
              <a:srgbClr val="222A35"/>
            </a:solidFill>
            <a:prstDash val="solid"/>
          </a:ln>
        </p:spPr>
      </p:sp>
      <p:sp>
        <p:nvSpPr>
          <p:cNvPr id="11" name="Text 9"/>
          <p:cNvSpPr/>
          <p:nvPr/>
        </p:nvSpPr>
        <p:spPr>
          <a:xfrm>
            <a:off x="812800" y="3975050"/>
            <a:ext cx="10883392"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E6EDF3"/>
                </a:solidFill>
                <a:latin typeface="Arial" pitchFamily="34" charset="0"/>
                <a:ea typeface="Arial" pitchFamily="34" charset="-122"/>
                <a:cs typeface="Arial" pitchFamily="34" charset="-120"/>
              </a:rPr>
              <a:t>規則では読めない第4群の長文35件は、どう組み立てられているのか？</a:t>
            </a:r>
            <a:endParaRPr lang="en-US" sz="2200" dirty="0"/>
          </a:p>
        </p:txBody>
      </p:sp>
      <p:sp>
        <p:nvSpPr>
          <p:cNvPr id="12" name="Shape 10"/>
          <p:cNvSpPr/>
          <p:nvPr/>
        </p:nvSpPr>
        <p:spPr>
          <a:xfrm>
            <a:off x="812800" y="4498925"/>
            <a:ext cx="10566400" cy="0"/>
          </a:xfrm>
          <a:prstGeom prst="line">
            <a:avLst/>
          </a:prstGeom>
          <a:noFill/>
          <a:ln w="6350">
            <a:solidFill>
              <a:srgbClr val="222A35"/>
            </a:solidFill>
            <a:prstDash val="solid"/>
          </a:ln>
        </p:spPr>
      </p:sp>
      <p:sp>
        <p:nvSpPr>
          <p:cNvPr id="13" name="Text 11"/>
          <p:cNvSpPr/>
          <p:nvPr/>
        </p:nvSpPr>
        <p:spPr>
          <a:xfrm>
            <a:off x="812800" y="4603700"/>
            <a:ext cx="10883392"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E6EDF3"/>
                </a:solidFill>
                <a:latin typeface="Arial" pitchFamily="34" charset="0"/>
                <a:ea typeface="Arial" pitchFamily="34" charset="-122"/>
                <a:cs typeface="Arial" pitchFamily="34" charset="-120"/>
              </a:rPr>
              <a:t>どの局が、いつ、どの周波数を使っているのか？</a:t>
            </a:r>
            <a:endParaRPr lang="en-US" sz="22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Arial" pitchFamily="34" charset="0"/>
                <a:ea typeface="Arial" pitchFamily="34" charset="-122"/>
                <a:cs typeface="Arial" pitchFamily="34" charset="-120"/>
              </a:rPr>
              <a:t>出典：hfgcs_station_yokota.html · hfgcs_faq.html · g4_structure.html</a:t>
            </a:r>
            <a:endParaRPr lang="en-US" sz="1200" dirty="0"/>
          </a:p>
        </p:txBody>
      </p:sp>
      <p:sp>
        <p:nvSpPr>
          <p:cNvPr id="15" name="Text 13"/>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参照・方法・まとめ</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509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CC00"/>
                </a:solidFill>
                <a:latin typeface="Arial" pitchFamily="34" charset="0"/>
                <a:ea typeface="Arial" pitchFamily="34" charset="-122"/>
                <a:cs typeface="Arial" pitchFamily="34" charset="-120"/>
              </a:rPr>
              <a:t>アドレスはすべて neetintel.github.io に続けて</a:t>
            </a:r>
            <a:endParaRPr lang="en-US" sz="1200" dirty="0"/>
          </a:p>
        </p:txBody>
      </p:sp>
      <p:sp>
        <p:nvSpPr>
          <p:cNvPr id="3" name="Text 1"/>
          <p:cNvSpPr/>
          <p:nvPr>
            <p:ph type="title"/>
          </p:nvPr>
        </p:nvSpPr>
        <p:spPr>
          <a:xfrm>
            <a:off x="812800" y="1127720"/>
            <a:ext cx="10883392" cy="574030"/>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E6EDF3"/>
                </a:solidFill>
                <a:latin typeface="Arial" pitchFamily="34" charset="0"/>
                <a:ea typeface="Arial" pitchFamily="34" charset="-122"/>
                <a:cs typeface="Arial" pitchFamily="34" charset="-120"/>
              </a:rPr>
              <a:t>どこから始めるか</a:t>
            </a:r>
            <a:endParaRPr lang="en-US" sz="3600" dirty="0"/>
          </a:p>
        </p:txBody>
      </p:sp>
      <p:sp>
        <p:nvSpPr>
          <p:cNvPr id="4" name="Text 2"/>
          <p:cNvSpPr/>
          <p:nvPr/>
        </p:nvSpPr>
        <p:spPr>
          <a:xfrm>
            <a:off x="812800" y="1981150"/>
            <a:ext cx="254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C00"/>
                </a:solidFill>
                <a:latin typeface="Courier New" pitchFamily="49" charset="0"/>
                <a:ea typeface="Courier New" pitchFamily="49" charset="-122"/>
                <a:cs typeface="Courier New" pitchFamily="49" charset="-120"/>
              </a:rPr>
              <a:t>1</a:t>
            </a:r>
            <a:endParaRPr lang="en-US" sz="2200" dirty="0"/>
          </a:p>
        </p:txBody>
      </p:sp>
      <p:sp>
        <p:nvSpPr>
          <p:cNvPr id="5" name="Text 3"/>
          <p:cNvSpPr/>
          <p:nvPr/>
        </p:nvSpPr>
        <p:spPr>
          <a:xfrm>
            <a:off x="1168400" y="2028775"/>
            <a:ext cx="513080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目次ページ · タブ、日本語 / EN、ライト / ダーク</a:t>
            </a:r>
            <a:endParaRPr lang="en-US" sz="1600" dirty="0"/>
          </a:p>
        </p:txBody>
      </p:sp>
      <p:sp>
        <p:nvSpPr>
          <p:cNvPr id="6" name="Text 4"/>
          <p:cNvSpPr/>
          <p:nvPr/>
        </p:nvSpPr>
        <p:spPr>
          <a:xfrm>
            <a:off x="1168400" y="2358975"/>
            <a:ext cx="45385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a:t>
            </a:r>
            <a:endParaRPr lang="en-US" sz="1200" dirty="0"/>
          </a:p>
        </p:txBody>
      </p:sp>
      <p:sp>
        <p:nvSpPr>
          <p:cNvPr id="7" name="Text 5"/>
          <p:cNvSpPr/>
          <p:nvPr/>
        </p:nvSpPr>
        <p:spPr>
          <a:xfrm>
            <a:off x="812800" y="2775496"/>
            <a:ext cx="254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C00"/>
                </a:solidFill>
                <a:latin typeface="Courier New" pitchFamily="49" charset="0"/>
                <a:ea typeface="Courier New" pitchFamily="49" charset="-122"/>
                <a:cs typeface="Courier New" pitchFamily="49" charset="-120"/>
              </a:rPr>
              <a:t>2</a:t>
            </a:r>
            <a:endParaRPr lang="en-US" sz="2200" dirty="0"/>
          </a:p>
        </p:txBody>
      </p:sp>
      <p:sp>
        <p:nvSpPr>
          <p:cNvPr id="8" name="Text 6"/>
          <p:cNvSpPr/>
          <p:nvPr/>
        </p:nvSpPr>
        <p:spPr>
          <a:xfrm>
            <a:off x="1168400" y="2823121"/>
            <a:ext cx="339114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142文字のヒートマップ</a:t>
            </a:r>
            <a:endParaRPr lang="en-US" sz="1600" dirty="0"/>
          </a:p>
        </p:txBody>
      </p:sp>
      <p:sp>
        <p:nvSpPr>
          <p:cNvPr id="9" name="Text 7"/>
          <p:cNvSpPr/>
          <p:nvPr/>
        </p:nvSpPr>
        <p:spPr>
          <a:xfrm>
            <a:off x="1168400" y="3153321"/>
            <a:ext cx="3950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/test/structure_heatmap_142char.html</a:t>
            </a:r>
            <a:endParaRPr lang="en-US" sz="1200" dirty="0"/>
          </a:p>
        </p:txBody>
      </p:sp>
      <p:sp>
        <p:nvSpPr>
          <p:cNvPr id="10" name="Text 8"/>
          <p:cNvSpPr/>
          <p:nvPr/>
        </p:nvSpPr>
        <p:spPr>
          <a:xfrm>
            <a:off x="812800" y="3569841"/>
            <a:ext cx="254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C00"/>
                </a:solidFill>
                <a:latin typeface="Courier New" pitchFamily="49" charset="0"/>
                <a:ea typeface="Courier New" pitchFamily="49" charset="-122"/>
                <a:cs typeface="Courier New" pitchFamily="49" charset="-120"/>
              </a:rPr>
              <a:t>3</a:t>
            </a:r>
            <a:endParaRPr lang="en-US" sz="2200" dirty="0"/>
          </a:p>
        </p:txBody>
      </p:sp>
      <p:sp>
        <p:nvSpPr>
          <p:cNvPr id="11" name="Text 9"/>
          <p:cNvSpPr/>
          <p:nvPr/>
        </p:nvSpPr>
        <p:spPr>
          <a:xfrm>
            <a:off x="1168400" y="3617466"/>
            <a:ext cx="2411254"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スカイマスター · 比較</a:t>
            </a:r>
            <a:endParaRPr lang="en-US" sz="1600" dirty="0"/>
          </a:p>
        </p:txBody>
      </p:sp>
      <p:sp>
        <p:nvSpPr>
          <p:cNvPr id="12" name="Text 10"/>
          <p:cNvSpPr/>
          <p:nvPr/>
        </p:nvSpPr>
        <p:spPr>
          <a:xfrm>
            <a:off x="1168400" y="3947666"/>
            <a:ext cx="2069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/?compare</a:t>
            </a:r>
            <a:endParaRPr lang="en-US" sz="1200" dirty="0"/>
          </a:p>
        </p:txBody>
      </p:sp>
      <p:sp>
        <p:nvSpPr>
          <p:cNvPr id="13" name="Text 11"/>
          <p:cNvSpPr/>
          <p:nvPr/>
        </p:nvSpPr>
        <p:spPr>
          <a:xfrm>
            <a:off x="812800" y="4364186"/>
            <a:ext cx="254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C00"/>
                </a:solidFill>
                <a:latin typeface="Courier New" pitchFamily="49" charset="0"/>
                <a:ea typeface="Courier New" pitchFamily="49" charset="-122"/>
                <a:cs typeface="Courier New" pitchFamily="49" charset="-120"/>
              </a:rPr>
              <a:t>4</a:t>
            </a:r>
            <a:endParaRPr lang="en-US" sz="2200" dirty="0"/>
          </a:p>
        </p:txBody>
      </p:sp>
      <p:sp>
        <p:nvSpPr>
          <p:cNvPr id="14" name="Text 12"/>
          <p:cNvSpPr/>
          <p:nvPr/>
        </p:nvSpPr>
        <p:spPr>
          <a:xfrm>
            <a:off x="1168400" y="4411811"/>
            <a:ext cx="429422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DTCPギャラリー · スカイマスターの日</a:t>
            </a:r>
            <a:endParaRPr lang="en-US" sz="1600" dirty="0"/>
          </a:p>
        </p:txBody>
      </p:sp>
      <p:sp>
        <p:nvSpPr>
          <p:cNvPr id="15" name="Text 13"/>
          <p:cNvSpPr/>
          <p:nvPr/>
        </p:nvSpPr>
        <p:spPr>
          <a:xfrm>
            <a:off x="1168400" y="4742011"/>
            <a:ext cx="36858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/dtcp_gallery.html?skyx</a:t>
            </a:r>
            <a:endParaRPr lang="en-US" sz="1200" dirty="0"/>
          </a:p>
        </p:txBody>
      </p:sp>
      <p:sp>
        <p:nvSpPr>
          <p:cNvPr id="16" name="Text 14"/>
          <p:cNvSpPr/>
          <p:nvPr/>
        </p:nvSpPr>
        <p:spPr>
          <a:xfrm>
            <a:off x="6299200" y="1981150"/>
            <a:ext cx="254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C00"/>
                </a:solidFill>
                <a:latin typeface="Courier New" pitchFamily="49" charset="0"/>
                <a:ea typeface="Courier New" pitchFamily="49" charset="-122"/>
                <a:cs typeface="Courier New" pitchFamily="49" charset="-120"/>
              </a:rPr>
              <a:t>5</a:t>
            </a:r>
            <a:endParaRPr lang="en-US" sz="2200" dirty="0"/>
          </a:p>
        </p:txBody>
      </p:sp>
      <p:sp>
        <p:nvSpPr>
          <p:cNvPr id="17" name="Text 15"/>
          <p:cNvSpPr/>
          <p:nvPr/>
        </p:nvSpPr>
        <p:spPr>
          <a:xfrm>
            <a:off x="6654800" y="2028775"/>
            <a:ext cx="3579544"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EAMカレンダー · 2023年</a:t>
            </a:r>
            <a:endParaRPr lang="en-US" sz="1600" dirty="0"/>
          </a:p>
        </p:txBody>
      </p:sp>
      <p:sp>
        <p:nvSpPr>
          <p:cNvPr id="18" name="Text 16"/>
          <p:cNvSpPr/>
          <p:nvPr/>
        </p:nvSpPr>
        <p:spPr>
          <a:xfrm>
            <a:off x="6654800" y="2358975"/>
            <a:ext cx="4170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/messages_calendar_2022_2026.html?2023</a:t>
            </a:r>
            <a:endParaRPr lang="en-US" sz="1200" dirty="0"/>
          </a:p>
        </p:txBody>
      </p:sp>
      <p:sp>
        <p:nvSpPr>
          <p:cNvPr id="19" name="Text 17"/>
          <p:cNvSpPr/>
          <p:nvPr/>
        </p:nvSpPr>
        <p:spPr>
          <a:xfrm>
            <a:off x="6299200" y="2775496"/>
            <a:ext cx="254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C00"/>
                </a:solidFill>
                <a:latin typeface="Courier New" pitchFamily="49" charset="0"/>
                <a:ea typeface="Courier New" pitchFamily="49" charset="-122"/>
                <a:cs typeface="Courier New" pitchFamily="49" charset="-120"/>
              </a:rPr>
              <a:t>6</a:t>
            </a:r>
            <a:endParaRPr lang="en-US" sz="2200" dirty="0"/>
          </a:p>
        </p:txBody>
      </p:sp>
      <p:sp>
        <p:nvSpPr>
          <p:cNvPr id="20" name="Text 18"/>
          <p:cNvSpPr/>
          <p:nvPr/>
        </p:nvSpPr>
        <p:spPr>
          <a:xfrm>
            <a:off x="6654800" y="2823121"/>
            <a:ext cx="2731783"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2026年4月のNOTAM再現</a:t>
            </a:r>
            <a:endParaRPr lang="en-US" sz="1600" dirty="0"/>
          </a:p>
        </p:txBody>
      </p:sp>
      <p:sp>
        <p:nvSpPr>
          <p:cNvPr id="21" name="Text 19"/>
          <p:cNvSpPr/>
          <p:nvPr/>
        </p:nvSpPr>
        <p:spPr>
          <a:xfrm>
            <a:off x="6654800" y="3153321"/>
            <a:ext cx="31826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/notams_skymaster_260400.html</a:t>
            </a:r>
            <a:endParaRPr lang="en-US" sz="1200" dirty="0"/>
          </a:p>
        </p:txBody>
      </p:sp>
      <p:sp>
        <p:nvSpPr>
          <p:cNvPr id="22" name="Text 20"/>
          <p:cNvSpPr/>
          <p:nvPr/>
        </p:nvSpPr>
        <p:spPr>
          <a:xfrm>
            <a:off x="6299200" y="3569841"/>
            <a:ext cx="254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C00"/>
                </a:solidFill>
                <a:latin typeface="Courier New" pitchFamily="49" charset="0"/>
                <a:ea typeface="Courier New" pitchFamily="49" charset="-122"/>
                <a:cs typeface="Courier New" pitchFamily="49" charset="-120"/>
              </a:rPr>
              <a:t>7</a:t>
            </a:r>
            <a:endParaRPr lang="en-US" sz="2200" dirty="0"/>
          </a:p>
        </p:txBody>
      </p:sp>
      <p:sp>
        <p:nvSpPr>
          <p:cNvPr id="23" name="Text 21"/>
          <p:cNvSpPr/>
          <p:nvPr/>
        </p:nvSpPr>
        <p:spPr>
          <a:xfrm>
            <a:off x="6654800" y="3617466"/>
            <a:ext cx="337339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E6EDF3"/>
                </a:solidFill>
                <a:latin typeface="Arial" pitchFamily="34" charset="0"/>
                <a:ea typeface="Arial" pitchFamily="34" charset="-122"/>
                <a:cs typeface="Arial" pitchFamily="34" charset="-120"/>
              </a:rPr>
              <a:t>FAQ ·「EAMの4つの群とは？」</a:t>
            </a:r>
            <a:endParaRPr lang="en-US" sz="1600" dirty="0"/>
          </a:p>
        </p:txBody>
      </p:sp>
      <p:sp>
        <p:nvSpPr>
          <p:cNvPr id="24" name="Text 22"/>
          <p:cNvSpPr/>
          <p:nvPr/>
        </p:nvSpPr>
        <p:spPr>
          <a:xfrm>
            <a:off x="6654800" y="3947666"/>
            <a:ext cx="2895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Courier New" pitchFamily="49" charset="0"/>
                <a:ea typeface="Courier New" pitchFamily="49" charset="-122"/>
                <a:cs typeface="Courier New" pitchFamily="49" charset="-120"/>
              </a:rPr>
              <a:t>/hfgcs_faq.html#faq-groups</a:t>
            </a:r>
            <a:endParaRPr lang="en-US" sz="1200" dirty="0"/>
          </a:p>
        </p:txBody>
      </p:sp>
      <p:sp>
        <p:nvSpPr>
          <p:cNvPr id="25" name="Shape 23"/>
          <p:cNvSpPr/>
          <p:nvPr/>
        </p:nvSpPr>
        <p:spPr>
          <a:xfrm>
            <a:off x="812800" y="5263307"/>
            <a:ext cx="10566400" cy="0"/>
          </a:xfrm>
          <a:prstGeom prst="line">
            <a:avLst/>
          </a:prstGeom>
          <a:noFill/>
          <a:ln w="6350">
            <a:solidFill>
              <a:srgbClr val="222A35"/>
            </a:solidFill>
            <a:prstDash val="solid"/>
          </a:ln>
        </p:spPr>
      </p:sp>
      <p:sp>
        <p:nvSpPr>
          <p:cNvPr id="26" name="Text 24"/>
          <p:cNvSpPr/>
          <p:nvPr/>
        </p:nvSpPr>
        <p:spPr>
          <a:xfrm>
            <a:off x="812800" y="536808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A9B4BF"/>
                </a:solidFill>
                <a:latin typeface="Arial" pitchFamily="34" charset="0"/>
                <a:ea typeface="Arial" pitchFamily="34" charset="-122"/>
                <a:cs typeface="Arial" pitchFamily="34" charset="-120"/>
              </a:rPr>
              <a:t>ほかに：</a:t>
            </a:r>
            <a:r>
              <a:rPr lang="en-US" sz="1600" dirty="0">
                <a:solidFill>
                  <a:srgbClr val="E6EDF3"/>
                </a:solidFill>
                <a:latin typeface="Arial" pitchFamily="34" charset="0"/>
                <a:ea typeface="Arial" pitchFamily="34" charset="-122"/>
                <a:cs typeface="Arial" pitchFamily="34" charset="-120"/>
              </a:rPr>
              <a:t>neetintel.substack.com</a:t>
            </a:r>
            <a:r>
              <a:rPr lang="en-US" sz="1600" dirty="0">
                <a:solidFill>
                  <a:srgbClr val="A9B4BF"/>
                </a:solidFill>
                <a:latin typeface="Arial" pitchFamily="34" charset="0"/>
                <a:ea typeface="Arial" pitchFamily="34" charset="-122"/>
                <a:cs typeface="Arial" pitchFamily="34" charset="-120"/>
              </a:rPr>
              <a:t> · </a:t>
            </a:r>
            <a:r>
              <a:rPr lang="en-US" sz="1600" dirty="0">
                <a:solidFill>
                  <a:srgbClr val="E6EDF3"/>
                </a:solidFill>
                <a:latin typeface="Arial" pitchFamily="34" charset="0"/>
                <a:ea typeface="Arial" pitchFamily="34" charset="-122"/>
                <a:cs typeface="Arial" pitchFamily="34" charset="-120"/>
              </a:rPr>
              <a:t>youtube.com/@neetintel</a:t>
            </a:r>
            <a:r>
              <a:rPr lang="en-US" sz="1600" dirty="0">
                <a:solidFill>
                  <a:srgbClr val="A9B4BF"/>
                </a:solidFill>
                <a:latin typeface="Arial" pitchFamily="34" charset="0"/>
                <a:ea typeface="Arial" pitchFamily="34" charset="-122"/>
                <a:cs typeface="Arial" pitchFamily="34" charset="-120"/>
              </a:rPr>
              <a:t> · 「連絡先」タブ</a:t>
            </a:r>
            <a:endParaRPr lang="en-US" sz="1600" dirty="0"/>
          </a:p>
        </p:txBody>
      </p:sp>
      <p:sp>
        <p:nvSpPr>
          <p:cNvPr id="27" name="Text 2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894"/>
                </a:solidFill>
                <a:latin typeface="Courier New" pitchFamily="49" charset="0"/>
                <a:ea typeface="Courier New" pitchFamily="49" charset="-122"/>
                <a:cs typeface="Courier New" pitchFamily="49" charset="-120"/>
              </a:rPr>
              <a:t>NEET INTEL · neetintel.github.io</a:t>
            </a:r>
            <a:endParaRPr lang="en-US" sz="1200" dirty="0"/>
          </a:p>
        </p:txBody>
      </p:sp>
      <p:sp>
        <p:nvSpPr>
          <p:cNvPr id="28" name="Text 26"/>
          <p:cNvSpPr/>
          <p:nvPr/>
        </p:nvSpPr>
        <p:spPr>
          <a:xfrm>
            <a:off x="8763000" y="623828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D8894"/>
                </a:solidFill>
                <a:latin typeface="Arial" pitchFamily="34" charset="0"/>
                <a:ea typeface="Arial" pitchFamily="34" charset="-122"/>
                <a:cs typeface="Arial" pitchFamily="34" charset="-120"/>
              </a:rPr>
              <a:t>参照・方法・まとめ</a:t>
            </a:r>
            <a:endParaRPr lang="en-US" sz="1200" dirty="0"/>
          </a:p>
        </p:txBody>
      </p:sp>
    </p:spTree>
  </p:cSld>
  <p:clrMapOvr>
    <a:masterClrMapping/>
  </p:clrMapOvr>
</p:sld>
</file>

<file path=ppt/theme/theme1.xml><?xml version="1.0" encoding="utf-8"?>
<a:theme xmlns:a="http://schemas.openxmlformats.org/drawingml/2006/main" name="NEET INTEL サイト解説">
  <a:themeElements>
    <a:clrScheme name="NEET INTEL サイト解説">
      <a:dk1>
        <a:srgbClr val="05090E"/>
      </a:dk1>
      <a:lt1>
        <a:srgbClr val="E6EDF3"/>
      </a:lt1>
      <a:dk2>
        <a:srgbClr val="1C2025"/>
      </a:dk2>
      <a:lt2>
        <a:srgbClr val="AEB4BA"/>
      </a:lt2>
      <a:accent1>
        <a:srgbClr val="FFCC00"/>
      </a:accent1>
      <a:accent2>
        <a:srgbClr val="ED7D32"/>
      </a:accent2>
      <a:accent3>
        <a:srgbClr val="FF0467"/>
      </a:accent3>
      <a:accent4>
        <a:srgbClr val="06B050"/>
      </a:accent4>
      <a:accent5>
        <a:srgbClr val="9063CD"/>
      </a:accent5>
      <a:accent6>
        <a:srgbClr val="D17061"/>
      </a:accent6>
      <a:hlink>
        <a:srgbClr val="0563C1"/>
      </a:hlink>
      <a:folHlink>
        <a:srgbClr val="954F72"/>
      </a:folHlink>
    </a:clrScheme>
    <a:fontScheme name="NEET INTEL サイト解説">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urier Ne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NEET INTEL サイト解説</dc:title>
  <dc:subject/>
  <dc:creator/>
  <cp:lastModifiedBy/>
  <cp:revision>1</cp:revision>
  <dcterms:created xsi:type="dcterms:W3CDTF">2026-10-17T02:30:41Z</dcterms:created>
  <dcterms:modified xsi:type="dcterms:W3CDTF">2026-10-17T02:30:41Z</dcterms:modified>
</cp:coreProperties>
</file>